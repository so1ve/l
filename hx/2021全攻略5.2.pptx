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7">
  <p:sldMasterIdLst>
    <p:sldMasterId id="2147483648" r:id="rId1"/>
    <p:sldMasterId id="2147483656" r:id="rId3"/>
  </p:sldMasterIdLst>
  <p:notesMasterIdLst>
    <p:notesMasterId r:id="rId5"/>
  </p:notesMasterIdLst>
  <p:handoutMasterIdLst>
    <p:handoutMasterId r:id="rId23"/>
  </p:handoutMasterIdLst>
  <p:sldIdLst>
    <p:sldId id="2821" r:id="rId4"/>
    <p:sldId id="3165" r:id="rId6"/>
    <p:sldId id="3308" r:id="rId7"/>
    <p:sldId id="3309" r:id="rId8"/>
    <p:sldId id="3270" r:id="rId9"/>
    <p:sldId id="3271" r:id="rId10"/>
    <p:sldId id="3272" r:id="rId11"/>
    <p:sldId id="3273" r:id="rId12"/>
    <p:sldId id="3274" r:id="rId13"/>
    <p:sldId id="3275" r:id="rId14"/>
    <p:sldId id="3276" r:id="rId15"/>
    <p:sldId id="3277" r:id="rId16"/>
    <p:sldId id="3194" r:id="rId17"/>
    <p:sldId id="3193" r:id="rId18"/>
    <p:sldId id="3324" r:id="rId19"/>
    <p:sldId id="3325" r:id="rId20"/>
    <p:sldId id="3326" r:id="rId21"/>
    <p:sldId id="3327"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新课标第一网" initials="xkb1.com" lastIdx="1" clrIdx="0"/>
  <p:cmAuthor id="1" name="Administrator" initials="A" lastIdx="1" clrIdx="0"/>
  <p:cmAuthor id="2" name="xkb1.com" initials="x" lastIdx="0" clrIdx="1"/>
  <p:cmAuthor id="4" name="陈锐华" initials="CRH" lastIdx="2" clrIdx="3"/>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0EE4"/>
    <a:srgbClr val="86A3A1"/>
    <a:srgbClr val="FFFFFF"/>
    <a:srgbClr val="38473A"/>
    <a:srgbClr val="178AA1"/>
    <a:srgbClr val="FCFCFC"/>
    <a:srgbClr val="9E9492"/>
    <a:srgbClr val="A7A49D"/>
    <a:srgbClr val="A3A099"/>
    <a:srgbClr val="A09D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72" autoAdjust="0"/>
    <p:restoredTop sz="95362" autoAdjust="0"/>
  </p:normalViewPr>
  <p:slideViewPr>
    <p:cSldViewPr snapToGrid="0">
      <p:cViewPr varScale="1">
        <p:scale>
          <a:sx n="75" d="100"/>
          <a:sy n="75" d="100"/>
        </p:scale>
        <p:origin x="44" y="476"/>
      </p:cViewPr>
      <p:guideLst>
        <p:guide orient="horz" pos="2108"/>
        <p:guide pos="3754"/>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27E8FEA-3AC9-4DE1-B0CA-FA2A2FC791B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image" Target="../media/image2.png"/><Relationship Id="rId10" Type="http://schemas.openxmlformats.org/officeDocument/2006/relationships/tags" Target="../tags/tag3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2.png"/><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image" Target="../media/image1.jpeg"/><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image" Target="../media/image2.png"/><Relationship Id="rId2" Type="http://schemas.openxmlformats.org/officeDocument/2006/relationships/tags" Target="../tags/tag7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image" Target="../media/image2.png"/><Relationship Id="rId11" Type="http://schemas.openxmlformats.org/officeDocument/2006/relationships/tags" Target="../tags/tag112.xml"/><Relationship Id="rId10" Type="http://schemas.openxmlformats.org/officeDocument/2006/relationships/tags" Target="../tags/tag111.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文本与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文本与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幻灯片">
    <p:spTree>
      <p:nvGrpSpPr>
        <p:cNvPr id="1" name=""/>
        <p:cNvGrpSpPr/>
        <p:nvPr/>
      </p:nvGrpSpPr>
      <p:grpSpPr>
        <a:xfrm>
          <a:off x="0" y="0"/>
          <a:ext cx="0" cy="0"/>
          <a:chOff x="0" y="0"/>
          <a:chExt cx="0" cy="0"/>
        </a:xfrm>
      </p:grpSpPr>
      <p:sp>
        <p:nvSpPr>
          <p:cNvPr id="5" name="Shape 5"/>
          <p:cNvSpPr>
            <a:spLocks noGrp="1"/>
          </p:cNvSpPr>
          <p:nvPr>
            <p:ph type="title" hasCustomPrompt="1"/>
          </p:nvPr>
        </p:nvSpPr>
        <p:spPr>
          <a:xfrm>
            <a:off x="1524000" y="0"/>
            <a:ext cx="9144000" cy="3518120"/>
          </a:xfrm>
          <a:prstGeom prst="rect">
            <a:avLst/>
          </a:prstGeom>
        </p:spPr>
        <p:txBody>
          <a:bodyPr anchor="b"/>
          <a:lstStyle>
            <a:lvl1pPr>
              <a:defRPr sz="8000"/>
            </a:lvl1pPr>
          </a:lstStyle>
          <a:p>
            <a:pPr lvl="0">
              <a:defRPr sz="1800"/>
            </a:pPr>
            <a:r>
              <a:rPr sz="6000"/>
              <a:t>标题文本</a:t>
            </a:r>
            <a:endParaRPr sz="6000"/>
          </a:p>
        </p:txBody>
      </p:sp>
      <p:sp>
        <p:nvSpPr>
          <p:cNvPr id="6" name="Shape 6"/>
          <p:cNvSpPr>
            <a:spLocks noGrp="1"/>
          </p:cNvSpPr>
          <p:nvPr>
            <p:ph type="body" idx="1" hasCustomPrompt="1"/>
          </p:nvPr>
        </p:nvSpPr>
        <p:spPr>
          <a:xfrm>
            <a:off x="1524000" y="3609363"/>
            <a:ext cx="9144000" cy="3248637"/>
          </a:xfrm>
          <a:prstGeom prst="rect">
            <a:avLst/>
          </a:prstGeom>
        </p:spPr>
        <p:txBody>
          <a:bodyPr/>
          <a:lstStyle>
            <a:lvl1pPr marL="0" indent="0" algn="ctr">
              <a:spcBef>
                <a:spcPct val="134000"/>
              </a:spcBef>
              <a:buSzTx/>
              <a:buNone/>
              <a:defRPr sz="3200"/>
            </a:lvl1pPr>
            <a:lvl2pPr marL="0" indent="609600" algn="ctr">
              <a:spcBef>
                <a:spcPct val="134000"/>
              </a:spcBef>
              <a:buSzTx/>
              <a:buNone/>
              <a:defRPr sz="3200"/>
            </a:lvl2pPr>
            <a:lvl3pPr marL="0" indent="1219200" algn="ctr">
              <a:spcBef>
                <a:spcPct val="134000"/>
              </a:spcBef>
              <a:buSzTx/>
              <a:buNone/>
              <a:defRPr sz="3200"/>
            </a:lvl3pPr>
            <a:lvl4pPr marL="0" indent="1828800" algn="ctr">
              <a:spcBef>
                <a:spcPct val="134000"/>
              </a:spcBef>
              <a:buSzTx/>
              <a:buNone/>
              <a:defRPr sz="3200"/>
            </a:lvl4pPr>
            <a:lvl5pPr marL="0" indent="2438400" algn="ctr">
              <a:spcBef>
                <a:spcPct val="134000"/>
              </a:spcBef>
              <a:buSzTx/>
              <a:buNone/>
              <a:defRPr sz="3200"/>
            </a:lvl5pPr>
          </a:lstStyle>
          <a:p>
            <a:pPr lvl="0">
              <a:defRPr sz="1800"/>
            </a:pPr>
            <a:r>
              <a:rPr sz="2400"/>
              <a:t>正文级别 1</a:t>
            </a:r>
            <a:endParaRPr sz="2400"/>
          </a:p>
          <a:p>
            <a:pPr lvl="1">
              <a:defRPr sz="1800"/>
            </a:pPr>
            <a:r>
              <a:rPr sz="2400"/>
              <a:t>正文级别 2</a:t>
            </a:r>
            <a:endParaRPr sz="2400"/>
          </a:p>
          <a:p>
            <a:pPr lvl="2">
              <a:defRPr sz="1800"/>
            </a:pPr>
            <a:r>
              <a:rPr sz="2400"/>
              <a:t>正文级别 3</a:t>
            </a:r>
            <a:endParaRPr sz="2400"/>
          </a:p>
          <a:p>
            <a:pPr lvl="3">
              <a:defRPr sz="1800"/>
            </a:pPr>
            <a:r>
              <a:rPr sz="2400"/>
              <a:t>正文级别 4</a:t>
            </a:r>
            <a:endParaRPr sz="2400"/>
          </a:p>
          <a:p>
            <a:pPr lvl="4">
              <a:defRPr sz="1800"/>
            </a:pPr>
            <a:r>
              <a:rPr sz="2400"/>
              <a:t>正文级别 5</a:t>
            </a:r>
            <a:endParaRPr sz="240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矩形 12"/>
          <p:cNvSpPr/>
          <p:nvPr>
            <p:custDataLst>
              <p:tags r:id="rId3"/>
            </p:custDataLst>
          </p:nvPr>
        </p:nvSpPr>
        <p:spPr>
          <a:xfrm rot="245821">
            <a:off x="1744345" y="1880870"/>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custDataLst>
              <p:tags r:id="rId4"/>
            </p:custDataLst>
          </p:nvPr>
        </p:nvSpPr>
        <p:spPr>
          <a:xfrm rot="21380745">
            <a:off x="1756410" y="1901190"/>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custDataLst>
              <p:tags r:id="rId5"/>
            </p:custDataLst>
          </p:nvPr>
        </p:nvSpPr>
        <p:spPr>
          <a:xfrm>
            <a:off x="1756410" y="1900057"/>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custDataLst>
              <p:tags r:id="rId6"/>
            </p:custDataLst>
          </p:nvPr>
        </p:nvCxnSpPr>
        <p:spPr>
          <a:xfrm>
            <a:off x="5779167" y="3748839"/>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0"/>
            </p:custDataLst>
          </p:nvPr>
        </p:nvSpPr>
        <p:spPr>
          <a:xfrm>
            <a:off x="2426367" y="2438402"/>
            <a:ext cx="7704222" cy="1176155"/>
          </a:xfrm>
        </p:spPr>
        <p:txBody>
          <a:bodyPr lIns="90000" tIns="46800" rIns="90000" bIns="0" anchor="b" anchorCtr="0">
            <a:normAutofit/>
          </a:bodyPr>
          <a:lstStyle>
            <a:lvl1pPr algn="ctr">
              <a:defRPr sz="5400" spc="600" baseline="0">
                <a:solidFill>
                  <a:schemeClr val="tx1">
                    <a:lumMod val="85000"/>
                    <a:lumOff val="15000"/>
                  </a:schemeClr>
                </a:solidFill>
                <a:ea typeface="汉仪旗黑Y4-85简" panose="00020600040101010101" charset="-122"/>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1"/>
            </p:custDataLst>
          </p:nvPr>
        </p:nvSpPr>
        <p:spPr>
          <a:xfrm>
            <a:off x="2426367" y="3870121"/>
            <a:ext cx="7704222" cy="801114"/>
          </a:xfrm>
        </p:spPr>
        <p:txBody>
          <a:bodyPr lIns="90000" tIns="0" rIns="90000" bIns="46800">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3508184" y="4084721"/>
            <a:ext cx="4567816" cy="793459"/>
          </a:xfrm>
        </p:spPr>
        <p:txBody>
          <a:bodyPr lIns="90000" tIns="46800" rIns="90000" bIns="0" anchor="b" anchorCtr="0">
            <a:normAutofit/>
          </a:bodyPr>
          <a:lstStyle>
            <a:lvl1pPr algn="ctr">
              <a:defRPr sz="3600" u="none" strike="noStrike" kern="1200" cap="none" spc="300" normalizeH="0" baseline="0">
                <a:solidFill>
                  <a:schemeClr val="tx1">
                    <a:lumMod val="85000"/>
                    <a:lumOff val="15000"/>
                  </a:schemeClr>
                </a:solidFill>
                <a:uFillTx/>
                <a:latin typeface="Arial" panose="020B0604020202090204" pitchFamily="34" charset="0"/>
                <a:ea typeface="汉仪旗黑Y4-85简" panose="00020600040101010101"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4"/>
            </p:custDataLst>
          </p:nvPr>
        </p:nvSpPr>
        <p:spPr>
          <a:xfrm>
            <a:off x="3508179" y="4956280"/>
            <a:ext cx="4567816" cy="1077985"/>
          </a:xfrm>
        </p:spPr>
        <p:txBody>
          <a:bodyPr lIns="90000" tIns="0" rIns="90000" bIns="46800">
            <a:normAutofit/>
          </a:bodyPr>
          <a:lstStyle>
            <a:lvl1pPr marL="0" indent="0" algn="ctr" eaLnBrk="1" fontAlgn="auto" latinLnBrk="0" hangingPunct="1">
              <a:buNone/>
              <a:defRPr kumimoji="0" lang="zh-CN" altLang="en-US" sz="2000" b="0" i="0" u="none" strike="noStrike" kern="1200" cap="none" spc="150" normalizeH="0" baseline="0" noProof="1">
                <a:solidFill>
                  <a:schemeClr val="bg1">
                    <a:lumMod val="50000"/>
                  </a:schemeClr>
                </a:solidFill>
                <a:uFillTx/>
                <a:latin typeface="Arial" panose="020B060402020209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cxnSp>
        <p:nvCxnSpPr>
          <p:cNvPr id="8" name="直接连接符 7"/>
          <p:cNvCxnSpPr/>
          <p:nvPr>
            <p:custDataLst>
              <p:tags r:id="rId8"/>
            </p:custDataLst>
          </p:nvPr>
        </p:nvCxnSpPr>
        <p:spPr>
          <a:xfrm>
            <a:off x="5237746" y="3998543"/>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4"/>
            </p:custDataLst>
          </p:nvPr>
        </p:nvSpPr>
        <p:spPr>
          <a:xfrm>
            <a:off x="669930"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5"/>
            </p:custDataLst>
          </p:nvPr>
        </p:nvSpPr>
        <p:spPr>
          <a:xfrm>
            <a:off x="6238877" y="952508"/>
            <a:ext cx="5283242" cy="5388907"/>
          </a:xfrm>
        </p:spPr>
        <p:txBody>
          <a:bodyPr lIns="90000" tIns="46800" rIns="90000" bIns="46800">
            <a:normAutofit/>
          </a:bodyPr>
          <a:lstStyle>
            <a:lvl1pPr>
              <a:defRPr sz="16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6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6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6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6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6"/>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7"/>
            </p:custDataLst>
          </p:nvPr>
        </p:nvSpPr>
        <p:spPr/>
        <p:txBody>
          <a:bodyPr lIns="90000" tIns="46800" rIns="90000" bIns="46800">
            <a:normAutofit/>
          </a:bodyPr>
          <a:lstStyle/>
          <a:p>
            <a:endParaRPr lang="zh-CN" altLang="en-US"/>
          </a:p>
        </p:txBody>
      </p:sp>
      <p:sp>
        <p:nvSpPr>
          <p:cNvPr id="7" name="灯片编号占位符 6"/>
          <p:cNvSpPr>
            <a:spLocks noGrp="1"/>
          </p:cNvSpPr>
          <p:nvPr>
            <p:ph type="sldNum" sz="quarter" idx="12"/>
            <p:custDataLst>
              <p:tags r:id="rId8"/>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4"/>
            </p:custDataLst>
          </p:nvPr>
        </p:nvSpPr>
        <p:spPr>
          <a:xfrm>
            <a:off x="669930" y="952508"/>
            <a:ext cx="5283242" cy="381003"/>
          </a:xfrm>
        </p:spPr>
        <p:txBody>
          <a:bodyPr lIns="90000" tIns="46800" rIns="90000" bIns="4680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9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5"/>
            </p:custDataLst>
          </p:nvPr>
        </p:nvSpPr>
        <p:spPr>
          <a:xfrm>
            <a:off x="669925" y="1406525"/>
            <a:ext cx="5283200" cy="4934752"/>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6"/>
            </p:custDataLst>
          </p:nvPr>
        </p:nvSpPr>
        <p:spPr>
          <a:xfrm>
            <a:off x="6235750" y="952508"/>
            <a:ext cx="5283242" cy="381003"/>
          </a:xfrm>
        </p:spPr>
        <p:txBody>
          <a:bodyPr vert="horz" lIns="90000" tIns="46800" rIns="90000" bIns="468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sym typeface="+mn-ea"/>
              </a:rPr>
              <a:t>单击此处编辑文本</a:t>
            </a:r>
            <a:endParaRPr dirty="0">
              <a:sym typeface="+mn-ea"/>
            </a:endParaRPr>
          </a:p>
        </p:txBody>
      </p:sp>
      <p:sp>
        <p:nvSpPr>
          <p:cNvPr id="6" name="内容占位符 5"/>
          <p:cNvSpPr>
            <a:spLocks noGrp="1"/>
          </p:cNvSpPr>
          <p:nvPr>
            <p:ph sz="quarter" idx="4"/>
            <p:custDataLst>
              <p:tags r:id="rId7"/>
            </p:custDataLst>
          </p:nvPr>
        </p:nvSpPr>
        <p:spPr>
          <a:xfrm>
            <a:off x="6235750" y="1406525"/>
            <a:ext cx="5283242" cy="4934752"/>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8"/>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p:txBody>
          <a:bodyPr lIns="90000" tIns="46800" rIns="90000" bIns="46800">
            <a:normAutofit/>
          </a:bodyPr>
          <a:lstStyle/>
          <a:p>
            <a:endParaRPr lang="zh-CN" altLang="en-US"/>
          </a:p>
        </p:txBody>
      </p:sp>
      <p:sp>
        <p:nvSpPr>
          <p:cNvPr id="9" name="灯片编号占位符 8"/>
          <p:cNvSpPr>
            <a:spLocks noGrp="1"/>
          </p:cNvSpPr>
          <p:nvPr>
            <p:ph type="sldNum" sz="quarter" idx="12"/>
            <p:custDataLst>
              <p:tags r:id="rId10"/>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p:custDataLst>
              <p:tags r:id="rId3"/>
            </p:custDataLst>
          </p:nvPr>
        </p:nvSpPr>
        <p:spPr>
          <a:xfrm>
            <a:off x="324678" y="294859"/>
            <a:ext cx="11542644" cy="6268279"/>
          </a:xfrm>
          <a:prstGeom prst="rect">
            <a:avLst/>
          </a:prstGeom>
          <a:solidFill>
            <a:schemeClr val="bg1"/>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a:bodyPr>
          <a:lstStyle/>
          <a:p>
            <a:pPr algn="ctr"/>
            <a:endParaRPr lang="zh-CN" altLang="en-US"/>
          </a:p>
        </p:txBody>
      </p:sp>
      <p:sp>
        <p:nvSpPr>
          <p:cNvPr id="2" name="标题 1"/>
          <p:cNvSpPr>
            <a:spLocks noGrp="1"/>
          </p:cNvSpPr>
          <p:nvPr>
            <p:ph type="title"/>
            <p:custDataLst>
              <p:tags r:id="rId4"/>
            </p:custDataLst>
          </p:nvPr>
        </p:nvSpPr>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5"/>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lIns="90000" tIns="46800" rIns="90000" bIns="46800">
            <a:normAutofit/>
          </a:bodyPr>
          <a:lstStyle/>
          <a:p>
            <a:endParaRPr lang="zh-CN" altLang="en-US"/>
          </a:p>
        </p:txBody>
      </p:sp>
      <p:sp>
        <p:nvSpPr>
          <p:cNvPr id="5" name="灯片编号占位符 4"/>
          <p:cNvSpPr>
            <a:spLocks noGrp="1"/>
          </p:cNvSpPr>
          <p:nvPr>
            <p:ph type="sldNum" sz="quarter" idx="12"/>
            <p:custDataLst>
              <p:tags r:id="rId7"/>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4"/>
            </p:custDataLst>
          </p:nvPr>
        </p:nvSpPr>
        <p:spPr/>
        <p:txBody>
          <a:bodyPr/>
          <a:lstStyle/>
          <a:p>
            <a:endParaRPr lang="zh-CN" altLang="en-US"/>
          </a:p>
        </p:txBody>
      </p:sp>
      <p:sp>
        <p:nvSpPr>
          <p:cNvPr id="4" name="灯片编号占位符 3"/>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930"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4"/>
            </p:custDataLst>
          </p:nvPr>
        </p:nvSpPr>
        <p:spPr>
          <a:xfrm>
            <a:off x="669930" y="952508"/>
            <a:ext cx="5283242" cy="5388907"/>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8925"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6"/>
            </p:custDataLst>
          </p:nvPr>
        </p:nvSpPr>
        <p:spPr/>
        <p:txBody>
          <a:bodyPr lIns="90000" tIns="46800" rIns="90000" bIns="46800">
            <a:normAutofit/>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p:txBody>
          <a:bodyPr lIns="90000" tIns="46800" rIns="90000" bIns="46800">
            <a:normAutofit/>
          </a:bodyPr>
          <a:lstStyle/>
          <a:p>
            <a:endParaRPr lang="zh-CN" altLang="en-US" dirty="0"/>
          </a:p>
        </p:txBody>
      </p:sp>
      <p:sp>
        <p:nvSpPr>
          <p:cNvPr id="7" name="灯片编号占位符 6"/>
          <p:cNvSpPr>
            <a:spLocks noGrp="1"/>
          </p:cNvSpPr>
          <p:nvPr>
            <p:ph type="sldNum" sz="quarter" idx="12"/>
            <p:custDataLst>
              <p:tags r:id="rId8"/>
            </p:custDataLst>
          </p:nvPr>
        </p:nvSpPr>
        <p:spPr/>
        <p:txBody>
          <a:bodyPr lIns="90000" tIns="46800" rIns="90000" bIns="46800">
            <a:normAutofit/>
          </a:bodyPr>
          <a:lstStyle/>
          <a:p>
            <a:fld id="{FABC47A4-756D-490B-A52F-7D9E2C9FC05F}"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组合 11"/>
          <p:cNvGrpSpPr/>
          <p:nvPr>
            <p:custDataLst>
              <p:tags r:id="rId3"/>
            </p:custDataLst>
          </p:nvPr>
        </p:nvGrpSpPr>
        <p:grpSpPr>
          <a:xfrm>
            <a:off x="11583670" y="5733415"/>
            <a:ext cx="498475" cy="1082675"/>
            <a:chOff x="17775" y="8015"/>
            <a:chExt cx="1252" cy="2719"/>
          </a:xfrm>
        </p:grpSpPr>
        <p:sp>
          <p:nvSpPr>
            <p:cNvPr id="13" name="椭圆 12"/>
            <p:cNvSpPr/>
            <p:nvPr userDrawn="1">
              <p:custDataLst>
                <p:tags r:id="rId4"/>
              </p:custDataLst>
            </p:nvPr>
          </p:nvSpPr>
          <p:spPr>
            <a:xfrm>
              <a:off x="18152" y="9860"/>
              <a:ext cx="875" cy="8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custDataLst>
                <p:tags r:id="rId5"/>
              </p:custDataLst>
            </p:nvPr>
          </p:nvSpPr>
          <p:spPr>
            <a:xfrm>
              <a:off x="17775" y="9140"/>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userDrawn="1">
              <p:custDataLst>
                <p:tags r:id="rId6"/>
              </p:custDataLst>
            </p:nvPr>
          </p:nvSpPr>
          <p:spPr>
            <a:xfrm>
              <a:off x="18401" y="8687"/>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userDrawn="1">
              <p:custDataLst>
                <p:tags r:id="rId7"/>
              </p:custDataLst>
            </p:nvPr>
          </p:nvSpPr>
          <p:spPr>
            <a:xfrm>
              <a:off x="17883" y="8015"/>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竖排标题 1"/>
          <p:cNvSpPr>
            <a:spLocks noGrp="1"/>
          </p:cNvSpPr>
          <p:nvPr>
            <p:ph type="title" orient="vert"/>
            <p:custDataLst>
              <p:tags r:id="rId8"/>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竖排文字占位符 2"/>
          <p:cNvSpPr>
            <a:spLocks noGrp="1"/>
          </p:cNvSpPr>
          <p:nvPr>
            <p:ph type="body" orient="vert" idx="1"/>
            <p:custDataLst>
              <p:tags r:id="rId9"/>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1pPr>
            <a:lvl2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2pPr>
            <a:lvl3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3pPr>
            <a:lvl4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4pPr>
            <a:lvl5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lstStyle/>
          <a:p>
            <a:endParaRPr lang="zh-CN" altLang="en-US"/>
          </a:p>
        </p:txBody>
      </p:sp>
      <p:sp>
        <p:nvSpPr>
          <p:cNvPr id="6" name="灯片编号占位符 5"/>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6"/>
            </p:custDataLst>
          </p:nvPr>
        </p:nvSpPr>
        <p:spPr>
          <a:xfrm>
            <a:off x="669930" y="952508"/>
            <a:ext cx="10852237" cy="5388907"/>
          </a:xfrm>
        </p:spPr>
        <p:txBody>
          <a:bodyPr/>
          <a:lstStyle>
            <a:lvl1pPr>
              <a:defRPr baseline="0"/>
            </a:lvl1pPr>
            <a:lvl2pPr>
              <a:defRPr baseline="0"/>
            </a:lvl2pPr>
            <a:lvl3pPr>
              <a:defRPr baseline="0"/>
            </a:lvl3pPr>
            <a:lvl4pPr>
              <a:defRPr baseline="0"/>
            </a:lvl4pPr>
            <a:lvl5pPr>
              <a:defRPr baseline="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p:cNvGrpSpPr/>
          <p:nvPr>
            <p:custDataLst>
              <p:tags r:id="rId3"/>
            </p:custDataLst>
          </p:nvPr>
        </p:nvGrpSpPr>
        <p:grpSpPr>
          <a:xfrm>
            <a:off x="1744578" y="1880787"/>
            <a:ext cx="9336506" cy="3449203"/>
            <a:chOff x="1744578" y="1880787"/>
            <a:chExt cx="9336506" cy="3449203"/>
          </a:xfrm>
        </p:grpSpPr>
        <p:sp>
          <p:nvSpPr>
            <p:cNvPr id="7" name="矩形 6"/>
            <p:cNvSpPr/>
            <p:nvPr>
              <p:custDataLst>
                <p:tags r:id="rId4"/>
              </p:custDataLst>
            </p:nvPr>
          </p:nvSpPr>
          <p:spPr>
            <a:xfrm rot="245821">
              <a:off x="1744578" y="1880787"/>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5"/>
              </p:custDataLst>
            </p:nvPr>
          </p:nvSpPr>
          <p:spPr>
            <a:xfrm rot="21380745">
              <a:off x="1756611" y="1900990"/>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6"/>
              </p:custDataLst>
            </p:nvPr>
          </p:nvSpPr>
          <p:spPr>
            <a:xfrm>
              <a:off x="1744578" y="1900990"/>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10"/>
            </p:custDataLst>
          </p:nvPr>
        </p:nvSpPr>
        <p:spPr>
          <a:xfrm>
            <a:off x="3266167" y="2599827"/>
            <a:ext cx="6371319" cy="1179574"/>
          </a:xfrm>
        </p:spPr>
        <p:txBody>
          <a:bodyPr vert="horz" lIns="90000" tIns="46800" rIns="90000" bIns="0" rtlCol="0" anchor="b"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90204" pitchFamily="34" charset="0"/>
                <a:ea typeface="汉仪旗黑Y4-85简" panose="00020600040101010101" charset="-122"/>
                <a:cs typeface="+mj-cs"/>
                <a:sym typeface="+mn-ea"/>
              </a:defRPr>
            </a:lvl1pPr>
          </a:lstStyle>
          <a:p>
            <a:pPr lvl="0"/>
            <a:r>
              <a:rPr dirty="0">
                <a:sym typeface="+mn-ea"/>
              </a:rPr>
              <a:t>编辑标题</a:t>
            </a:r>
            <a:endParaRPr dirty="0">
              <a:sym typeface="+mn-ea"/>
            </a:endParaRPr>
          </a:p>
        </p:txBody>
      </p:sp>
      <p:sp>
        <p:nvSpPr>
          <p:cNvPr id="13" name="文本占位符 12"/>
          <p:cNvSpPr>
            <a:spLocks noGrp="1"/>
          </p:cNvSpPr>
          <p:nvPr>
            <p:ph type="body" sz="quarter" idx="13" hasCustomPrompt="1"/>
            <p:custDataLst>
              <p:tags r:id="rId11"/>
            </p:custDataLst>
          </p:nvPr>
        </p:nvSpPr>
        <p:spPr>
          <a:xfrm>
            <a:off x="3266168" y="3991669"/>
            <a:ext cx="6371318" cy="973138"/>
          </a:xfrm>
        </p:spPr>
        <p:txBody>
          <a:bodyPr lIns="90000" rIns="90000" bIns="46800"/>
          <a:lstStyle>
            <a:lvl1pPr marL="0" indent="0" algn="ctr">
              <a:buNone/>
              <a:defRPr sz="2000" baseline="0">
                <a:solidFill>
                  <a:schemeClr val="tx1">
                    <a:lumMod val="85000"/>
                    <a:lumOff val="15000"/>
                  </a:schemeClr>
                </a:solidFill>
                <a:latin typeface="Arial" panose="020B0604020202090204" pitchFamily="34" charset="0"/>
              </a:defRPr>
            </a:lvl1pPr>
          </a:lstStyle>
          <a:p>
            <a:pPr lvl="0"/>
            <a:r>
              <a:rPr lang="zh-CN" altLang="en-US" dirty="0"/>
              <a:t>单击此处编辑文本</a:t>
            </a:r>
            <a:endParaRPr lang="zh-CN" altLang="en-US" dirty="0"/>
          </a:p>
        </p:txBody>
      </p:sp>
      <p:cxnSp>
        <p:nvCxnSpPr>
          <p:cNvPr id="14" name="直接连接符 13"/>
          <p:cNvCxnSpPr/>
          <p:nvPr>
            <p:custDataLst>
              <p:tags r:id="rId12"/>
            </p:custDataLst>
          </p:nvPr>
        </p:nvCxnSpPr>
        <p:spPr>
          <a:xfrm>
            <a:off x="5779167" y="3863139"/>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通用">
    <p:bg>
      <p:bgPr>
        <a:blipFill>
          <a:blip r:embed="rId2"/>
          <a:stretch>
            <a:fillRect/>
          </a:stretch>
        </a:blipFill>
        <a:effectLst/>
      </p:bgPr>
    </p:bg>
    <p:spTree>
      <p:nvGrpSpPr>
        <p:cNvPr id="1" name=""/>
        <p:cNvGrpSpPr/>
        <p:nvPr/>
      </p:nvGrpSpPr>
      <p:grpSpPr>
        <a:xfrm>
          <a:off x="0" y="0"/>
          <a:ext cx="0" cy="0"/>
          <a:chOff x="0" y="0"/>
          <a:chExt cx="0" cy="0"/>
        </a:xfrm>
      </p:grpSpPr>
      <p:sp>
        <p:nvSpPr>
          <p:cNvPr id="4" name="页脚占位符 3"/>
          <p:cNvSpPr>
            <a:spLocks noGrp="1"/>
          </p:cNvSpPr>
          <p:nvPr>
            <p:ph type="ftr" sz="quarter" idx="11"/>
            <p:custDataLst>
              <p:tags r:id="rId3"/>
            </p:custDataLst>
          </p:nvPr>
        </p:nvSpPr>
        <p:spPr/>
        <p:txBody>
          <a:bodyPr/>
          <a:lstStyle/>
          <a:p>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
        <p:nvSpPr>
          <p:cNvPr id="10" name="标题 9"/>
          <p:cNvSpPr>
            <a:spLocks noGrp="1"/>
          </p:cNvSpPr>
          <p:nvPr>
            <p:ph type="title"/>
            <p:custDataLst>
              <p:tags r:id="rId6"/>
            </p:custDataLst>
          </p:nvPr>
        </p:nvSpPr>
        <p:spPr/>
        <p:txBody>
          <a:bodyPr>
            <a:normAutofit/>
          </a:bodyPr>
          <a:lstStyle>
            <a:lvl1pPr>
              <a:defRPr baseline="0"/>
            </a:lvl1pPr>
          </a:lstStyle>
          <a:p>
            <a:r>
              <a:rPr lang="zh-CN" altLang="en-US" dirty="0"/>
              <a:t>单击此处编辑母版标题样式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6" name="矩形 5"/>
          <p:cNvSpPr/>
          <p:nvPr>
            <p:custDataLst>
              <p:tags r:id="rId2"/>
            </p:custDataLst>
          </p:nvPr>
        </p:nvSpPr>
        <p:spPr>
          <a:xfrm>
            <a:off x="248285" y="273050"/>
            <a:ext cx="11692255" cy="6311900"/>
          </a:xfrm>
          <a:prstGeom prst="rect">
            <a:avLst/>
          </a:prstGeom>
          <a:blipFill>
            <a:blip r:embed="rId3"/>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1281600" y="1249200"/>
            <a:ext cx="9626400" cy="723600"/>
          </a:xfrm>
        </p:spPr>
        <p:txBody>
          <a:bodyPr wrap="square" lIns="90000" tIns="46800" rIns="90000" bIns="46800" anchor="ctr">
            <a:normAutofit/>
          </a:bodyPr>
          <a:lstStyle>
            <a:lvl1pPr>
              <a:defRPr sz="32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8"/>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左右">
    <p:bg>
      <p:bgPr>
        <a:blipFill>
          <a:blip r:embed="rId2"/>
          <a:stretch>
            <a:fillRect/>
          </a:stretch>
        </a:blipFill>
        <a:effectLst/>
      </p:bgPr>
    </p:bg>
    <p:spTree>
      <p:nvGrpSpPr>
        <p:cNvPr id="1" name=""/>
        <p:cNvGrpSpPr/>
        <p:nvPr/>
      </p:nvGrpSpPr>
      <p:grpSpPr>
        <a:xfrm>
          <a:off x="0" y="0"/>
          <a:ext cx="0" cy="0"/>
          <a:chOff x="0" y="0"/>
          <a:chExt cx="0" cy="0"/>
        </a:xfrm>
      </p:grpSpPr>
      <p:sp>
        <p:nvSpPr>
          <p:cNvPr id="8" name="矩形 7"/>
          <p:cNvSpPr/>
          <p:nvPr>
            <p:custDataLst>
              <p:tags r:id="rId3"/>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583200" y="770400"/>
            <a:ext cx="3960000" cy="882000"/>
          </a:xfrm>
        </p:spPr>
        <p:txBody>
          <a:bodyPr wrap="square" lIns="90000" tIns="46800" rIns="90000" bIns="46800" anchor="ctr">
            <a:normAutofit/>
          </a:bodyPr>
          <a:lstStyle>
            <a:lvl1pPr>
              <a:defRPr sz="36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单击编辑标题</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5101200" y="769939"/>
            <a:ext cx="6480000" cy="5087937"/>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9"/>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上下">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1147334"/>
            <a:ext cx="12192000" cy="369332"/>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12000" y="770144"/>
            <a:ext cx="10976400" cy="648512"/>
          </a:xfrm>
        </p:spPr>
        <p:txBody>
          <a:bodyPr wrap="square" lIns="90000" tIns="46800" rIns="90000" bIns="46800" anchor="ctr">
            <a:normAutofit/>
          </a:bodyPr>
          <a:lstStyle>
            <a:lvl1pPr algn="ctr">
              <a:defRPr sz="36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879742" y="6368643"/>
            <a:ext cx="2700000" cy="279180"/>
          </a:xfrm>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68643"/>
            <a:ext cx="3960000" cy="279180"/>
          </a:xfrm>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7"/>
            </p:custDataLst>
          </p:nvPr>
        </p:nvSpPr>
        <p:spPr>
          <a:xfrm>
            <a:off x="8610600" y="6368643"/>
            <a:ext cx="2700000" cy="279180"/>
          </a:xfrm>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382991"/>
          </a:xfrm>
        </p:spPr>
        <p:txBody>
          <a:bodyPr wrap="square" lIns="90000" tIns="46800" rIns="90000" bIns="46800">
            <a:normAutofit/>
          </a:bodyPr>
          <a:lstStyle>
            <a:lvl1pPr algn="ctr">
              <a:defRPr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9"/>
            </p:custDataLst>
          </p:nvPr>
        </p:nvSpPr>
        <p:spPr>
          <a:xfrm>
            <a:off x="612775" y="2808000"/>
            <a:ext cx="10965600" cy="1980158"/>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下上">
    <p:bg>
      <p:bgPr>
        <a:blipFill>
          <a:blip r:embed="rId2"/>
          <a:stretch>
            <a:fillRect/>
          </a:stretch>
        </a:blipFill>
        <a:effectLst/>
      </p:bgPr>
    </p:bg>
    <p:spTree>
      <p:nvGrpSpPr>
        <p:cNvPr id="1" name=""/>
        <p:cNvGrpSpPr/>
        <p:nvPr/>
      </p:nvGrpSpPr>
      <p:grpSpPr>
        <a:xfrm>
          <a:off x="0" y="0"/>
          <a:ext cx="0" cy="0"/>
          <a:chOff x="0" y="0"/>
          <a:chExt cx="0" cy="0"/>
        </a:xfrm>
      </p:grpSpPr>
      <p:sp>
        <p:nvSpPr>
          <p:cNvPr id="8" name="矩形 7"/>
          <p:cNvSpPr/>
          <p:nvPr>
            <p:custDataLst>
              <p:tags r:id="rId3"/>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04800" y="669600"/>
            <a:ext cx="10976400" cy="565200"/>
          </a:xfrm>
        </p:spPr>
        <p:txBody>
          <a:bodyPr wrap="square" lIns="90000" tIns="46800" rIns="90000" bIns="46800" anchor="ctr">
            <a:normAutofit/>
          </a:bodyPr>
          <a:lstStyle>
            <a:lvl1pPr algn="ctr">
              <a:defRPr sz="32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7" name="内容占位符 6"/>
          <p:cNvSpPr>
            <a:spLocks noGrp="1"/>
          </p:cNvSpPr>
          <p:nvPr>
            <p:ph sz="quarter" idx="13"/>
            <p:custDataLst>
              <p:tags r:id="rId6"/>
            </p:custDataLst>
          </p:nvPr>
        </p:nvSpPr>
        <p:spPr>
          <a:xfrm>
            <a:off x="604837" y="1681200"/>
            <a:ext cx="10990800" cy="3211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7"/>
            </p:custDataLst>
          </p:nvPr>
        </p:nvSpPr>
        <p:spPr>
          <a:xfrm>
            <a:off x="594000" y="5180400"/>
            <a:ext cx="11001600" cy="1011600"/>
          </a:xfrm>
        </p:spPr>
        <p:txBody>
          <a:bodyPr wrap="square" lIns="90000" tIns="46800" rIns="90000" bIns="46800">
            <a:normAutofit/>
          </a:bodyPr>
          <a:lstStyle>
            <a:lvl1pPr marL="0" indent="0">
              <a:buNone/>
              <a:defRPr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8"/>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9"/>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导航">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11046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579755" y="237490"/>
            <a:ext cx="11037570" cy="565150"/>
          </a:xfrm>
        </p:spPr>
        <p:txBody>
          <a:bodyPr wrap="square" lIns="90000" tIns="46800" rIns="90000" bIns="46800">
            <a:normAutofit/>
          </a:bodyPr>
          <a:lstStyle>
            <a:lvl1pPr>
              <a:defRPr sz="32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11"/>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腰带">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hasCustomPrompt="1"/>
            <p:custDataLst>
              <p:tags r:id="rId4"/>
            </p:custDataLst>
          </p:nvPr>
        </p:nvSpPr>
        <p:spPr>
          <a:xfrm>
            <a:off x="1522800" y="1339200"/>
            <a:ext cx="9144000" cy="2386800"/>
          </a:xfrm>
        </p:spPr>
        <p:txBody>
          <a:bodyPr wrap="square" lIns="90000" tIns="46800" rIns="90000" bIns="46800" anchor="b">
            <a:normAutofit/>
          </a:bodyPr>
          <a:lstStyle>
            <a:lvl1pPr algn="ctr">
              <a:defRPr sz="60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单击此处编辑标题</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wrap="square" lIns="90000" tIns="46800" rIns="90000" bIns="46800">
            <a:normAutofit/>
          </a:bodyPr>
          <a:lstStyle>
            <a:lvl1pPr algn="ctr">
              <a:defRPr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8"/>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slideLayout" Target="../slideLayouts/slideLayout15.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5" Type="http://schemas.openxmlformats.org/officeDocument/2006/relationships/theme" Target="../theme/theme2.xml"/><Relationship Id="rId24" Type="http://schemas.openxmlformats.org/officeDocument/2006/relationships/tags" Target="../tags/tag124.xml"/><Relationship Id="rId23" Type="http://schemas.openxmlformats.org/officeDocument/2006/relationships/tags" Target="../tags/tag123.xml"/><Relationship Id="rId22" Type="http://schemas.openxmlformats.org/officeDocument/2006/relationships/tags" Target="../tags/tag122.xml"/><Relationship Id="rId21" Type="http://schemas.openxmlformats.org/officeDocument/2006/relationships/tags" Target="../tags/tag121.xml"/><Relationship Id="rId20" Type="http://schemas.openxmlformats.org/officeDocument/2006/relationships/tags" Target="../tags/tag120.xml"/><Relationship Id="rId2" Type="http://schemas.openxmlformats.org/officeDocument/2006/relationships/slideLayout" Target="../slideLayouts/slideLayout9.xml"/><Relationship Id="rId19" Type="http://schemas.openxmlformats.org/officeDocument/2006/relationships/tags" Target="../tags/tag119.xml"/><Relationship Id="rId18" Type="http://schemas.openxmlformats.org/officeDocument/2006/relationships/slideLayout" Target="../slideLayouts/slideLayout25.xml"/><Relationship Id="rId17" Type="http://schemas.openxmlformats.org/officeDocument/2006/relationships/slideLayout" Target="../slideLayouts/slideLayout24.xml"/><Relationship Id="rId16" Type="http://schemas.openxmlformats.org/officeDocument/2006/relationships/slideLayout" Target="../slideLayouts/slideLayout23.xml"/><Relationship Id="rId15" Type="http://schemas.openxmlformats.org/officeDocument/2006/relationships/slideLayout" Target="../slideLayouts/slideLayout22.xml"/><Relationship Id="rId14" Type="http://schemas.openxmlformats.org/officeDocument/2006/relationships/slideLayout" Target="../slideLayouts/slideLayout21.xml"/><Relationship Id="rId13" Type="http://schemas.openxmlformats.org/officeDocument/2006/relationships/slideLayout" Target="../slideLayouts/slideLayout20.xml"/><Relationship Id="rId12" Type="http://schemas.openxmlformats.org/officeDocument/2006/relationships/slideLayout" Target="../slideLayouts/slideLayout19.xml"/><Relationship Id="rId11" Type="http://schemas.openxmlformats.org/officeDocument/2006/relationships/slideLayout" Target="../slideLayouts/slideLayout18.xml"/><Relationship Id="rId10" Type="http://schemas.openxmlformats.org/officeDocument/2006/relationships/slideLayout" Target="../slideLayouts/slideLayout17.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slow">
    <p:strips dir="rd"/>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90000" tIns="46800" rIns="90000" bIns="468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0000" tIns="46800" rIns="90000" bIns="4680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0000" tIns="46800" rIns="90000" bIns="4680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0000" tIns="46800" rIns="90000" bIns="4680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9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8.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9.xml"/><Relationship Id="rId6" Type="http://schemas.openxmlformats.org/officeDocument/2006/relationships/tags" Target="../tags/tag13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tags" Target="../tags/tag130.xml"/><Relationship Id="rId1" Type="http://schemas.openxmlformats.org/officeDocument/2006/relationships/tags" Target="../tags/tag129.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image" Target="../media/image6.png"/><Relationship Id="rId10" Type="http://schemas.openxmlformats.org/officeDocument/2006/relationships/notesSlide" Target="../notesSlides/notesSlide3.xml"/><Relationship Id="rId1" Type="http://schemas.openxmlformats.org/officeDocument/2006/relationships/tags" Target="../tags/tag132.xml"/></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9.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9.xml"/><Relationship Id="rId3" Type="http://schemas.openxmlformats.org/officeDocument/2006/relationships/tags" Target="../tags/tag147.xml"/><Relationship Id="rId2" Type="http://schemas.openxmlformats.org/officeDocument/2006/relationships/image" Target="../media/image7.png"/><Relationship Id="rId1" Type="http://schemas.openxmlformats.org/officeDocument/2006/relationships/tags" Target="../tags/tag146.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9.xml"/><Relationship Id="rId3" Type="http://schemas.openxmlformats.org/officeDocument/2006/relationships/tags" Target="../tags/tag149.xml"/><Relationship Id="rId2" Type="http://schemas.openxmlformats.org/officeDocument/2006/relationships/image" Target="../media/image7.png"/><Relationship Id="rId1" Type="http://schemas.openxmlformats.org/officeDocument/2006/relationships/tags" Target="../tags/tag148.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9.xml"/><Relationship Id="rId2" Type="http://schemas.openxmlformats.org/officeDocument/2006/relationships/tags" Target="../tags/tag151.xml"/><Relationship Id="rId1" Type="http://schemas.openxmlformats.org/officeDocument/2006/relationships/tags" Target="../tags/tag150.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9.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s>
</file>

<file path=ppt/slides/_rels/slide9.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4" Type="http://schemas.openxmlformats.org/officeDocument/2006/relationships/notesSlide" Target="../notesSlides/notesSlide9.xml"/><Relationship Id="rId23" Type="http://schemas.openxmlformats.org/officeDocument/2006/relationships/slideLayout" Target="../slideLayouts/slideLayout9.xml"/><Relationship Id="rId22" Type="http://schemas.openxmlformats.org/officeDocument/2006/relationships/tags" Target="../tags/tag179.xml"/><Relationship Id="rId21" Type="http://schemas.openxmlformats.org/officeDocument/2006/relationships/tags" Target="../tags/tag178.xml"/><Relationship Id="rId20" Type="http://schemas.openxmlformats.org/officeDocument/2006/relationships/tags" Target="../tags/tag177.xml"/><Relationship Id="rId2" Type="http://schemas.openxmlformats.org/officeDocument/2006/relationships/tags" Target="../tags/tag159.xml"/><Relationship Id="rId19" Type="http://schemas.openxmlformats.org/officeDocument/2006/relationships/tags" Target="../tags/tag176.xml"/><Relationship Id="rId18" Type="http://schemas.openxmlformats.org/officeDocument/2006/relationships/tags" Target="../tags/tag175.xml"/><Relationship Id="rId17" Type="http://schemas.openxmlformats.org/officeDocument/2006/relationships/tags" Target="../tags/tag174.xml"/><Relationship Id="rId16" Type="http://schemas.openxmlformats.org/officeDocument/2006/relationships/tags" Target="../tags/tag173.xml"/><Relationship Id="rId15" Type="http://schemas.openxmlformats.org/officeDocument/2006/relationships/tags" Target="../tags/tag172.xml"/><Relationship Id="rId14" Type="http://schemas.openxmlformats.org/officeDocument/2006/relationships/tags" Target="../tags/tag171.xml"/><Relationship Id="rId13" Type="http://schemas.openxmlformats.org/officeDocument/2006/relationships/tags" Target="../tags/tag170.xml"/><Relationship Id="rId12" Type="http://schemas.openxmlformats.org/officeDocument/2006/relationships/tags" Target="../tags/tag169.xml"/><Relationship Id="rId11" Type="http://schemas.openxmlformats.org/officeDocument/2006/relationships/tags" Target="../tags/tag168.xml"/><Relationship Id="rId10" Type="http://schemas.openxmlformats.org/officeDocument/2006/relationships/tags" Target="../tags/tag167.xml"/><Relationship Id="rId1" Type="http://schemas.openxmlformats.org/officeDocument/2006/relationships/tags" Target="../tags/tag158.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9.xml"/><Relationship Id="rId5" Type="http://schemas.openxmlformats.org/officeDocument/2006/relationships/themeOverride" Target="../theme/themeOverride1.xml"/><Relationship Id="rId4" Type="http://schemas.openxmlformats.org/officeDocument/2006/relationships/tags" Target="../tags/tag181.xml"/><Relationship Id="rId3" Type="http://schemas.openxmlformats.org/officeDocument/2006/relationships/image" Target="../media/image7.png"/><Relationship Id="rId2" Type="http://schemas.openxmlformats.org/officeDocument/2006/relationships/tags" Target="../tags/tag180.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183.xml"/><Relationship Id="rId1" Type="http://schemas.openxmlformats.org/officeDocument/2006/relationships/tags" Target="../tags/tag182.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9.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184.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9.xml"/><Relationship Id="rId4" Type="http://schemas.openxmlformats.org/officeDocument/2006/relationships/tags" Target="../tags/tag189.xml"/><Relationship Id="rId3" Type="http://schemas.openxmlformats.org/officeDocument/2006/relationships/image" Target="../media/image11.png"/><Relationship Id="rId2" Type="http://schemas.openxmlformats.org/officeDocument/2006/relationships/tags" Target="../tags/tag188.xml"/><Relationship Id="rId1" Type="http://schemas.openxmlformats.org/officeDocument/2006/relationships/tags" Target="../tags/tag187.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9.xml"/><Relationship Id="rId2" Type="http://schemas.openxmlformats.org/officeDocument/2006/relationships/tags" Target="../tags/tag191.xml"/><Relationship Id="rId1" Type="http://schemas.openxmlformats.org/officeDocument/2006/relationships/tags" Target="../tags/tag190.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9.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image" Target="../media/image12.png"/><Relationship Id="rId1" Type="http://schemas.openxmlformats.org/officeDocument/2006/relationships/tags" Target="../tags/tag196.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9.xml"/><Relationship Id="rId2" Type="http://schemas.openxmlformats.org/officeDocument/2006/relationships/tags" Target="../tags/tag201.xml"/><Relationship Id="rId1" Type="http://schemas.openxmlformats.org/officeDocument/2006/relationships/tags" Target="../tags/tag200.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9.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109538" y="143510"/>
            <a:ext cx="5705475" cy="1322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2800" b="1">
                <a:gradFill>
                  <a:gsLst>
                    <a:gs pos="50000">
                      <a:srgbClr val="ECCFCB"/>
                    </a:gs>
                    <a:gs pos="0">
                      <a:srgbClr val="F2DFDC"/>
                    </a:gs>
                    <a:gs pos="100000">
                      <a:srgbClr val="E5BEB9"/>
                    </a:gs>
                  </a:gsLst>
                  <a:lin scaled="1"/>
                </a:gradFill>
                <a:effectLst/>
                <a:sym typeface="+mn-ea"/>
              </a:rPr>
              <a:t>最</a:t>
            </a:r>
            <a:r>
              <a:rPr lang="zh-CN" altLang="en-US" sz="2800" b="1">
                <a:gradFill>
                  <a:gsLst>
                    <a:gs pos="50000">
                      <a:srgbClr val="ECCFCB"/>
                    </a:gs>
                    <a:gs pos="0">
                      <a:srgbClr val="F2DFDC"/>
                    </a:gs>
                    <a:gs pos="100000">
                      <a:srgbClr val="E5BEB9"/>
                    </a:gs>
                  </a:gsLst>
                  <a:lin scaled="1"/>
                </a:gradFill>
                <a:effectLst/>
                <a:latin typeface="方正粗黑宋简体" panose="02000000000000000000" pitchFamily="2" charset="-122"/>
                <a:ea typeface="方正粗黑宋简体" panose="02000000000000000000" pitchFamily="2" charset="-122"/>
                <a:sym typeface="+mn-ea"/>
              </a:rPr>
              <a:t>新</a:t>
            </a:r>
            <a:r>
              <a:rPr lang="zh-CN" altLang="en-US" sz="2800" b="1">
                <a:gradFill>
                  <a:gsLst>
                    <a:gs pos="50000">
                      <a:srgbClr val="ECCFCB"/>
                    </a:gs>
                    <a:gs pos="0">
                      <a:srgbClr val="F2DFDC"/>
                    </a:gs>
                    <a:gs pos="100000">
                      <a:srgbClr val="E5BEB9"/>
                    </a:gs>
                  </a:gsLst>
                  <a:lin scaled="1"/>
                </a:gradFill>
                <a:effectLst/>
                <a:sym typeface="+mn-ea"/>
              </a:rPr>
              <a:t>修订版</a:t>
            </a:r>
            <a:r>
              <a:rPr lang="zh-CN" altLang="en-US" sz="8000" b="1" spc="-300" dirty="0">
                <a:solidFill>
                  <a:srgbClr val="FFC0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sym typeface="+mn-ea"/>
              </a:rPr>
              <a:t>化学</a:t>
            </a:r>
            <a:r>
              <a:rPr lang="zh-CN" altLang="en-US" sz="2800" b="1">
                <a:solidFill>
                  <a:schemeClr val="accent5">
                    <a:lumMod val="40000"/>
                    <a:lumOff val="60000"/>
                  </a:schemeClr>
                </a:solidFill>
                <a:effectLst/>
                <a:sym typeface="+mn-ea"/>
              </a:rPr>
              <a:t>九年级全册</a:t>
            </a:r>
            <a:endParaRPr lang="zh-CN" altLang="en-US" sz="2800" b="1" spc="-300" dirty="0">
              <a:solidFill>
                <a:schemeClr val="bg1"/>
              </a:solidFill>
              <a:latin typeface="楷体" panose="02010609060101010101" charset="-122"/>
              <a:ea typeface="楷体" panose="02010609060101010101" charset="-122"/>
              <a:sym typeface="+mn-ea"/>
            </a:endParaRPr>
          </a:p>
        </p:txBody>
      </p:sp>
      <p:sp>
        <p:nvSpPr>
          <p:cNvPr id="5" name="标题 4"/>
          <p:cNvSpPr>
            <a:spLocks noGrp="1"/>
          </p:cNvSpPr>
          <p:nvPr>
            <p:ph type="ctrTitle"/>
            <p:custDataLst>
              <p:tags r:id="rId2"/>
            </p:custDataLst>
          </p:nvPr>
        </p:nvSpPr>
        <p:spPr>
          <a:xfrm>
            <a:off x="2946019" y="2215489"/>
            <a:ext cx="7219950" cy="784860"/>
          </a:xfrm>
        </p:spPr>
        <p:txBody>
          <a:bodyPr wrap="none">
            <a:spAutoFit/>
          </a:bodyPr>
          <a:lstStyle/>
          <a:p>
            <a:pPr algn="ctr"/>
            <a:r>
              <a:rPr lang="zh-CN" altLang="en-US" sz="4800" b="1">
                <a:latin typeface="汉仪大隶书简" panose="02010600000101010101" charset="-122"/>
                <a:ea typeface="汉仪大隶书简" panose="02010600000101010101" charset="-122"/>
                <a:cs typeface="汉仪大隶书简" panose="02010600000101010101" charset="-122"/>
              </a:rPr>
              <a:t>第五单元 科 学 探 究</a:t>
            </a:r>
            <a:endParaRPr lang="zh-CN" altLang="en-US" sz="4800" b="1">
              <a:latin typeface="汉仪大隶书简" panose="02010600000101010101" charset="-122"/>
              <a:ea typeface="汉仪大隶书简" panose="02010600000101010101" charset="-122"/>
              <a:cs typeface="汉仪大隶书简" panose="02010600000101010101" charset="-122"/>
            </a:endParaRPr>
          </a:p>
        </p:txBody>
      </p:sp>
      <p:grpSp>
        <p:nvGrpSpPr>
          <p:cNvPr id="4" name="组合 3"/>
          <p:cNvGrpSpPr/>
          <p:nvPr/>
        </p:nvGrpSpPr>
        <p:grpSpPr>
          <a:xfrm>
            <a:off x="3520694" y="3340074"/>
            <a:ext cx="6070600" cy="1691005"/>
            <a:chOff x="3795" y="4917"/>
            <a:chExt cx="9560" cy="2663"/>
          </a:xfrm>
        </p:grpSpPr>
        <p:sp>
          <p:nvSpPr>
            <p:cNvPr id="2" name="文本框 1"/>
            <p:cNvSpPr txBox="1"/>
            <p:nvPr/>
          </p:nvSpPr>
          <p:spPr>
            <a:xfrm>
              <a:off x="6739" y="5375"/>
              <a:ext cx="2353" cy="580"/>
            </a:xfrm>
            <a:prstGeom prst="rect">
              <a:avLst/>
            </a:prstGeom>
            <a:solidFill>
              <a:schemeClr val="bg1"/>
            </a:solidFill>
          </p:spPr>
          <p:txBody>
            <a:bodyPr wrap="square" rtlCol="0">
              <a:spAutoFit/>
            </a:bodyPr>
            <a:lstStyle/>
            <a:p>
              <a:endParaRPr lang="zh-CN" altLang="en-US"/>
            </a:p>
          </p:txBody>
        </p:sp>
        <p:sp>
          <p:nvSpPr>
            <p:cNvPr id="3" name="文本框 2"/>
            <p:cNvSpPr txBox="1"/>
            <p:nvPr>
              <p:custDataLst>
                <p:tags r:id="rId3"/>
              </p:custDataLst>
            </p:nvPr>
          </p:nvSpPr>
          <p:spPr>
            <a:xfrm>
              <a:off x="3795" y="4917"/>
              <a:ext cx="9560" cy="2663"/>
            </a:xfrm>
            <a:prstGeom prst="rect">
              <a:avLst/>
            </a:prstGeom>
            <a:noFill/>
          </p:spPr>
          <p:txBody>
            <a:bodyPr wrap="none" rtlCol="0">
              <a:spAutoFit/>
            </a:bodyPr>
            <a:lstStyle/>
            <a:p>
              <a:pPr algn="ctr">
                <a:lnSpc>
                  <a:spcPct val="130000"/>
                </a:lnSpc>
                <a:defRPr/>
              </a:pPr>
              <a:r>
                <a:rPr lang="zh-CN" sz="44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Times New Roman" panose="02020603050405020304" pitchFamily="18" charset="0"/>
                  <a:ea typeface="方正粗黑宋简体" panose="02000000000000000000" pitchFamily="2" charset="-122"/>
                  <a:cs typeface="Times New Roman" panose="02020603050405020304" pitchFamily="18" charset="0"/>
                  <a:sym typeface="+mn-ea"/>
                </a:rPr>
                <a:t>二、基  础  学  生  实  验  </a:t>
              </a:r>
              <a:endParaRPr lang="zh-CN" sz="44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Times New Roman" panose="02020603050405020304" pitchFamily="18" charset="0"/>
                <a:ea typeface="方正粗黑宋简体" panose="02000000000000000000" pitchFamily="2" charset="-122"/>
                <a:cs typeface="Times New Roman" panose="02020603050405020304" pitchFamily="18" charset="0"/>
                <a:sym typeface="+mn-ea"/>
              </a:endParaRPr>
            </a:p>
            <a:p>
              <a:pPr algn="ctr">
                <a:lnSpc>
                  <a:spcPct val="130000"/>
                </a:lnSpc>
                <a:defRPr/>
              </a:pPr>
              <a:r>
                <a:rPr lang="zh-CN" altLang="en-US" sz="36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方正粗黑宋简体" panose="02000000000000000000" pitchFamily="2" charset="-122"/>
                  <a:ea typeface="方正粗黑宋简体" panose="02000000000000000000" pitchFamily="2" charset="-122"/>
                  <a:sym typeface="+mn-ea"/>
                </a:rPr>
                <a:t>—复习导航</a:t>
              </a:r>
              <a:endParaRPr lang="en-US" altLang="zh-CN" sz="36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Times New Roman" panose="02020603050405020304" pitchFamily="18" charset="0"/>
                <a:ea typeface="汉仪铁山隶书繁" panose="00020600040101010101" charset="-122"/>
                <a:cs typeface="汉仪铁山隶书繁" panose="00020600040101010101" charset="-122"/>
                <a:sym typeface="+mn-ea"/>
              </a:endParaRPr>
            </a:p>
          </p:txBody>
        </p:sp>
      </p:gr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4"/>
          <p:cNvSpPr>
            <a:spLocks noGrp="1"/>
          </p:cNvSpPr>
          <p:nvPr>
            <p:custDataLst>
              <p:tags r:id="rId1"/>
            </p:custDataLst>
          </p:nvPr>
        </p:nvSpPr>
        <p:spPr>
          <a:xfrm>
            <a:off x="1169670" y="141653"/>
            <a:ext cx="3934999"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→考点精解P</a:t>
            </a:r>
            <a:r>
              <a:rPr lang="en-US" alt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90</a:t>
            </a:r>
            <a:endParaRPr lang="en-US" alt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endParaRPr>
          </a:p>
        </p:txBody>
      </p:sp>
      <p:sp>
        <p:nvSpPr>
          <p:cNvPr id="5" name="文本框 4"/>
          <p:cNvSpPr txBox="1"/>
          <p:nvPr>
            <p:custDataLst>
              <p:tags r:id="rId2"/>
            </p:custDataLst>
          </p:nvPr>
        </p:nvSpPr>
        <p:spPr>
          <a:xfrm>
            <a:off x="1169670" y="898525"/>
            <a:ext cx="9981565" cy="312102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lstStyle/>
          <a:p>
            <a:pPr marL="0" marR="0" indent="0" algn="l" defTabSz="914400" rtl="0" fontAlgn="auto" latinLnBrk="1">
              <a:lnSpc>
                <a:spcPct val="18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粗盐提纯：</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粗盐中</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难溶性杂质</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的去除</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粗盐中难溶性杂质的去除主要是指将粗盐中含有的泥沙等不溶性杂质用</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过滤</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的方法除去，然后</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蒸发水分</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得到</a:t>
            </a:r>
            <a:r>
              <a:rPr kumimoji="0" sz="2500" b="1" i="0">
                <a:ln>
                  <a:noFill/>
                </a:ln>
                <a:gradFill>
                  <a:gsLst>
                    <a:gs pos="0">
                      <a:srgbClr val="E30000"/>
                    </a:gs>
                    <a:gs pos="100000">
                      <a:srgbClr val="760303"/>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较纯净</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的精盐的过程。</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具体的操作步骤</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pic>
        <p:nvPicPr>
          <p:cNvPr id="2" name="图片 1"/>
          <p:cNvPicPr>
            <a:picLocks noChangeAspect="1"/>
          </p:cNvPicPr>
          <p:nvPr/>
        </p:nvPicPr>
        <p:blipFill>
          <a:blip r:embed="rId3"/>
          <a:srcRect l="63256" r="6025"/>
          <a:stretch>
            <a:fillRect/>
          </a:stretch>
        </p:blipFill>
        <p:spPr>
          <a:xfrm>
            <a:off x="1764030" y="4106545"/>
            <a:ext cx="1077803" cy="1980000"/>
          </a:xfrm>
          <a:prstGeom prst="rect">
            <a:avLst/>
          </a:prstGeom>
        </p:spPr>
      </p:pic>
      <p:pic>
        <p:nvPicPr>
          <p:cNvPr id="6" name="图片 5"/>
          <p:cNvPicPr>
            <a:picLocks noChangeAspect="1"/>
          </p:cNvPicPr>
          <p:nvPr/>
        </p:nvPicPr>
        <p:blipFill>
          <a:blip r:embed="rId4"/>
          <a:srcRect l="48906"/>
          <a:stretch>
            <a:fillRect/>
          </a:stretch>
        </p:blipFill>
        <p:spPr>
          <a:xfrm>
            <a:off x="3620644" y="4106545"/>
            <a:ext cx="1542240" cy="2268000"/>
          </a:xfrm>
          <a:prstGeom prst="rect">
            <a:avLst/>
          </a:prstGeom>
          <a:ln w="22225" cmpd="tri">
            <a:noFill/>
            <a:prstDash val="dashDot"/>
          </a:ln>
          <a:effectLst>
            <a:outerShdw blurRad="50800" dist="38100" dir="2700000" sx="101000" sy="101000" algn="tl" rotWithShape="0">
              <a:prstClr val="black">
                <a:alpha val="40000"/>
              </a:prstClr>
            </a:outerShdw>
          </a:effectLst>
        </p:spPr>
      </p:pic>
      <p:pic>
        <p:nvPicPr>
          <p:cNvPr id="7" name="图片 6"/>
          <p:cNvPicPr>
            <a:picLocks noChangeAspect="1"/>
          </p:cNvPicPr>
          <p:nvPr/>
        </p:nvPicPr>
        <p:blipFill>
          <a:blip r:embed="rId5"/>
          <a:srcRect l="25624" t="11534" r="49373"/>
          <a:stretch>
            <a:fillRect/>
          </a:stretch>
        </p:blipFill>
        <p:spPr>
          <a:xfrm>
            <a:off x="5878124" y="4106545"/>
            <a:ext cx="1444339" cy="2124000"/>
          </a:xfrm>
          <a:prstGeom prst="rect">
            <a:avLst/>
          </a:prstGeom>
          <a:ln w="22225" cmpd="tri">
            <a:noFill/>
            <a:prstDash val="dashDot"/>
          </a:ln>
          <a:effectLst>
            <a:outerShdw blurRad="50800" dist="38100" dir="2700000" sx="101000" sy="101000" algn="tl" rotWithShape="0">
              <a:prstClr val="black">
                <a:alpha val="40000"/>
              </a:prstClr>
            </a:outerShdw>
          </a:effectLst>
        </p:spPr>
      </p:pic>
      <p:sp>
        <p:nvSpPr>
          <p:cNvPr id="8" name="文本框 7"/>
          <p:cNvSpPr txBox="1"/>
          <p:nvPr/>
        </p:nvSpPr>
        <p:spPr>
          <a:xfrm>
            <a:off x="1853034" y="3501390"/>
            <a:ext cx="899795" cy="475615"/>
          </a:xfrm>
          <a:prstGeom prst="rect">
            <a:avLst/>
          </a:prstGeom>
          <a:noFill/>
        </p:spPr>
        <p:txBody>
          <a:bodyPr wrap="none" rtlCol="0" anchor="t">
            <a:spAutoFit/>
          </a:bodyPr>
          <a:lstStyle/>
          <a:p>
            <a:pPr algn="l" latinLnBrk="1">
              <a:lnSpc>
                <a:spcPct val="100000"/>
              </a:lnSpc>
              <a:spcBef>
                <a:spcPts val="0"/>
              </a:spcBef>
              <a:spcAft>
                <a:spcPts val="0"/>
              </a:spcAft>
              <a:buClrTx/>
              <a:buSzTx/>
              <a:buFontTx/>
            </a:pP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溶解</a:t>
            </a:r>
            <a:endParaRPr lang="zh-CN" altLang="en-US"/>
          </a:p>
        </p:txBody>
      </p:sp>
      <p:sp>
        <p:nvSpPr>
          <p:cNvPr id="9" name="文本框 8"/>
          <p:cNvSpPr txBox="1"/>
          <p:nvPr/>
        </p:nvSpPr>
        <p:spPr>
          <a:xfrm>
            <a:off x="8239229" y="3501390"/>
            <a:ext cx="1776730" cy="475615"/>
          </a:xfrm>
          <a:prstGeom prst="rect">
            <a:avLst/>
          </a:prstGeom>
          <a:noFill/>
        </p:spPr>
        <p:txBody>
          <a:bodyPr wrap="none" rtlCol="0" anchor="t">
            <a:spAutoFit/>
          </a:bodyPr>
          <a:lstStyle/>
          <a:p>
            <a:pPr algn="l" latinLnBrk="1">
              <a:lnSpc>
                <a:spcPct val="100000"/>
              </a:lnSpc>
              <a:spcBef>
                <a:spcPts val="0"/>
              </a:spcBef>
              <a:spcAft>
                <a:spcPts val="0"/>
              </a:spcAft>
              <a:buClrTx/>
              <a:buSzTx/>
              <a:buFontTx/>
            </a:pPr>
            <a:r>
              <a:rPr sz="2500" b="1">
                <a:ln>
                  <a:noFill/>
                </a:ln>
                <a:effectLst/>
                <a:uFillTx/>
                <a:latin typeface="宋体" panose="02010600030101010101" pitchFamily="2" charset="-122"/>
                <a:ea typeface="宋体" panose="02010600030101010101" pitchFamily="2" charset="-122"/>
                <a:cs typeface="Arial" panose="020B0604020202090204" pitchFamily="34"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计算产率</a:t>
            </a:r>
            <a:endParaRPr lang="zh-CN" altLang="en-US"/>
          </a:p>
        </p:txBody>
      </p:sp>
      <p:sp>
        <p:nvSpPr>
          <p:cNvPr id="10" name="文本框 9"/>
          <p:cNvSpPr txBox="1"/>
          <p:nvPr/>
        </p:nvSpPr>
        <p:spPr>
          <a:xfrm>
            <a:off x="3822169" y="3501390"/>
            <a:ext cx="1139190" cy="475615"/>
          </a:xfrm>
          <a:prstGeom prst="rect">
            <a:avLst/>
          </a:prstGeom>
          <a:noFill/>
        </p:spPr>
        <p:txBody>
          <a:bodyPr wrap="none" rtlCol="0" anchor="t">
            <a:spAutoFit/>
          </a:bodyPr>
          <a:lstStyle/>
          <a:p>
            <a:pPr algn="l" latinLnBrk="1">
              <a:lnSpc>
                <a:spcPct val="100000"/>
              </a:lnSpc>
              <a:spcBef>
                <a:spcPts val="0"/>
              </a:spcBef>
              <a:spcAft>
                <a:spcPts val="0"/>
              </a:spcAft>
              <a:buClrTx/>
              <a:buSzTx/>
              <a:buFontTx/>
            </a:pPr>
            <a:r>
              <a:rPr sz="2500" b="1">
                <a:ln>
                  <a:noFill/>
                </a:ln>
                <a:effectLst/>
                <a:uFillTx/>
                <a:latin typeface="宋体" panose="02010600030101010101" pitchFamily="2" charset="-122"/>
                <a:ea typeface="宋体" panose="02010600030101010101" pitchFamily="2" charset="-122"/>
                <a:cs typeface="Arial" panose="020B0604020202090204" pitchFamily="34"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过滤</a:t>
            </a:r>
            <a:endParaRPr lang="zh-CN" altLang="en-US"/>
          </a:p>
        </p:txBody>
      </p:sp>
      <p:sp>
        <p:nvSpPr>
          <p:cNvPr id="11" name="文本框 10"/>
          <p:cNvSpPr txBox="1"/>
          <p:nvPr/>
        </p:nvSpPr>
        <p:spPr>
          <a:xfrm>
            <a:off x="6030699" y="3501390"/>
            <a:ext cx="1139190" cy="475615"/>
          </a:xfrm>
          <a:prstGeom prst="rect">
            <a:avLst/>
          </a:prstGeom>
          <a:noFill/>
        </p:spPr>
        <p:txBody>
          <a:bodyPr wrap="none" rtlCol="0" anchor="t">
            <a:spAutoFit/>
          </a:bodyPr>
          <a:lstStyle/>
          <a:p>
            <a:pPr algn="l" latinLnBrk="1">
              <a:lnSpc>
                <a:spcPct val="100000"/>
              </a:lnSpc>
              <a:spcBef>
                <a:spcPts val="0"/>
              </a:spcBef>
              <a:spcAft>
                <a:spcPts val="0"/>
              </a:spcAft>
              <a:buClrTx/>
              <a:buSzTx/>
              <a:buFontTx/>
            </a:pPr>
            <a:r>
              <a:rPr sz="2500" b="1">
                <a:ln>
                  <a:noFill/>
                </a:ln>
                <a:effectLst/>
                <a:uFillTx/>
                <a:latin typeface="宋体" panose="02010600030101010101" pitchFamily="2" charset="-122"/>
                <a:ea typeface="宋体" panose="02010600030101010101" pitchFamily="2" charset="-122"/>
                <a:cs typeface="Arial" panose="020B0604020202090204" pitchFamily="34"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蒸发</a:t>
            </a:r>
            <a:endParaRPr lang="zh-CN" altLang="en-US"/>
          </a:p>
        </p:txBody>
      </p:sp>
      <p:sp>
        <p:nvSpPr>
          <p:cNvPr id="13" name="文本框 12"/>
          <p:cNvSpPr txBox="1"/>
          <p:nvPr/>
        </p:nvSpPr>
        <p:spPr>
          <a:xfrm>
            <a:off x="7461885" y="4106545"/>
            <a:ext cx="2965148" cy="543258"/>
          </a:xfrm>
          <a:prstGeom prst="roundRect">
            <a:avLst/>
          </a:prstGeom>
          <a:solidFill>
            <a:srgbClr val="F18870">
              <a:lumMod val="20000"/>
              <a:lumOff val="80000"/>
            </a:srgbClr>
          </a:solidFill>
          <a:ln w="22225" cap="flat" cmpd="tri">
            <a:noFill/>
            <a:prstDash val="dashDot"/>
            <a:miter lim="400000"/>
          </a:ln>
          <a:effectLst>
            <a:outerShdw blurRad="50800" dist="38100" dir="2700000" sx="101000" sy="101000" algn="tl" rotWithShape="0">
              <a:prstClr val="black">
                <a:alpha val="40000"/>
              </a:prstClr>
            </a:outerShdw>
          </a:effectLst>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eaLnBrk="1" fontAlgn="auto" latinLnBrk="1" hangingPunct="0">
              <a:lnSpc>
                <a:spcPct val="100000"/>
              </a:lnSpc>
              <a:spcBef>
                <a:spcPts val="0"/>
              </a:spcBef>
              <a:spcAft>
                <a:spcPts val="0"/>
              </a:spcAft>
              <a:buClrTx/>
              <a:buSzTx/>
              <a:buFontTx/>
              <a:buNone/>
            </a:pPr>
            <a:r>
              <a:rPr kumimoji="0" sz="2600" b="1" i="0" u="none" strike="noStrike" cap="none" spc="0" normalizeH="0" baseline="0">
                <a:solidFill>
                  <a:srgbClr val="C00000"/>
                </a:solidFill>
                <a:uFillTx/>
                <a:latin typeface="Times New Roman" panose="02020603050405020304" pitchFamily="18" charset="0"/>
                <a:ea typeface="楷体" panose="02010609060101010101" charset="-122"/>
                <a:sym typeface="Arial" panose="020B0604020202090204"/>
              </a:rPr>
              <a:t>玻璃棒</a:t>
            </a:r>
            <a:r>
              <a:rPr kumimoji="0" lang="zh-CN" sz="2600" b="1" i="0" u="none" strike="noStrike" cap="none" spc="0" normalizeH="0" baseline="0">
                <a:solidFill>
                  <a:srgbClr val="C00000"/>
                </a:solidFill>
                <a:uFillTx/>
                <a:latin typeface="Times New Roman" panose="02020603050405020304" pitchFamily="18" charset="0"/>
                <a:ea typeface="楷体" panose="02010609060101010101" charset="-122"/>
                <a:sym typeface="Arial" panose="020B0604020202090204"/>
              </a:rPr>
              <a:t>作用分别</a:t>
            </a:r>
            <a:r>
              <a:rPr kumimoji="0" sz="2600" b="1" i="0" u="none" strike="noStrike" cap="none" spc="0" normalizeH="0" baseline="0">
                <a:solidFill>
                  <a:srgbClr val="C00000"/>
                </a:solidFill>
                <a:uFillTx/>
                <a:latin typeface="Times New Roman" panose="02020603050405020304" pitchFamily="18" charset="0"/>
                <a:ea typeface="楷体" panose="02010609060101010101" charset="-122"/>
                <a:sym typeface="Arial" panose="020B0604020202090204"/>
              </a:rPr>
              <a:t>是</a:t>
            </a:r>
            <a:r>
              <a:rPr kumimoji="0" lang="en-US" sz="2600" b="1" i="0" u="none" strike="noStrike" cap="none" spc="0" normalizeH="0" baseline="0">
                <a:solidFill>
                  <a:srgbClr val="C00000"/>
                </a:solidFill>
                <a:uFillTx/>
                <a:latin typeface="Times New Roman" panose="02020603050405020304" pitchFamily="18" charset="0"/>
                <a:ea typeface="楷体" panose="02010609060101010101" charset="-122"/>
                <a:sym typeface="Arial" panose="020B0604020202090204"/>
              </a:rPr>
              <a:t>?</a:t>
            </a:r>
            <a:endParaRPr kumimoji="0" lang="en-US" sz="2600" b="1" i="0" u="none" strike="noStrike" cap="none" spc="0" normalizeH="0" baseline="0">
              <a:solidFill>
                <a:srgbClr val="C00000"/>
              </a:solidFill>
              <a:uFillTx/>
              <a:latin typeface="Times New Roman" panose="02020603050405020304" pitchFamily="18" charset="0"/>
              <a:ea typeface="楷体" panose="02010609060101010101" charset="-122"/>
              <a:sym typeface="Arial" panose="020B0604020202090204"/>
            </a:endParaRPr>
          </a:p>
        </p:txBody>
      </p:sp>
    </p:spTree>
    <p:custDataLst>
      <p:tags r:id="rId6"/>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horizontal)">
                                      <p:cBhvr>
                                        <p:cTn id="30" dur="500"/>
                                        <p:tgtEl>
                                          <p:spTgt spid="10"/>
                                        </p:tgtEl>
                                      </p:cBhvr>
                                    </p:animEffect>
                                  </p:childTnLst>
                                </p:cTn>
                              </p:par>
                              <p:par>
                                <p:cTn id="31" presetID="3" presetClass="entr" presetSubtype="1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linds(horizontal)">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par>
                                <p:cTn id="39" presetID="3" presetClass="entr" presetSubtype="1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linds(horizontal)">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linds(horizontal)">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blinds(horizontal)">
                                      <p:cBhvr>
                                        <p:cTn id="5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3"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673100" y="855345"/>
            <a:ext cx="10907395" cy="554482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lstStyle/>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粗盐中含有MgCl</a:t>
            </a:r>
            <a:r>
              <a:rPr kumimoji="0"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、CaCl</a:t>
            </a:r>
            <a:r>
              <a:rPr kumimoji="0"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等杂质，工业提纯粗盐的工艺流程如下图所示：</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endPar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endPar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endPar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Ca(OH)</a:t>
            </a:r>
            <a:r>
              <a:rPr kumimoji="0"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溶液的pH</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填“＞”、“</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”或“＜”</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7。</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步骤①反应的化学方程式为</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步骤③操作a的名称是</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。步骤④加入适量盐酸的目的是除去滤液中的</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若步骤①和步骤②的顺序颠倒，则最后所得的精盐水中还含有</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pic>
        <p:nvPicPr>
          <p:cNvPr id="7" name="图片 6" descr="360截图17140311547492"/>
          <p:cNvPicPr>
            <a:picLocks noChangeAspect="1"/>
          </p:cNvPicPr>
          <p:nvPr/>
        </p:nvPicPr>
        <p:blipFill>
          <a:blip r:embed="rId2"/>
          <a:stretch>
            <a:fillRect/>
          </a:stretch>
        </p:blipFill>
        <p:spPr>
          <a:xfrm>
            <a:off x="989965" y="1397635"/>
            <a:ext cx="9503330" cy="2088000"/>
          </a:xfrm>
          <a:prstGeom prst="rect">
            <a:avLst/>
          </a:prstGeom>
        </p:spPr>
      </p:pic>
      <p:sp>
        <p:nvSpPr>
          <p:cNvPr id="14" name="矩形 13"/>
          <p:cNvSpPr/>
          <p:nvPr>
            <p:custDataLst>
              <p:tags r:id="rId3"/>
            </p:custDataLst>
          </p:nvPr>
        </p:nvSpPr>
        <p:spPr>
          <a:xfrm>
            <a:off x="4012565" y="3500755"/>
            <a:ext cx="342900" cy="475615"/>
          </a:xfrm>
          <a:prstGeom prst="rect">
            <a:avLst/>
          </a:prstGeom>
          <a:noFill/>
          <a:ln w="12700" cap="flat" cmpd="sng" algn="ctr">
            <a:noFill/>
            <a:prstDash val="solid"/>
            <a:miter lim="800000"/>
          </a:ln>
          <a:effectLst/>
          <a:extLst>
            <a:ext uri="{909E8E84-426E-40DD-AFC4-6F175D3DCCD1}">
              <a14:hiddenFill xmlns:a14="http://schemas.microsoft.com/office/drawing/2010/main">
                <a:solidFill>
                  <a:srgbClr val="4D576B">
                    <a:lumMod val="75000"/>
                  </a:srgbClr>
                </a:solidFill>
              </a14:hiddenFill>
            </a:ext>
          </a:extLst>
        </p:spPr>
        <p:txBody>
          <a:bodyPr wrap="none" rtlCol="0" anchor="ctr" anchorCtr="0">
            <a:spAutoFit/>
          </a:bodyPr>
          <a:lstStyle/>
          <a:p>
            <a:pPr algn="ctr" fontAlgn="auto">
              <a:lnSpc>
                <a:spcPct val="100000"/>
              </a:lnSpc>
            </a:pPr>
            <a:r>
              <a:rPr lang="en-US" altLang="zh-CN" sz="2500" b="1">
                <a:ln>
                  <a:noFill/>
                </a:ln>
                <a:gradFill>
                  <a:gsLst>
                    <a:gs pos="0">
                      <a:srgbClr val="7B32B2"/>
                    </a:gs>
                    <a:gs pos="100000">
                      <a:srgbClr val="401A5D"/>
                    </a:gs>
                  </a:gsLst>
                  <a:lin scaled="0"/>
                </a:gradFill>
                <a:effectLst/>
                <a:uFillTx/>
                <a:latin typeface="宋体" panose="02010600030101010101" pitchFamily="2" charset="-122"/>
                <a:ea typeface="宋体" panose="02010600030101010101" pitchFamily="2" charset="-122"/>
                <a:cs typeface="宋体" panose="02010600030101010101" pitchFamily="2" charset="-122"/>
                <a:sym typeface="Arial" panose="020B0604020202090204"/>
              </a:rPr>
              <a:t>&gt;</a:t>
            </a:r>
            <a:endParaRPr lang="en-US" altLang="zh-CN" sz="2500" b="1" kern="0" dirty="0">
              <a:ln>
                <a:noFill/>
              </a:ln>
              <a:gradFill>
                <a:gsLst>
                  <a:gs pos="0">
                    <a:srgbClr val="7B32B2"/>
                  </a:gs>
                  <a:gs pos="100000">
                    <a:srgbClr val="401A5D"/>
                  </a:gs>
                </a:gsLst>
                <a:lin scaled="0"/>
              </a:gradFill>
              <a:effectLst/>
              <a:uFillTx/>
              <a:latin typeface="宋体" panose="02010600030101010101" pitchFamily="2" charset="-122"/>
              <a:ea typeface="宋体" panose="02010600030101010101" pitchFamily="2" charset="-122"/>
              <a:cs typeface="宋体" panose="02010600030101010101" pitchFamily="2" charset="-122"/>
              <a:sym typeface="Arial" panose="020B0604020202090204"/>
            </a:endParaRPr>
          </a:p>
        </p:txBody>
      </p:sp>
      <p:sp>
        <p:nvSpPr>
          <p:cNvPr id="9" name="矩形 8"/>
          <p:cNvSpPr/>
          <p:nvPr>
            <p:custDataLst>
              <p:tags r:id="rId4"/>
            </p:custDataLst>
          </p:nvPr>
        </p:nvSpPr>
        <p:spPr>
          <a:xfrm>
            <a:off x="4672013" y="4083050"/>
            <a:ext cx="5198745" cy="475615"/>
          </a:xfrm>
          <a:prstGeom prst="rect">
            <a:avLst/>
          </a:prstGeom>
          <a:noFill/>
          <a:ln w="12700" cap="flat" cmpd="sng" algn="ctr">
            <a:noFill/>
            <a:prstDash val="solid"/>
            <a:miter lim="800000"/>
          </a:ln>
          <a:effectLst/>
          <a:extLst>
            <a:ext uri="{909E8E84-426E-40DD-AFC4-6F175D3DCCD1}">
              <a14:hiddenFill xmlns:a14="http://schemas.microsoft.com/office/drawing/2010/main">
                <a:solidFill>
                  <a:srgbClr val="4D576B">
                    <a:lumMod val="75000"/>
                  </a:srgbClr>
                </a:solidFill>
              </a14:hiddenFill>
            </a:ext>
          </a:extLst>
        </p:spPr>
        <p:txBody>
          <a:bodyPr wrap="none" rtlCol="0" anchor="ctr" anchorCtr="0">
            <a:spAutoFit/>
          </a:bodyPr>
          <a:lstStyle/>
          <a:p>
            <a:pPr algn="ctr" fontAlgn="auto">
              <a:lnSpc>
                <a:spcPct val="100000"/>
              </a:lnSpc>
            </a:pPr>
            <a:r>
              <a:rPr lang="en-US" altLang="zh-CN" sz="2500" b="1">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Ca(OH)</a:t>
            </a:r>
            <a:r>
              <a:rPr lang="en-US" altLang="zh-CN" sz="2500" b="1" baseline="-25000">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altLang="zh-CN" sz="2500" b="1">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+MgCl</a:t>
            </a:r>
            <a:r>
              <a:rPr lang="en-US" altLang="zh-CN" sz="2500" b="1" baseline="-25000">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altLang="zh-CN" sz="2500" b="1">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=Mg(OH)</a:t>
            </a:r>
            <a:r>
              <a:rPr lang="en-US" altLang="zh-CN" sz="2500" b="1" baseline="-25000">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altLang="zh-CN" sz="2500" b="1">
                <a:ln>
                  <a:noFill/>
                </a:ln>
                <a:gradFill>
                  <a:gsLst>
                    <a:gs pos="0">
                      <a:srgbClr val="7B32B2"/>
                    </a:gs>
                    <a:gs pos="100000">
                      <a:srgbClr val="401A5D"/>
                    </a:gs>
                  </a:gsLst>
                  <a:lin scaled="0"/>
                </a:gradFill>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lang="en-US" altLang="zh-CN" sz="2500" b="1">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+CaCl</a:t>
            </a:r>
            <a:r>
              <a:rPr lang="en-US" altLang="zh-CN" sz="2500" b="1" baseline="-25000">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en-US" altLang="zh-CN" sz="2500" b="1" baseline="-25000">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7" name="矩形 16"/>
          <p:cNvSpPr/>
          <p:nvPr>
            <p:custDataLst>
              <p:tags r:id="rId5"/>
            </p:custDataLst>
          </p:nvPr>
        </p:nvSpPr>
        <p:spPr>
          <a:xfrm>
            <a:off x="4421260" y="4676816"/>
            <a:ext cx="709930" cy="456565"/>
          </a:xfrm>
          <a:prstGeom prst="rect">
            <a:avLst/>
          </a:prstGeom>
          <a:noFill/>
          <a:ln w="12700" cap="flat" cmpd="sng" algn="ctr">
            <a:noFill/>
            <a:prstDash val="solid"/>
            <a:miter lim="800000"/>
          </a:ln>
          <a:effectLst/>
          <a:extLst>
            <a:ext uri="{909E8E84-426E-40DD-AFC4-6F175D3DCCD1}">
              <a14:hiddenFill xmlns:a14="http://schemas.microsoft.com/office/drawing/2010/main">
                <a:solidFill>
                  <a:srgbClr val="58B6E5">
                    <a:lumMod val="50000"/>
                  </a:srgbClr>
                </a:solidFill>
              </a14:hiddenFill>
            </a:ext>
          </a:extLst>
        </p:spPr>
        <p:txBody>
          <a:bodyPr wrap="none" lIns="36195" tIns="36195" rIns="36195" bIns="36195" rtlCol="0" anchor="t" anchorCtr="0">
            <a:spAutoFit/>
          </a:bodyPr>
          <a:lstStyle/>
          <a:p>
            <a:pPr algn="l">
              <a:lnSpc>
                <a:spcPct val="100000"/>
              </a:lnSpc>
              <a:buClrTx/>
              <a:buSzTx/>
              <a:buFontTx/>
            </a:pPr>
            <a:r>
              <a:rPr lang="zh-CN" sz="2500" b="1" kern="0">
                <a:gradFill>
                  <a:gsLst>
                    <a:gs pos="0">
                      <a:srgbClr val="7B32B2"/>
                    </a:gs>
                    <a:gs pos="100000">
                      <a:srgbClr val="401A5D"/>
                    </a:gs>
                  </a:gsLst>
                  <a:lin scaled="0"/>
                </a:gradFill>
                <a:uFillTx/>
                <a:latin typeface="Times New Roman" panose="02020603050405020304" pitchFamily="18" charset="0"/>
                <a:ea typeface="宋体" panose="02010600030101010101" pitchFamily="2" charset="-122"/>
                <a:sym typeface="+mn-ea"/>
              </a:rPr>
              <a:t>过滤</a:t>
            </a:r>
            <a:endParaRPr lang="en-US" altLang="zh-CN" sz="2500" b="1" kern="0" baseline="-25000" dirty="0">
              <a:gradFill>
                <a:gsLst>
                  <a:gs pos="0">
                    <a:srgbClr val="7B32B2"/>
                  </a:gs>
                  <a:gs pos="100000">
                    <a:srgbClr val="401A5D"/>
                  </a:gs>
                </a:gsLst>
                <a:lin scaled="0"/>
              </a:gradFill>
              <a:uFillTx/>
              <a:latin typeface="Times New Roman" panose="02020603050405020304" pitchFamily="18" charset="0"/>
              <a:ea typeface="宋体" panose="02010600030101010101" pitchFamily="2" charset="-122"/>
              <a:sym typeface="+mn-ea"/>
            </a:endParaRPr>
          </a:p>
        </p:txBody>
      </p:sp>
      <p:sp>
        <p:nvSpPr>
          <p:cNvPr id="10" name="矩形 9"/>
          <p:cNvSpPr/>
          <p:nvPr>
            <p:custDataLst>
              <p:tags r:id="rId6"/>
            </p:custDataLst>
          </p:nvPr>
        </p:nvSpPr>
        <p:spPr>
          <a:xfrm>
            <a:off x="1383420" y="5240061"/>
            <a:ext cx="1143635" cy="456565"/>
          </a:xfrm>
          <a:prstGeom prst="rect">
            <a:avLst/>
          </a:prstGeom>
          <a:noFill/>
          <a:ln w="12700" cap="flat" cmpd="sng" algn="ctr">
            <a:noFill/>
            <a:prstDash val="solid"/>
            <a:miter lim="800000"/>
          </a:ln>
          <a:effectLst/>
          <a:extLst>
            <a:ext uri="{909E8E84-426E-40DD-AFC4-6F175D3DCCD1}">
              <a14:hiddenFill xmlns:a14="http://schemas.microsoft.com/office/drawing/2010/main">
                <a:solidFill>
                  <a:srgbClr val="58B6E5">
                    <a:lumMod val="50000"/>
                  </a:srgbClr>
                </a:solidFill>
              </a14:hiddenFill>
            </a:ext>
          </a:extLst>
        </p:spPr>
        <p:txBody>
          <a:bodyPr wrap="none" lIns="36195" tIns="36195" rIns="36195" bIns="36195" rtlCol="0" anchor="t" anchorCtr="0">
            <a:spAutoFit/>
          </a:bodyPr>
          <a:lstStyle/>
          <a:p>
            <a:pPr algn="l">
              <a:lnSpc>
                <a:spcPct val="100000"/>
              </a:lnSpc>
              <a:buClrTx/>
              <a:buSzTx/>
              <a:buFontTx/>
            </a:pPr>
            <a:r>
              <a:rPr sz="2500" b="1">
                <a:ln>
                  <a:noFill/>
                </a:ln>
                <a:solidFill>
                  <a:srgbClr val="7030A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a:t>
            </a:r>
            <a:r>
              <a:rPr sz="2500" b="1" baseline="-25000">
                <a:ln>
                  <a:noFill/>
                </a:ln>
                <a:solidFill>
                  <a:srgbClr val="7030A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sz="2500" b="1">
                <a:ln>
                  <a:noFill/>
                </a:ln>
                <a:solidFill>
                  <a:srgbClr val="7030A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a:t>
            </a:r>
            <a:r>
              <a:rPr sz="2500" b="1" baseline="-25000">
                <a:ln>
                  <a:noFill/>
                </a:ln>
                <a:solidFill>
                  <a:srgbClr val="7030A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endParaRPr lang="zh-CN" altLang="en-US" sz="2500" b="1" kern="0" baseline="-25000" dirty="0">
              <a:ln>
                <a:noFill/>
              </a:ln>
              <a:solidFill>
                <a:srgbClr val="7030A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1" name="矩形 10"/>
          <p:cNvSpPr/>
          <p:nvPr>
            <p:custDataLst>
              <p:tags r:id="rId7"/>
            </p:custDataLst>
          </p:nvPr>
        </p:nvSpPr>
        <p:spPr>
          <a:xfrm>
            <a:off x="10101970" y="5770286"/>
            <a:ext cx="881380" cy="456565"/>
          </a:xfrm>
          <a:prstGeom prst="rect">
            <a:avLst/>
          </a:prstGeom>
          <a:noFill/>
          <a:ln w="12700" cap="flat" cmpd="sng" algn="ctr">
            <a:noFill/>
            <a:prstDash val="solid"/>
            <a:miter lim="800000"/>
          </a:ln>
          <a:effectLst/>
          <a:extLst>
            <a:ext uri="{909E8E84-426E-40DD-AFC4-6F175D3DCCD1}">
              <a14:hiddenFill xmlns:a14="http://schemas.microsoft.com/office/drawing/2010/main">
                <a:solidFill>
                  <a:srgbClr val="58B6E5">
                    <a:lumMod val="50000"/>
                  </a:srgbClr>
                </a:solidFill>
              </a14:hiddenFill>
            </a:ext>
          </a:extLst>
        </p:spPr>
        <p:txBody>
          <a:bodyPr wrap="none" lIns="36195" tIns="36195" rIns="36195" bIns="36195" rtlCol="0" anchor="t" anchorCtr="0">
            <a:spAutoFit/>
          </a:bodyPr>
          <a:lstStyle/>
          <a:p>
            <a:pPr algn="l">
              <a:lnSpc>
                <a:spcPct val="100000"/>
              </a:lnSpc>
              <a:buClrTx/>
              <a:buSzTx/>
              <a:buFontTx/>
            </a:pPr>
            <a:r>
              <a:rPr lang="en-US" altLang="zh-CN" sz="2500" b="1">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CaCl</a:t>
            </a:r>
            <a:r>
              <a:rPr lang="en-US" altLang="zh-CN" sz="2500" b="1" baseline="-25000">
                <a:ln>
                  <a:noFill/>
                </a:ln>
                <a:gradFill>
                  <a:gsLst>
                    <a:gs pos="0">
                      <a:srgbClr val="7B32B2"/>
                    </a:gs>
                    <a:gs pos="100000">
                      <a:srgbClr val="401A5D"/>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zh-CN" altLang="en-US" sz="2500" b="1" kern="0" baseline="-25000" dirty="0">
              <a:gradFill>
                <a:gsLst>
                  <a:gs pos="0">
                    <a:srgbClr val="7B32B2"/>
                  </a:gs>
                  <a:gs pos="100000">
                    <a:srgbClr val="401A5D"/>
                  </a:gs>
                </a:gsLst>
                <a:lin scaled="0"/>
              </a:gradFill>
              <a:uFillTx/>
              <a:latin typeface="Times New Roman" panose="02020603050405020304" pitchFamily="18" charset="0"/>
              <a:ea typeface="宋体" panose="02010600030101010101" pitchFamily="2" charset="-122"/>
              <a:sym typeface="+mn-ea"/>
            </a:endParaRPr>
          </a:p>
        </p:txBody>
      </p:sp>
    </p:spTree>
    <p:custDataLst>
      <p:tags r:id="rId8"/>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blinds(horizontal)">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0" grpId="0" bldLvl="0" animBg="1"/>
      <p:bldP spid="11"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custDataLst>
              <p:tags r:id="rId1"/>
            </p:custDataLst>
          </p:nvPr>
        </p:nvGraphicFramePr>
        <p:xfrm>
          <a:off x="604409" y="478208"/>
          <a:ext cx="11101070" cy="5580090"/>
        </p:xfrm>
        <a:graphic>
          <a:graphicData uri="http://schemas.openxmlformats.org/drawingml/2006/table">
            <a:tbl>
              <a:tblPr firstRow="1" bandRow="1">
                <a:tableStyleId>{5C22544A-7EE6-4342-B048-85BDC9FD1C3A}</a:tableStyleId>
              </a:tblPr>
              <a:tblGrid>
                <a:gridCol w="1331595"/>
                <a:gridCol w="4548505"/>
                <a:gridCol w="5220970"/>
              </a:tblGrid>
              <a:tr h="720090">
                <a:tc gridSpan="3">
                  <a:txBody>
                    <a:bodyPr/>
                    <a:lstStyle/>
                    <a:p>
                      <a:pPr algn="l" latinLnBrk="1">
                        <a:lnSpc>
                          <a:spcPct val="150000"/>
                        </a:lnSpc>
                        <a:buNone/>
                      </a:pPr>
                      <a:r>
                        <a:rPr lang="zh-CN" altLang="en-US" sz="2400" b="1" i="0" baseline="0" dirty="0">
                          <a:solidFill>
                            <a:srgbClr val="FFFFFF"/>
                          </a:solidFill>
                          <a:latin typeface="Times New Roman" panose="02020603050405020304" pitchFamily="18" charset="0"/>
                          <a:ea typeface="方正粗黑宋简体" panose="02000000000000000000" pitchFamily="2" charset="-122"/>
                        </a:rPr>
                        <a:t>2.氧气、二氧化碳的</a:t>
                      </a:r>
                      <a:r>
                        <a:rPr lang="zh-CN" altLang="en-US" sz="2400" b="0" i="0" baseline="0" dirty="0">
                          <a:solidFill>
                            <a:srgbClr val="C00000"/>
                          </a:solidFill>
                          <a:latin typeface="汉仪雅酷黑简" panose="00020600040101010101" charset="-122"/>
                          <a:ea typeface="汉仪雅酷黑简" panose="00020600040101010101" charset="-122"/>
                        </a:rPr>
                        <a:t>实验室制取</a:t>
                      </a:r>
                      <a:r>
                        <a:rPr lang="zh-CN" altLang="en-US" sz="2400" b="1" i="0" baseline="0" dirty="0">
                          <a:solidFill>
                            <a:srgbClr val="FFFFFF"/>
                          </a:solidFill>
                          <a:latin typeface="Times New Roman" panose="02020603050405020304" pitchFamily="18" charset="0"/>
                          <a:ea typeface="方正粗黑宋简体" panose="02000000000000000000" pitchFamily="2" charset="-122"/>
                        </a:rPr>
                        <a:t>和工业制取气体</a:t>
                      </a:r>
                      <a:endParaRPr lang="zh-CN" altLang="en-US" sz="2400" b="1" i="0" baseline="0" dirty="0">
                        <a:solidFill>
                          <a:srgbClr val="FFFFFF"/>
                        </a:solidFill>
                        <a:latin typeface="Times New Roman" panose="02020603050405020304" pitchFamily="18" charset="0"/>
                        <a:ea typeface="方正粗黑宋简体" panose="02000000000000000000" pitchFamily="2" charset="-122"/>
                      </a:endParaRPr>
                    </a:p>
                  </a:txBody>
                  <a:tcPr marL="36195" marR="36195" marT="36195" marB="36195">
                    <a:lnL w="19050" cap="rnd">
                      <a:solidFill>
                        <a:srgbClr val="4A626E"/>
                      </a:solidFill>
                      <a:prstDash val="solid"/>
                    </a:lnL>
                    <a:lnR w="19050">
                      <a:solidFill>
                        <a:srgbClr val="4A626E"/>
                      </a:solidFill>
                      <a:prstDash val="solid"/>
                    </a:lnR>
                    <a:lnT w="19050" cap="rnd">
                      <a:solidFill>
                        <a:srgbClr val="4A626E"/>
                      </a:solidFill>
                      <a:prstDash val="solid"/>
                    </a:lnT>
                    <a:lnB w="19050">
                      <a:solidFill>
                        <a:srgbClr val="4A626E"/>
                      </a:solidFill>
                      <a:prstDash val="solid"/>
                    </a:lnB>
                    <a:solidFill>
                      <a:srgbClr val="4A626E"/>
                    </a:solidFill>
                  </a:tcPr>
                </a:tc>
                <a:tc hMerge="1">
                  <a:tcPr>
                    <a:lnL w="3175">
                      <a:solidFill>
                        <a:srgbClr val="FFFFFF"/>
                      </a:solidFill>
                      <a:prstDash val="dot"/>
                    </a:lnL>
                    <a:lnR w="3175">
                      <a:solidFill>
                        <a:srgbClr val="FFFFFF"/>
                      </a:solidFill>
                      <a:prstDash val="dot"/>
                    </a:lnR>
                    <a:lnT w="19050" cap="rnd">
                      <a:solidFill>
                        <a:srgbClr val="4A626E"/>
                      </a:solidFill>
                      <a:prstDash val="solid"/>
                    </a:lnT>
                    <a:lnB w="19050">
                      <a:solidFill>
                        <a:srgbClr val="4A626E"/>
                      </a:solidFill>
                      <a:prstDash val="solid"/>
                    </a:lnB>
                    <a:solidFill>
                      <a:srgbClr val="4A626E"/>
                    </a:solidFill>
                  </a:tcPr>
                </a:tc>
                <a:tc hMerge="1">
                  <a:tcPr>
                    <a:lnL w="3175">
                      <a:solidFill>
                        <a:srgbClr val="FFFFFF"/>
                      </a:solidFill>
                      <a:prstDash val="dot"/>
                    </a:lnL>
                    <a:lnR w="19050" cap="rnd">
                      <a:solidFill>
                        <a:srgbClr val="4A626E"/>
                      </a:solidFill>
                      <a:prstDash val="solid"/>
                    </a:lnR>
                    <a:lnT w="19050" cap="rnd">
                      <a:solidFill>
                        <a:srgbClr val="4A626E"/>
                      </a:solidFill>
                      <a:prstDash val="solid"/>
                    </a:lnT>
                    <a:lnB w="19050">
                      <a:solidFill>
                        <a:srgbClr val="4A626E"/>
                      </a:solidFill>
                      <a:prstDash val="solid"/>
                    </a:lnB>
                    <a:solidFill>
                      <a:srgbClr val="4A626E"/>
                    </a:solidFill>
                  </a:tcPr>
                </a:tc>
              </a:tr>
              <a:tr h="720000">
                <a:tc>
                  <a:txBody>
                    <a:bodyPr/>
                    <a:lstStyle/>
                    <a:p>
                      <a:pPr algn="ctr" latinLnBrk="1">
                        <a:lnSpc>
                          <a:spcPct val="150000"/>
                        </a:lnSpc>
                      </a:pPr>
                      <a:r>
                        <a:rPr lang="zh-CN" altLang="en-US" sz="2400" b="1" i="0" baseline="0" dirty="0">
                          <a:solidFill>
                            <a:srgbClr val="4A626E"/>
                          </a:solidFill>
                          <a:latin typeface="Times New Roman" panose="02020603050405020304" pitchFamily="18" charset="0"/>
                          <a:ea typeface="方正粗黑宋简体" panose="02000000000000000000" pitchFamily="2" charset="-122"/>
                        </a:rPr>
                        <a:t>气体</a:t>
                      </a:r>
                      <a:endParaRPr lang="zh-CN" altLang="en-US" sz="2400" b="1" i="0" baseline="0"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19050" cap="rnd">
                      <a:solidFill>
                        <a:srgbClr val="4A626E"/>
                      </a:solidFill>
                      <a:prstDash val="solid"/>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a:txBody>
                    <a:bodyPr/>
                    <a:lstStyle/>
                    <a:p>
                      <a:pPr algn="ctr" latinLnBrk="1">
                        <a:lnSpc>
                          <a:spcPct val="150000"/>
                        </a:lnSpc>
                      </a:pPr>
                      <a:r>
                        <a:rPr lang="zh-CN" altLang="en-US" sz="2400" b="1" dirty="0">
                          <a:solidFill>
                            <a:srgbClr val="4A626E"/>
                          </a:solidFill>
                          <a:latin typeface="Times New Roman" panose="02020603050405020304" pitchFamily="18" charset="0"/>
                          <a:ea typeface="方正粗黑宋简体" panose="02000000000000000000" pitchFamily="2" charset="-122"/>
                        </a:rPr>
                        <a:t>氧气</a:t>
                      </a:r>
                      <a:r>
                        <a:rPr lang="en-US" altLang="zh-CN" sz="2400" b="1" dirty="0">
                          <a:solidFill>
                            <a:srgbClr val="4A626E"/>
                          </a:solidFill>
                          <a:latin typeface="Times New Roman" panose="02020603050405020304" pitchFamily="18" charset="0"/>
                          <a:ea typeface="方正粗黑宋简体" panose="02000000000000000000" pitchFamily="2" charset="-122"/>
                        </a:rPr>
                        <a:t>(O</a:t>
                      </a:r>
                      <a:r>
                        <a:rPr lang="en-US" altLang="zh-CN" sz="2400" b="1" baseline="-25000" dirty="0">
                          <a:solidFill>
                            <a:srgbClr val="4A626E"/>
                          </a:solidFill>
                          <a:latin typeface="Times New Roman" panose="02020603050405020304" pitchFamily="18" charset="0"/>
                          <a:ea typeface="方正粗黑宋简体" panose="02000000000000000000" pitchFamily="2" charset="-122"/>
                        </a:rPr>
                        <a:t>2</a:t>
                      </a:r>
                      <a:r>
                        <a:rPr lang="en-US" altLang="zh-CN" sz="2400" b="1" dirty="0">
                          <a:solidFill>
                            <a:srgbClr val="4A626E"/>
                          </a:solidFill>
                          <a:latin typeface="Times New Roman" panose="02020603050405020304" pitchFamily="18" charset="0"/>
                          <a:ea typeface="方正粗黑宋简体" panose="02000000000000000000" pitchFamily="2" charset="-122"/>
                        </a:rPr>
                        <a:t>)</a:t>
                      </a:r>
                      <a:endParaRPr lang="en-US" altLang="zh-CN" sz="2400" b="1"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a:txBody>
                    <a:bodyPr/>
                    <a:lstStyle/>
                    <a:p>
                      <a:pPr algn="ctr" latinLnBrk="1">
                        <a:lnSpc>
                          <a:spcPct val="150000"/>
                        </a:lnSpc>
                      </a:pPr>
                      <a:r>
                        <a:rPr lang="zh-CN" altLang="en-US" sz="2400" b="1" dirty="0">
                          <a:solidFill>
                            <a:srgbClr val="4A626E"/>
                          </a:solidFill>
                          <a:latin typeface="Times New Roman" panose="02020603050405020304" pitchFamily="18" charset="0"/>
                          <a:ea typeface="方正粗黑宋简体" panose="02000000000000000000" pitchFamily="2" charset="-122"/>
                        </a:rPr>
                        <a:t>二氧化碳</a:t>
                      </a:r>
                      <a:r>
                        <a:rPr lang="en-US" altLang="zh-CN" sz="2400" b="1" dirty="0">
                          <a:solidFill>
                            <a:srgbClr val="4A626E"/>
                          </a:solidFill>
                          <a:latin typeface="Times New Roman" panose="02020603050405020304" pitchFamily="18" charset="0"/>
                          <a:ea typeface="方正粗黑宋简体" panose="02000000000000000000" pitchFamily="2" charset="-122"/>
                        </a:rPr>
                        <a:t>(CO</a:t>
                      </a:r>
                      <a:r>
                        <a:rPr lang="en-US" altLang="zh-CN" sz="2400" b="1" baseline="-25000" dirty="0">
                          <a:solidFill>
                            <a:srgbClr val="4A626E"/>
                          </a:solidFill>
                          <a:latin typeface="Times New Roman" panose="02020603050405020304" pitchFamily="18" charset="0"/>
                          <a:ea typeface="方正粗黑宋简体" panose="02000000000000000000" pitchFamily="2" charset="-122"/>
                        </a:rPr>
                        <a:t>2</a:t>
                      </a:r>
                      <a:r>
                        <a:rPr lang="en-US" altLang="zh-CN" sz="2400" b="1" dirty="0">
                          <a:solidFill>
                            <a:srgbClr val="4A626E"/>
                          </a:solidFill>
                          <a:latin typeface="Times New Roman" panose="02020603050405020304" pitchFamily="18" charset="0"/>
                          <a:ea typeface="方正粗黑宋简体" panose="02000000000000000000" pitchFamily="2" charset="-122"/>
                        </a:rPr>
                        <a:t>)</a:t>
                      </a:r>
                      <a:endParaRPr lang="en-US" altLang="zh-CN" sz="2400" b="1"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19050" cap="rnd">
                      <a:solidFill>
                        <a:srgbClr val="4A626E"/>
                      </a:solidFill>
                      <a:prstDash val="solid"/>
                    </a:lnR>
                    <a:lnT w="19050">
                      <a:solidFill>
                        <a:srgbClr val="4A626E"/>
                      </a:solidFill>
                      <a:prstDash val="solid"/>
                    </a:lnT>
                    <a:lnB w="3175">
                      <a:solidFill>
                        <a:srgbClr val="4A626E"/>
                      </a:solidFill>
                      <a:prstDash val="dot"/>
                    </a:lnB>
                    <a:solidFill>
                      <a:srgbClr val="FFFFFF"/>
                    </a:solidFill>
                  </a:tcPr>
                </a:tc>
              </a:tr>
              <a:tr h="1332000">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rPr>
                        <a:t>制备药品</a:t>
                      </a:r>
                      <a:endPar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endParaRPr>
                    </a:p>
                  </a:txBody>
                  <a:tcPr marL="36195" marR="36195" marT="36195" marB="36195" anchor="ctr" anchorCtr="1">
                    <a:lnL w="19050" cap="rnd">
                      <a:solidFill>
                        <a:srgbClr val="4A626E"/>
                      </a:solidFill>
                      <a:prstDash val="solid"/>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txBody>
                  <a:tcPr marL="144145" marR="36195" marT="36195" marB="36195" anchor="ctr">
                    <a:lnL w="3175">
                      <a:solidFill>
                        <a:srgbClr val="4A626E"/>
                      </a:solidFill>
                      <a:prstDash val="dot"/>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sz="2400" b="1" dirty="0">
                        <a:solidFill>
                          <a:srgbClr val="4A626E"/>
                        </a:solidFill>
                        <a:uFillTx/>
                        <a:latin typeface="Times New Roman" panose="02020603050405020304" pitchFamily="18" charset="0"/>
                        <a:ea typeface="宋体" panose="02010600030101010101" pitchFamily="2" charset="-122"/>
                      </a:endParaRPr>
                    </a:p>
                  </a:txBody>
                  <a:tcPr marL="36195" marR="36195" marT="36195" marB="36195" anchor="ctr">
                    <a:lnL w="3175">
                      <a:solidFill>
                        <a:srgbClr val="4A626E"/>
                      </a:solidFill>
                      <a:prstDash val="dot"/>
                    </a:lnL>
                    <a:lnR w="19050" cap="rnd">
                      <a:solidFill>
                        <a:srgbClr val="4A626E"/>
                      </a:solidFill>
                      <a:prstDash val="solid"/>
                    </a:lnR>
                    <a:lnT w="3175">
                      <a:solidFill>
                        <a:srgbClr val="4A626E"/>
                      </a:solidFill>
                      <a:prstDash val="dot"/>
                    </a:lnT>
                    <a:lnB w="19050">
                      <a:solidFill>
                        <a:srgbClr val="4A626E"/>
                      </a:solidFill>
                      <a:prstDash val="solid"/>
                    </a:lnB>
                    <a:solidFill>
                      <a:srgbClr val="FFFFFF"/>
                    </a:solidFill>
                  </a:tcPr>
                </a:tc>
              </a:tr>
              <a:tr h="2088000">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zh-CN" altLang="en-US" sz="2400" b="1" dirty="0">
                          <a:solidFill>
                            <a:srgbClr val="404040"/>
                          </a:solidFill>
                          <a:latin typeface="Times New Roman" panose="02020603050405020304" pitchFamily="18" charset="0"/>
                          <a:ea typeface="方正粗黑宋简体" panose="02000000000000000000" pitchFamily="2" charset="-122"/>
                        </a:rPr>
                        <a:t>反应原理</a:t>
                      </a:r>
                      <a:endParaRPr lang="zh-CN" altLang="en-US" sz="2400" b="1" dirty="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4A626E"/>
                      </a:solidFill>
                      <a:prstDash val="solid"/>
                    </a:lnL>
                    <a:lnR w="3175">
                      <a:solidFill>
                        <a:srgbClr val="4A626E"/>
                      </a:solidFill>
                      <a:prstDash val="dot"/>
                    </a:lnR>
                    <a:lnT w="19050">
                      <a:solidFill>
                        <a:srgbClr val="4A626E"/>
                      </a:solidFill>
                      <a:prstDash val="solid"/>
                    </a:lnT>
                    <a:lnB w="3175">
                      <a:solidFill>
                        <a:srgbClr val="4A626E"/>
                      </a:solidFill>
                      <a:prstDash val="dot"/>
                    </a:lnB>
                    <a:solidFill>
                      <a:srgbClr val="F2F2F2"/>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dirty="0">
                        <a:solidFill>
                          <a:srgbClr val="404040"/>
                        </a:solidFill>
                      </a:endParaRPr>
                    </a:p>
                  </a:txBody>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2F2F2"/>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dirty="0">
                        <a:solidFill>
                          <a:srgbClr val="404040"/>
                        </a:solidFill>
                      </a:endParaRPr>
                    </a:p>
                  </a:txBody>
                  <a:tcPr marL="36195" marR="36195" marT="36195" marB="36195" anchor="ctr">
                    <a:lnL w="3175">
                      <a:solidFill>
                        <a:srgbClr val="4A626E"/>
                      </a:solidFill>
                      <a:prstDash val="dot"/>
                    </a:lnL>
                    <a:lnR w="19050" cap="rnd">
                      <a:solidFill>
                        <a:srgbClr val="4A626E"/>
                      </a:solidFill>
                      <a:prstDash val="solid"/>
                    </a:lnR>
                    <a:lnT w="19050">
                      <a:solidFill>
                        <a:srgbClr val="4A626E"/>
                      </a:solidFill>
                      <a:prstDash val="solid"/>
                    </a:lnT>
                    <a:lnB w="3175">
                      <a:solidFill>
                        <a:srgbClr val="4A626E"/>
                      </a:solidFill>
                      <a:prstDash val="dot"/>
                    </a:lnB>
                    <a:solidFill>
                      <a:srgbClr val="F2F2F2"/>
                    </a:solidFill>
                  </a:tcPr>
                </a:tc>
              </a:tr>
              <a:tr h="720000">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反应类型</a:t>
                      </a:r>
                      <a:endParaRPr lang="zh-CN" altLang="en-US" sz="2400" b="1" dirty="0">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txBody>
                  <a:tcPr marL="36195" marR="36195" marT="36195" marB="36195" anchor="ctr" anchorCtr="1">
                    <a:lnL w="19050" cap="rnd">
                      <a:solidFill>
                        <a:srgbClr val="4A626E"/>
                      </a:solidFill>
                      <a:prstDash val="solid"/>
                    </a:lnL>
                    <a:lnR w="3175">
                      <a:solidFill>
                        <a:srgbClr val="4A626E"/>
                      </a:solidFill>
                      <a:prstDash val="dot"/>
                    </a:lnR>
                    <a:lnT w="3175">
                      <a:solidFill>
                        <a:srgbClr val="4A626E"/>
                      </a:solidFill>
                      <a:prstDash val="dot"/>
                    </a:lnT>
                    <a:lnB w="19050" cap="rnd">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36195" marB="36195">
                    <a:lnL w="3175">
                      <a:solidFill>
                        <a:srgbClr val="4A626E"/>
                      </a:solidFill>
                      <a:prstDash val="dot"/>
                    </a:lnL>
                    <a:lnR w="3175">
                      <a:solidFill>
                        <a:srgbClr val="4A626E"/>
                      </a:solidFill>
                      <a:prstDash val="dot"/>
                    </a:lnR>
                    <a:lnT w="3175">
                      <a:solidFill>
                        <a:srgbClr val="4A626E"/>
                      </a:solidFill>
                      <a:prstDash val="dot"/>
                    </a:lnT>
                    <a:lnB w="19050" cap="rnd">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dirty="0">
                        <a:solidFill>
                          <a:srgbClr val="404040"/>
                        </a:solidFill>
                      </a:endParaRPr>
                    </a:p>
                  </a:txBody>
                  <a:tcPr marL="36195" marR="36195" marT="36195" marB="36195" anchor="ctr">
                    <a:lnL w="3175">
                      <a:solidFill>
                        <a:srgbClr val="4A626E"/>
                      </a:solidFill>
                      <a:prstDash val="dot"/>
                    </a:lnL>
                    <a:lnR w="19050" cap="rnd">
                      <a:solidFill>
                        <a:srgbClr val="4A626E"/>
                      </a:solidFill>
                      <a:prstDash val="solid"/>
                    </a:lnR>
                    <a:lnT w="3175">
                      <a:solidFill>
                        <a:srgbClr val="4A626E"/>
                      </a:solidFill>
                      <a:prstDash val="dot"/>
                    </a:lnT>
                    <a:lnB w="19050" cap="rnd">
                      <a:solidFill>
                        <a:srgbClr val="4A626E"/>
                      </a:solidFill>
                      <a:prstDash val="solid"/>
                    </a:lnB>
                    <a:solidFill>
                      <a:srgbClr val="FFFFFF"/>
                    </a:solidFill>
                  </a:tcPr>
                </a:tc>
              </a:tr>
            </a:tbl>
          </a:graphicData>
        </a:graphic>
      </p:graphicFrame>
      <p:grpSp>
        <p:nvGrpSpPr>
          <p:cNvPr id="3" name="组合 2"/>
          <p:cNvGrpSpPr/>
          <p:nvPr/>
        </p:nvGrpSpPr>
        <p:grpSpPr>
          <a:xfrm>
            <a:off x="2009168" y="3961585"/>
            <a:ext cx="4498340" cy="566420"/>
            <a:chOff x="2900" y="4488"/>
            <a:chExt cx="7084" cy="892"/>
          </a:xfrm>
        </p:grpSpPr>
        <p:sp>
          <p:nvSpPr>
            <p:cNvPr id="14" name="矩形 13"/>
            <p:cNvSpPr/>
            <p:nvPr/>
          </p:nvSpPr>
          <p:spPr>
            <a:xfrm>
              <a:off x="2900" y="4656"/>
              <a:ext cx="7085" cy="725"/>
            </a:xfrm>
            <a:prstGeom prst="rect">
              <a:avLst/>
            </a:prstGeom>
          </p:spPr>
          <p:txBody>
            <a:bodyPr wrap="square">
              <a:spAutoFit/>
            </a:bodyPr>
            <a:lstStyle/>
            <a:p>
              <a:pPr algn="just" latinLnBrk="1">
                <a:lnSpc>
                  <a:spcPct val="100000"/>
                </a:lnSpc>
                <a:spcAft>
                  <a:spcPts val="0"/>
                </a:spcAft>
              </a:pPr>
              <a:r>
                <a:rPr lang="en-US" altLang="zh-CN" sz="2400" b="1" kern="100" dirty="0">
                  <a:solidFill>
                    <a:schemeClr val="tx1">
                      <a:lumMod val="85000"/>
                      <a:lumOff val="15000"/>
                    </a:schemeClr>
                  </a:solidFill>
                  <a:latin typeface="Times New Roman" panose="02020603050405020304"/>
                  <a:ea typeface="宋体" panose="02010600030101010101" pitchFamily="2" charset="-122"/>
                </a:rPr>
                <a:t>2KMnO</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4</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=K</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2</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MnO</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4</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+MnO</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2</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+O</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2</a:t>
              </a:r>
              <a:r>
                <a:rPr lang="en-US" altLang="zh-CN" sz="2400" b="1" kern="100" dirty="0">
                  <a:solidFill>
                    <a:schemeClr val="tx1">
                      <a:lumMod val="85000"/>
                      <a:lumOff val="15000"/>
                    </a:schemeClr>
                  </a:solidFill>
                  <a:latin typeface="宋体" panose="02010600030101010101" pitchFamily="2" charset="-122"/>
                  <a:ea typeface="宋体" panose="02010600030101010101" pitchFamily="2" charset="-122"/>
                </a:rPr>
                <a:t>↑</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 </a:t>
              </a:r>
              <a:endParaRPr lang="en-US" altLang="zh-CN" sz="2400" b="1" kern="100" dirty="0">
                <a:solidFill>
                  <a:schemeClr val="tx1">
                    <a:lumMod val="85000"/>
                    <a:lumOff val="15000"/>
                  </a:schemeClr>
                </a:solidFill>
                <a:latin typeface="Times New Roman" panose="02020603050405020304"/>
                <a:ea typeface="宋体" panose="02010600030101010101" pitchFamily="2" charset="-122"/>
              </a:endParaRPr>
            </a:p>
          </p:txBody>
        </p:sp>
        <p:sp>
          <p:nvSpPr>
            <p:cNvPr id="104" name="矩形 103"/>
            <p:cNvSpPr/>
            <p:nvPr>
              <p:custDataLst>
                <p:tags r:id="rId2"/>
              </p:custDataLst>
            </p:nvPr>
          </p:nvSpPr>
          <p:spPr>
            <a:xfrm>
              <a:off x="4802" y="4488"/>
              <a:ext cx="533" cy="628"/>
            </a:xfrm>
            <a:prstGeom prst="rect">
              <a:avLst/>
            </a:prstGeom>
          </p:spPr>
          <p:txBody>
            <a:bodyPr wrap="none">
              <a:spAutoFit/>
            </a:bodyPr>
            <a:lstStyle/>
            <a:p>
              <a:pPr lvl="0" algn="l"/>
              <a:r>
                <a:rPr lang="zh-CN" altLang="en-US" sz="2000" b="1" dirty="0">
                  <a:solidFill>
                    <a:schemeClr val="tx1"/>
                  </a:solidFill>
                  <a:uFillTx/>
                  <a:latin typeface="宋体" panose="02010600030101010101" pitchFamily="2" charset="-122"/>
                  <a:ea typeface="宋体" panose="02010600030101010101" pitchFamily="2" charset="-122"/>
                  <a:sym typeface="+mn-ea"/>
                </a:rPr>
                <a:t>∆</a:t>
              </a:r>
              <a:endParaRPr lang="zh-CN" altLang="en-US" sz="2000" b="1" kern="100" dirty="0">
                <a:ln>
                  <a:solidFill>
                    <a:schemeClr val="tx1"/>
                  </a:solidFill>
                </a:ln>
                <a:solidFill>
                  <a:schemeClr val="tx1"/>
                </a:solidFill>
                <a:uFillTx/>
                <a:latin typeface="宋体" panose="02010600030101010101" pitchFamily="2" charset="-122"/>
                <a:ea typeface="宋体" panose="02010600030101010101" pitchFamily="2" charset="-122"/>
                <a:sym typeface="+mn-ea"/>
              </a:endParaRPr>
            </a:p>
          </p:txBody>
        </p:sp>
      </p:grpSp>
      <p:grpSp>
        <p:nvGrpSpPr>
          <p:cNvPr id="9" name="组合 8"/>
          <p:cNvGrpSpPr/>
          <p:nvPr/>
        </p:nvGrpSpPr>
        <p:grpSpPr>
          <a:xfrm>
            <a:off x="2009168" y="4542610"/>
            <a:ext cx="3744000" cy="607656"/>
            <a:chOff x="4191" y="8867"/>
            <a:chExt cx="5896" cy="958"/>
          </a:xfrm>
        </p:grpSpPr>
        <p:grpSp>
          <p:nvGrpSpPr>
            <p:cNvPr id="6" name="组合 20"/>
            <p:cNvGrpSpPr/>
            <p:nvPr/>
          </p:nvGrpSpPr>
          <p:grpSpPr>
            <a:xfrm>
              <a:off x="4191" y="8867"/>
              <a:ext cx="5896" cy="958"/>
              <a:chOff x="1289713" y="1279345"/>
              <a:chExt cx="3744000" cy="608292"/>
            </a:xfrm>
          </p:grpSpPr>
          <p:sp>
            <p:nvSpPr>
              <p:cNvPr id="16" name="矩形 15"/>
              <p:cNvSpPr/>
              <p:nvPr/>
            </p:nvSpPr>
            <p:spPr>
              <a:xfrm>
                <a:off x="1289713" y="1316175"/>
                <a:ext cx="3744000" cy="571462"/>
              </a:xfrm>
              <a:prstGeom prst="rect">
                <a:avLst/>
              </a:prstGeom>
            </p:spPr>
            <p:txBody>
              <a:bodyPr wrap="square">
                <a:spAutoFit/>
              </a:bodyPr>
              <a:lstStyle/>
              <a:p>
                <a:pPr algn="just" latinLnBrk="1">
                  <a:lnSpc>
                    <a:spcPct val="130000"/>
                  </a:lnSpc>
                  <a:spcAft>
                    <a:spcPts val="0"/>
                  </a:spcAft>
                </a:pPr>
                <a:r>
                  <a:rPr lang="en-US" altLang="zh-CN" sz="2400" b="1" kern="100" dirty="0">
                    <a:solidFill>
                      <a:schemeClr val="tx1">
                        <a:lumMod val="85000"/>
                        <a:lumOff val="15000"/>
                      </a:schemeClr>
                    </a:solidFill>
                    <a:latin typeface="Times New Roman" panose="02020603050405020304"/>
                    <a:ea typeface="宋体" panose="02010600030101010101" pitchFamily="2" charset="-122"/>
                  </a:rPr>
                  <a:t>2KClO</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3          </a:t>
                </a:r>
                <a:r>
                  <a:rPr lang="en-US" altLang="zh-CN" sz="2400" b="1" kern="100" dirty="0">
                    <a:solidFill>
                      <a:schemeClr val="tx1">
                        <a:lumMod val="85000"/>
                        <a:lumOff val="15000"/>
                      </a:schemeClr>
                    </a:solidFill>
                    <a:latin typeface="Times New Roman" panose="02020603050405020304"/>
                    <a:ea typeface="新宋体" panose="02010609030101010101" charset="-122"/>
                  </a:rPr>
                  <a:t>   </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2KCl+3O</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2</a:t>
                </a:r>
                <a:r>
                  <a:rPr lang="en-US" altLang="zh-CN" sz="2400" b="1" kern="100" dirty="0">
                    <a:solidFill>
                      <a:schemeClr val="tx1">
                        <a:lumMod val="85000"/>
                        <a:lumOff val="15000"/>
                      </a:schemeClr>
                    </a:solidFill>
                    <a:latin typeface="宋体" panose="02010600030101010101" pitchFamily="2" charset="-122"/>
                    <a:ea typeface="宋体" panose="02010600030101010101" pitchFamily="2" charset="-122"/>
                  </a:rPr>
                  <a:t>↑</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 </a:t>
                </a:r>
                <a:r>
                  <a:rPr lang="en-US" altLang="zh-CN" sz="2400" b="1" kern="100" dirty="0">
                    <a:solidFill>
                      <a:srgbClr val="002060"/>
                    </a:solidFill>
                    <a:latin typeface="Times New Roman" panose="02020603050405020304"/>
                    <a:ea typeface="宋体" panose="02010600030101010101" pitchFamily="2" charset="-122"/>
                  </a:rPr>
                  <a:t> </a:t>
                </a:r>
                <a:endParaRPr lang="zh-CN" altLang="zh-CN" sz="2400" kern="100" dirty="0">
                  <a:solidFill>
                    <a:srgbClr val="002060"/>
                  </a:solidFill>
                  <a:latin typeface="Times New Roman" panose="02020603050405020304"/>
                  <a:ea typeface="宋体" panose="02010600030101010101" pitchFamily="2" charset="-122"/>
                </a:endParaRPr>
              </a:p>
            </p:txBody>
          </p:sp>
          <p:sp>
            <p:nvSpPr>
              <p:cNvPr id="1028" name="Text Box 4"/>
              <p:cNvSpPr txBox="1">
                <a:spLocks noChangeArrowheads="1"/>
              </p:cNvSpPr>
              <p:nvPr/>
            </p:nvSpPr>
            <p:spPr bwMode="auto">
              <a:xfrm>
                <a:off x="2362486" y="1279345"/>
                <a:ext cx="870585" cy="471169"/>
              </a:xfrm>
              <a:prstGeom prst="rect">
                <a:avLst/>
              </a:prstGeom>
              <a:noFill/>
              <a:ln w="9525">
                <a:noFill/>
                <a:miter lim="800000"/>
              </a:ln>
            </p:spPr>
            <p:txBody>
              <a:bodyPr vert="horz" wrap="square" lIns="91440" tIns="45720" rIns="91440" bIns="45720" numCol="1" anchor="t" anchorCtr="0" compatLnSpc="1"/>
              <a:lstStyle/>
              <a:p>
                <a:pPr marL="0" marR="0" lvl="0" indent="0" algn="ctr" defTabSz="914400" rtl="0" eaLnBrk="1" fontAlgn="base" latinLnBrk="0" hangingPunct="1">
                  <a:lnSpc>
                    <a:spcPct val="110000"/>
                  </a:lnSpc>
                  <a:spcBef>
                    <a:spcPts val="0"/>
                  </a:spcBef>
                  <a:spcAft>
                    <a:spcPts val="0"/>
                  </a:spcAft>
                  <a:buClrTx/>
                  <a:buSzTx/>
                  <a:buFontTx/>
                  <a:buNone/>
                </a:pPr>
                <a:r>
                  <a:rPr kumimoji="0" lang="en-US" altLang="zh-CN" b="1" i="0" u="none" strike="noStrike" cap="none" normalizeH="0" baseline="0" dirty="0">
                    <a:ln>
                      <a:noFill/>
                    </a:ln>
                    <a:solidFill>
                      <a:schemeClr val="tx1">
                        <a:lumMod val="85000"/>
                        <a:lumOff val="15000"/>
                      </a:schemeClr>
                    </a:solidFill>
                    <a:effectLst/>
                    <a:latin typeface="Times New Roman" panose="02020603050405020304" pitchFamily="18" charset="0"/>
                    <a:ea typeface="宋体" panose="02010600030101010101" pitchFamily="2" charset="-122"/>
                    <a:cs typeface="Times New Roman" panose="02020603050405020304" pitchFamily="18" charset="0"/>
                  </a:rPr>
                  <a:t>MnO</a:t>
                </a:r>
                <a:r>
                  <a:rPr kumimoji="0" lang="en-US" altLang="zh-CN" b="1" i="0" u="none" strike="noStrike" cap="none" normalizeH="0" baseline="-25000" dirty="0">
                    <a:ln>
                      <a:noFill/>
                    </a:ln>
                    <a:solidFill>
                      <a:schemeClr val="tx1">
                        <a:lumMod val="85000"/>
                        <a:lumOff val="15000"/>
                      </a:schemeClr>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000" b="1" i="0" u="none" strike="noStrike" cap="none" normalizeH="0" baseline="-25000" dirty="0">
                    <a:ln>
                      <a:noFill/>
                    </a:ln>
                    <a:solidFill>
                      <a:schemeClr val="tx1">
                        <a:lumMod val="85000"/>
                        <a:lumOff val="15000"/>
                      </a:schemeClr>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n>
                      <a:noFill/>
                    </a:ln>
                    <a:solidFill>
                      <a:schemeClr val="tx1">
                        <a:lumMod val="85000"/>
                        <a:lumOff val="15000"/>
                      </a:schemeClr>
                    </a:solidFill>
                    <a:effectLst/>
                    <a:latin typeface="Calibri" panose="020F0502020204030204" pitchFamily="34" charset="0"/>
                    <a:ea typeface="宋体" panose="02010600030101010101" pitchFamily="2" charset="-122"/>
                    <a:cs typeface="宋体" panose="02010600030101010101" pitchFamily="2" charset="-122"/>
                    <a:sym typeface="+mn-ea"/>
                  </a:rPr>
                  <a:t>△</a:t>
                </a:r>
                <a:r>
                  <a:rPr kumimoji="0" lang="en-US" altLang="zh-CN" sz="2000" b="1" i="0" u="none" strike="noStrike" cap="none" normalizeH="0" baseline="0" dirty="0">
                    <a:ln>
                      <a:noFill/>
                    </a:ln>
                    <a:solidFill>
                      <a:schemeClr val="tx1">
                        <a:lumMod val="85000"/>
                        <a:lumOff val="15000"/>
                      </a:schemeClr>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000" b="1" i="0" u="none" strike="noStrike" cap="none" normalizeH="0" baseline="0" dirty="0">
                    <a:ln>
                      <a:noFill/>
                    </a:ln>
                    <a:solidFill>
                      <a:schemeClr val="tx1">
                        <a:lumMod val="85000"/>
                        <a:lumOff val="15000"/>
                      </a:schemeClr>
                    </a:solidFill>
                    <a:effectLst/>
                    <a:latin typeface="Calibri" panose="020F0502020204030204" pitchFamily="34" charset="0"/>
                    <a:ea typeface="宋体" panose="02010600030101010101" pitchFamily="2" charset="-122"/>
                    <a:cs typeface="宋体" panose="02010600030101010101" pitchFamily="2" charset="-122"/>
                  </a:rPr>
                  <a:t>      </a:t>
                </a:r>
                <a:endParaRPr kumimoji="0" lang="en-US" altLang="zh-CN" sz="1000" b="1" i="0" u="none" strike="noStrike" cap="none" normalizeH="0" baseline="0" dirty="0">
                  <a:ln>
                    <a:noFill/>
                  </a:ln>
                  <a:solidFill>
                    <a:schemeClr val="tx1">
                      <a:lumMod val="85000"/>
                      <a:lumOff val="15000"/>
                    </a:schemeClr>
                  </a:solidFill>
                  <a:effectLst/>
                  <a:latin typeface="Calibri" panose="020F0502020204030204" pitchFamily="34" charset="0"/>
                  <a:ea typeface="宋体" panose="02010600030101010101" pitchFamily="2" charset="-122"/>
                  <a:cs typeface="宋体" panose="02010600030101010101" pitchFamily="2" charset="-122"/>
                </a:endParaRPr>
              </a:p>
            </p:txBody>
          </p:sp>
        </p:grpSp>
        <p:grpSp>
          <p:nvGrpSpPr>
            <p:cNvPr id="124" name="组合 123"/>
            <p:cNvGrpSpPr/>
            <p:nvPr/>
          </p:nvGrpSpPr>
          <p:grpSpPr>
            <a:xfrm>
              <a:off x="5956" y="9410"/>
              <a:ext cx="1134" cy="63"/>
              <a:chOff x="15976" y="6046"/>
              <a:chExt cx="795" cy="63"/>
            </a:xfrm>
          </p:grpSpPr>
          <p:cxnSp>
            <p:nvCxnSpPr>
              <p:cNvPr id="127" name="直接箭头连接符 126"/>
              <p:cNvCxnSpPr/>
              <p:nvPr>
                <p:custDataLst>
                  <p:tags r:id="rId3"/>
                </p:custDataLst>
              </p:nvPr>
            </p:nvCxnSpPr>
            <p:spPr>
              <a:xfrm flipV="1">
                <a:off x="15976" y="6046"/>
                <a:ext cx="786" cy="7"/>
              </a:xfrm>
              <a:prstGeom prst="straightConnector1">
                <a:avLst/>
              </a:prstGeom>
              <a:ln w="1905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28" name="直接箭头连接符 127"/>
              <p:cNvCxnSpPr/>
              <p:nvPr>
                <p:custDataLst>
                  <p:tags r:id="rId4"/>
                </p:custDataLst>
              </p:nvPr>
            </p:nvCxnSpPr>
            <p:spPr>
              <a:xfrm flipV="1">
                <a:off x="15985" y="6102"/>
                <a:ext cx="786" cy="7"/>
              </a:xfrm>
              <a:prstGeom prst="straightConnector1">
                <a:avLst/>
              </a:prstGeom>
              <a:ln w="1905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grpSp>
      </p:grpSp>
      <p:grpSp>
        <p:nvGrpSpPr>
          <p:cNvPr id="10" name="组合 9"/>
          <p:cNvGrpSpPr/>
          <p:nvPr/>
        </p:nvGrpSpPr>
        <p:grpSpPr>
          <a:xfrm>
            <a:off x="2009168" y="3339285"/>
            <a:ext cx="3420000" cy="607695"/>
            <a:chOff x="4479" y="8867"/>
            <a:chExt cx="5386" cy="957"/>
          </a:xfrm>
        </p:grpSpPr>
        <p:grpSp>
          <p:nvGrpSpPr>
            <p:cNvPr id="11" name="组合 20"/>
            <p:cNvGrpSpPr/>
            <p:nvPr/>
          </p:nvGrpSpPr>
          <p:grpSpPr>
            <a:xfrm>
              <a:off x="4479" y="8867"/>
              <a:ext cx="5386" cy="957"/>
              <a:chOff x="1472593" y="1279345"/>
              <a:chExt cx="3420000" cy="607695"/>
            </a:xfrm>
          </p:grpSpPr>
          <p:sp>
            <p:nvSpPr>
              <p:cNvPr id="12" name="矩形 11"/>
              <p:cNvSpPr/>
              <p:nvPr/>
            </p:nvSpPr>
            <p:spPr>
              <a:xfrm>
                <a:off x="1472593" y="1316175"/>
                <a:ext cx="3420000" cy="570865"/>
              </a:xfrm>
              <a:prstGeom prst="rect">
                <a:avLst/>
              </a:prstGeom>
            </p:spPr>
            <p:txBody>
              <a:bodyPr wrap="square">
                <a:spAutoFit/>
              </a:bodyPr>
              <a:lstStyle/>
              <a:p>
                <a:pPr algn="just" latinLnBrk="1">
                  <a:lnSpc>
                    <a:spcPct val="130000"/>
                  </a:lnSpc>
                  <a:spcAft>
                    <a:spcPts val="0"/>
                  </a:spcAft>
                </a:pPr>
                <a:r>
                  <a:rPr lang="en-US" altLang="zh-CN" sz="2400" b="1" kern="100" dirty="0">
                    <a:solidFill>
                      <a:schemeClr val="tx1">
                        <a:lumMod val="85000"/>
                        <a:lumOff val="15000"/>
                      </a:schemeClr>
                    </a:solidFill>
                    <a:latin typeface="Times New Roman" panose="02020603050405020304"/>
                    <a:ea typeface="宋体" panose="02010600030101010101" pitchFamily="2" charset="-122"/>
                  </a:rPr>
                  <a:t>2H</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2</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O</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2          </a:t>
                </a:r>
                <a:r>
                  <a:rPr lang="en-US" altLang="zh-CN" sz="2400" b="1" kern="100" dirty="0">
                    <a:solidFill>
                      <a:schemeClr val="tx1">
                        <a:lumMod val="85000"/>
                        <a:lumOff val="15000"/>
                      </a:schemeClr>
                    </a:solidFill>
                    <a:latin typeface="Times New Roman" panose="02020603050405020304"/>
                    <a:ea typeface="新宋体" panose="02010609030101010101" charset="-122"/>
                  </a:rPr>
                  <a:t>   </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2</a:t>
                </a:r>
                <a:r>
                  <a:rPr lang="en-US" altLang="zh-CN" sz="2400" b="1" kern="100" dirty="0">
                    <a:solidFill>
                      <a:schemeClr val="tx1">
                        <a:lumMod val="85000"/>
                        <a:lumOff val="15000"/>
                      </a:schemeClr>
                    </a:solidFill>
                    <a:latin typeface="Times New Roman" panose="02020603050405020304"/>
                    <a:ea typeface="宋体" panose="02010600030101010101" pitchFamily="2" charset="-122"/>
                    <a:sym typeface="+mn-ea"/>
                  </a:rPr>
                  <a:t>H</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sym typeface="+mn-ea"/>
                  </a:rPr>
                  <a:t>2</a:t>
                </a:r>
                <a:r>
                  <a:rPr lang="en-US" altLang="zh-CN" sz="2400" b="1" kern="100" dirty="0">
                    <a:solidFill>
                      <a:schemeClr val="tx1">
                        <a:lumMod val="85000"/>
                        <a:lumOff val="15000"/>
                      </a:schemeClr>
                    </a:solidFill>
                    <a:latin typeface="Times New Roman" panose="02020603050405020304"/>
                    <a:ea typeface="宋体" panose="02010600030101010101" pitchFamily="2" charset="-122"/>
                    <a:sym typeface="+mn-ea"/>
                  </a:rPr>
                  <a:t>O</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+O</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2</a:t>
                </a:r>
                <a:r>
                  <a:rPr lang="en-US" altLang="zh-CN" sz="2400" b="1" kern="100" dirty="0">
                    <a:solidFill>
                      <a:schemeClr val="tx1">
                        <a:lumMod val="85000"/>
                        <a:lumOff val="15000"/>
                      </a:schemeClr>
                    </a:solidFill>
                    <a:latin typeface="宋体" panose="02010600030101010101" pitchFamily="2" charset="-122"/>
                    <a:ea typeface="宋体" panose="02010600030101010101" pitchFamily="2" charset="-122"/>
                  </a:rPr>
                  <a:t>↑</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 </a:t>
                </a:r>
                <a:r>
                  <a:rPr lang="en-US" altLang="zh-CN" sz="2400" b="1" kern="100" dirty="0">
                    <a:solidFill>
                      <a:srgbClr val="002060"/>
                    </a:solidFill>
                    <a:latin typeface="Times New Roman" panose="02020603050405020304"/>
                    <a:ea typeface="宋体" panose="02010600030101010101" pitchFamily="2" charset="-122"/>
                  </a:rPr>
                  <a:t> </a:t>
                </a:r>
                <a:endParaRPr lang="zh-CN" altLang="zh-CN" sz="2400" kern="100" dirty="0">
                  <a:solidFill>
                    <a:srgbClr val="002060"/>
                  </a:solidFill>
                  <a:latin typeface="Times New Roman" panose="02020603050405020304"/>
                  <a:ea typeface="宋体" panose="02010600030101010101" pitchFamily="2" charset="-122"/>
                </a:endParaRPr>
              </a:p>
            </p:txBody>
          </p:sp>
          <p:sp>
            <p:nvSpPr>
              <p:cNvPr id="13" name="Text Box 4"/>
              <p:cNvSpPr txBox="1">
                <a:spLocks noChangeArrowheads="1"/>
              </p:cNvSpPr>
              <p:nvPr/>
            </p:nvSpPr>
            <p:spPr bwMode="auto">
              <a:xfrm>
                <a:off x="2362486" y="1279345"/>
                <a:ext cx="870585" cy="471169"/>
              </a:xfrm>
              <a:prstGeom prst="rect">
                <a:avLst/>
              </a:prstGeom>
              <a:noFill/>
              <a:ln w="9525">
                <a:noFill/>
                <a:miter lim="800000"/>
              </a:ln>
            </p:spPr>
            <p:txBody>
              <a:bodyPr vert="horz" wrap="square" lIns="91440" tIns="45720" rIns="91440" bIns="45720" numCol="1" anchor="t" anchorCtr="0" compatLnSpc="1"/>
              <a:lstStyle/>
              <a:p>
                <a:pPr marL="0" marR="0" lvl="0" indent="0" algn="ctr" defTabSz="914400" rtl="0" eaLnBrk="1" fontAlgn="base" latinLnBrk="0" hangingPunct="1">
                  <a:lnSpc>
                    <a:spcPct val="110000"/>
                  </a:lnSpc>
                  <a:spcBef>
                    <a:spcPts val="0"/>
                  </a:spcBef>
                  <a:spcAft>
                    <a:spcPts val="0"/>
                  </a:spcAft>
                  <a:buClrTx/>
                  <a:buSzTx/>
                  <a:buFontTx/>
                  <a:buNone/>
                </a:pPr>
                <a:r>
                  <a:rPr kumimoji="0" lang="en-US" altLang="zh-CN" b="1" i="0" u="none" strike="noStrike" cap="none" normalizeH="0" baseline="0" dirty="0">
                    <a:ln>
                      <a:noFill/>
                    </a:ln>
                    <a:solidFill>
                      <a:schemeClr val="tx1">
                        <a:lumMod val="85000"/>
                        <a:lumOff val="15000"/>
                      </a:schemeClr>
                    </a:solidFill>
                    <a:effectLst/>
                    <a:latin typeface="Times New Roman" panose="02020603050405020304" pitchFamily="18" charset="0"/>
                    <a:ea typeface="宋体" panose="02010600030101010101" pitchFamily="2" charset="-122"/>
                    <a:cs typeface="Times New Roman" panose="02020603050405020304" pitchFamily="18" charset="0"/>
                  </a:rPr>
                  <a:t>MnO</a:t>
                </a:r>
                <a:r>
                  <a:rPr kumimoji="0" lang="en-US" altLang="zh-CN" b="1" i="0" u="none" strike="noStrike" cap="none" normalizeH="0" baseline="-25000" dirty="0">
                    <a:ln>
                      <a:noFill/>
                    </a:ln>
                    <a:solidFill>
                      <a:schemeClr val="tx1">
                        <a:lumMod val="85000"/>
                        <a:lumOff val="15000"/>
                      </a:schemeClr>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b="1" i="0" u="none" strike="noStrike" cap="none" normalizeH="0" baseline="-25000" dirty="0">
                  <a:ln>
                    <a:noFill/>
                  </a:ln>
                  <a:solidFill>
                    <a:schemeClr val="tx1">
                      <a:lumMod val="85000"/>
                      <a:lumOff val="1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10000"/>
                  </a:lnSpc>
                  <a:spcBef>
                    <a:spcPts val="0"/>
                  </a:spcBef>
                  <a:spcAft>
                    <a:spcPts val="0"/>
                  </a:spcAft>
                  <a:buClrTx/>
                  <a:buSzTx/>
                  <a:buFontTx/>
                  <a:buNone/>
                </a:pPr>
                <a:r>
                  <a:rPr kumimoji="0" lang="en-US" altLang="zh-CN" sz="2000" b="1" i="0" u="none" strike="noStrike" cap="none" normalizeH="0" baseline="-25000" dirty="0">
                    <a:ln>
                      <a:noFill/>
                    </a:ln>
                    <a:solidFill>
                      <a:schemeClr val="tx1">
                        <a:lumMod val="85000"/>
                        <a:lumOff val="15000"/>
                      </a:schemeClr>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chemeClr val="tx1">
                        <a:lumMod val="85000"/>
                        <a:lumOff val="15000"/>
                      </a:schemeClr>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000" b="1" i="0" u="none" strike="noStrike" cap="none" normalizeH="0" baseline="0" dirty="0">
                    <a:ln>
                      <a:noFill/>
                    </a:ln>
                    <a:solidFill>
                      <a:schemeClr val="tx1">
                        <a:lumMod val="85000"/>
                        <a:lumOff val="15000"/>
                      </a:schemeClr>
                    </a:solidFill>
                    <a:effectLst/>
                    <a:latin typeface="Calibri" panose="020F0502020204030204" pitchFamily="34" charset="0"/>
                    <a:ea typeface="宋体" panose="02010600030101010101" pitchFamily="2" charset="-122"/>
                    <a:cs typeface="宋体" panose="02010600030101010101" pitchFamily="2" charset="-122"/>
                  </a:rPr>
                  <a:t>      </a:t>
                </a:r>
                <a:endParaRPr kumimoji="0" lang="en-US" altLang="zh-CN" sz="1000" b="1" i="0" u="none" strike="noStrike" cap="none" normalizeH="0" baseline="0" dirty="0">
                  <a:ln>
                    <a:noFill/>
                  </a:ln>
                  <a:solidFill>
                    <a:schemeClr val="tx1">
                      <a:lumMod val="85000"/>
                      <a:lumOff val="15000"/>
                    </a:schemeClr>
                  </a:solidFill>
                  <a:effectLst/>
                  <a:latin typeface="Calibri" panose="020F0502020204030204" pitchFamily="34" charset="0"/>
                  <a:ea typeface="宋体" panose="02010600030101010101" pitchFamily="2" charset="-122"/>
                  <a:cs typeface="宋体" panose="02010600030101010101" pitchFamily="2" charset="-122"/>
                </a:endParaRPr>
              </a:p>
            </p:txBody>
          </p:sp>
        </p:grpSp>
        <p:grpSp>
          <p:nvGrpSpPr>
            <p:cNvPr id="15" name="组合 14"/>
            <p:cNvGrpSpPr/>
            <p:nvPr/>
          </p:nvGrpSpPr>
          <p:grpSpPr>
            <a:xfrm>
              <a:off x="5956" y="9410"/>
              <a:ext cx="1134" cy="63"/>
              <a:chOff x="15976" y="6046"/>
              <a:chExt cx="795" cy="63"/>
            </a:xfrm>
          </p:grpSpPr>
          <p:cxnSp>
            <p:nvCxnSpPr>
              <p:cNvPr id="17" name="直接箭头连接符 16"/>
              <p:cNvCxnSpPr/>
              <p:nvPr>
                <p:custDataLst>
                  <p:tags r:id="rId5"/>
                </p:custDataLst>
              </p:nvPr>
            </p:nvCxnSpPr>
            <p:spPr>
              <a:xfrm flipV="1">
                <a:off x="15976" y="6046"/>
                <a:ext cx="786" cy="7"/>
              </a:xfrm>
              <a:prstGeom prst="straightConnector1">
                <a:avLst/>
              </a:prstGeom>
              <a:ln w="1905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custDataLst>
                  <p:tags r:id="rId6"/>
                </p:custDataLst>
              </p:nvPr>
            </p:nvCxnSpPr>
            <p:spPr>
              <a:xfrm flipV="1">
                <a:off x="15985" y="6102"/>
                <a:ext cx="786" cy="7"/>
              </a:xfrm>
              <a:prstGeom prst="straightConnector1">
                <a:avLst/>
              </a:prstGeom>
              <a:ln w="1905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grpSp>
      </p:grpSp>
      <p:sp>
        <p:nvSpPr>
          <p:cNvPr id="23" name="矩形 22"/>
          <p:cNvSpPr/>
          <p:nvPr/>
        </p:nvSpPr>
        <p:spPr>
          <a:xfrm>
            <a:off x="6586220" y="3971925"/>
            <a:ext cx="4716000" cy="570865"/>
          </a:xfrm>
          <a:prstGeom prst="rect">
            <a:avLst/>
          </a:prstGeom>
        </p:spPr>
        <p:txBody>
          <a:bodyPr wrap="square">
            <a:spAutoFit/>
          </a:bodyPr>
          <a:lstStyle/>
          <a:p>
            <a:pPr lvl="0" latinLnBrk="1">
              <a:lnSpc>
                <a:spcPct val="130000"/>
              </a:lnSpc>
              <a:defRPr/>
            </a:pPr>
            <a:r>
              <a:rPr lang="en-US" altLang="zh-CN" sz="2400" b="1" kern="100" dirty="0">
                <a:solidFill>
                  <a:schemeClr val="tx1">
                    <a:lumMod val="85000"/>
                    <a:lumOff val="15000"/>
                  </a:schemeClr>
                </a:solidFill>
                <a:latin typeface="Times New Roman" panose="02020603050405020304"/>
                <a:ea typeface="宋体" panose="02010600030101010101" pitchFamily="2" charset="-122"/>
              </a:rPr>
              <a:t>CaCO</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3</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+2HCl=CaCl</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2</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+H</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2</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O+CO</a:t>
            </a:r>
            <a:r>
              <a:rPr lang="en-US" altLang="zh-CN" sz="2400" b="1" kern="100" baseline="-25000" dirty="0">
                <a:solidFill>
                  <a:schemeClr val="tx1">
                    <a:lumMod val="85000"/>
                    <a:lumOff val="15000"/>
                  </a:schemeClr>
                </a:solidFill>
                <a:latin typeface="Times New Roman" panose="02020603050405020304"/>
                <a:ea typeface="宋体" panose="02010600030101010101" pitchFamily="2" charset="-122"/>
              </a:rPr>
              <a:t>2</a:t>
            </a:r>
            <a:r>
              <a:rPr lang="en-US" altLang="zh-CN" sz="2400" b="1" kern="100" dirty="0">
                <a:solidFill>
                  <a:schemeClr val="tx1">
                    <a:lumMod val="85000"/>
                    <a:lumOff val="15000"/>
                  </a:schemeClr>
                </a:solidFill>
                <a:latin typeface="宋体" panose="02010600030101010101" pitchFamily="2" charset="-122"/>
                <a:ea typeface="宋体" panose="02010600030101010101" pitchFamily="2" charset="-122"/>
              </a:rPr>
              <a:t>↑</a:t>
            </a:r>
            <a:r>
              <a:rPr lang="en-US" altLang="zh-CN" sz="2400" b="1" kern="100" dirty="0">
                <a:solidFill>
                  <a:schemeClr val="tx1">
                    <a:lumMod val="85000"/>
                    <a:lumOff val="15000"/>
                  </a:schemeClr>
                </a:solidFill>
                <a:latin typeface="Times New Roman" panose="02020603050405020304"/>
                <a:ea typeface="宋体" panose="02010600030101010101" pitchFamily="2" charset="-122"/>
              </a:rPr>
              <a:t> </a:t>
            </a:r>
            <a:endParaRPr lang="en-US" altLang="zh-CN" sz="2400" b="1" kern="100" dirty="0">
              <a:solidFill>
                <a:schemeClr val="tx1">
                  <a:lumMod val="85000"/>
                  <a:lumOff val="15000"/>
                </a:schemeClr>
              </a:solidFill>
              <a:latin typeface="Times New Roman" panose="02020603050405020304"/>
              <a:ea typeface="宋体" panose="02010600030101010101" pitchFamily="2" charset="-122"/>
            </a:endParaRPr>
          </a:p>
        </p:txBody>
      </p:sp>
      <p:sp>
        <p:nvSpPr>
          <p:cNvPr id="19" name="文本框 18"/>
          <p:cNvSpPr txBox="1"/>
          <p:nvPr/>
        </p:nvSpPr>
        <p:spPr>
          <a:xfrm>
            <a:off x="2009168" y="1981200"/>
            <a:ext cx="4292600" cy="1198880"/>
          </a:xfrm>
          <a:prstGeom prst="rect">
            <a:avLst/>
          </a:prstGeom>
          <a:noFill/>
        </p:spPr>
        <p:txBody>
          <a:bodyPr wrap="square" rtlCol="0" anchor="t">
            <a:spAutoFit/>
          </a:bodyPr>
          <a:lstStyle/>
          <a:p>
            <a:pPr algn="l"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方案1：过氧化氢和二氧化锰</a:t>
            </a:r>
            <a:endParaRPr lang="zh-CN" altLang="en-US" sz="2400" b="1" dirty="0">
              <a:solidFill>
                <a:srgbClr val="4A626E"/>
              </a:solidFill>
              <a:uFillTx/>
              <a:latin typeface="Times New Roman" panose="02020603050405020304" pitchFamily="18" charset="0"/>
              <a:ea typeface="宋体" panose="02010600030101010101" pitchFamily="2" charset="-122"/>
            </a:endParaRPr>
          </a:p>
          <a:p>
            <a:pPr algn="l"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方案2：高锰酸钾</a:t>
            </a:r>
            <a:endParaRPr lang="zh-CN" altLang="en-US" sz="2400" b="1" dirty="0">
              <a:solidFill>
                <a:srgbClr val="4A626E"/>
              </a:solidFill>
              <a:uFillTx/>
              <a:latin typeface="Times New Roman" panose="02020603050405020304" pitchFamily="18" charset="0"/>
              <a:ea typeface="宋体" panose="02010600030101010101" pitchFamily="2" charset="-122"/>
            </a:endParaRPr>
          </a:p>
          <a:p>
            <a:pPr algn="l"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方案</a:t>
            </a:r>
            <a:r>
              <a:rPr lang="en-US" altLang="zh-CN" sz="2400" b="1" dirty="0">
                <a:solidFill>
                  <a:srgbClr val="4A626E"/>
                </a:solidFill>
                <a:uFillTx/>
                <a:latin typeface="Times New Roman" panose="02020603050405020304" pitchFamily="18" charset="0"/>
                <a:ea typeface="宋体" panose="02010600030101010101" pitchFamily="2" charset="-122"/>
                <a:sym typeface="+mn-ea"/>
              </a:rPr>
              <a:t>3</a:t>
            </a:r>
            <a:r>
              <a:rPr lang="zh-CN" altLang="en-US" sz="2400" b="1" dirty="0">
                <a:solidFill>
                  <a:srgbClr val="4A626E"/>
                </a:solidFill>
                <a:uFillTx/>
                <a:latin typeface="Times New Roman" panose="02020603050405020304" pitchFamily="18" charset="0"/>
                <a:ea typeface="宋体" panose="02010600030101010101" pitchFamily="2" charset="-122"/>
                <a:sym typeface="+mn-ea"/>
              </a:rPr>
              <a:t>：氯酸钾与二氧化锰</a:t>
            </a:r>
            <a:endParaRPr lang="zh-CN" altLang="en-US"/>
          </a:p>
        </p:txBody>
      </p:sp>
      <p:sp>
        <p:nvSpPr>
          <p:cNvPr id="20" name="文本框 19"/>
          <p:cNvSpPr txBox="1"/>
          <p:nvPr/>
        </p:nvSpPr>
        <p:spPr>
          <a:xfrm>
            <a:off x="6586220" y="2350453"/>
            <a:ext cx="3752850" cy="460375"/>
          </a:xfrm>
          <a:prstGeom prst="rect">
            <a:avLst/>
          </a:prstGeom>
          <a:noFill/>
        </p:spPr>
        <p:txBody>
          <a:bodyPr wrap="none" rtlCol="0" anchor="t">
            <a:spAutoFit/>
          </a:bodyPr>
          <a:lstStyle/>
          <a:p>
            <a:pPr algn="l"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大理石</a:t>
            </a:r>
            <a:r>
              <a:rPr lang="en-US" altLang="zh-CN" sz="2400" b="1" dirty="0">
                <a:solidFill>
                  <a:srgbClr val="4A626E"/>
                </a:solidFill>
                <a:uFillTx/>
                <a:latin typeface="Times New Roman" panose="02020603050405020304" pitchFamily="18" charset="0"/>
                <a:ea typeface="宋体" panose="02010600030101010101" pitchFamily="2" charset="-122"/>
                <a:sym typeface="+mn-ea"/>
              </a:rPr>
              <a:t>(</a:t>
            </a:r>
            <a:r>
              <a:rPr lang="zh-CN" altLang="en-US" sz="2400" b="1" dirty="0">
                <a:solidFill>
                  <a:srgbClr val="4A626E"/>
                </a:solidFill>
                <a:uFillTx/>
                <a:latin typeface="Times New Roman" panose="02020603050405020304" pitchFamily="18" charset="0"/>
                <a:ea typeface="宋体" panose="02010600030101010101" pitchFamily="2" charset="-122"/>
                <a:sym typeface="+mn-ea"/>
              </a:rPr>
              <a:t>或石灰石</a:t>
            </a:r>
            <a:r>
              <a:rPr lang="en-US" altLang="zh-CN" sz="2400" b="1" dirty="0">
                <a:solidFill>
                  <a:srgbClr val="4A626E"/>
                </a:solidFill>
                <a:uFillTx/>
                <a:latin typeface="Times New Roman" panose="02020603050405020304" pitchFamily="18" charset="0"/>
                <a:ea typeface="宋体" panose="02010600030101010101" pitchFamily="2" charset="-122"/>
                <a:sym typeface="+mn-ea"/>
              </a:rPr>
              <a:t>)</a:t>
            </a:r>
            <a:r>
              <a:rPr lang="zh-CN" altLang="en-US" sz="2400" b="1" dirty="0">
                <a:solidFill>
                  <a:srgbClr val="4A626E"/>
                </a:solidFill>
                <a:uFillTx/>
                <a:latin typeface="Times New Roman" panose="02020603050405020304" pitchFamily="18" charset="0"/>
                <a:ea typeface="宋体" panose="02010600030101010101" pitchFamily="2" charset="-122"/>
                <a:sym typeface="+mn-ea"/>
              </a:rPr>
              <a:t>和稀盐酸</a:t>
            </a:r>
            <a:endParaRPr lang="zh-CN" altLang="en-US"/>
          </a:p>
        </p:txBody>
      </p:sp>
      <p:sp>
        <p:nvSpPr>
          <p:cNvPr id="21" name="文本框 20"/>
          <p:cNvSpPr txBox="1"/>
          <p:nvPr/>
        </p:nvSpPr>
        <p:spPr>
          <a:xfrm>
            <a:off x="2009168" y="5476875"/>
            <a:ext cx="1407160" cy="460375"/>
          </a:xfrm>
          <a:prstGeom prst="rect">
            <a:avLst/>
          </a:prstGeom>
          <a:noFill/>
        </p:spPr>
        <p:txBody>
          <a:bodyPr wrap="none" rtlCol="0" anchor="t">
            <a:spAutoFit/>
          </a:bodyPr>
          <a:lstStyle/>
          <a:p>
            <a:pPr algn="l" latinLnBrk="1">
              <a:spcBef>
                <a:spcPts val="0"/>
              </a:spcBef>
              <a:spcAft>
                <a:spcPts val="0"/>
              </a:spcAft>
              <a:buClrTx/>
              <a:buSzTx/>
              <a:buFontTx/>
              <a:defRPr/>
            </a:pPr>
            <a:r>
              <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mn-ea"/>
              </a:rPr>
              <a:t>分解反应</a:t>
            </a:r>
            <a:endParaRPr lang="zh-CN" altLang="en-US"/>
          </a:p>
        </p:txBody>
      </p:sp>
      <p:sp>
        <p:nvSpPr>
          <p:cNvPr id="22" name="文本框 21"/>
          <p:cNvSpPr txBox="1"/>
          <p:nvPr/>
        </p:nvSpPr>
        <p:spPr>
          <a:xfrm>
            <a:off x="6586220" y="5476875"/>
            <a:ext cx="1713230" cy="460375"/>
          </a:xfrm>
          <a:prstGeom prst="rect">
            <a:avLst/>
          </a:prstGeom>
          <a:noFill/>
        </p:spPr>
        <p:txBody>
          <a:bodyPr wrap="none" rtlCol="0" anchor="t">
            <a:spAutoFit/>
          </a:bodyPr>
          <a:lstStyle/>
          <a:p>
            <a:pPr algn="l" latinLnBrk="1">
              <a:spcBef>
                <a:spcPts val="0"/>
              </a:spcBef>
              <a:spcAft>
                <a:spcPts val="0"/>
              </a:spcAft>
              <a:buClrTx/>
              <a:buSzTx/>
              <a:buFontTx/>
              <a:defRPr/>
            </a:pPr>
            <a:r>
              <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mn-ea"/>
              </a:rPr>
              <a:t>复分解反应</a:t>
            </a:r>
            <a:endParaRPr lang="zh-CN" altLang="en-US"/>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blinds(horizontal)">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blinds(horizontal)">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blinds(horizontal)">
                                      <p:cBhvr>
                                        <p:cTn id="17" dur="500"/>
                                        <p:tgtEl>
                                          <p:spTgt spid="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
                                            <p:txEl>
                                              <p:pRg st="0" end="0"/>
                                            </p:txEl>
                                          </p:spTgt>
                                        </p:tgtEl>
                                        <p:attrNameLst>
                                          <p:attrName>style.visibility</p:attrName>
                                        </p:attrNameLst>
                                      </p:cBhvr>
                                      <p:to>
                                        <p:strVal val="visible"/>
                                      </p:to>
                                    </p:set>
                                    <p:animEffect transition="in" filter="blinds(horizontal)">
                                      <p:cBhvr>
                                        <p:cTn id="22" dur="500"/>
                                        <p:tgtEl>
                                          <p:spTgt spid="2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linds(horizontal)">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linds(horizontal)">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blinds(horizontal)">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blinds(horizontal)">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blinds(horizontal)">
                                      <p:cBhvr>
                                        <p:cTn id="5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custDataLst>
              <p:tags r:id="rId1"/>
            </p:custDataLst>
          </p:nvPr>
        </p:nvGraphicFramePr>
        <p:xfrm>
          <a:off x="517414" y="388038"/>
          <a:ext cx="11160000" cy="5435895"/>
        </p:xfrm>
        <a:graphic>
          <a:graphicData uri="http://schemas.openxmlformats.org/drawingml/2006/table">
            <a:tbl>
              <a:tblPr firstRow="1" bandRow="1">
                <a:tableStyleId>{5C22544A-7EE6-4342-B048-85BDC9FD1C3A}</a:tableStyleId>
              </a:tblPr>
              <a:tblGrid>
                <a:gridCol w="1656080"/>
                <a:gridCol w="3167920"/>
                <a:gridCol w="2789555"/>
                <a:gridCol w="3546445"/>
              </a:tblGrid>
              <a:tr h="683895">
                <a:tc gridSpan="4">
                  <a:txBody>
                    <a:bodyPr/>
                    <a:lstStyle/>
                    <a:p>
                      <a:pPr algn="l" latinLnBrk="1">
                        <a:lnSpc>
                          <a:spcPct val="150000"/>
                        </a:lnSpc>
                        <a:buNone/>
                      </a:pPr>
                      <a:r>
                        <a:rPr lang="zh-CN" altLang="en-US" sz="2400" b="1" i="0" baseline="0" dirty="0">
                          <a:solidFill>
                            <a:srgbClr val="FFFFFF"/>
                          </a:solidFill>
                          <a:latin typeface="Times New Roman" panose="02020603050405020304" pitchFamily="18" charset="0"/>
                          <a:ea typeface="方正粗黑宋简体" panose="02000000000000000000" pitchFamily="2" charset="-122"/>
                        </a:rPr>
                        <a:t>2. 氧气、二氧化碳的实验室制取和工业制取气体</a:t>
                      </a:r>
                      <a:endParaRPr lang="zh-CN" altLang="en-US" sz="2400" b="1" i="0" baseline="0" dirty="0">
                        <a:solidFill>
                          <a:srgbClr val="FFFFFF"/>
                        </a:solidFill>
                        <a:latin typeface="Times New Roman" panose="02020603050405020304" pitchFamily="18" charset="0"/>
                        <a:ea typeface="方正粗黑宋简体" panose="02000000000000000000" pitchFamily="2" charset="-122"/>
                      </a:endParaRPr>
                    </a:p>
                  </a:txBody>
                  <a:tcPr marL="36195" marR="36195" marT="36195" marB="36195">
                    <a:lnL w="19050" cap="rnd">
                      <a:solidFill>
                        <a:srgbClr val="4A626E"/>
                      </a:solidFill>
                      <a:prstDash val="solid"/>
                    </a:lnL>
                    <a:lnR w="19050">
                      <a:solidFill>
                        <a:srgbClr val="4A626E"/>
                      </a:solidFill>
                      <a:prstDash val="solid"/>
                    </a:lnR>
                    <a:lnT w="19050" cap="rnd">
                      <a:solidFill>
                        <a:srgbClr val="4A626E"/>
                      </a:solidFill>
                      <a:prstDash val="solid"/>
                    </a:lnT>
                    <a:lnB w="19050">
                      <a:solidFill>
                        <a:srgbClr val="4A626E"/>
                      </a:solidFill>
                      <a:prstDash val="solid"/>
                    </a:lnB>
                    <a:solidFill>
                      <a:srgbClr val="4A626E"/>
                    </a:solidFill>
                  </a:tcPr>
                </a:tc>
                <a:tc hMerge="1">
                  <a:tcPr>
                    <a:lnT w="19050" cap="rnd">
                      <a:solidFill>
                        <a:srgbClr val="4A626E"/>
                      </a:solidFill>
                      <a:prstDash val="solid"/>
                    </a:lnT>
                    <a:lnB w="19050">
                      <a:solidFill>
                        <a:srgbClr val="4A626E"/>
                      </a:solidFill>
                      <a:prstDash val="solid"/>
                    </a:lnB>
                  </a:tcPr>
                </a:tc>
                <a:tc hMerge="1">
                  <a:tcPr>
                    <a:lnL w="3175">
                      <a:solidFill>
                        <a:srgbClr val="FFFFFF"/>
                      </a:solidFill>
                      <a:prstDash val="dot"/>
                    </a:lnL>
                    <a:lnR w="3175">
                      <a:solidFill>
                        <a:srgbClr val="FFFFFF"/>
                      </a:solidFill>
                      <a:prstDash val="dot"/>
                    </a:lnR>
                    <a:lnT w="19050" cap="rnd">
                      <a:solidFill>
                        <a:srgbClr val="4A626E"/>
                      </a:solidFill>
                      <a:prstDash val="solid"/>
                    </a:lnT>
                    <a:lnB w="19050">
                      <a:solidFill>
                        <a:srgbClr val="4A626E"/>
                      </a:solidFill>
                      <a:prstDash val="solid"/>
                    </a:lnB>
                    <a:solidFill>
                      <a:srgbClr val="4A626E"/>
                    </a:solidFill>
                  </a:tcPr>
                </a:tc>
                <a:tc hMerge="1">
                  <a:tcPr>
                    <a:lnL w="3175">
                      <a:solidFill>
                        <a:srgbClr val="FFFFFF"/>
                      </a:solidFill>
                      <a:prstDash val="dot"/>
                    </a:lnL>
                    <a:lnR w="19050" cap="rnd">
                      <a:solidFill>
                        <a:srgbClr val="4A626E"/>
                      </a:solidFill>
                      <a:prstDash val="solid"/>
                    </a:lnR>
                    <a:lnT w="19050" cap="rnd">
                      <a:solidFill>
                        <a:srgbClr val="4A626E"/>
                      </a:solidFill>
                      <a:prstDash val="solid"/>
                    </a:lnT>
                    <a:lnB w="19050">
                      <a:solidFill>
                        <a:srgbClr val="4A626E"/>
                      </a:solidFill>
                      <a:prstDash val="solid"/>
                    </a:lnB>
                    <a:solidFill>
                      <a:srgbClr val="4A626E"/>
                    </a:solidFill>
                  </a:tcPr>
                </a:tc>
              </a:tr>
              <a:tr h="684000">
                <a:tc>
                  <a:txBody>
                    <a:bodyPr/>
                    <a:lstStyle/>
                    <a:p>
                      <a:pPr algn="ctr" latinLnBrk="1">
                        <a:lnSpc>
                          <a:spcPct val="150000"/>
                        </a:lnSpc>
                      </a:pPr>
                      <a:r>
                        <a:rPr lang="zh-CN" altLang="en-US" sz="2400" b="1" i="0" baseline="0" dirty="0">
                          <a:solidFill>
                            <a:srgbClr val="4A626E"/>
                          </a:solidFill>
                          <a:latin typeface="Times New Roman" panose="02020603050405020304" pitchFamily="18" charset="0"/>
                          <a:ea typeface="方正粗黑宋简体" panose="02000000000000000000" pitchFamily="2" charset="-122"/>
                        </a:rPr>
                        <a:t>气体</a:t>
                      </a:r>
                      <a:endParaRPr lang="zh-CN" altLang="en-US" sz="2400" b="1" i="0" baseline="0"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4A626E"/>
                      </a:solidFill>
                      <a:prstDash val="solid"/>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gridSpan="2">
                  <a:txBody>
                    <a:bodyPr/>
                    <a:lstStyle/>
                    <a:p>
                      <a:pPr algn="ctr" latinLnBrk="1">
                        <a:lnSpc>
                          <a:spcPct val="150000"/>
                        </a:lnSpc>
                        <a:buNone/>
                      </a:pPr>
                      <a:r>
                        <a:rPr lang="zh-CN" altLang="en-US" sz="2400" b="1" dirty="0">
                          <a:solidFill>
                            <a:srgbClr val="4A626E"/>
                          </a:solidFill>
                          <a:latin typeface="Times New Roman" panose="02020603050405020304" pitchFamily="18" charset="0"/>
                          <a:ea typeface="方正粗黑宋简体" panose="02000000000000000000" pitchFamily="2" charset="-122"/>
                        </a:rPr>
                        <a:t>氧气</a:t>
                      </a:r>
                      <a:r>
                        <a:rPr lang="en-US" altLang="zh-CN" sz="2400" b="1" dirty="0">
                          <a:solidFill>
                            <a:srgbClr val="4A626E"/>
                          </a:solidFill>
                          <a:latin typeface="Times New Roman" panose="02020603050405020304" pitchFamily="18" charset="0"/>
                          <a:ea typeface="方正粗黑宋简体" panose="02000000000000000000" pitchFamily="2" charset="-122"/>
                        </a:rPr>
                        <a:t>(O</a:t>
                      </a:r>
                      <a:r>
                        <a:rPr lang="en-US" altLang="zh-CN" sz="2400" b="1" baseline="-25000" dirty="0">
                          <a:solidFill>
                            <a:srgbClr val="4A626E"/>
                          </a:solidFill>
                          <a:latin typeface="Times New Roman" panose="02020603050405020304" pitchFamily="18" charset="0"/>
                          <a:ea typeface="方正粗黑宋简体" panose="02000000000000000000" pitchFamily="2" charset="-122"/>
                        </a:rPr>
                        <a:t>2</a:t>
                      </a:r>
                      <a:r>
                        <a:rPr lang="en-US" altLang="zh-CN" sz="2400" b="1" dirty="0">
                          <a:solidFill>
                            <a:srgbClr val="4A626E"/>
                          </a:solidFill>
                          <a:latin typeface="Times New Roman" panose="02020603050405020304" pitchFamily="18" charset="0"/>
                          <a:ea typeface="方正粗黑宋简体" panose="02000000000000000000" pitchFamily="2" charset="-122"/>
                        </a:rPr>
                        <a:t>)</a:t>
                      </a:r>
                      <a:endParaRPr lang="zh-CN" altLang="en-US" sz="2400" b="1" i="0" baseline="0"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hMerge="1">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a:txBody>
                    <a:bodyPr/>
                    <a:lstStyle/>
                    <a:p>
                      <a:pPr algn="ctr" latinLnBrk="1">
                        <a:lnSpc>
                          <a:spcPct val="150000"/>
                        </a:lnSpc>
                      </a:pPr>
                      <a:r>
                        <a:rPr lang="zh-CN" altLang="en-US" sz="2400" b="1" dirty="0">
                          <a:solidFill>
                            <a:srgbClr val="4A626E"/>
                          </a:solidFill>
                          <a:latin typeface="Times New Roman" panose="02020603050405020304" pitchFamily="18" charset="0"/>
                          <a:ea typeface="方正粗黑宋简体" panose="02000000000000000000" pitchFamily="2" charset="-122"/>
                        </a:rPr>
                        <a:t>二氧化碳</a:t>
                      </a:r>
                      <a:r>
                        <a:rPr lang="en-US" altLang="zh-CN" sz="2400" b="1" dirty="0">
                          <a:solidFill>
                            <a:srgbClr val="4A626E"/>
                          </a:solidFill>
                          <a:latin typeface="Times New Roman" panose="02020603050405020304" pitchFamily="18" charset="0"/>
                          <a:ea typeface="方正粗黑宋简体" panose="02000000000000000000" pitchFamily="2" charset="-122"/>
                        </a:rPr>
                        <a:t>(CO</a:t>
                      </a:r>
                      <a:r>
                        <a:rPr lang="en-US" altLang="zh-CN" sz="2400" b="1" baseline="-25000" dirty="0">
                          <a:solidFill>
                            <a:srgbClr val="4A626E"/>
                          </a:solidFill>
                          <a:latin typeface="Times New Roman" panose="02020603050405020304" pitchFamily="18" charset="0"/>
                          <a:ea typeface="方正粗黑宋简体" panose="02000000000000000000" pitchFamily="2" charset="-122"/>
                        </a:rPr>
                        <a:t>2</a:t>
                      </a:r>
                      <a:r>
                        <a:rPr lang="en-US" altLang="zh-CN" sz="2400" b="1" dirty="0">
                          <a:solidFill>
                            <a:srgbClr val="4A626E"/>
                          </a:solidFill>
                          <a:latin typeface="Times New Roman" panose="02020603050405020304" pitchFamily="18" charset="0"/>
                          <a:ea typeface="方正粗黑宋简体" panose="02000000000000000000" pitchFamily="2" charset="-122"/>
                        </a:rPr>
                        <a:t>)</a:t>
                      </a:r>
                      <a:endParaRPr lang="en-US" altLang="zh-CN" sz="2400" b="1"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19050" cap="rnd">
                      <a:solidFill>
                        <a:srgbClr val="4A626E"/>
                      </a:solidFill>
                      <a:prstDash val="solid"/>
                    </a:lnR>
                    <a:lnT w="19050">
                      <a:solidFill>
                        <a:srgbClr val="4A626E"/>
                      </a:solidFill>
                      <a:prstDash val="solid"/>
                    </a:lnT>
                    <a:lnB w="3175">
                      <a:solidFill>
                        <a:srgbClr val="4A626E"/>
                      </a:solidFill>
                      <a:prstDash val="dot"/>
                    </a:lnB>
                    <a:solidFill>
                      <a:srgbClr val="FFFFFF"/>
                    </a:solidFill>
                  </a:tcPr>
                </a:tc>
              </a:tr>
              <a:tr h="684000">
                <a:tc>
                  <a:txBody>
                    <a:bodyPr/>
                    <a:lstStyle/>
                    <a:p>
                      <a:pPr marL="0" marR="0" lvl="0" indent="0" algn="l" defTabSz="914400" rtl="0" eaLnBrk="1" fontAlgn="auto" latinLnBrk="1" hangingPunct="1">
                        <a:lnSpc>
                          <a:spcPct val="13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rPr>
                        <a:t>反应物状态</a:t>
                      </a:r>
                      <a:endPar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endParaRPr>
                    </a:p>
                  </a:txBody>
                  <a:tcPr marL="36195" marR="36195" marT="36195" marB="36195" anchor="ctr" anchorCtr="1">
                    <a:lnL w="19050" cap="rnd">
                      <a:solidFill>
                        <a:srgbClr val="4A626E"/>
                      </a:solidFill>
                      <a:prstDash val="solid"/>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lvl="0" indent="0" algn="l" defTabSz="914400" rtl="0" eaLnBrk="1" fontAlgn="auto" latinLnBrk="1" hangingPunct="1">
                        <a:lnSpc>
                          <a:spcPct val="13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endParaRPr>
                    </a:p>
                  </a:txBody>
                  <a:tcPr marL="36195" marR="36195" marT="36195" marB="36195">
                    <a:lnL w="3175">
                      <a:solidFill>
                        <a:srgbClr val="4A626E"/>
                      </a:solidFill>
                      <a:prstDash val="dot"/>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30000"/>
                        </a:lnSpc>
                        <a:spcBef>
                          <a:spcPts val="0"/>
                        </a:spcBef>
                        <a:spcAft>
                          <a:spcPts val="0"/>
                        </a:spcAft>
                        <a:buClrTx/>
                        <a:buSzTx/>
                        <a:buFontTx/>
                        <a:buNone/>
                        <a:defRPr/>
                      </a:pPr>
                      <a:endParaRPr lang="zh-CN" altLang="en-US" dirty="0">
                        <a:solidFill>
                          <a:srgbClr val="4A626E"/>
                        </a:solidFill>
                      </a:endParaRPr>
                    </a:p>
                  </a:txBody>
                  <a:tcPr marL="36195" marR="36195" marT="36195" marB="36195">
                    <a:lnL w="3175">
                      <a:solidFill>
                        <a:srgbClr val="4A626E"/>
                      </a:solidFill>
                      <a:prstDash val="dot"/>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30000"/>
                        </a:lnSpc>
                        <a:spcBef>
                          <a:spcPts val="0"/>
                        </a:spcBef>
                        <a:spcAft>
                          <a:spcPts val="0"/>
                        </a:spcAft>
                        <a:buClrTx/>
                        <a:buSzTx/>
                        <a:buFontTx/>
                        <a:buNone/>
                        <a:defRPr/>
                      </a:pPr>
                      <a:endParaRPr lang="zh-CN" altLang="en-US" dirty="0">
                        <a:solidFill>
                          <a:srgbClr val="4A626E"/>
                        </a:solidFill>
                      </a:endParaRPr>
                    </a:p>
                  </a:txBody>
                  <a:tcPr marL="36195" marR="36195" marT="36195" marB="36195" anchor="ctr">
                    <a:lnL w="3175">
                      <a:solidFill>
                        <a:srgbClr val="4A626E"/>
                      </a:solidFill>
                      <a:prstDash val="dot"/>
                    </a:lnL>
                    <a:lnR w="19050" cap="rnd">
                      <a:solidFill>
                        <a:srgbClr val="4A626E"/>
                      </a:solidFill>
                      <a:prstDash val="solid"/>
                    </a:lnR>
                    <a:lnT w="3175">
                      <a:solidFill>
                        <a:srgbClr val="4A626E"/>
                      </a:solidFill>
                      <a:prstDash val="dot"/>
                    </a:lnT>
                    <a:lnB w="19050">
                      <a:solidFill>
                        <a:srgbClr val="4A626E"/>
                      </a:solidFill>
                      <a:prstDash val="solid"/>
                    </a:lnB>
                    <a:solidFill>
                      <a:srgbClr val="FFFFFF"/>
                    </a:solidFill>
                  </a:tcPr>
                </a:tc>
              </a:tr>
              <a:tr h="684000">
                <a:tc>
                  <a:txBody>
                    <a:bodyPr/>
                    <a:lstStyle/>
                    <a:p>
                      <a:pPr marL="0" marR="0" lvl="0" indent="0" algn="l" defTabSz="914400" rtl="0" eaLnBrk="1" fontAlgn="auto" latinLnBrk="1" hangingPunct="1">
                        <a:lnSpc>
                          <a:spcPct val="130000"/>
                        </a:lnSpc>
                        <a:spcBef>
                          <a:spcPts val="0"/>
                        </a:spcBef>
                        <a:spcAft>
                          <a:spcPts val="0"/>
                        </a:spcAft>
                        <a:buClrTx/>
                        <a:buSzTx/>
                        <a:buFontTx/>
                        <a:buNone/>
                        <a:defRPr/>
                      </a:pPr>
                      <a:r>
                        <a:rPr lang="zh-CN" altLang="en-US" sz="2400" b="1" dirty="0">
                          <a:solidFill>
                            <a:srgbClr val="404040"/>
                          </a:solidFill>
                          <a:latin typeface="Times New Roman" panose="02020603050405020304" pitchFamily="18" charset="0"/>
                          <a:ea typeface="方正粗黑宋简体" panose="02000000000000000000" pitchFamily="2" charset="-122"/>
                        </a:rPr>
                        <a:t>反应条件</a:t>
                      </a:r>
                      <a:endParaRPr lang="zh-CN" altLang="en-US" sz="2400" b="1" dirty="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4A626E"/>
                      </a:solidFill>
                      <a:prstDash val="solid"/>
                    </a:lnL>
                    <a:lnR w="3175">
                      <a:solidFill>
                        <a:srgbClr val="4A626E"/>
                      </a:solidFill>
                      <a:prstDash val="dot"/>
                    </a:lnR>
                    <a:lnT w="19050">
                      <a:solidFill>
                        <a:srgbClr val="4A626E"/>
                      </a:solidFill>
                      <a:prstDash val="solid"/>
                    </a:lnT>
                    <a:lnB w="3175">
                      <a:solidFill>
                        <a:srgbClr val="4A626E"/>
                      </a:solidFill>
                      <a:prstDash val="dot"/>
                    </a:lnB>
                    <a:solidFill>
                      <a:srgbClr val="F2F2F2"/>
                    </a:solidFill>
                  </a:tcPr>
                </a:tc>
                <a:tc>
                  <a:txBody>
                    <a:bodyPr/>
                    <a:lstStyle/>
                    <a:p>
                      <a:pPr marL="0" marR="0" lvl="0" indent="0" algn="l" defTabSz="914400" rtl="0" eaLnBrk="1" fontAlgn="auto" latinLnBrk="1" hangingPunct="1">
                        <a:lnSpc>
                          <a:spcPct val="130000"/>
                        </a:lnSpc>
                        <a:spcBef>
                          <a:spcPts val="0"/>
                        </a:spcBef>
                        <a:spcAft>
                          <a:spcPts val="0"/>
                        </a:spcAft>
                        <a:buClrTx/>
                        <a:buSzTx/>
                        <a:buFontTx/>
                        <a:buNone/>
                        <a:defRPr/>
                      </a:pPr>
                      <a:endParaRPr lang="zh-CN" altLang="en-US" sz="2400" b="1" dirty="0">
                        <a:solidFill>
                          <a:srgbClr val="404040"/>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2F2F2"/>
                    </a:solidFill>
                  </a:tcPr>
                </a:tc>
                <a:tc>
                  <a:txBody>
                    <a:bodyPr/>
                    <a:lstStyle/>
                    <a:p>
                      <a:pPr marL="0" marR="0" indent="0" algn="l" defTabSz="914400" rtl="0" eaLnBrk="1" fontAlgn="auto" latinLnBrk="1" hangingPunct="1">
                        <a:lnSpc>
                          <a:spcPct val="130000"/>
                        </a:lnSpc>
                        <a:spcBef>
                          <a:spcPts val="0"/>
                        </a:spcBef>
                        <a:spcAft>
                          <a:spcPts val="0"/>
                        </a:spcAft>
                        <a:buClrTx/>
                        <a:buSzTx/>
                        <a:buFontTx/>
                        <a:buNone/>
                        <a:defRPr/>
                      </a:pPr>
                      <a:endParaRPr lang="zh-CN" altLang="en-US" dirty="0">
                        <a:solidFill>
                          <a:srgbClr val="404040"/>
                        </a:solidFill>
                      </a:endParaRPr>
                    </a:p>
                  </a:txBody>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2F2F2"/>
                    </a:solidFill>
                  </a:tcPr>
                </a:tc>
                <a:tc>
                  <a:txBody>
                    <a:bodyPr/>
                    <a:lstStyle/>
                    <a:p>
                      <a:pPr marL="0" marR="0" indent="0" algn="l" defTabSz="914400" rtl="0" eaLnBrk="1" fontAlgn="auto" latinLnBrk="1" hangingPunct="1">
                        <a:lnSpc>
                          <a:spcPct val="130000"/>
                        </a:lnSpc>
                        <a:spcBef>
                          <a:spcPts val="0"/>
                        </a:spcBef>
                        <a:spcAft>
                          <a:spcPts val="0"/>
                        </a:spcAft>
                        <a:buClrTx/>
                        <a:buSzTx/>
                        <a:buFontTx/>
                        <a:buNone/>
                        <a:defRPr/>
                      </a:pPr>
                      <a:endParaRPr lang="zh-CN" altLang="en-US" dirty="0">
                        <a:solidFill>
                          <a:srgbClr val="404040"/>
                        </a:solidFill>
                      </a:endParaRPr>
                    </a:p>
                  </a:txBody>
                  <a:tcPr marL="36195" marR="36195" marT="36195" marB="36195" anchor="ctr">
                    <a:lnL w="3175">
                      <a:solidFill>
                        <a:srgbClr val="4A626E"/>
                      </a:solidFill>
                      <a:prstDash val="dot"/>
                    </a:lnL>
                    <a:lnR w="19050" cap="rnd">
                      <a:solidFill>
                        <a:srgbClr val="4A626E"/>
                      </a:solidFill>
                      <a:prstDash val="solid"/>
                    </a:lnR>
                    <a:lnT w="19050">
                      <a:solidFill>
                        <a:srgbClr val="4A626E"/>
                      </a:solidFill>
                      <a:prstDash val="solid"/>
                    </a:lnT>
                    <a:lnB w="3175">
                      <a:solidFill>
                        <a:srgbClr val="4A626E"/>
                      </a:solidFill>
                      <a:prstDash val="dot"/>
                    </a:lnB>
                    <a:solidFill>
                      <a:srgbClr val="F2F2F2"/>
                    </a:solidFill>
                  </a:tcPr>
                </a:tc>
              </a:tr>
              <a:tr h="2700000">
                <a:tc>
                  <a:txBody>
                    <a:bodyPr/>
                    <a:lstStyle/>
                    <a:p>
                      <a:pPr marL="0" marR="0" lvl="0" indent="0" algn="l" defTabSz="914400" rtl="0" eaLnBrk="1" fontAlgn="auto" latinLnBrk="1" hangingPunct="1">
                        <a:lnSpc>
                          <a:spcPct val="130000"/>
                        </a:lnSpc>
                        <a:spcBef>
                          <a:spcPts val="0"/>
                        </a:spcBef>
                        <a:spcAft>
                          <a:spcPts val="0"/>
                        </a:spcAft>
                        <a:buClrTx/>
                        <a:buSzTx/>
                        <a:buFontTx/>
                        <a:buNone/>
                        <a:defRPr/>
                      </a:pPr>
                      <a:r>
                        <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发生装置</a:t>
                      </a:r>
                      <a:endPar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txBody>
                  <a:tcPr marL="36195" marR="36195" marT="36195" marB="36195" anchor="ctr" anchorCtr="1">
                    <a:lnL w="19050" cap="rnd">
                      <a:solidFill>
                        <a:srgbClr val="4A626E"/>
                      </a:solidFill>
                      <a:prstDash val="solid"/>
                    </a:lnL>
                    <a:lnR w="3175">
                      <a:solidFill>
                        <a:srgbClr val="4A626E"/>
                      </a:solidFill>
                      <a:prstDash val="dot"/>
                    </a:lnR>
                    <a:lnT w="3175">
                      <a:solidFill>
                        <a:srgbClr val="4A626E"/>
                      </a:solidFill>
                      <a:prstDash val="dot"/>
                    </a:lnT>
                    <a:lnB w="19050" cap="rnd">
                      <a:solidFill>
                        <a:srgbClr val="4A626E"/>
                      </a:solidFill>
                      <a:prstDash val="solid"/>
                    </a:lnB>
                    <a:solidFill>
                      <a:srgbClr val="FFFFFF"/>
                    </a:solidFill>
                  </a:tcPr>
                </a:tc>
                <a:tc>
                  <a:txBody>
                    <a:bodyPr/>
                    <a:lstStyle/>
                    <a:p>
                      <a:pPr marL="0" marR="0" lvl="0" indent="0" algn="l" defTabSz="914400" rtl="0" eaLnBrk="1" fontAlgn="auto" latinLnBrk="1" hangingPunct="1">
                        <a:lnSpc>
                          <a:spcPct val="130000"/>
                        </a:lnSpc>
                        <a:spcBef>
                          <a:spcPts val="0"/>
                        </a:spcBef>
                        <a:spcAft>
                          <a:spcPts val="0"/>
                        </a:spcAft>
                        <a:buClrTx/>
                        <a:buSzTx/>
                        <a:buFontTx/>
                        <a:buNone/>
                        <a:defRPr/>
                      </a:pPr>
                      <a:endParaRPr lang="zh-CN" altLang="en-US"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txBody>
                  <a:tcPr marL="36195" marR="36195" marT="36195" marB="36195">
                    <a:lnL w="3175">
                      <a:solidFill>
                        <a:srgbClr val="4A626E"/>
                      </a:solidFill>
                      <a:prstDash val="dot"/>
                    </a:lnL>
                    <a:lnR w="3175">
                      <a:solidFill>
                        <a:srgbClr val="4A626E"/>
                      </a:solidFill>
                      <a:prstDash val="dot"/>
                    </a:lnR>
                    <a:lnT w="3175">
                      <a:solidFill>
                        <a:srgbClr val="4A626E"/>
                      </a:solidFill>
                      <a:prstDash val="dot"/>
                    </a:lnT>
                    <a:lnB w="19050" cap="rnd">
                      <a:solidFill>
                        <a:srgbClr val="4A626E"/>
                      </a:solidFill>
                      <a:prstDash val="solid"/>
                    </a:lnB>
                    <a:solidFill>
                      <a:srgbClr val="FFFFFF"/>
                    </a:solidFill>
                  </a:tcPr>
                </a:tc>
                <a:tc>
                  <a:txBody>
                    <a:bodyPr/>
                    <a:lstStyle/>
                    <a:p>
                      <a:pPr marL="0" marR="0" indent="0" algn="l" defTabSz="914400" rtl="0" eaLnBrk="1" fontAlgn="auto" latinLnBrk="1" hangingPunct="1">
                        <a:lnSpc>
                          <a:spcPct val="130000"/>
                        </a:lnSpc>
                        <a:spcBef>
                          <a:spcPts val="0"/>
                        </a:spcBef>
                        <a:spcAft>
                          <a:spcPts val="0"/>
                        </a:spcAft>
                        <a:buClrTx/>
                        <a:buSzTx/>
                        <a:buFontTx/>
                        <a:buNone/>
                        <a:defRPr/>
                      </a:pPr>
                      <a:endParaRPr lang="zh-CN" altLang="en-US" dirty="0">
                        <a:solidFill>
                          <a:srgbClr val="404040"/>
                        </a:solidFill>
                      </a:endParaRPr>
                    </a:p>
                  </a:txBody>
                  <a:tcPr marL="36195" marR="36195" marT="36195" marB="36195">
                    <a:lnL w="3175">
                      <a:solidFill>
                        <a:srgbClr val="4A626E"/>
                      </a:solidFill>
                      <a:prstDash val="dot"/>
                    </a:lnL>
                    <a:lnR w="3175">
                      <a:solidFill>
                        <a:srgbClr val="4A626E"/>
                      </a:solidFill>
                      <a:prstDash val="dot"/>
                    </a:lnR>
                    <a:lnT w="3175">
                      <a:solidFill>
                        <a:srgbClr val="4A626E"/>
                      </a:solidFill>
                      <a:prstDash val="dot"/>
                    </a:lnT>
                    <a:lnB w="19050" cap="rnd">
                      <a:solidFill>
                        <a:srgbClr val="4A626E"/>
                      </a:solidFill>
                      <a:prstDash val="solid"/>
                    </a:lnB>
                    <a:solidFill>
                      <a:srgbClr val="FFFFFF"/>
                    </a:solidFill>
                  </a:tcPr>
                </a:tc>
                <a:tc>
                  <a:txBody>
                    <a:bodyPr/>
                    <a:lstStyle/>
                    <a:p>
                      <a:pPr marL="0" marR="0" indent="0" algn="l" defTabSz="914400" rtl="0" eaLnBrk="1" fontAlgn="auto" latinLnBrk="1" hangingPunct="1">
                        <a:lnSpc>
                          <a:spcPct val="130000"/>
                        </a:lnSpc>
                        <a:spcBef>
                          <a:spcPts val="0"/>
                        </a:spcBef>
                        <a:spcAft>
                          <a:spcPts val="0"/>
                        </a:spcAft>
                        <a:buClrTx/>
                        <a:buSzTx/>
                        <a:buFontTx/>
                        <a:buNone/>
                        <a:defRPr/>
                      </a:pPr>
                      <a:endParaRPr lang="zh-CN" altLang="en-US" dirty="0">
                        <a:solidFill>
                          <a:srgbClr val="404040"/>
                        </a:solidFill>
                      </a:endParaRPr>
                    </a:p>
                  </a:txBody>
                  <a:tcPr marL="36195" marR="36195" marT="36195" marB="36195" anchor="ctr">
                    <a:lnL w="3175">
                      <a:solidFill>
                        <a:srgbClr val="4A626E"/>
                      </a:solidFill>
                      <a:prstDash val="dot"/>
                    </a:lnL>
                    <a:lnR w="19050" cap="rnd">
                      <a:solidFill>
                        <a:srgbClr val="4A626E"/>
                      </a:solidFill>
                      <a:prstDash val="solid"/>
                    </a:lnR>
                    <a:lnT w="3175">
                      <a:solidFill>
                        <a:srgbClr val="4A626E"/>
                      </a:solidFill>
                      <a:prstDash val="dot"/>
                    </a:lnT>
                    <a:lnB w="19050" cap="rnd">
                      <a:solidFill>
                        <a:srgbClr val="4A626E"/>
                      </a:solidFill>
                      <a:prstDash val="solid"/>
                    </a:lnB>
                    <a:solidFill>
                      <a:srgbClr val="FFFFFF"/>
                    </a:solidFill>
                  </a:tcPr>
                </a:tc>
              </a:tr>
            </a:tbl>
          </a:graphicData>
        </a:graphic>
      </p:graphicFrame>
      <p:sp>
        <p:nvSpPr>
          <p:cNvPr id="19" name="文本框 18"/>
          <p:cNvSpPr txBox="1"/>
          <p:nvPr/>
        </p:nvSpPr>
        <p:spPr>
          <a:xfrm>
            <a:off x="2359688" y="1905000"/>
            <a:ext cx="2772000" cy="1198880"/>
          </a:xfrm>
          <a:prstGeom prst="rect">
            <a:avLst/>
          </a:prstGeom>
          <a:noFill/>
        </p:spPr>
        <p:txBody>
          <a:bodyPr wrap="square" rtlCol="0" anchor="t">
            <a:spAutoFit/>
          </a:bodyPr>
          <a:lstStyle/>
          <a:p>
            <a:pPr algn="ctr"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固体与液体混合</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ctr" latinLnBrk="1">
              <a:lnSpc>
                <a:spcPct val="200000"/>
              </a:lnSpc>
              <a:spcBef>
                <a:spcPts val="0"/>
              </a:spcBef>
              <a:spcAft>
                <a:spcPts val="0"/>
              </a:spcAft>
              <a:buClrTx/>
              <a:buSzTx/>
              <a:buFontTx/>
              <a:defRPr/>
            </a:pPr>
            <a:r>
              <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rPr>
              <a:t>不需加热</a:t>
            </a: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521578" y="1905000"/>
            <a:ext cx="2771775" cy="1198880"/>
          </a:xfrm>
          <a:prstGeom prst="rect">
            <a:avLst/>
          </a:prstGeom>
          <a:noFill/>
        </p:spPr>
        <p:txBody>
          <a:bodyPr wrap="square" rtlCol="0" anchor="t">
            <a:spAutoFit/>
          </a:bodyPr>
          <a:lstStyle/>
          <a:p>
            <a:pPr algn="ctr"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固体与固体混合</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ctr" latinLnBrk="1">
              <a:lnSpc>
                <a:spcPct val="200000"/>
              </a:lnSpc>
              <a:spcBef>
                <a:spcPts val="0"/>
              </a:spcBef>
              <a:spcAft>
                <a:spcPts val="0"/>
              </a:spcAft>
              <a:buClrTx/>
              <a:buSzTx/>
              <a:buFontTx/>
              <a:defRPr/>
            </a:pPr>
            <a:r>
              <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rPr>
              <a:t>需加热</a:t>
            </a: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sp>
        <p:nvSpPr>
          <p:cNvPr id="4" name="文本框 3"/>
          <p:cNvSpPr txBox="1"/>
          <p:nvPr/>
        </p:nvSpPr>
        <p:spPr>
          <a:xfrm>
            <a:off x="8683243" y="1905000"/>
            <a:ext cx="2771775" cy="1198880"/>
          </a:xfrm>
          <a:prstGeom prst="rect">
            <a:avLst/>
          </a:prstGeom>
          <a:noFill/>
        </p:spPr>
        <p:txBody>
          <a:bodyPr wrap="square" rtlCol="0" anchor="t">
            <a:spAutoFit/>
          </a:bodyPr>
          <a:lstStyle/>
          <a:p>
            <a:pPr algn="ctr"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固体与液体混合</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ctr" latinLnBrk="1">
              <a:lnSpc>
                <a:spcPct val="200000"/>
              </a:lnSpc>
              <a:spcBef>
                <a:spcPts val="0"/>
              </a:spcBef>
              <a:spcAft>
                <a:spcPts val="0"/>
              </a:spcAft>
              <a:buClrTx/>
              <a:buSzTx/>
              <a:buFontTx/>
              <a:defRPr/>
            </a:pPr>
            <a:r>
              <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rPr>
              <a:t>不需加热</a:t>
            </a: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pic>
        <p:nvPicPr>
          <p:cNvPr id="2053" name="Picture 5" descr="C:\Users\Administrator\Desktop\360截图16610720659497.png"/>
          <p:cNvPicPr>
            <a:picLocks noChangeAspect="1" noChangeArrowheads="1"/>
          </p:cNvPicPr>
          <p:nvPr/>
        </p:nvPicPr>
        <p:blipFill>
          <a:blip r:embed="rId2" cstate="print"/>
          <a:srcRect t="2490" r="86646" b="12500"/>
          <a:stretch>
            <a:fillRect/>
          </a:stretch>
        </p:blipFill>
        <p:spPr bwMode="auto">
          <a:xfrm>
            <a:off x="6207125" y="3179100"/>
            <a:ext cx="1548000" cy="2373975"/>
          </a:xfrm>
          <a:prstGeom prst="rect">
            <a:avLst/>
          </a:prstGeom>
          <a:noFill/>
        </p:spPr>
      </p:pic>
      <p:pic>
        <p:nvPicPr>
          <p:cNvPr id="7" name="Picture 5" descr="C:\Users\Administrator\Desktop\360截图16610720659497.png"/>
          <p:cNvPicPr>
            <a:picLocks noChangeAspect="1" noChangeArrowheads="1"/>
          </p:cNvPicPr>
          <p:nvPr/>
        </p:nvPicPr>
        <p:blipFill>
          <a:blip r:embed="rId2" cstate="print"/>
          <a:srcRect l="13536" t="16876" r="63033" b="13104"/>
          <a:stretch>
            <a:fillRect/>
          </a:stretch>
        </p:blipFill>
        <p:spPr bwMode="auto">
          <a:xfrm>
            <a:off x="2420620" y="3609075"/>
            <a:ext cx="2700233" cy="1944000"/>
          </a:xfrm>
          <a:prstGeom prst="rect">
            <a:avLst/>
          </a:prstGeom>
          <a:noFill/>
        </p:spPr>
      </p:pic>
      <p:grpSp>
        <p:nvGrpSpPr>
          <p:cNvPr id="10" name="组合 9"/>
          <p:cNvGrpSpPr/>
          <p:nvPr/>
        </p:nvGrpSpPr>
        <p:grpSpPr>
          <a:xfrm>
            <a:off x="8170545" y="3375025"/>
            <a:ext cx="3381375" cy="2178050"/>
            <a:chOff x="12867" y="5627"/>
            <a:chExt cx="5325" cy="3430"/>
          </a:xfrm>
        </p:grpSpPr>
        <p:pic>
          <p:nvPicPr>
            <p:cNvPr id="6" name="Picture 5" descr="C:\Users\Administrator\Desktop\360截图16610720659497.png"/>
            <p:cNvPicPr>
              <a:picLocks noChangeAspect="1" noChangeArrowheads="1"/>
            </p:cNvPicPr>
            <p:nvPr/>
          </p:nvPicPr>
          <p:blipFill>
            <a:blip r:embed="rId2" cstate="print"/>
            <a:srcRect l="37155" r="32344" b="13732"/>
            <a:stretch>
              <a:fillRect/>
            </a:stretch>
          </p:blipFill>
          <p:spPr bwMode="auto">
            <a:xfrm>
              <a:off x="13005" y="5627"/>
              <a:ext cx="5034" cy="3430"/>
            </a:xfrm>
            <a:prstGeom prst="rect">
              <a:avLst/>
            </a:prstGeom>
            <a:noFill/>
          </p:spPr>
        </p:pic>
        <p:sp>
          <p:nvSpPr>
            <p:cNvPr id="8" name="文本框 7"/>
            <p:cNvSpPr txBox="1"/>
            <p:nvPr/>
          </p:nvSpPr>
          <p:spPr>
            <a:xfrm>
              <a:off x="16606" y="6982"/>
              <a:ext cx="1587" cy="508"/>
            </a:xfrm>
            <a:prstGeom prst="rect">
              <a:avLst/>
            </a:prstGeom>
            <a:solidFill>
              <a:schemeClr val="bg1"/>
            </a:solidFill>
          </p:spPr>
          <p:txBody>
            <a:bodyPr wrap="square" lIns="0" rIns="0" bIns="0" rtlCol="0" anchor="t">
              <a:spAutoFit/>
            </a:bodyPr>
            <a:lstStyle/>
            <a:p>
              <a:r>
                <a:rPr lang="zh-CN" altLang="en-US" b="1">
                  <a:latin typeface="宋体" panose="02010600030101010101" pitchFamily="2" charset="-122"/>
                  <a:ea typeface="宋体" panose="02010600030101010101" pitchFamily="2" charset="-122"/>
                </a:rPr>
                <a:t>多孔隔板</a:t>
              </a:r>
              <a:endParaRPr lang="zh-CN" altLang="en-US" b="1">
                <a:latin typeface="宋体" panose="02010600030101010101" pitchFamily="2" charset="-122"/>
                <a:ea typeface="宋体" panose="02010600030101010101" pitchFamily="2" charset="-122"/>
              </a:endParaRPr>
            </a:p>
          </p:txBody>
        </p:sp>
        <p:sp>
          <p:nvSpPr>
            <p:cNvPr id="9" name="文本框 8"/>
            <p:cNvSpPr txBox="1"/>
            <p:nvPr/>
          </p:nvSpPr>
          <p:spPr>
            <a:xfrm>
              <a:off x="12867" y="6593"/>
              <a:ext cx="850" cy="508"/>
            </a:xfrm>
            <a:prstGeom prst="rect">
              <a:avLst/>
            </a:prstGeom>
            <a:solidFill>
              <a:schemeClr val="bg1"/>
            </a:solidFill>
          </p:spPr>
          <p:txBody>
            <a:bodyPr wrap="square" lIns="0" rIns="0" bIns="0" rtlCol="0" anchor="t">
              <a:spAutoFit/>
            </a:bodyPr>
            <a:lstStyle/>
            <a:p>
              <a:pPr algn="r"/>
              <a:r>
                <a:rPr lang="zh-CN" altLang="en-US" b="1">
                  <a:latin typeface="宋体" panose="02010600030101010101" pitchFamily="2" charset="-122"/>
                  <a:ea typeface="宋体" panose="02010600030101010101" pitchFamily="2" charset="-122"/>
                </a:rPr>
                <a:t>活塞</a:t>
              </a:r>
              <a:endParaRPr lang="zh-CN" altLang="en-US" b="1">
                <a:latin typeface="宋体" panose="02010600030101010101" pitchFamily="2" charset="-122"/>
                <a:ea typeface="宋体" panose="02010600030101010101" pitchFamily="2" charset="-122"/>
              </a:endParaRPr>
            </a:p>
          </p:txBody>
        </p:sp>
      </p:grpSp>
    </p:spTree>
    <p:custDataLst>
      <p:tags r:id="rId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blinds(horizontal)">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blinds(horizontal)">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blinds(horizontal)">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blinds(horizontal)">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053"/>
                                        </p:tgtEl>
                                        <p:attrNameLst>
                                          <p:attrName>style.visibility</p:attrName>
                                        </p:attrNameLst>
                                      </p:cBhvr>
                                      <p:to>
                                        <p:strVal val="visible"/>
                                      </p:to>
                                    </p:set>
                                    <p:animEffect transition="in" filter="blinds(horizontal)">
                                      <p:cBhvr>
                                        <p:cTn id="32" dur="500"/>
                                        <p:tgtEl>
                                          <p:spTgt spid="205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blinds(horizontal)">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blinds(horizontal)">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linds(horizontal)">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custDataLst>
              <p:tags r:id="rId1"/>
            </p:custDataLst>
          </p:nvPr>
        </p:nvGraphicFramePr>
        <p:xfrm>
          <a:off x="515509" y="670613"/>
          <a:ext cx="11160125" cy="5435600"/>
        </p:xfrm>
        <a:graphic>
          <a:graphicData uri="http://schemas.openxmlformats.org/drawingml/2006/table">
            <a:tbl>
              <a:tblPr firstRow="1" bandRow="1">
                <a:tableStyleId>{5C22544A-7EE6-4342-B048-85BDC9FD1C3A}</a:tableStyleId>
              </a:tblPr>
              <a:tblGrid>
                <a:gridCol w="1656000"/>
                <a:gridCol w="6370955"/>
                <a:gridCol w="3133045"/>
              </a:tblGrid>
              <a:tr h="683895">
                <a:tc gridSpan="3">
                  <a:txBody>
                    <a:bodyPr/>
                    <a:lstStyle/>
                    <a:p>
                      <a:pPr algn="l" latinLnBrk="1">
                        <a:lnSpc>
                          <a:spcPct val="150000"/>
                        </a:lnSpc>
                        <a:buNone/>
                      </a:pPr>
                      <a:r>
                        <a:rPr lang="zh-CN" altLang="en-US" sz="2400" b="1" i="0" baseline="0" dirty="0">
                          <a:solidFill>
                            <a:srgbClr val="FFFFFF"/>
                          </a:solidFill>
                          <a:latin typeface="Times New Roman" panose="02020603050405020304" pitchFamily="18" charset="0"/>
                          <a:ea typeface="方正粗黑宋简体" panose="02000000000000000000" pitchFamily="2" charset="-122"/>
                        </a:rPr>
                        <a:t>2. 氧气、二氧化碳的实验室制取和工业制取气体</a:t>
                      </a:r>
                      <a:endParaRPr lang="zh-CN" altLang="en-US" sz="2400" b="1" i="0" baseline="0" dirty="0">
                        <a:solidFill>
                          <a:srgbClr val="FFFFFF"/>
                        </a:solidFill>
                        <a:latin typeface="Times New Roman" panose="02020603050405020304" pitchFamily="18" charset="0"/>
                        <a:ea typeface="方正粗黑宋简体" panose="02000000000000000000" pitchFamily="2" charset="-122"/>
                      </a:endParaRPr>
                    </a:p>
                  </a:txBody>
                  <a:tcPr marL="36195" marR="36195" marT="36195" marB="36195">
                    <a:lnL w="19050" cap="rnd">
                      <a:solidFill>
                        <a:srgbClr val="4A626E"/>
                      </a:solidFill>
                      <a:prstDash val="solid"/>
                    </a:lnL>
                    <a:lnR w="19050">
                      <a:solidFill>
                        <a:srgbClr val="4A626E"/>
                      </a:solidFill>
                      <a:prstDash val="solid"/>
                    </a:lnR>
                    <a:lnT w="19050" cap="rnd">
                      <a:solidFill>
                        <a:srgbClr val="4A626E"/>
                      </a:solidFill>
                      <a:prstDash val="solid"/>
                    </a:lnT>
                    <a:lnB w="19050">
                      <a:solidFill>
                        <a:srgbClr val="4A626E"/>
                      </a:solidFill>
                      <a:prstDash val="solid"/>
                    </a:lnB>
                    <a:solidFill>
                      <a:srgbClr val="4A626E"/>
                    </a:solidFill>
                  </a:tcPr>
                </a:tc>
                <a:tc hMerge="1">
                  <a:tcPr>
                    <a:lnT w="19050" cap="rnd">
                      <a:solidFill>
                        <a:srgbClr val="4A626E"/>
                      </a:solidFill>
                      <a:prstDash val="solid"/>
                    </a:lnT>
                    <a:lnB w="19050">
                      <a:solidFill>
                        <a:srgbClr val="4A626E"/>
                      </a:solidFill>
                      <a:prstDash val="solid"/>
                    </a:lnB>
                  </a:tcPr>
                </a:tc>
                <a:tc hMerge="1">
                  <a:tcPr>
                    <a:lnL w="3175">
                      <a:solidFill>
                        <a:srgbClr val="FFFFFF"/>
                      </a:solidFill>
                      <a:prstDash val="dot"/>
                    </a:lnL>
                    <a:lnR w="19050" cap="rnd">
                      <a:solidFill>
                        <a:srgbClr val="4A626E"/>
                      </a:solidFill>
                      <a:prstDash val="solid"/>
                    </a:lnR>
                    <a:lnT w="19050" cap="rnd">
                      <a:solidFill>
                        <a:srgbClr val="4A626E"/>
                      </a:solidFill>
                      <a:prstDash val="solid"/>
                    </a:lnT>
                    <a:lnB w="19050">
                      <a:solidFill>
                        <a:srgbClr val="4A626E"/>
                      </a:solidFill>
                      <a:prstDash val="solid"/>
                    </a:lnB>
                    <a:solidFill>
                      <a:srgbClr val="4A626E"/>
                    </a:solidFill>
                  </a:tcPr>
                </a:tc>
              </a:tr>
              <a:tr h="648000">
                <a:tc>
                  <a:txBody>
                    <a:bodyPr/>
                    <a:lstStyle/>
                    <a:p>
                      <a:pPr algn="ctr" latinLnBrk="1">
                        <a:lnSpc>
                          <a:spcPct val="150000"/>
                        </a:lnSpc>
                      </a:pPr>
                      <a:r>
                        <a:rPr lang="zh-CN" altLang="en-US" sz="2400" b="1" i="0" baseline="0" dirty="0">
                          <a:solidFill>
                            <a:srgbClr val="4A626E"/>
                          </a:solidFill>
                          <a:latin typeface="Times New Roman" panose="02020603050405020304" pitchFamily="18" charset="0"/>
                          <a:ea typeface="方正粗黑宋简体" panose="02000000000000000000" pitchFamily="2" charset="-122"/>
                        </a:rPr>
                        <a:t>气体</a:t>
                      </a:r>
                      <a:endParaRPr lang="zh-CN" altLang="en-US" sz="2400" b="1" i="0" baseline="0"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4A626E"/>
                      </a:solidFill>
                      <a:prstDash val="solid"/>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a:txBody>
                    <a:bodyPr/>
                    <a:lstStyle/>
                    <a:p>
                      <a:pPr algn="ctr" latinLnBrk="1">
                        <a:lnSpc>
                          <a:spcPct val="150000"/>
                        </a:lnSpc>
                        <a:buNone/>
                      </a:pPr>
                      <a:r>
                        <a:rPr lang="zh-CN" altLang="en-US" sz="2400" b="1" dirty="0">
                          <a:solidFill>
                            <a:srgbClr val="4A626E"/>
                          </a:solidFill>
                          <a:latin typeface="Times New Roman" panose="02020603050405020304" pitchFamily="18" charset="0"/>
                          <a:ea typeface="方正粗黑宋简体" panose="02000000000000000000" pitchFamily="2" charset="-122"/>
                        </a:rPr>
                        <a:t>氧气</a:t>
                      </a:r>
                      <a:r>
                        <a:rPr lang="en-US" altLang="zh-CN" sz="2400" b="1" dirty="0">
                          <a:solidFill>
                            <a:srgbClr val="4A626E"/>
                          </a:solidFill>
                          <a:latin typeface="Times New Roman" panose="02020603050405020304" pitchFamily="18" charset="0"/>
                          <a:ea typeface="方正粗黑宋简体" panose="02000000000000000000" pitchFamily="2" charset="-122"/>
                        </a:rPr>
                        <a:t>(O</a:t>
                      </a:r>
                      <a:r>
                        <a:rPr lang="en-US" altLang="zh-CN" sz="2400" b="1" baseline="-25000" dirty="0">
                          <a:solidFill>
                            <a:srgbClr val="4A626E"/>
                          </a:solidFill>
                          <a:latin typeface="Times New Roman" panose="02020603050405020304" pitchFamily="18" charset="0"/>
                          <a:ea typeface="方正粗黑宋简体" panose="02000000000000000000" pitchFamily="2" charset="-122"/>
                        </a:rPr>
                        <a:t>2</a:t>
                      </a:r>
                      <a:r>
                        <a:rPr lang="en-US" altLang="zh-CN" sz="2400" b="1" dirty="0">
                          <a:solidFill>
                            <a:srgbClr val="4A626E"/>
                          </a:solidFill>
                          <a:latin typeface="Times New Roman" panose="02020603050405020304" pitchFamily="18" charset="0"/>
                          <a:ea typeface="方正粗黑宋简体" panose="02000000000000000000" pitchFamily="2" charset="-122"/>
                        </a:rPr>
                        <a:t>)</a:t>
                      </a:r>
                      <a:endParaRPr lang="zh-CN" altLang="en-US" sz="2400" b="1" i="0" baseline="0"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a:txBody>
                    <a:bodyPr/>
                    <a:lstStyle/>
                    <a:p>
                      <a:pPr algn="ctr" latinLnBrk="1">
                        <a:lnSpc>
                          <a:spcPct val="150000"/>
                        </a:lnSpc>
                      </a:pPr>
                      <a:r>
                        <a:rPr lang="zh-CN" altLang="en-US" sz="2400" b="1" dirty="0">
                          <a:solidFill>
                            <a:srgbClr val="4A626E"/>
                          </a:solidFill>
                          <a:latin typeface="Times New Roman" panose="02020603050405020304" pitchFamily="18" charset="0"/>
                          <a:ea typeface="方正粗黑宋简体" panose="02000000000000000000" pitchFamily="2" charset="-122"/>
                        </a:rPr>
                        <a:t>二氧化碳</a:t>
                      </a:r>
                      <a:r>
                        <a:rPr lang="en-US" altLang="zh-CN" sz="2400" b="1" dirty="0">
                          <a:solidFill>
                            <a:srgbClr val="4A626E"/>
                          </a:solidFill>
                          <a:latin typeface="Times New Roman" panose="02020603050405020304" pitchFamily="18" charset="0"/>
                          <a:ea typeface="方正粗黑宋简体" panose="02000000000000000000" pitchFamily="2" charset="-122"/>
                        </a:rPr>
                        <a:t>(CO</a:t>
                      </a:r>
                      <a:r>
                        <a:rPr lang="en-US" altLang="zh-CN" sz="2400" b="1" baseline="-25000" dirty="0">
                          <a:solidFill>
                            <a:srgbClr val="4A626E"/>
                          </a:solidFill>
                          <a:latin typeface="Times New Roman" panose="02020603050405020304" pitchFamily="18" charset="0"/>
                          <a:ea typeface="方正粗黑宋简体" panose="02000000000000000000" pitchFamily="2" charset="-122"/>
                        </a:rPr>
                        <a:t>2</a:t>
                      </a:r>
                      <a:r>
                        <a:rPr lang="en-US" altLang="zh-CN" sz="2400" b="1" dirty="0">
                          <a:solidFill>
                            <a:srgbClr val="4A626E"/>
                          </a:solidFill>
                          <a:latin typeface="Times New Roman" panose="02020603050405020304" pitchFamily="18" charset="0"/>
                          <a:ea typeface="方正粗黑宋简体" panose="02000000000000000000" pitchFamily="2" charset="-122"/>
                        </a:rPr>
                        <a:t>)</a:t>
                      </a:r>
                      <a:endParaRPr lang="en-US" altLang="zh-CN" sz="2400" b="1"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19050" cap="rnd">
                      <a:solidFill>
                        <a:srgbClr val="4A626E"/>
                      </a:solidFill>
                      <a:prstDash val="solid"/>
                    </a:lnR>
                    <a:lnT w="19050">
                      <a:solidFill>
                        <a:srgbClr val="4A626E"/>
                      </a:solidFill>
                      <a:prstDash val="solid"/>
                    </a:lnT>
                    <a:lnB w="3175">
                      <a:solidFill>
                        <a:srgbClr val="4A626E"/>
                      </a:solidFill>
                      <a:prstDash val="dot"/>
                    </a:lnB>
                    <a:solidFill>
                      <a:srgbClr val="FFFFFF"/>
                    </a:solidFill>
                  </a:tcPr>
                </a:tc>
              </a:tr>
              <a:tr h="648000">
                <a:tc>
                  <a:txBody>
                    <a:bodyPr/>
                    <a:lstStyle/>
                    <a:p>
                      <a:pPr marL="0" marR="0" lvl="0" indent="0" algn="l" defTabSz="914400" rtl="0" eaLnBrk="1" fontAlgn="auto" latinLnBrk="1" hangingPunct="1">
                        <a:lnSpc>
                          <a:spcPct val="13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rPr>
                        <a:t>气体溶解性</a:t>
                      </a:r>
                      <a:endPar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endParaRPr>
                    </a:p>
                  </a:txBody>
                  <a:tcPr marL="36195" marR="36195" marT="36195" marB="36195" anchor="ctr" anchorCtr="1">
                    <a:lnL w="19050" cap="rnd">
                      <a:solidFill>
                        <a:srgbClr val="4A626E"/>
                      </a:solidFill>
                      <a:prstDash val="solid"/>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lvl="0" indent="0" algn="l" defTabSz="914400" rtl="0" eaLnBrk="1" fontAlgn="auto" latinLnBrk="1" hangingPunct="1">
                        <a:lnSpc>
                          <a:spcPct val="13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endParaRPr>
                    </a:p>
                  </a:txBody>
                  <a:tcPr marL="36195" marR="36195" marT="36195" marB="36195">
                    <a:lnL w="3175">
                      <a:solidFill>
                        <a:srgbClr val="4A626E"/>
                      </a:solidFill>
                      <a:prstDash val="dot"/>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30000"/>
                        </a:lnSpc>
                        <a:spcBef>
                          <a:spcPts val="0"/>
                        </a:spcBef>
                        <a:spcAft>
                          <a:spcPts val="0"/>
                        </a:spcAft>
                        <a:buClrTx/>
                        <a:buSzTx/>
                        <a:buFontTx/>
                        <a:buNone/>
                        <a:defRPr/>
                      </a:pPr>
                      <a:endParaRPr lang="zh-CN" altLang="en-US" dirty="0">
                        <a:solidFill>
                          <a:srgbClr val="4A626E"/>
                        </a:solidFill>
                      </a:endParaRPr>
                    </a:p>
                  </a:txBody>
                  <a:tcPr marL="36195" marR="36195" marT="36195" marB="36195" anchor="ctr">
                    <a:lnL w="3175">
                      <a:solidFill>
                        <a:srgbClr val="4A626E"/>
                      </a:solidFill>
                      <a:prstDash val="dot"/>
                    </a:lnL>
                    <a:lnR w="19050" cap="rnd">
                      <a:solidFill>
                        <a:srgbClr val="4A626E"/>
                      </a:solidFill>
                      <a:prstDash val="solid"/>
                    </a:lnR>
                    <a:lnT w="3175">
                      <a:solidFill>
                        <a:srgbClr val="4A626E"/>
                      </a:solidFill>
                      <a:prstDash val="dot"/>
                    </a:lnT>
                    <a:lnB w="19050">
                      <a:solidFill>
                        <a:srgbClr val="4A626E"/>
                      </a:solidFill>
                      <a:prstDash val="solid"/>
                    </a:lnB>
                    <a:solidFill>
                      <a:srgbClr val="FFFFFF"/>
                    </a:solidFill>
                  </a:tcPr>
                </a:tc>
              </a:tr>
              <a:tr h="684000">
                <a:tc>
                  <a:txBody>
                    <a:bodyPr/>
                    <a:lstStyle/>
                    <a:p>
                      <a:pPr marL="0" marR="0" lvl="0" indent="0" algn="l" defTabSz="914400" rtl="0" eaLnBrk="1" fontAlgn="auto" latinLnBrk="1" hangingPunct="1">
                        <a:lnSpc>
                          <a:spcPct val="130000"/>
                        </a:lnSpc>
                        <a:spcBef>
                          <a:spcPts val="0"/>
                        </a:spcBef>
                        <a:spcAft>
                          <a:spcPts val="0"/>
                        </a:spcAft>
                        <a:buClrTx/>
                        <a:buSzTx/>
                        <a:buFontTx/>
                        <a:buNone/>
                        <a:defRPr/>
                      </a:pPr>
                      <a:r>
                        <a:rPr lang="zh-CN" altLang="en-US" sz="2400" b="1" dirty="0">
                          <a:solidFill>
                            <a:srgbClr val="404040"/>
                          </a:solidFill>
                          <a:latin typeface="Times New Roman" panose="02020603050405020304" pitchFamily="18" charset="0"/>
                          <a:ea typeface="方正粗黑宋简体" panose="02000000000000000000" pitchFamily="2" charset="-122"/>
                        </a:rPr>
                        <a:t>气体密度</a:t>
                      </a:r>
                      <a:endParaRPr lang="zh-CN" altLang="en-US" sz="2400" b="1" dirty="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4A626E"/>
                      </a:solidFill>
                      <a:prstDash val="solid"/>
                    </a:lnL>
                    <a:lnR w="3175">
                      <a:solidFill>
                        <a:srgbClr val="4A626E"/>
                      </a:solidFill>
                      <a:prstDash val="dot"/>
                    </a:lnR>
                    <a:lnT w="19050">
                      <a:solidFill>
                        <a:srgbClr val="4A626E"/>
                      </a:solidFill>
                      <a:prstDash val="solid"/>
                    </a:lnT>
                    <a:lnB w="3175">
                      <a:solidFill>
                        <a:srgbClr val="4A626E"/>
                      </a:solidFill>
                      <a:prstDash val="dot"/>
                    </a:lnB>
                    <a:solidFill>
                      <a:srgbClr val="F2F2F2"/>
                    </a:solidFill>
                  </a:tcPr>
                </a:tc>
                <a:tc>
                  <a:txBody>
                    <a:bodyPr/>
                    <a:lstStyle/>
                    <a:p>
                      <a:pPr marL="0" marR="0" lvl="0" indent="0" algn="l" defTabSz="914400" rtl="0" eaLnBrk="1" fontAlgn="auto" latinLnBrk="1" hangingPunct="1">
                        <a:lnSpc>
                          <a:spcPct val="130000"/>
                        </a:lnSpc>
                        <a:spcBef>
                          <a:spcPts val="0"/>
                        </a:spcBef>
                        <a:spcAft>
                          <a:spcPts val="0"/>
                        </a:spcAft>
                        <a:buClrTx/>
                        <a:buSzTx/>
                        <a:buFontTx/>
                        <a:buNone/>
                        <a:defRPr/>
                      </a:pPr>
                      <a:endParaRPr lang="zh-CN" altLang="en-US" sz="2400" b="1" dirty="0">
                        <a:solidFill>
                          <a:srgbClr val="404040"/>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2F2F2"/>
                    </a:solidFill>
                  </a:tcPr>
                </a:tc>
                <a:tc>
                  <a:txBody>
                    <a:bodyPr/>
                    <a:lstStyle/>
                    <a:p>
                      <a:pPr marL="0" marR="0" indent="0" algn="l" defTabSz="914400" rtl="0" eaLnBrk="1" fontAlgn="auto" latinLnBrk="1" hangingPunct="1">
                        <a:lnSpc>
                          <a:spcPct val="130000"/>
                        </a:lnSpc>
                        <a:spcBef>
                          <a:spcPts val="0"/>
                        </a:spcBef>
                        <a:spcAft>
                          <a:spcPts val="0"/>
                        </a:spcAft>
                        <a:buClrTx/>
                        <a:buSzTx/>
                        <a:buFontTx/>
                        <a:buNone/>
                        <a:defRPr/>
                      </a:pPr>
                      <a:endParaRPr lang="zh-CN" altLang="en-US" dirty="0">
                        <a:solidFill>
                          <a:srgbClr val="404040"/>
                        </a:solidFill>
                      </a:endParaRPr>
                    </a:p>
                  </a:txBody>
                  <a:tcPr marL="36195" marR="36195" marT="36195" marB="36195" anchor="ctr">
                    <a:lnL w="3175">
                      <a:solidFill>
                        <a:srgbClr val="4A626E"/>
                      </a:solidFill>
                      <a:prstDash val="dot"/>
                    </a:lnL>
                    <a:lnR w="19050" cap="rnd">
                      <a:solidFill>
                        <a:srgbClr val="4A626E"/>
                      </a:solidFill>
                      <a:prstDash val="solid"/>
                    </a:lnR>
                    <a:lnT w="19050">
                      <a:solidFill>
                        <a:srgbClr val="4A626E"/>
                      </a:solidFill>
                      <a:prstDash val="solid"/>
                    </a:lnT>
                    <a:lnB w="3175">
                      <a:solidFill>
                        <a:srgbClr val="4A626E"/>
                      </a:solidFill>
                      <a:prstDash val="dot"/>
                    </a:lnB>
                    <a:solidFill>
                      <a:srgbClr val="F2F2F2"/>
                    </a:solidFill>
                  </a:tcPr>
                </a:tc>
              </a:tr>
              <a:tr h="1669415">
                <a:tc>
                  <a:txBody>
                    <a:bodyPr/>
                    <a:lstStyle/>
                    <a:p>
                      <a:pPr marL="0" marR="0" lvl="0" indent="0" algn="l" defTabSz="914400" rtl="0" eaLnBrk="1" fontAlgn="auto" latinLnBrk="1" hangingPunct="1">
                        <a:lnSpc>
                          <a:spcPct val="130000"/>
                        </a:lnSpc>
                        <a:spcBef>
                          <a:spcPts val="0"/>
                        </a:spcBef>
                        <a:spcAft>
                          <a:spcPts val="0"/>
                        </a:spcAft>
                        <a:buClrTx/>
                        <a:buSzTx/>
                        <a:buFontTx/>
                        <a:buNone/>
                        <a:defRPr/>
                      </a:pPr>
                      <a:r>
                        <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收集装置</a:t>
                      </a:r>
                      <a:endPar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txBody>
                  <a:tcPr marL="36195" marR="36195" marT="36195" marB="36195" anchor="ctr" anchorCtr="1">
                    <a:lnL w="19050" cap="rnd">
                      <a:solidFill>
                        <a:srgbClr val="4A626E"/>
                      </a:solidFill>
                      <a:prstDash val="solid"/>
                    </a:lnL>
                    <a:lnR w="3175">
                      <a:solidFill>
                        <a:srgbClr val="4A626E"/>
                      </a:solidFill>
                      <a:prstDash val="dot"/>
                    </a:lnR>
                    <a:lnT w="3175">
                      <a:solidFill>
                        <a:srgbClr val="4A626E"/>
                      </a:solidFill>
                      <a:prstDash val="dot"/>
                    </a:lnT>
                    <a:lnB w="19050" cap="rnd">
                      <a:solidFill>
                        <a:srgbClr val="4A626E"/>
                      </a:solidFill>
                      <a:prstDash val="solid"/>
                    </a:lnB>
                    <a:solidFill>
                      <a:srgbClr val="FFFFFF"/>
                    </a:solidFill>
                  </a:tcPr>
                </a:tc>
                <a:tc>
                  <a:txBody>
                    <a:bodyPr/>
                    <a:lstStyle/>
                    <a:p>
                      <a:pPr marL="0" marR="0" lvl="0" indent="0" algn="l" defTabSz="914400" rtl="0" eaLnBrk="1" fontAlgn="auto" latinLnBrk="1" hangingPunct="1">
                        <a:lnSpc>
                          <a:spcPct val="130000"/>
                        </a:lnSpc>
                        <a:spcBef>
                          <a:spcPts val="0"/>
                        </a:spcBef>
                        <a:spcAft>
                          <a:spcPts val="0"/>
                        </a:spcAft>
                        <a:buClrTx/>
                        <a:buSzTx/>
                        <a:buFontTx/>
                        <a:buNone/>
                        <a:defRPr/>
                      </a:pPr>
                      <a:endParaRPr lang="zh-CN" altLang="en-US"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txBody>
                  <a:tcPr marL="36195" marR="36195" marT="36195" marB="36195">
                    <a:lnL w="3175">
                      <a:solidFill>
                        <a:srgbClr val="4A626E"/>
                      </a:solidFill>
                      <a:prstDash val="dot"/>
                    </a:lnL>
                    <a:lnR w="3175">
                      <a:solidFill>
                        <a:srgbClr val="4A626E"/>
                      </a:solidFill>
                      <a:prstDash val="dot"/>
                    </a:lnR>
                    <a:lnT w="3175">
                      <a:solidFill>
                        <a:srgbClr val="4A626E"/>
                      </a:solidFill>
                      <a:prstDash val="dot"/>
                    </a:lnT>
                    <a:lnB w="19050" cap="rnd">
                      <a:solidFill>
                        <a:srgbClr val="4A626E"/>
                      </a:solidFill>
                      <a:prstDash val="solid"/>
                    </a:lnB>
                    <a:solidFill>
                      <a:srgbClr val="FFFFFF"/>
                    </a:solidFill>
                  </a:tcPr>
                </a:tc>
                <a:tc>
                  <a:txBody>
                    <a:bodyPr/>
                    <a:lstStyle/>
                    <a:p>
                      <a:pPr marL="0" marR="0" indent="0" algn="l" defTabSz="914400" rtl="0" eaLnBrk="1" fontAlgn="auto" latinLnBrk="1" hangingPunct="1">
                        <a:lnSpc>
                          <a:spcPct val="130000"/>
                        </a:lnSpc>
                        <a:spcBef>
                          <a:spcPts val="0"/>
                        </a:spcBef>
                        <a:spcAft>
                          <a:spcPts val="0"/>
                        </a:spcAft>
                        <a:buClrTx/>
                        <a:buSzTx/>
                        <a:buFontTx/>
                        <a:buNone/>
                        <a:defRPr/>
                      </a:pPr>
                      <a:endParaRPr lang="zh-CN" altLang="en-US" dirty="0">
                        <a:solidFill>
                          <a:srgbClr val="404040"/>
                        </a:solidFill>
                      </a:endParaRPr>
                    </a:p>
                  </a:txBody>
                  <a:tcPr marL="36195" marR="36195" marT="36195" marB="36195" anchor="ctr">
                    <a:lnL w="3175">
                      <a:solidFill>
                        <a:srgbClr val="4A626E"/>
                      </a:solidFill>
                      <a:prstDash val="dot"/>
                    </a:lnL>
                    <a:lnR w="19050" cap="rnd">
                      <a:solidFill>
                        <a:srgbClr val="4A626E"/>
                      </a:solidFill>
                      <a:prstDash val="solid"/>
                    </a:lnR>
                    <a:lnT w="3175">
                      <a:solidFill>
                        <a:srgbClr val="4A626E"/>
                      </a:solidFill>
                      <a:prstDash val="dot"/>
                    </a:lnT>
                    <a:lnB w="19050" cap="rnd">
                      <a:solidFill>
                        <a:srgbClr val="4A626E"/>
                      </a:solidFill>
                      <a:prstDash val="solid"/>
                    </a:lnB>
                    <a:solidFill>
                      <a:srgbClr val="FFFFFF"/>
                    </a:solidFill>
                  </a:tcPr>
                </a:tc>
              </a:tr>
              <a:tr h="1102360">
                <a:tc>
                  <a:txBody>
                    <a:bodyPr/>
                    <a:lstStyle/>
                    <a:p>
                      <a:pPr marL="0" marR="0" lvl="0" indent="0" algn="l" defTabSz="914400" rtl="0" eaLnBrk="1" fontAlgn="auto" latinLnBrk="1" hangingPunct="1">
                        <a:lnSpc>
                          <a:spcPct val="130000"/>
                        </a:lnSpc>
                        <a:spcBef>
                          <a:spcPts val="0"/>
                        </a:spcBef>
                        <a:spcAft>
                          <a:spcPts val="0"/>
                        </a:spcAft>
                        <a:buClrTx/>
                        <a:buSzTx/>
                        <a:buFontTx/>
                        <a:buNone/>
                        <a:defRPr/>
                      </a:pPr>
                      <a:endParaRPr lang="zh-CN" altLang="en-US" sz="2400" b="1" noProof="0" dirty="0">
                        <a:ln>
                          <a:noFill/>
                        </a:ln>
                        <a:solidFill>
                          <a:srgbClr val="4A626E"/>
                        </a:solidFill>
                        <a:effectLst/>
                        <a:uLnTx/>
                        <a:uFillTx/>
                        <a:latin typeface="Times New Roman" panose="02020603050405020304" pitchFamily="18" charset="0"/>
                        <a:ea typeface="方正粗黑宋简体" panose="02000000000000000000" pitchFamily="2" charset="-122"/>
                        <a:sym typeface="Arial" panose="020B0604020202090204"/>
                      </a:endParaRPr>
                    </a:p>
                    <a:p>
                      <a:pPr marL="0" marR="0" lvl="0" indent="0" algn="l" defTabSz="914400" rtl="0" eaLnBrk="1" fontAlgn="auto" latinLnBrk="1" hangingPunct="1">
                        <a:lnSpc>
                          <a:spcPct val="130000"/>
                        </a:lnSpc>
                        <a:spcBef>
                          <a:spcPts val="0"/>
                        </a:spcBef>
                        <a:spcAft>
                          <a:spcPts val="0"/>
                        </a:spcAft>
                        <a:buClrTx/>
                        <a:buSzTx/>
                        <a:buFontTx/>
                        <a:buNone/>
                        <a:defRPr/>
                      </a:pPr>
                      <a:r>
                        <a:rPr lang="zh-CN" altLang="en-US" sz="2400" b="1" noProof="0" dirty="0">
                          <a:ln>
                            <a:noFill/>
                          </a:ln>
                          <a:solidFill>
                            <a:srgbClr val="4A626E"/>
                          </a:solidFill>
                          <a:effectLst/>
                          <a:uLnTx/>
                          <a:uFillTx/>
                          <a:latin typeface="Times New Roman" panose="02020603050405020304" pitchFamily="18" charset="0"/>
                          <a:ea typeface="方正粗黑宋简体" panose="02000000000000000000" pitchFamily="2" charset="-122"/>
                          <a:sym typeface="Arial" panose="020B0604020202090204"/>
                        </a:rPr>
                        <a:t>收集方法</a:t>
                      </a:r>
                      <a:endParaRPr lang="zh-CN" altLang="en-US"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lvl="0" indent="0" algn="l" defTabSz="914400" rtl="0" eaLnBrk="1" fontAlgn="auto" latinLnBrk="1" hangingPunct="1">
                        <a:lnSpc>
                          <a:spcPct val="130000"/>
                        </a:lnSpc>
                        <a:spcBef>
                          <a:spcPts val="0"/>
                        </a:spcBef>
                        <a:spcAft>
                          <a:spcPts val="0"/>
                        </a:spcAft>
                        <a:buClrTx/>
                        <a:buSzTx/>
                        <a:buFontTx/>
                        <a:buNone/>
                        <a:defRPr/>
                      </a:pPr>
                      <a:endParaRPr lang="zh-CN" altLang="en-US"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txBody>
                  <a:tcPr marL="36195" marR="36195" marT="36195" marB="36195" anchor="ctr" anchorCtr="1">
                    <a:lnL w="19050" cap="rnd">
                      <a:solidFill>
                        <a:srgbClr val="4A626E"/>
                      </a:solidFill>
                      <a:prstDash val="solid"/>
                    </a:lnL>
                    <a:lnR w="3175">
                      <a:solidFill>
                        <a:srgbClr val="4A626E"/>
                      </a:solidFill>
                      <a:prstDash val="dot"/>
                    </a:lnR>
                    <a:lnT w="19050" cap="rnd" cmpd="sng" algn="ctr">
                      <a:solidFill>
                        <a:srgbClr val="4A626E"/>
                      </a:solidFill>
                      <a:prstDash val="solid"/>
                      <a:round/>
                      <a:headEnd type="none" w="med" len="med"/>
                      <a:tailEnd type="none" w="med" len="med"/>
                    </a:lnT>
                    <a:lnB w="19050" cap="rnd">
                      <a:solidFill>
                        <a:srgbClr val="4A626E"/>
                      </a:solidFill>
                      <a:prstDash val="solid"/>
                    </a:lnB>
                    <a:solidFill>
                      <a:srgbClr val="FFFFFF"/>
                    </a:solidFill>
                  </a:tcPr>
                </a:tc>
                <a:tc>
                  <a:txBody>
                    <a:bodyPr/>
                    <a:lstStyle/>
                    <a:p>
                      <a:pPr marL="0" marR="0" lvl="0" indent="0" algn="l" defTabSz="914400" rtl="0" eaLnBrk="1" fontAlgn="auto" latinLnBrk="1" hangingPunct="1">
                        <a:lnSpc>
                          <a:spcPct val="130000"/>
                        </a:lnSpc>
                        <a:spcBef>
                          <a:spcPts val="0"/>
                        </a:spcBef>
                        <a:spcAft>
                          <a:spcPts val="0"/>
                        </a:spcAft>
                        <a:buClrTx/>
                        <a:buSzTx/>
                        <a:buFontTx/>
                        <a:buNone/>
                        <a:defRPr/>
                      </a:pPr>
                      <a:endParaRPr lang="zh-CN" altLang="en-US"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txBody>
                  <a:tcPr marL="36195" marR="36195" marT="36195" marB="36195">
                    <a:lnL w="3175">
                      <a:solidFill>
                        <a:srgbClr val="4A626E"/>
                      </a:solidFill>
                      <a:prstDash val="dot"/>
                    </a:lnL>
                    <a:lnR w="3175">
                      <a:solidFill>
                        <a:srgbClr val="4A626E"/>
                      </a:solidFill>
                      <a:prstDash val="dot"/>
                    </a:lnR>
                    <a:lnT w="19050" cap="rnd" cmpd="sng" algn="ctr">
                      <a:solidFill>
                        <a:srgbClr val="4A626E"/>
                      </a:solidFill>
                      <a:prstDash val="solid"/>
                      <a:round/>
                      <a:headEnd type="none" w="med" len="med"/>
                      <a:tailEnd type="none" w="med" len="med"/>
                    </a:lnT>
                    <a:lnB w="19050" cap="rnd">
                      <a:solidFill>
                        <a:srgbClr val="4A626E"/>
                      </a:solidFill>
                      <a:prstDash val="solid"/>
                    </a:lnB>
                    <a:solidFill>
                      <a:srgbClr val="FFFFFF"/>
                    </a:solidFill>
                  </a:tcPr>
                </a:tc>
                <a:tc>
                  <a:txBody>
                    <a:bodyPr/>
                    <a:lstStyle/>
                    <a:p>
                      <a:pPr marL="0" marR="0" indent="0" algn="l" defTabSz="914400" rtl="0" eaLnBrk="1" fontAlgn="auto" latinLnBrk="1" hangingPunct="1">
                        <a:lnSpc>
                          <a:spcPct val="130000"/>
                        </a:lnSpc>
                        <a:spcBef>
                          <a:spcPts val="0"/>
                        </a:spcBef>
                        <a:spcAft>
                          <a:spcPts val="0"/>
                        </a:spcAft>
                        <a:buClrTx/>
                        <a:buSzTx/>
                        <a:buFontTx/>
                        <a:buNone/>
                        <a:defRPr/>
                      </a:pPr>
                      <a:endParaRPr lang="zh-CN" altLang="en-US" dirty="0">
                        <a:solidFill>
                          <a:srgbClr val="404040"/>
                        </a:solidFill>
                      </a:endParaRPr>
                    </a:p>
                  </a:txBody>
                  <a:tcPr marL="36195" marR="36195" marT="36195" marB="36195" anchor="ctr">
                    <a:lnL w="3175">
                      <a:solidFill>
                        <a:srgbClr val="4A626E"/>
                      </a:solidFill>
                      <a:prstDash val="dot"/>
                    </a:lnL>
                    <a:lnR w="19050" cap="rnd">
                      <a:solidFill>
                        <a:srgbClr val="4A626E"/>
                      </a:solidFill>
                      <a:prstDash val="solid"/>
                    </a:lnR>
                    <a:lnT w="19050" cap="rnd" cmpd="sng" algn="ctr">
                      <a:solidFill>
                        <a:srgbClr val="4A626E"/>
                      </a:solidFill>
                      <a:prstDash val="solid"/>
                      <a:round/>
                      <a:headEnd type="none" w="med" len="med"/>
                      <a:tailEnd type="none" w="med" len="med"/>
                    </a:lnT>
                    <a:lnB w="19050" cap="rnd">
                      <a:solidFill>
                        <a:srgbClr val="4A626E"/>
                      </a:solidFill>
                      <a:prstDash val="solid"/>
                    </a:lnB>
                    <a:solidFill>
                      <a:srgbClr val="FFFFFF"/>
                    </a:solidFill>
                  </a:tcPr>
                </a:tc>
              </a:tr>
            </a:tbl>
          </a:graphicData>
        </a:graphic>
      </p:graphicFrame>
      <p:sp>
        <p:nvSpPr>
          <p:cNvPr id="19" name="文本框 18"/>
          <p:cNvSpPr txBox="1"/>
          <p:nvPr/>
        </p:nvSpPr>
        <p:spPr>
          <a:xfrm>
            <a:off x="3602383" y="2146935"/>
            <a:ext cx="2772000" cy="1198880"/>
          </a:xfrm>
          <a:prstGeom prst="rect">
            <a:avLst/>
          </a:prstGeom>
          <a:noFill/>
        </p:spPr>
        <p:txBody>
          <a:bodyPr wrap="square" rtlCol="0" anchor="t">
            <a:spAutoFit/>
          </a:bodyPr>
          <a:lstStyle/>
          <a:p>
            <a:pPr algn="ctr"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不易溶于水</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ctr" latinLnBrk="1">
              <a:lnSpc>
                <a:spcPct val="200000"/>
              </a:lnSpc>
              <a:spcBef>
                <a:spcPts val="0"/>
              </a:spcBef>
              <a:spcAft>
                <a:spcPts val="0"/>
              </a:spcAft>
              <a:buClrTx/>
              <a:buSzTx/>
              <a:buFontTx/>
              <a:defRPr/>
            </a:pPr>
            <a:r>
              <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rPr>
              <a:t>密度比空气密度大</a:t>
            </a: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sp>
        <p:nvSpPr>
          <p:cNvPr id="4" name="文本框 3"/>
          <p:cNvSpPr txBox="1"/>
          <p:nvPr/>
        </p:nvSpPr>
        <p:spPr>
          <a:xfrm>
            <a:off x="8618220" y="2146935"/>
            <a:ext cx="2772000" cy="1198880"/>
          </a:xfrm>
          <a:prstGeom prst="rect">
            <a:avLst/>
          </a:prstGeom>
          <a:noFill/>
        </p:spPr>
        <p:txBody>
          <a:bodyPr wrap="square" rtlCol="0" anchor="t">
            <a:spAutoFit/>
          </a:bodyPr>
          <a:lstStyle/>
          <a:p>
            <a:pPr algn="ctr"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能溶于水</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ctr" latinLnBrk="1">
              <a:lnSpc>
                <a:spcPct val="200000"/>
              </a:lnSpc>
              <a:spcBef>
                <a:spcPts val="0"/>
              </a:spcBef>
              <a:spcAft>
                <a:spcPts val="0"/>
              </a:spcAft>
              <a:buClrTx/>
              <a:buSzTx/>
              <a:buFontTx/>
              <a:defRPr/>
            </a:pPr>
            <a:r>
              <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rPr>
              <a:t>密度比空气密度大</a:t>
            </a: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pic>
        <p:nvPicPr>
          <p:cNvPr id="2053" name="Picture 5" descr="C:\Users\Administrator\Desktop\360截图16610720659497.png"/>
          <p:cNvPicPr>
            <a:picLocks noChangeAspect="1" noChangeArrowheads="1"/>
          </p:cNvPicPr>
          <p:nvPr/>
        </p:nvPicPr>
        <p:blipFill>
          <a:blip r:embed="rId2" cstate="print"/>
          <a:srcRect l="67402" t="22856" r="24387" b="17027"/>
          <a:stretch>
            <a:fillRect/>
          </a:stretch>
        </p:blipFill>
        <p:spPr bwMode="auto">
          <a:xfrm>
            <a:off x="6041390" y="3586480"/>
            <a:ext cx="935990" cy="1269365"/>
          </a:xfrm>
          <a:prstGeom prst="rect">
            <a:avLst/>
          </a:prstGeom>
          <a:noFill/>
        </p:spPr>
      </p:pic>
      <p:pic>
        <p:nvPicPr>
          <p:cNvPr id="7" name="Picture 5" descr="C:\Users\Administrator\Desktop\360截图16610720659497.png"/>
          <p:cNvPicPr>
            <a:picLocks noChangeAspect="1" noChangeArrowheads="1"/>
          </p:cNvPicPr>
          <p:nvPr/>
        </p:nvPicPr>
        <p:blipFill>
          <a:blip r:embed="rId2" cstate="print"/>
          <a:srcRect l="83779" t="22856" b="17027"/>
          <a:stretch>
            <a:fillRect/>
          </a:stretch>
        </p:blipFill>
        <p:spPr bwMode="auto">
          <a:xfrm>
            <a:off x="2513330" y="3587115"/>
            <a:ext cx="2069465" cy="1364615"/>
          </a:xfrm>
          <a:prstGeom prst="rect">
            <a:avLst/>
          </a:prstGeom>
          <a:noFill/>
        </p:spPr>
      </p:pic>
      <p:pic>
        <p:nvPicPr>
          <p:cNvPr id="8" name="Picture 5" descr="C:\Users\Administrator\Desktop\360截图16610720659497.png"/>
          <p:cNvPicPr>
            <a:picLocks noChangeAspect="1" noChangeArrowheads="1"/>
          </p:cNvPicPr>
          <p:nvPr/>
        </p:nvPicPr>
        <p:blipFill>
          <a:blip r:embed="rId2" cstate="print"/>
          <a:srcRect l="67402" t="22856" r="24387" b="17027"/>
          <a:stretch>
            <a:fillRect/>
          </a:stretch>
        </p:blipFill>
        <p:spPr bwMode="auto">
          <a:xfrm>
            <a:off x="9188450" y="3507105"/>
            <a:ext cx="939165" cy="1348740"/>
          </a:xfrm>
          <a:prstGeom prst="rect">
            <a:avLst/>
          </a:prstGeom>
          <a:noFill/>
        </p:spPr>
      </p:pic>
      <p:sp>
        <p:nvSpPr>
          <p:cNvPr id="9" name="文本框 8"/>
          <p:cNvSpPr txBox="1"/>
          <p:nvPr/>
        </p:nvSpPr>
        <p:spPr>
          <a:xfrm>
            <a:off x="4582795" y="4395470"/>
            <a:ext cx="6976110" cy="460375"/>
          </a:xfrm>
          <a:prstGeom prst="rect">
            <a:avLst/>
          </a:prstGeom>
          <a:noFill/>
        </p:spPr>
        <p:txBody>
          <a:bodyPr wrap="none" rtlCol="0" anchor="t">
            <a:spAutoFit/>
          </a:bodyPr>
          <a:lstStyle/>
          <a:p>
            <a:pPr algn="l" latinLnBrk="1">
              <a:lnSpc>
                <a:spcPct val="100000"/>
              </a:lnSpc>
              <a:spcBef>
                <a:spcPts val="0"/>
              </a:spcBef>
              <a:spcAft>
                <a:spcPts val="0"/>
              </a:spcAft>
              <a:buClrTx/>
              <a:buSzTx/>
              <a:buFontTx/>
            </a:pPr>
            <a:r>
              <a:rPr lang="en-US"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较纯净</a:t>
            </a:r>
            <a:r>
              <a:rPr lang="en-US"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en-US"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较干燥</a:t>
            </a:r>
            <a:r>
              <a:rPr lang="en-US"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唯一法</a:t>
            </a:r>
            <a:r>
              <a:rPr lang="en-US"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lang="en-US"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0" name="文本框 9"/>
          <p:cNvSpPr txBox="1"/>
          <p:nvPr/>
        </p:nvSpPr>
        <p:spPr>
          <a:xfrm>
            <a:off x="2350798" y="5168265"/>
            <a:ext cx="5989320" cy="1198880"/>
          </a:xfrm>
          <a:prstGeom prst="rect">
            <a:avLst/>
          </a:prstGeom>
          <a:noFill/>
        </p:spPr>
        <p:txBody>
          <a:bodyPr wrap="none" rtlCol="0" anchor="t">
            <a:spAutoFit/>
          </a:bodyPr>
          <a:lstStyle/>
          <a:p>
            <a:pPr algn="l"/>
            <a:r>
              <a:rPr lang="zh-CN" altLang="en-US" sz="2400" b="1" dirty="0">
                <a:solidFill>
                  <a:srgbClr val="4A626E"/>
                </a:solidFill>
                <a:uFillTx/>
                <a:latin typeface="Times New Roman" panose="02020603050405020304" pitchFamily="18" charset="0"/>
                <a:ea typeface="宋体" panose="02010600030101010101" pitchFamily="2" charset="-122"/>
                <a:sym typeface="Arial" panose="020B0604020202090204"/>
              </a:rPr>
              <a:t>排水法</a:t>
            </a:r>
            <a:r>
              <a:rPr lang="zh-CN" altLang="en-US" sz="2400" b="1" dirty="0">
                <a:solidFill>
                  <a:srgbClr val="C00000"/>
                </a:solidFill>
                <a:uFillTx/>
                <a:latin typeface="Times New Roman" panose="02020603050405020304" pitchFamily="18" charset="0"/>
                <a:ea typeface="宋体" panose="02010600030101010101" pitchFamily="2" charset="-122"/>
                <a:sym typeface="Arial" panose="020B0604020202090204"/>
              </a:rPr>
              <a:t>（不易溶于水且不与水反应）</a:t>
            </a:r>
            <a:r>
              <a:rPr lang="zh-CN" altLang="en-US" sz="2400" b="1" dirty="0">
                <a:solidFill>
                  <a:srgbClr val="4A626E"/>
                </a:solidFill>
                <a:uFillTx/>
                <a:latin typeface="Times New Roman" panose="02020603050405020304" pitchFamily="18" charset="0"/>
                <a:ea typeface="宋体" panose="02010600030101010101" pitchFamily="2" charset="-122"/>
                <a:sym typeface="Arial" panose="020B0604020202090204"/>
              </a:rPr>
              <a:t>、</a:t>
            </a:r>
            <a:endParaRPr lang="zh-CN" altLang="en-US" sz="2400" b="1" dirty="0">
              <a:solidFill>
                <a:srgbClr val="4A626E"/>
              </a:solidFill>
              <a:uFillTx/>
              <a:latin typeface="Times New Roman" panose="02020603050405020304" pitchFamily="18" charset="0"/>
              <a:ea typeface="宋体" panose="02010600030101010101" pitchFamily="2" charset="-122"/>
              <a:sym typeface="Arial" panose="020B0604020202090204"/>
            </a:endParaRPr>
          </a:p>
          <a:p>
            <a:pPr algn="l"/>
            <a:r>
              <a:rPr lang="zh-CN" altLang="en-US" sz="2400" b="1" dirty="0">
                <a:solidFill>
                  <a:srgbClr val="4A626E"/>
                </a:solidFill>
                <a:uFillTx/>
                <a:latin typeface="Times New Roman" panose="02020603050405020304" pitchFamily="18" charset="0"/>
                <a:ea typeface="宋体" panose="02010600030101010101" pitchFamily="2" charset="-122"/>
                <a:sym typeface="Arial" panose="020B0604020202090204"/>
              </a:rPr>
              <a:t>向上排空气法</a:t>
            </a:r>
            <a:r>
              <a:rPr lang="zh-CN" altLang="en-US" sz="2400" b="1" dirty="0">
                <a:solidFill>
                  <a:srgbClr val="C00000"/>
                </a:solidFill>
                <a:uFillTx/>
                <a:latin typeface="Times New Roman" panose="02020603050405020304" pitchFamily="18" charset="0"/>
                <a:ea typeface="宋体" panose="02010600030101010101" pitchFamily="2" charset="-122"/>
                <a:sym typeface="Arial" panose="020B0604020202090204"/>
              </a:rPr>
              <a:t>（密度比空气大且</a:t>
            </a:r>
            <a:endParaRPr lang="zh-CN" altLang="en-US" sz="2400" b="1" dirty="0">
              <a:solidFill>
                <a:srgbClr val="C00000"/>
              </a:solidFill>
              <a:uFillTx/>
              <a:latin typeface="Times New Roman" panose="02020603050405020304" pitchFamily="18" charset="0"/>
              <a:ea typeface="宋体" panose="02010600030101010101" pitchFamily="2" charset="-122"/>
              <a:sym typeface="Arial" panose="020B0604020202090204"/>
            </a:endParaRPr>
          </a:p>
          <a:p>
            <a:pPr algn="l"/>
            <a:r>
              <a:rPr lang="zh-CN" altLang="en-US" sz="2400" b="1" dirty="0">
                <a:solidFill>
                  <a:srgbClr val="C00000"/>
                </a:solidFill>
                <a:uFillTx/>
                <a:latin typeface="Times New Roman" panose="02020603050405020304" pitchFamily="18" charset="0"/>
                <a:ea typeface="宋体" panose="02010600030101010101" pitchFamily="2" charset="-122"/>
                <a:sym typeface="Arial" panose="020B0604020202090204"/>
              </a:rPr>
              <a:t>                            不与空气中气体反应反应）</a:t>
            </a:r>
            <a:endParaRPr lang="zh-CN" altLang="en-US"/>
          </a:p>
        </p:txBody>
      </p:sp>
      <p:sp>
        <p:nvSpPr>
          <p:cNvPr id="11" name="文本框 10"/>
          <p:cNvSpPr txBox="1"/>
          <p:nvPr/>
        </p:nvSpPr>
        <p:spPr>
          <a:xfrm>
            <a:off x="8618220" y="5676900"/>
            <a:ext cx="2937510" cy="460375"/>
          </a:xfrm>
          <a:prstGeom prst="rect">
            <a:avLst/>
          </a:prstGeom>
          <a:noFill/>
        </p:spPr>
        <p:txBody>
          <a:bodyPr wrap="none" rtlCol="0" anchor="t">
            <a:spAutoFit/>
          </a:bodyPr>
          <a:lstStyle/>
          <a:p>
            <a:pPr algn="l"/>
            <a:r>
              <a:rPr lang="zh-CN" altLang="en-US" sz="2400" b="1" dirty="0">
                <a:solidFill>
                  <a:srgbClr val="4A626E"/>
                </a:solidFill>
                <a:uFillTx/>
                <a:latin typeface="Times New Roman" panose="02020603050405020304" pitchFamily="18" charset="0"/>
                <a:ea typeface="宋体" panose="02010600030101010101" pitchFamily="2" charset="-122"/>
                <a:sym typeface="Arial" panose="020B0604020202090204"/>
              </a:rPr>
              <a:t>只能用向上排空气法</a:t>
            </a:r>
            <a:endParaRPr lang="zh-CN" altLang="en-US" sz="2400" b="1" dirty="0">
              <a:solidFill>
                <a:srgbClr val="4A626E"/>
              </a:solidFill>
              <a:uFillTx/>
              <a:latin typeface="Times New Roman" panose="02020603050405020304" pitchFamily="18" charset="0"/>
              <a:ea typeface="宋体" panose="02010600030101010101" pitchFamily="2" charset="-122"/>
              <a:sym typeface="Arial" panose="020B0604020202090204"/>
            </a:endParaRPr>
          </a:p>
        </p:txBody>
      </p:sp>
    </p:spTree>
    <p:custDataLst>
      <p:tags r:id="rId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blinds(horizontal)">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blinds(horizontal)">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53"/>
                                        </p:tgtEl>
                                        <p:attrNameLst>
                                          <p:attrName>style.visibility</p:attrName>
                                        </p:attrNameLst>
                                      </p:cBhvr>
                                      <p:to>
                                        <p:strVal val="visible"/>
                                      </p:to>
                                    </p:set>
                                    <p:animEffect transition="in" filter="blinds(horizontal)">
                                      <p:cBhvr>
                                        <p:cTn id="27" dur="500"/>
                                        <p:tgtEl>
                                          <p:spTgt spid="205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blinds(horizontal)">
                                      <p:cBhvr>
                                        <p:cTn id="32" dur="5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blinds(horizontal)">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linds(horizontal)">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linds(horizontal)">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blinds(horizontal)">
                                      <p:cBhvr>
                                        <p:cTn id="5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251984" y="584888"/>
          <a:ext cx="11659870" cy="5365750"/>
        </p:xfrm>
        <a:graphic>
          <a:graphicData uri="http://schemas.openxmlformats.org/drawingml/2006/table">
            <a:tbl>
              <a:tblPr firstRow="1" bandRow="1">
                <a:tableStyleId>{5C22544A-7EE6-4342-B048-85BDC9FD1C3A}</a:tableStyleId>
              </a:tblPr>
              <a:tblGrid>
                <a:gridCol w="1752600"/>
                <a:gridCol w="4971415"/>
                <a:gridCol w="4935855"/>
              </a:tblGrid>
              <a:tr h="725805">
                <a:tc>
                  <a:txBody>
                    <a:bodyPr/>
                    <a:lstStyle/>
                    <a:p>
                      <a:pPr algn="ctr" latinLnBrk="1">
                        <a:lnSpc>
                          <a:spcPct val="150000"/>
                        </a:lnSpc>
                      </a:pPr>
                      <a:r>
                        <a:rPr lang="zh-CN" altLang="en-US" sz="2400" b="1" i="0" baseline="0" dirty="0">
                          <a:solidFill>
                            <a:srgbClr val="4A626E"/>
                          </a:solidFill>
                          <a:latin typeface="Times New Roman" panose="02020603050405020304" pitchFamily="18" charset="0"/>
                          <a:ea typeface="方正粗黑宋简体" panose="02000000000000000000" pitchFamily="2" charset="-122"/>
                        </a:rPr>
                        <a:t>气体</a:t>
                      </a:r>
                      <a:endParaRPr lang="zh-CN" altLang="en-US" sz="2400" b="1" i="0" baseline="0"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19050" cap="rnd">
                      <a:solidFill>
                        <a:srgbClr val="4A626E"/>
                      </a:solidFill>
                      <a:prstDash val="solid"/>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a:txBody>
                    <a:bodyPr/>
                    <a:lstStyle/>
                    <a:p>
                      <a:pPr algn="ctr" latinLnBrk="1">
                        <a:lnSpc>
                          <a:spcPct val="150000"/>
                        </a:lnSpc>
                      </a:pPr>
                      <a:r>
                        <a:rPr lang="zh-CN" altLang="en-US" sz="2400" b="1" dirty="0">
                          <a:solidFill>
                            <a:srgbClr val="4A626E"/>
                          </a:solidFill>
                          <a:latin typeface="Times New Roman" panose="02020603050405020304" pitchFamily="18" charset="0"/>
                          <a:ea typeface="方正粗黑宋简体" panose="02000000000000000000" pitchFamily="2" charset="-122"/>
                        </a:rPr>
                        <a:t>氧气</a:t>
                      </a:r>
                      <a:r>
                        <a:rPr lang="en-US" altLang="zh-CN" sz="2400" b="1" dirty="0">
                          <a:solidFill>
                            <a:srgbClr val="4A626E"/>
                          </a:solidFill>
                          <a:latin typeface="Times New Roman" panose="02020603050405020304" pitchFamily="18" charset="0"/>
                          <a:ea typeface="方正粗黑宋简体" panose="02000000000000000000" pitchFamily="2" charset="-122"/>
                        </a:rPr>
                        <a:t>(O</a:t>
                      </a:r>
                      <a:r>
                        <a:rPr lang="en-US" altLang="zh-CN" sz="2400" b="1" baseline="-25000" dirty="0">
                          <a:solidFill>
                            <a:srgbClr val="4A626E"/>
                          </a:solidFill>
                          <a:latin typeface="Times New Roman" panose="02020603050405020304" pitchFamily="18" charset="0"/>
                          <a:ea typeface="方正粗黑宋简体" panose="02000000000000000000" pitchFamily="2" charset="-122"/>
                        </a:rPr>
                        <a:t>2</a:t>
                      </a:r>
                      <a:r>
                        <a:rPr lang="en-US" altLang="zh-CN" sz="2400" b="1" dirty="0">
                          <a:solidFill>
                            <a:srgbClr val="4A626E"/>
                          </a:solidFill>
                          <a:latin typeface="Times New Roman" panose="02020603050405020304" pitchFamily="18" charset="0"/>
                          <a:ea typeface="方正粗黑宋简体" panose="02000000000000000000" pitchFamily="2" charset="-122"/>
                        </a:rPr>
                        <a:t>)</a:t>
                      </a:r>
                      <a:endParaRPr lang="en-US" altLang="zh-CN" sz="2400" b="1"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a:txBody>
                    <a:bodyPr/>
                    <a:lstStyle/>
                    <a:p>
                      <a:pPr algn="ctr" latinLnBrk="1">
                        <a:lnSpc>
                          <a:spcPct val="150000"/>
                        </a:lnSpc>
                      </a:pPr>
                      <a:r>
                        <a:rPr lang="zh-CN" altLang="en-US" sz="2400" b="1" dirty="0">
                          <a:solidFill>
                            <a:srgbClr val="4A626E"/>
                          </a:solidFill>
                          <a:latin typeface="Times New Roman" panose="02020603050405020304" pitchFamily="18" charset="0"/>
                          <a:ea typeface="方正粗黑宋简体" panose="02000000000000000000" pitchFamily="2" charset="-122"/>
                        </a:rPr>
                        <a:t>二氧化碳</a:t>
                      </a:r>
                      <a:r>
                        <a:rPr lang="en-US" altLang="zh-CN" sz="2400" b="1" dirty="0">
                          <a:solidFill>
                            <a:srgbClr val="4A626E"/>
                          </a:solidFill>
                          <a:latin typeface="Times New Roman" panose="02020603050405020304" pitchFamily="18" charset="0"/>
                          <a:ea typeface="方正粗黑宋简体" panose="02000000000000000000" pitchFamily="2" charset="-122"/>
                        </a:rPr>
                        <a:t>(CO</a:t>
                      </a:r>
                      <a:r>
                        <a:rPr lang="en-US" altLang="zh-CN" sz="2400" b="1" baseline="-25000" dirty="0">
                          <a:solidFill>
                            <a:srgbClr val="4A626E"/>
                          </a:solidFill>
                          <a:latin typeface="Times New Roman" panose="02020603050405020304" pitchFamily="18" charset="0"/>
                          <a:ea typeface="方正粗黑宋简体" panose="02000000000000000000" pitchFamily="2" charset="-122"/>
                        </a:rPr>
                        <a:t>2</a:t>
                      </a:r>
                      <a:r>
                        <a:rPr lang="en-US" altLang="zh-CN" sz="2400" b="1" dirty="0">
                          <a:solidFill>
                            <a:srgbClr val="4A626E"/>
                          </a:solidFill>
                          <a:latin typeface="Times New Roman" panose="02020603050405020304" pitchFamily="18" charset="0"/>
                          <a:ea typeface="方正粗黑宋简体" panose="02000000000000000000" pitchFamily="2" charset="-122"/>
                        </a:rPr>
                        <a:t>)</a:t>
                      </a:r>
                      <a:endParaRPr lang="en-US" altLang="zh-CN" sz="2400" b="1"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19050" cap="rnd">
                      <a:solidFill>
                        <a:srgbClr val="4A626E"/>
                      </a:solidFill>
                      <a:prstDash val="solid"/>
                    </a:lnR>
                    <a:lnT w="19050">
                      <a:solidFill>
                        <a:srgbClr val="4A626E"/>
                      </a:solidFill>
                      <a:prstDash val="solid"/>
                    </a:lnT>
                    <a:lnB w="3175">
                      <a:solidFill>
                        <a:srgbClr val="4A626E"/>
                      </a:solidFill>
                      <a:prstDash val="dot"/>
                    </a:lnB>
                    <a:solidFill>
                      <a:srgbClr val="FFFFFF"/>
                    </a:solidFill>
                  </a:tcPr>
                </a:tc>
              </a:tr>
              <a:tr h="1159510">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rPr>
                        <a:t> </a:t>
                      </a:r>
                      <a:r>
                        <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rPr>
                        <a:t>净化</a:t>
                      </a:r>
                      <a:r>
                        <a:rPr kumimoji="0" lang="en-US" altLang="zh-CN" sz="2400" b="1" i="0" u="none" strike="noStrike" kern="1200" cap="none" spc="0" normalizeH="0" baseline="0" noProof="0" dirty="0">
                          <a:ln>
                            <a:noFill/>
                          </a:ln>
                          <a:solidFill>
                            <a:srgbClr val="4A626E"/>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rPr>
                        <a:t>除杂</a:t>
                      </a:r>
                      <a:endPar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endParaRPr>
                    </a:p>
                  </a:txBody>
                  <a:tcPr marL="36195" marR="36195" marT="36195" marB="36195" anchor="ctr" anchorCtr="1">
                    <a:lnL w="19050" cap="rnd">
                      <a:solidFill>
                        <a:srgbClr val="4A626E"/>
                      </a:solidFill>
                      <a:prstDash val="solid"/>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txBody>
                  <a:tcPr marL="144145" marR="36195" marT="36195" marB="36195" anchor="ctr">
                    <a:lnL w="3175">
                      <a:solidFill>
                        <a:srgbClr val="4A626E"/>
                      </a:solidFill>
                      <a:prstDash val="dot"/>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sz="2400" b="1" dirty="0">
                        <a:solidFill>
                          <a:srgbClr val="4A626E"/>
                        </a:solidFill>
                        <a:uFillTx/>
                        <a:latin typeface="Times New Roman" panose="02020603050405020304" pitchFamily="18" charset="0"/>
                        <a:ea typeface="宋体" panose="02010600030101010101" pitchFamily="2" charset="-122"/>
                      </a:endParaRPr>
                    </a:p>
                  </a:txBody>
                  <a:tcPr marL="36195" marR="36195" marT="36195" marB="36195" anchor="ctr">
                    <a:lnL w="3175">
                      <a:solidFill>
                        <a:srgbClr val="4A626E"/>
                      </a:solidFill>
                      <a:prstDash val="dot"/>
                    </a:lnL>
                    <a:lnR w="19050" cap="rnd">
                      <a:solidFill>
                        <a:srgbClr val="4A626E"/>
                      </a:solidFill>
                      <a:prstDash val="solid"/>
                    </a:lnR>
                    <a:lnT w="3175">
                      <a:solidFill>
                        <a:srgbClr val="4A626E"/>
                      </a:solidFill>
                      <a:prstDash val="dot"/>
                    </a:lnT>
                    <a:lnB w="19050">
                      <a:solidFill>
                        <a:srgbClr val="4A626E"/>
                      </a:solidFill>
                      <a:prstDash val="solid"/>
                    </a:lnB>
                    <a:solidFill>
                      <a:srgbClr val="FFFFFF"/>
                    </a:solidFill>
                  </a:tcPr>
                </a:tc>
              </a:tr>
              <a:tr h="1159510">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检验方法</a:t>
                      </a:r>
                      <a:endPar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txBody>
                  <a:tcPr marL="36195" marR="36195" marT="36195" marB="36195" anchor="ctr" anchorCtr="1">
                    <a:lnL w="19050" cap="rnd">
                      <a:solidFill>
                        <a:srgbClr val="4A626E"/>
                      </a:solidFill>
                      <a:prstDash val="solid"/>
                    </a:lnL>
                    <a:lnR w="3175">
                      <a:solidFill>
                        <a:srgbClr val="4A626E"/>
                      </a:solidFill>
                      <a:prstDash val="dot"/>
                    </a:lnR>
                    <a:lnT w="19050" cap="flat" cmpd="sng" algn="ctr">
                      <a:solidFill>
                        <a:srgbClr val="4A626E"/>
                      </a:solidFill>
                      <a:prstDash val="solid"/>
                      <a:round/>
                      <a:headEnd type="none" w="med" len="med"/>
                      <a:tailEnd type="none" w="med" len="med"/>
                    </a:lnT>
                    <a:lnB w="19050" cap="rnd">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36195" marB="36195">
                    <a:lnL w="3175">
                      <a:solidFill>
                        <a:srgbClr val="4A626E"/>
                      </a:solidFill>
                      <a:prstDash val="dot"/>
                    </a:lnL>
                    <a:lnR w="3175">
                      <a:solidFill>
                        <a:srgbClr val="4A626E"/>
                      </a:solidFill>
                      <a:prstDash val="dot"/>
                    </a:lnR>
                    <a:lnT w="19050" cap="flat" cmpd="sng" algn="ctr">
                      <a:solidFill>
                        <a:srgbClr val="4A626E"/>
                      </a:solidFill>
                      <a:prstDash val="solid"/>
                      <a:round/>
                      <a:headEnd type="none" w="med" len="med"/>
                      <a:tailEnd type="none" w="med" len="med"/>
                    </a:lnT>
                    <a:lnB w="19050" cap="rnd">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dirty="0">
                        <a:solidFill>
                          <a:srgbClr val="404040"/>
                        </a:solidFill>
                      </a:endParaRPr>
                    </a:p>
                  </a:txBody>
                  <a:tcPr marL="36195" marR="36195" marT="36195" marB="36195" anchor="ctr">
                    <a:lnL w="3175">
                      <a:solidFill>
                        <a:srgbClr val="4A626E"/>
                      </a:solidFill>
                      <a:prstDash val="dot"/>
                    </a:lnL>
                    <a:lnR w="19050" cap="rnd">
                      <a:solidFill>
                        <a:srgbClr val="4A626E"/>
                      </a:solidFill>
                      <a:prstDash val="solid"/>
                    </a:lnR>
                    <a:lnT w="19050" cap="flat" cmpd="sng" algn="ctr">
                      <a:solidFill>
                        <a:srgbClr val="4A626E"/>
                      </a:solidFill>
                      <a:prstDash val="solid"/>
                      <a:round/>
                      <a:headEnd type="none" w="med" len="med"/>
                      <a:tailEnd type="none" w="med" len="med"/>
                    </a:lnT>
                    <a:lnB w="19050" cap="rnd">
                      <a:solidFill>
                        <a:srgbClr val="4A626E"/>
                      </a:solidFill>
                      <a:prstDash val="solid"/>
                    </a:lnB>
                    <a:solidFill>
                      <a:srgbClr val="FFFFFF"/>
                    </a:solidFill>
                  </a:tcPr>
                </a:tc>
              </a:tr>
              <a:tr h="2320925">
                <a:tc>
                  <a:txBody>
                    <a:bodyPr/>
                    <a:lstStyle/>
                    <a:p>
                      <a:pPr marL="0" marR="0" lvl="0" algn="l" defTabSz="914400" rtl="0" eaLnBrk="1" fontAlgn="auto" latinLnBrk="1" hangingPunct="1">
                        <a:lnSpc>
                          <a:spcPct val="100000"/>
                        </a:lnSpc>
                        <a:spcBef>
                          <a:spcPts val="0"/>
                        </a:spcBef>
                        <a:spcAft>
                          <a:spcPts val="0"/>
                        </a:spcAft>
                        <a:buClrTx/>
                        <a:buSzTx/>
                        <a:buFontTx/>
                        <a:buNone/>
                        <a:defRPr/>
                      </a:pPr>
                      <a:r>
                        <a:rPr lang="zh-CN" altLang="en-US" sz="2400" b="1" noProof="0" dirty="0">
                          <a:ln>
                            <a:noFill/>
                          </a:ln>
                          <a:solidFill>
                            <a:srgbClr val="4A626E"/>
                          </a:solidFill>
                          <a:effectLst/>
                          <a:uLnTx/>
                          <a:uFillTx/>
                          <a:latin typeface="Times New Roman" panose="02020603050405020304" pitchFamily="18" charset="0"/>
                          <a:ea typeface="方正粗黑宋简体" panose="02000000000000000000" pitchFamily="2" charset="-122"/>
                          <a:sym typeface="Arial" panose="020B0604020202090204"/>
                        </a:rPr>
                        <a:t>验满或验纯</a:t>
                      </a:r>
                      <a:endParaRPr lang="zh-CN" altLang="en-US" sz="2400" b="1" noProof="0" dirty="0">
                        <a:ln>
                          <a:noFill/>
                        </a:ln>
                        <a:solidFill>
                          <a:srgbClr val="4A626E"/>
                        </a:solidFill>
                        <a:effectLst/>
                        <a:uLnTx/>
                        <a:uFillTx/>
                        <a:latin typeface="Times New Roman" panose="02020603050405020304" pitchFamily="18" charset="0"/>
                        <a:ea typeface="方正粗黑宋简体" panose="02000000000000000000" pitchFamily="2" charset="-122"/>
                        <a:sym typeface="Arial" panose="020B0604020202090204"/>
                      </a:endParaRPr>
                    </a:p>
                  </a:txBody>
                  <a:tcPr marL="36195" marR="36195" marT="36195" marB="36195" anchor="ctr" anchorCtr="1">
                    <a:lnL w="19050" cap="rnd">
                      <a:solidFill>
                        <a:srgbClr val="4A626E"/>
                      </a:solidFill>
                      <a:prstDash val="solid"/>
                    </a:lnL>
                    <a:lnR w="3175">
                      <a:solidFill>
                        <a:srgbClr val="4A626E"/>
                      </a:solidFill>
                      <a:prstDash val="dot"/>
                    </a:lnR>
                    <a:lnT w="19050" cap="rnd" cmpd="sng" algn="ctr">
                      <a:solidFill>
                        <a:srgbClr val="4A626E"/>
                      </a:solidFill>
                      <a:prstDash val="solid"/>
                      <a:round/>
                      <a:headEnd type="none" w="med" len="med"/>
                      <a:tailEnd type="none" w="med" len="med"/>
                    </a:lnT>
                    <a:lnB w="19050" cap="rnd">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sz="2400" b="1">
                        <a:ln>
                          <a:noFill/>
                        </a:ln>
                        <a:solidFill>
                          <a:srgbClr val="404040"/>
                        </a:solidFill>
                        <a:effectLst/>
                        <a:uFillTx/>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36195" marB="36195">
                    <a:lnL w="3175">
                      <a:solidFill>
                        <a:srgbClr val="4A626E"/>
                      </a:solidFill>
                      <a:prstDash val="dot"/>
                    </a:lnL>
                    <a:lnR w="3175">
                      <a:solidFill>
                        <a:srgbClr val="4A626E"/>
                      </a:solidFill>
                      <a:prstDash val="dot"/>
                    </a:lnR>
                    <a:lnT w="19050" cap="rnd" cmpd="sng" algn="ctr">
                      <a:solidFill>
                        <a:srgbClr val="4A626E"/>
                      </a:solidFill>
                      <a:prstDash val="solid"/>
                      <a:round/>
                      <a:headEnd type="none" w="med" len="med"/>
                      <a:tailEnd type="none" w="med" len="med"/>
                    </a:lnT>
                    <a:lnB w="19050" cap="rnd">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dirty="0">
                        <a:solidFill>
                          <a:srgbClr val="404040"/>
                        </a:solidFill>
                      </a:endParaRPr>
                    </a:p>
                  </a:txBody>
                  <a:tcPr marL="36195" marR="36195" marT="36195" marB="36195" anchor="ctr">
                    <a:lnL w="3175">
                      <a:solidFill>
                        <a:srgbClr val="4A626E"/>
                      </a:solidFill>
                      <a:prstDash val="dot"/>
                    </a:lnL>
                    <a:lnR w="19050" cap="rnd">
                      <a:solidFill>
                        <a:srgbClr val="4A626E"/>
                      </a:solidFill>
                      <a:prstDash val="solid"/>
                    </a:lnR>
                    <a:lnT w="19050" cap="rnd" cmpd="sng" algn="ctr">
                      <a:solidFill>
                        <a:srgbClr val="4A626E"/>
                      </a:solidFill>
                      <a:prstDash val="solid"/>
                      <a:round/>
                      <a:headEnd type="none" w="med" len="med"/>
                      <a:tailEnd type="none" w="med" len="med"/>
                    </a:lnT>
                    <a:lnB w="19050" cap="rnd">
                      <a:solidFill>
                        <a:srgbClr val="4A626E"/>
                      </a:solidFill>
                      <a:prstDash val="solid"/>
                    </a:lnB>
                    <a:solidFill>
                      <a:srgbClr val="FFFFFF"/>
                    </a:solidFill>
                  </a:tcPr>
                </a:tc>
              </a:tr>
            </a:tbl>
          </a:graphicData>
        </a:graphic>
      </p:graphicFrame>
      <p:sp>
        <p:nvSpPr>
          <p:cNvPr id="19" name="文本框 18"/>
          <p:cNvSpPr txBox="1"/>
          <p:nvPr/>
        </p:nvSpPr>
        <p:spPr>
          <a:xfrm>
            <a:off x="2334260" y="1670050"/>
            <a:ext cx="4680000" cy="4043045"/>
          </a:xfrm>
          <a:prstGeom prst="rect">
            <a:avLst/>
          </a:prstGeom>
          <a:noFill/>
        </p:spPr>
        <p:txBody>
          <a:bodyPr wrap="square" rtlCol="0" anchor="t">
            <a:spAutoFit/>
          </a:bodyPr>
          <a:lstStyle/>
          <a:p>
            <a:pPr algn="l"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可用浓硫酸或碱石灰干燥</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defRPr/>
            </a:pP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a:p>
            <a:pPr algn="l" latinLnBrk="1">
              <a:lnSpc>
                <a:spcPct val="170000"/>
              </a:lnSpc>
              <a:spcBef>
                <a:spcPts val="0"/>
              </a:spcBef>
              <a:spcAft>
                <a:spcPts val="0"/>
              </a:spcAft>
              <a:buClrTx/>
              <a:buSzTx/>
              <a:buFontTx/>
              <a:defRPr/>
            </a:pPr>
            <a:r>
              <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rPr>
              <a:t>将带火星的木条插入</a:t>
            </a:r>
            <a:r>
              <a:rPr lang="zh-CN" altLang="en-US" sz="2400" b="1" dirty="0">
                <a:solidFill>
                  <a:srgbClr val="0E0EE4"/>
                </a:solidFill>
                <a:uFillTx/>
                <a:latin typeface="Times New Roman" panose="02020603050405020304" pitchFamily="18" charset="0"/>
                <a:ea typeface="宋体" panose="02010600030101010101" pitchFamily="2" charset="-122"/>
                <a:sym typeface="+mn-ea"/>
              </a:rPr>
              <a:t>集气瓶</a:t>
            </a:r>
            <a:r>
              <a:rPr lang="zh-CN" altLang="en-US" sz="2400" b="1" dirty="0">
                <a:solidFill>
                  <a:srgbClr val="C00000"/>
                </a:solidFill>
                <a:uFillTx/>
                <a:latin typeface="方正粗黑宋简体" panose="02000000000000000000" pitchFamily="2" charset="-122"/>
                <a:ea typeface="方正粗黑宋简体" panose="02000000000000000000" pitchFamily="2" charset="-122"/>
                <a:sym typeface="+mn-ea"/>
              </a:rPr>
              <a:t>内</a:t>
            </a:r>
            <a:r>
              <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rPr>
              <a:t>，</a:t>
            </a: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defRPr/>
            </a:pPr>
            <a:r>
              <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rPr>
              <a:t>若木条复燃，说明</a:t>
            </a:r>
            <a:r>
              <a:rPr lang="zh-CN" altLang="en-US" sz="2400" b="1" dirty="0">
                <a:solidFill>
                  <a:srgbClr val="C00000"/>
                </a:solidFill>
                <a:uFillTx/>
                <a:latin typeface="方正粗黑宋简体" panose="02000000000000000000" pitchFamily="2" charset="-122"/>
                <a:ea typeface="方正粗黑宋简体" panose="02000000000000000000" pitchFamily="2" charset="-122"/>
                <a:sym typeface="+mn-ea"/>
              </a:rPr>
              <a:t>是氧气</a:t>
            </a:r>
            <a:r>
              <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rPr>
              <a:t>。</a:t>
            </a: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defRPr/>
            </a:pP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用</a:t>
            </a:r>
            <a:r>
              <a:rPr lang="zh-CN" altLang="en-US" sz="2400" b="1" dirty="0">
                <a:gradFill>
                  <a:gsLst>
                    <a:gs pos="0">
                      <a:srgbClr val="E30000"/>
                    </a:gs>
                    <a:gs pos="100000">
                      <a:srgbClr val="760303"/>
                    </a:gs>
                  </a:gsLst>
                  <a:lin scaled="0"/>
                </a:gradFill>
                <a:uFillTx/>
                <a:latin typeface="Times New Roman" panose="02020603050405020304" pitchFamily="18" charset="0"/>
                <a:ea typeface="宋体" panose="02010600030101010101" pitchFamily="2" charset="-122"/>
                <a:sym typeface="+mn-ea"/>
              </a:rPr>
              <a:t>向上排空气法</a:t>
            </a:r>
            <a:r>
              <a:rPr lang="zh-CN" altLang="en-US" sz="2400" b="1" dirty="0">
                <a:solidFill>
                  <a:srgbClr val="4A626E"/>
                </a:solidFill>
                <a:uFillTx/>
                <a:latin typeface="Times New Roman" panose="02020603050405020304" pitchFamily="18" charset="0"/>
                <a:ea typeface="宋体" panose="02010600030101010101" pitchFamily="2" charset="-122"/>
                <a:sym typeface="+mn-ea"/>
              </a:rPr>
              <a:t>收集时，将带火</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星的本条靠近</a:t>
            </a:r>
            <a:r>
              <a:rPr lang="zh-CN" altLang="en-US" sz="2400" b="1" dirty="0">
                <a:solidFill>
                  <a:srgbClr val="0E0EE4"/>
                </a:solidFill>
                <a:uFillTx/>
                <a:latin typeface="Times New Roman" panose="02020603050405020304" pitchFamily="18" charset="0"/>
                <a:ea typeface="宋体" panose="02010600030101010101" pitchFamily="2" charset="-122"/>
                <a:sym typeface="+mn-ea"/>
              </a:rPr>
              <a:t>集气瓶</a:t>
            </a:r>
            <a:r>
              <a:rPr lang="zh-CN" altLang="en-US" sz="2400" b="1" dirty="0">
                <a:solidFill>
                  <a:srgbClr val="C00000"/>
                </a:solidFill>
                <a:uFillTx/>
                <a:latin typeface="方正粗黑宋简体" panose="02000000000000000000" pitchFamily="2" charset="-122"/>
                <a:ea typeface="方正粗黑宋简体" panose="02000000000000000000" pitchFamily="2" charset="-122"/>
                <a:sym typeface="+mn-ea"/>
              </a:rPr>
              <a:t>口</a:t>
            </a:r>
            <a:r>
              <a:rPr lang="zh-CN" altLang="en-US" sz="2400" b="1" dirty="0">
                <a:solidFill>
                  <a:srgbClr val="4A626E"/>
                </a:solidFill>
                <a:uFillTx/>
                <a:latin typeface="Times New Roman" panose="02020603050405020304" pitchFamily="18" charset="0"/>
                <a:ea typeface="宋体" panose="02010600030101010101" pitchFamily="2" charset="-122"/>
                <a:sym typeface="+mn-ea"/>
              </a:rPr>
              <a:t>，若本条</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复燃，说明已收</a:t>
            </a:r>
            <a:r>
              <a:rPr lang="zh-CN" altLang="en-US" sz="2400" b="1" dirty="0">
                <a:solidFill>
                  <a:srgbClr val="C00000"/>
                </a:solidFill>
                <a:uFillTx/>
                <a:latin typeface="方正粗黑宋简体" panose="02000000000000000000" pitchFamily="2" charset="-122"/>
                <a:ea typeface="方正粗黑宋简体" panose="02000000000000000000" pitchFamily="2" charset="-122"/>
                <a:sym typeface="+mn-ea"/>
              </a:rPr>
              <a:t>集满</a:t>
            </a:r>
            <a:r>
              <a:rPr lang="zh-CN" altLang="en-US" sz="2400" b="1" dirty="0">
                <a:solidFill>
                  <a:srgbClr val="4A626E"/>
                </a:solidFill>
                <a:uFillTx/>
                <a:latin typeface="Times New Roman" panose="02020603050405020304" pitchFamily="18" charset="0"/>
                <a:ea typeface="宋体" panose="02010600030101010101" pitchFamily="2" charset="-122"/>
                <a:sym typeface="+mn-ea"/>
              </a:rPr>
              <a:t>。</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用</a:t>
            </a:r>
            <a:r>
              <a:rPr lang="zh-CN" altLang="en-US" sz="2400" b="1" dirty="0">
                <a:solidFill>
                  <a:srgbClr val="0E0EE4"/>
                </a:solidFill>
                <a:uFillTx/>
                <a:latin typeface="Times New Roman" panose="02020603050405020304" pitchFamily="18" charset="0"/>
                <a:ea typeface="宋体" panose="02010600030101010101" pitchFamily="2" charset="-122"/>
                <a:sym typeface="+mn-ea"/>
              </a:rPr>
              <a:t>排水法</a:t>
            </a:r>
            <a:r>
              <a:rPr lang="zh-CN" altLang="en-US" sz="2400" b="1" dirty="0">
                <a:solidFill>
                  <a:srgbClr val="4A626E"/>
                </a:solidFill>
                <a:uFillTx/>
                <a:latin typeface="Times New Roman" panose="02020603050405020304" pitchFamily="18" charset="0"/>
                <a:ea typeface="宋体" panose="02010600030101010101" pitchFamily="2" charset="-122"/>
                <a:sym typeface="+mn-ea"/>
              </a:rPr>
              <a:t>收集时，</a:t>
            </a:r>
            <a:r>
              <a:rPr lang="zh-CN" altLang="en-US" sz="2400" b="1" dirty="0">
                <a:solidFill>
                  <a:srgbClr val="0E0EE4"/>
                </a:solidFill>
                <a:uFillTx/>
                <a:latin typeface="Times New Roman" panose="02020603050405020304" pitchFamily="18" charset="0"/>
                <a:ea typeface="宋体" panose="02010600030101010101" pitchFamily="2" charset="-122"/>
                <a:sym typeface="+mn-ea"/>
              </a:rPr>
              <a:t>集气瓶口有气</a:t>
            </a:r>
            <a:endParaRPr lang="zh-CN" altLang="en-US" sz="2400" b="1" dirty="0">
              <a:solidFill>
                <a:srgbClr val="0E0EE4"/>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defRPr/>
            </a:pPr>
            <a:r>
              <a:rPr lang="zh-CN" altLang="en-US" sz="2400" b="1" dirty="0">
                <a:solidFill>
                  <a:srgbClr val="0E0EE4"/>
                </a:solidFill>
                <a:uFillTx/>
                <a:latin typeface="Times New Roman" panose="02020603050405020304" pitchFamily="18" charset="0"/>
                <a:ea typeface="宋体" panose="02010600030101010101" pitchFamily="2" charset="-122"/>
                <a:sym typeface="+mn-ea"/>
              </a:rPr>
              <a:t>泡冒出</a:t>
            </a:r>
            <a:r>
              <a:rPr lang="zh-CN" altLang="en-US" sz="2400" b="1" dirty="0">
                <a:solidFill>
                  <a:srgbClr val="4A626E"/>
                </a:solidFill>
                <a:uFillTx/>
                <a:latin typeface="Times New Roman" panose="02020603050405020304" pitchFamily="18" charset="0"/>
                <a:ea typeface="宋体" panose="02010600030101010101" pitchFamily="2" charset="-122"/>
                <a:sym typeface="+mn-ea"/>
              </a:rPr>
              <a:t>，说明已收集满</a:t>
            </a:r>
            <a:r>
              <a:rPr lang="zh-CN" altLang="en-US" sz="2400" b="1" dirty="0">
                <a:solidFill>
                  <a:srgbClr val="0E0EE4"/>
                </a:solidFill>
                <a:uFillTx/>
                <a:latin typeface="Times New Roman" panose="02020603050405020304" pitchFamily="18" charset="0"/>
                <a:ea typeface="宋体" panose="02010600030101010101" pitchFamily="2" charset="-122"/>
                <a:sym typeface="+mn-ea"/>
              </a:rPr>
              <a:t>。</a:t>
            </a:r>
            <a:endParaRPr lang="zh-CN" altLang="en-US" sz="2400" b="1" dirty="0">
              <a:solidFill>
                <a:srgbClr val="0E0EE4"/>
              </a:solidFill>
              <a:uFillTx/>
              <a:latin typeface="Times New Roman" panose="02020603050405020304" pitchFamily="18" charset="0"/>
              <a:ea typeface="宋体" panose="02010600030101010101" pitchFamily="2" charset="-122"/>
              <a:sym typeface="+mn-ea"/>
            </a:endParaRPr>
          </a:p>
        </p:txBody>
      </p:sp>
      <p:sp>
        <p:nvSpPr>
          <p:cNvPr id="2" name="文本框 1"/>
          <p:cNvSpPr txBox="1"/>
          <p:nvPr/>
        </p:nvSpPr>
        <p:spPr>
          <a:xfrm>
            <a:off x="6960870" y="1535430"/>
            <a:ext cx="4659630" cy="3291840"/>
          </a:xfrm>
          <a:prstGeom prst="rect">
            <a:avLst/>
          </a:prstGeom>
          <a:noFill/>
        </p:spPr>
        <p:txBody>
          <a:bodyPr wrap="square" rtlCol="0" anchor="t">
            <a:spAutoFit/>
          </a:bodyPr>
          <a:lstStyle/>
          <a:p>
            <a:pPr algn="l"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用饱和NaHCO</a:t>
            </a:r>
            <a:r>
              <a:rPr lang="zh-CN" altLang="en-US" sz="2400" b="1" baseline="-25000" dirty="0">
                <a:solidFill>
                  <a:srgbClr val="4A626E"/>
                </a:solidFill>
                <a:uFillTx/>
                <a:latin typeface="Times New Roman" panose="02020603050405020304" pitchFamily="18" charset="0"/>
                <a:ea typeface="宋体" panose="02010600030101010101" pitchFamily="2" charset="-122"/>
                <a:sym typeface="+mn-ea"/>
              </a:rPr>
              <a:t>3</a:t>
            </a:r>
            <a:r>
              <a:rPr lang="zh-CN" altLang="en-US" sz="2400" b="1" dirty="0">
                <a:solidFill>
                  <a:srgbClr val="4A626E"/>
                </a:solidFill>
                <a:uFillTx/>
                <a:latin typeface="Times New Roman" panose="02020603050405020304" pitchFamily="18" charset="0"/>
                <a:ea typeface="宋体" panose="02010600030101010101" pitchFamily="2" charset="-122"/>
                <a:sym typeface="+mn-ea"/>
              </a:rPr>
              <a:t>溶液除去HCl，再用浓硫酸干燥。</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220000"/>
              </a:lnSpc>
              <a:spcBef>
                <a:spcPts val="0"/>
              </a:spcBef>
              <a:spcAft>
                <a:spcPts val="0"/>
              </a:spcAft>
              <a:buClrTx/>
              <a:buSzTx/>
              <a:buFontTx/>
              <a:defRPr/>
            </a:pPr>
            <a:r>
              <a:rPr lang="zh-CN" altLang="en-US" sz="2000" b="1" dirty="0">
                <a:solidFill>
                  <a:schemeClr val="tx1">
                    <a:lumMod val="85000"/>
                    <a:lumOff val="15000"/>
                  </a:schemeClr>
                </a:solidFill>
                <a:uFillTx/>
                <a:latin typeface="微软雅黑" panose="020B0503020204020204" pitchFamily="34" charset="-122"/>
                <a:ea typeface="微软雅黑" panose="020B0503020204020204" pitchFamily="34" charset="-122"/>
                <a:sym typeface="+mn-ea"/>
              </a:rPr>
              <a:t>将气体通入澄清的石灰水，若石</a:t>
            </a:r>
            <a:endParaRPr lang="zh-CN" altLang="en-US" sz="2000" b="1" dirty="0">
              <a:solidFill>
                <a:schemeClr val="tx1">
                  <a:lumMod val="85000"/>
                  <a:lumOff val="15000"/>
                </a:schemeClr>
              </a:solidFill>
              <a:uFillTx/>
              <a:latin typeface="微软雅黑" panose="020B0503020204020204" pitchFamily="34" charset="-122"/>
              <a:ea typeface="微软雅黑" panose="020B0503020204020204" pitchFamily="34" charset="-122"/>
              <a:sym typeface="+mn-ea"/>
            </a:endParaRPr>
          </a:p>
          <a:p>
            <a:pPr algn="l" latinLnBrk="1">
              <a:lnSpc>
                <a:spcPct val="100000"/>
              </a:lnSpc>
              <a:spcBef>
                <a:spcPts val="0"/>
              </a:spcBef>
              <a:spcAft>
                <a:spcPts val="0"/>
              </a:spcAft>
              <a:buClrTx/>
              <a:buSzTx/>
              <a:buFontTx/>
              <a:defRPr/>
            </a:pPr>
            <a:r>
              <a:rPr lang="zh-CN" altLang="en-US" sz="2000" b="1" dirty="0">
                <a:solidFill>
                  <a:schemeClr val="tx1">
                    <a:lumMod val="85000"/>
                    <a:lumOff val="15000"/>
                  </a:schemeClr>
                </a:solidFill>
                <a:uFillTx/>
                <a:latin typeface="微软雅黑" panose="020B0503020204020204" pitchFamily="34" charset="-122"/>
                <a:ea typeface="微软雅黑" panose="020B0503020204020204" pitchFamily="34" charset="-122"/>
                <a:sym typeface="+mn-ea"/>
              </a:rPr>
              <a:t>灰水变白色浑浊，说明是二氧化碳。</a:t>
            </a: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defRPr/>
            </a:pPr>
            <a:endParaRPr lang="zh-CN" altLang="en-US" sz="2400" b="1" dirty="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buNone/>
              <a:defRPr/>
            </a:pP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00000"/>
              </a:lnSpc>
              <a:spcBef>
                <a:spcPts val="0"/>
              </a:spcBef>
              <a:spcAft>
                <a:spcPts val="0"/>
              </a:spcAft>
              <a:buClrTx/>
              <a:buSzTx/>
              <a:buFontTx/>
              <a:buNone/>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将燃着的本条靠近集气瓶</a:t>
            </a:r>
            <a:r>
              <a:rPr lang="zh-CN" altLang="en-US" sz="2400" b="1" dirty="0">
                <a:solidFill>
                  <a:srgbClr val="C00000"/>
                </a:solidFill>
                <a:uFillTx/>
                <a:latin typeface="方正粗黑宋简体" panose="02000000000000000000" pitchFamily="2" charset="-122"/>
                <a:ea typeface="方正粗黑宋简体" panose="02000000000000000000" pitchFamily="2" charset="-122"/>
                <a:sym typeface="+mn-ea"/>
              </a:rPr>
              <a:t>口</a:t>
            </a:r>
            <a:r>
              <a:rPr lang="zh-CN" altLang="en-US" sz="2400" b="1" dirty="0">
                <a:solidFill>
                  <a:srgbClr val="4A626E"/>
                </a:solidFill>
                <a:uFillTx/>
                <a:latin typeface="Times New Roman" panose="02020603050405020304" pitchFamily="18" charset="0"/>
                <a:ea typeface="宋体" panose="02010600030101010101" pitchFamily="2" charset="-122"/>
                <a:sym typeface="+mn-ea"/>
              </a:rPr>
              <a:t>，若木条熄灭，说明已收</a:t>
            </a:r>
            <a:r>
              <a:rPr lang="zh-CN" altLang="en-US" sz="2400" b="1" dirty="0">
                <a:solidFill>
                  <a:srgbClr val="C00000"/>
                </a:solidFill>
                <a:uFillTx/>
                <a:latin typeface="方正粗黑宋简体" panose="02000000000000000000" pitchFamily="2" charset="-122"/>
                <a:ea typeface="方正粗黑宋简体" panose="02000000000000000000" pitchFamily="2" charset="-122"/>
                <a:sym typeface="+mn-ea"/>
              </a:rPr>
              <a:t>集满</a:t>
            </a:r>
            <a:r>
              <a:rPr lang="zh-CN" altLang="en-US" sz="2400" b="1" dirty="0">
                <a:solidFill>
                  <a:srgbClr val="4A626E"/>
                </a:solidFill>
                <a:uFillTx/>
                <a:latin typeface="Times New Roman" panose="02020603050405020304" pitchFamily="18" charset="0"/>
                <a:ea typeface="宋体" panose="02010600030101010101" pitchFamily="2" charset="-122"/>
                <a:sym typeface="+mn-ea"/>
              </a:rPr>
              <a:t>。</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blinds(horizontal)">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linds(horizont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blinds(horizontal)">
                                      <p:cBhvr>
                                        <p:cTn id="17" dur="500"/>
                                        <p:tgtEl>
                                          <p:spTgt spid="19">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9">
                                            <p:txEl>
                                              <p:pRg st="3" end="3"/>
                                            </p:txEl>
                                          </p:spTgt>
                                        </p:tgtEl>
                                        <p:attrNameLst>
                                          <p:attrName>style.visibility</p:attrName>
                                        </p:attrNameLst>
                                      </p:cBhvr>
                                      <p:to>
                                        <p:strVal val="visible"/>
                                      </p:to>
                                    </p:set>
                                    <p:animEffect transition="in" filter="blinds(horizontal)">
                                      <p:cBhvr>
                                        <p:cTn id="20" dur="500"/>
                                        <p:tgtEl>
                                          <p:spTgt spid="1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blinds(horizontal)">
                                      <p:cBhvr>
                                        <p:cTn id="25" dur="500"/>
                                        <p:tgtEl>
                                          <p:spTgt spid="2">
                                            <p:txEl>
                                              <p:pRg st="1" end="1"/>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blinds(horizontal)">
                                      <p:cBhvr>
                                        <p:cTn id="28" dur="500"/>
                                        <p:tgtEl>
                                          <p:spTgt spid="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9">
                                            <p:txEl>
                                              <p:pRg st="5" end="5"/>
                                            </p:txEl>
                                          </p:spTgt>
                                        </p:tgtEl>
                                        <p:attrNameLst>
                                          <p:attrName>style.visibility</p:attrName>
                                        </p:attrNameLst>
                                      </p:cBhvr>
                                      <p:to>
                                        <p:strVal val="visible"/>
                                      </p:to>
                                    </p:set>
                                    <p:animEffect transition="in" filter="blinds(horizontal)">
                                      <p:cBhvr>
                                        <p:cTn id="33" dur="500"/>
                                        <p:tgtEl>
                                          <p:spTgt spid="19">
                                            <p:txEl>
                                              <p:pRg st="5" end="5"/>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9">
                                            <p:txEl>
                                              <p:pRg st="6" end="6"/>
                                            </p:txEl>
                                          </p:spTgt>
                                        </p:tgtEl>
                                        <p:attrNameLst>
                                          <p:attrName>style.visibility</p:attrName>
                                        </p:attrNameLst>
                                      </p:cBhvr>
                                      <p:to>
                                        <p:strVal val="visible"/>
                                      </p:to>
                                    </p:set>
                                    <p:animEffect transition="in" filter="blinds(horizontal)">
                                      <p:cBhvr>
                                        <p:cTn id="36" dur="500"/>
                                        <p:tgtEl>
                                          <p:spTgt spid="19">
                                            <p:txEl>
                                              <p:pRg st="6" end="6"/>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19">
                                            <p:txEl>
                                              <p:pRg st="7" end="7"/>
                                            </p:txEl>
                                          </p:spTgt>
                                        </p:tgtEl>
                                        <p:attrNameLst>
                                          <p:attrName>style.visibility</p:attrName>
                                        </p:attrNameLst>
                                      </p:cBhvr>
                                      <p:to>
                                        <p:strVal val="visible"/>
                                      </p:to>
                                    </p:set>
                                    <p:animEffect transition="in" filter="blinds(horizontal)">
                                      <p:cBhvr>
                                        <p:cTn id="39" dur="500"/>
                                        <p:tgtEl>
                                          <p:spTgt spid="19">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9">
                                            <p:txEl>
                                              <p:pRg st="8" end="8"/>
                                            </p:txEl>
                                          </p:spTgt>
                                        </p:tgtEl>
                                        <p:attrNameLst>
                                          <p:attrName>style.visibility</p:attrName>
                                        </p:attrNameLst>
                                      </p:cBhvr>
                                      <p:to>
                                        <p:strVal val="visible"/>
                                      </p:to>
                                    </p:set>
                                    <p:animEffect transition="in" filter="blinds(horizontal)">
                                      <p:cBhvr>
                                        <p:cTn id="44" dur="500"/>
                                        <p:tgtEl>
                                          <p:spTgt spid="19">
                                            <p:txEl>
                                              <p:pRg st="8" end="8"/>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19">
                                            <p:txEl>
                                              <p:pRg st="9" end="9"/>
                                            </p:txEl>
                                          </p:spTgt>
                                        </p:tgtEl>
                                        <p:attrNameLst>
                                          <p:attrName>style.visibility</p:attrName>
                                        </p:attrNameLst>
                                      </p:cBhvr>
                                      <p:to>
                                        <p:strVal val="visible"/>
                                      </p:to>
                                    </p:set>
                                    <p:animEffect transition="in" filter="blinds(horizontal)">
                                      <p:cBhvr>
                                        <p:cTn id="47" dur="500"/>
                                        <p:tgtEl>
                                          <p:spTgt spid="19">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
                                            <p:txEl>
                                              <p:pRg st="5" end="5"/>
                                            </p:txEl>
                                          </p:spTgt>
                                        </p:tgtEl>
                                        <p:attrNameLst>
                                          <p:attrName>style.visibility</p:attrName>
                                        </p:attrNameLst>
                                      </p:cBhvr>
                                      <p:to>
                                        <p:strVal val="visible"/>
                                      </p:to>
                                    </p:set>
                                    <p:animEffect transition="in" filter="blinds(horizontal)">
                                      <p:cBhvr>
                                        <p:cTn id="5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482489" y="325808"/>
          <a:ext cx="11340000" cy="5507700"/>
        </p:xfrm>
        <a:graphic>
          <a:graphicData uri="http://schemas.openxmlformats.org/drawingml/2006/table">
            <a:tbl>
              <a:tblPr firstRow="1" bandRow="1">
                <a:tableStyleId>{5C22544A-7EE6-4342-B048-85BDC9FD1C3A}</a:tableStyleId>
              </a:tblPr>
              <a:tblGrid>
                <a:gridCol w="1332000"/>
                <a:gridCol w="2989580"/>
                <a:gridCol w="2833645"/>
                <a:gridCol w="4184775"/>
              </a:tblGrid>
              <a:tr h="647700">
                <a:tc>
                  <a:txBody>
                    <a:bodyPr/>
                    <a:lstStyle/>
                    <a:p>
                      <a:pPr algn="ctr" latinLnBrk="1">
                        <a:lnSpc>
                          <a:spcPct val="150000"/>
                        </a:lnSpc>
                      </a:pPr>
                      <a:r>
                        <a:rPr lang="zh-CN" altLang="en-US" sz="2400" b="1" i="0" baseline="0" dirty="0">
                          <a:solidFill>
                            <a:srgbClr val="4A626E"/>
                          </a:solidFill>
                          <a:latin typeface="Times New Roman" panose="02020603050405020304" pitchFamily="18" charset="0"/>
                          <a:ea typeface="方正粗黑宋简体" panose="02000000000000000000" pitchFamily="2" charset="-122"/>
                        </a:rPr>
                        <a:t>气体</a:t>
                      </a:r>
                      <a:endParaRPr lang="zh-CN" altLang="en-US" sz="2400" b="1" i="0" baseline="0"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19050" cap="rnd">
                      <a:solidFill>
                        <a:srgbClr val="4A626E"/>
                      </a:solidFill>
                      <a:prstDash val="solid"/>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gridSpan="2">
                  <a:txBody>
                    <a:bodyPr/>
                    <a:lstStyle/>
                    <a:p>
                      <a:pPr algn="ctr" latinLnBrk="1">
                        <a:lnSpc>
                          <a:spcPct val="150000"/>
                        </a:lnSpc>
                        <a:buNone/>
                      </a:pPr>
                      <a:r>
                        <a:rPr lang="zh-CN" altLang="en-US" sz="2400" b="1" dirty="0">
                          <a:solidFill>
                            <a:srgbClr val="4A626E"/>
                          </a:solidFill>
                          <a:latin typeface="Times New Roman" panose="02020603050405020304" pitchFamily="18" charset="0"/>
                          <a:ea typeface="方正粗黑宋简体" panose="02000000000000000000" pitchFamily="2" charset="-122"/>
                        </a:rPr>
                        <a:t>氧气</a:t>
                      </a:r>
                      <a:r>
                        <a:rPr lang="en-US" altLang="zh-CN" sz="2400" b="1" dirty="0">
                          <a:solidFill>
                            <a:srgbClr val="4A626E"/>
                          </a:solidFill>
                          <a:latin typeface="Times New Roman" panose="02020603050405020304" pitchFamily="18" charset="0"/>
                          <a:ea typeface="方正粗黑宋简体" panose="02000000000000000000" pitchFamily="2" charset="-122"/>
                        </a:rPr>
                        <a:t>(O</a:t>
                      </a:r>
                      <a:r>
                        <a:rPr lang="en-US" altLang="zh-CN" sz="2400" b="1" baseline="-25000" dirty="0">
                          <a:solidFill>
                            <a:srgbClr val="4A626E"/>
                          </a:solidFill>
                          <a:latin typeface="Times New Roman" panose="02020603050405020304" pitchFamily="18" charset="0"/>
                          <a:ea typeface="方正粗黑宋简体" panose="02000000000000000000" pitchFamily="2" charset="-122"/>
                        </a:rPr>
                        <a:t>2</a:t>
                      </a:r>
                      <a:r>
                        <a:rPr lang="en-US" altLang="zh-CN" sz="2400" b="1" dirty="0">
                          <a:solidFill>
                            <a:srgbClr val="4A626E"/>
                          </a:solidFill>
                          <a:latin typeface="Times New Roman" panose="02020603050405020304" pitchFamily="18" charset="0"/>
                          <a:ea typeface="方正粗黑宋简体" panose="02000000000000000000" pitchFamily="2" charset="-122"/>
                        </a:rPr>
                        <a:t>)</a:t>
                      </a:r>
                      <a:endParaRPr lang="zh-CN" altLang="en-US" sz="2400" b="1" i="0" baseline="0"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3175" cap="flat" cmpd="sng" algn="ctr">
                      <a:solidFill>
                        <a:srgbClr val="4A626E"/>
                      </a:solidFill>
                      <a:prstDash val="dot"/>
                      <a:round/>
                      <a:headEnd type="none" w="med" len="med"/>
                      <a:tailEnd type="none" w="med" len="med"/>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hMerge="1">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FFFFF"/>
                    </a:solidFill>
                  </a:tcPr>
                </a:tc>
                <a:tc>
                  <a:txBody>
                    <a:bodyPr/>
                    <a:lstStyle/>
                    <a:p>
                      <a:pPr algn="ctr" latinLnBrk="1">
                        <a:lnSpc>
                          <a:spcPct val="150000"/>
                        </a:lnSpc>
                      </a:pPr>
                      <a:r>
                        <a:rPr lang="zh-CN" altLang="en-US" sz="2400" b="1" dirty="0">
                          <a:solidFill>
                            <a:srgbClr val="4A626E"/>
                          </a:solidFill>
                          <a:latin typeface="Times New Roman" panose="02020603050405020304" pitchFamily="18" charset="0"/>
                          <a:ea typeface="方正粗黑宋简体" panose="02000000000000000000" pitchFamily="2" charset="-122"/>
                        </a:rPr>
                        <a:t>二氧化碳</a:t>
                      </a:r>
                      <a:r>
                        <a:rPr lang="en-US" altLang="zh-CN" sz="2400" b="1" dirty="0">
                          <a:solidFill>
                            <a:srgbClr val="4A626E"/>
                          </a:solidFill>
                          <a:latin typeface="Times New Roman" panose="02020603050405020304" pitchFamily="18" charset="0"/>
                          <a:ea typeface="方正粗黑宋简体" panose="02000000000000000000" pitchFamily="2" charset="-122"/>
                        </a:rPr>
                        <a:t>(CO</a:t>
                      </a:r>
                      <a:r>
                        <a:rPr lang="en-US" altLang="zh-CN" sz="2400" b="1" baseline="-25000" dirty="0">
                          <a:solidFill>
                            <a:srgbClr val="4A626E"/>
                          </a:solidFill>
                          <a:latin typeface="Times New Roman" panose="02020603050405020304" pitchFamily="18" charset="0"/>
                          <a:ea typeface="方正粗黑宋简体" panose="02000000000000000000" pitchFamily="2" charset="-122"/>
                        </a:rPr>
                        <a:t>2</a:t>
                      </a:r>
                      <a:r>
                        <a:rPr lang="en-US" altLang="zh-CN" sz="2400" b="1" dirty="0">
                          <a:solidFill>
                            <a:srgbClr val="4A626E"/>
                          </a:solidFill>
                          <a:latin typeface="Times New Roman" panose="02020603050405020304" pitchFamily="18" charset="0"/>
                          <a:ea typeface="方正粗黑宋简体" panose="02000000000000000000" pitchFamily="2" charset="-122"/>
                        </a:rPr>
                        <a:t>)</a:t>
                      </a:r>
                      <a:endParaRPr lang="en-US" altLang="zh-CN" sz="2400" b="1" dirty="0">
                        <a:solidFill>
                          <a:srgbClr val="4A626E"/>
                        </a:solidFill>
                        <a:latin typeface="Times New Roman" panose="02020603050405020304" pitchFamily="18" charset="0"/>
                        <a:ea typeface="方正粗黑宋简体" panose="02000000000000000000" pitchFamily="2" charset="-122"/>
                      </a:endParaRPr>
                    </a:p>
                  </a:txBody>
                  <a:tcPr marL="36195" marR="36195" marT="36195" marB="36195">
                    <a:lnL w="3175">
                      <a:solidFill>
                        <a:srgbClr val="4A626E"/>
                      </a:solidFill>
                      <a:prstDash val="dot"/>
                    </a:lnL>
                    <a:lnR w="19050" cap="rnd">
                      <a:solidFill>
                        <a:srgbClr val="4A626E"/>
                      </a:solidFill>
                      <a:prstDash val="solid"/>
                    </a:lnR>
                    <a:lnT w="19050">
                      <a:solidFill>
                        <a:srgbClr val="4A626E"/>
                      </a:solidFill>
                      <a:prstDash val="solid"/>
                    </a:lnT>
                    <a:lnB w="3175">
                      <a:solidFill>
                        <a:srgbClr val="4A626E"/>
                      </a:solidFill>
                      <a:prstDash val="dot"/>
                    </a:lnB>
                    <a:solidFill>
                      <a:srgbClr val="FFFFFF"/>
                    </a:solidFill>
                  </a:tcPr>
                </a:tc>
              </a:tr>
              <a:tr h="648000">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zh-CN" altLang="en-US" sz="2400" b="1" noProof="0" dirty="0">
                          <a:ln>
                            <a:noFill/>
                          </a:ln>
                          <a:solidFill>
                            <a:srgbClr val="4A626E"/>
                          </a:solidFill>
                          <a:effectLst/>
                          <a:uLnTx/>
                          <a:uFillTx/>
                          <a:latin typeface="Times New Roman" panose="02020603050405020304" pitchFamily="18" charset="0"/>
                          <a:ea typeface="方正粗黑宋简体" panose="02000000000000000000" pitchFamily="2" charset="-122"/>
                          <a:sym typeface="+mn-ea"/>
                        </a:rPr>
                        <a:t>反应类型</a:t>
                      </a:r>
                      <a:endPar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endParaRPr>
                    </a:p>
                  </a:txBody>
                  <a:tcPr marL="36195" marR="36195" marT="36195" marB="36195" anchor="ctr" anchorCtr="1">
                    <a:lnL w="19050" cap="rnd">
                      <a:solidFill>
                        <a:srgbClr val="4A626E"/>
                      </a:solidFill>
                      <a:prstDash val="solid"/>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endParaRPr>
                    </a:p>
                  </a:txBody>
                  <a:tcPr marL="36195" marR="36195" marT="36195" marB="36195" anchor="ctr" anchorCtr="1">
                    <a:lnL w="3175" cap="flat" cmpd="sng" algn="ctr">
                      <a:solidFill>
                        <a:srgbClr val="4A626E"/>
                      </a:solidFill>
                      <a:prstDash val="dot"/>
                      <a:round/>
                      <a:headEnd type="none" w="med" len="med"/>
                      <a:tailEnd type="none" w="med" len="med"/>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txBody>
                  <a:tcPr marL="144145" marR="36195" marT="36195" marB="36195" anchor="ctr">
                    <a:lnL w="3175">
                      <a:solidFill>
                        <a:srgbClr val="4A626E"/>
                      </a:solidFill>
                      <a:prstDash val="dot"/>
                    </a:lnL>
                    <a:lnR w="3175">
                      <a:solidFill>
                        <a:srgbClr val="4A626E"/>
                      </a:solidFill>
                      <a:prstDash val="dot"/>
                    </a:lnR>
                    <a:lnT w="3175">
                      <a:solidFill>
                        <a:srgbClr val="4A626E"/>
                      </a:solidFill>
                      <a:prstDash val="dot"/>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sz="2400" b="1" dirty="0">
                        <a:solidFill>
                          <a:srgbClr val="4A626E"/>
                        </a:solidFill>
                        <a:uFillTx/>
                        <a:latin typeface="Times New Roman" panose="02020603050405020304" pitchFamily="18" charset="0"/>
                        <a:ea typeface="宋体" panose="02010600030101010101" pitchFamily="2" charset="-122"/>
                      </a:endParaRPr>
                    </a:p>
                  </a:txBody>
                  <a:tcPr marL="36195" marR="36195" marT="36195" marB="36195" anchor="ctr">
                    <a:lnL w="3175">
                      <a:solidFill>
                        <a:srgbClr val="4A626E"/>
                      </a:solidFill>
                      <a:prstDash val="dot"/>
                    </a:lnL>
                    <a:lnR w="19050" cap="rnd">
                      <a:solidFill>
                        <a:srgbClr val="4A626E"/>
                      </a:solidFill>
                      <a:prstDash val="solid"/>
                    </a:lnR>
                    <a:lnT w="3175">
                      <a:solidFill>
                        <a:srgbClr val="4A626E"/>
                      </a:solidFill>
                      <a:prstDash val="dot"/>
                    </a:lnT>
                    <a:lnB w="19050">
                      <a:solidFill>
                        <a:srgbClr val="4A626E"/>
                      </a:solidFill>
                      <a:prstDash val="solid"/>
                    </a:lnB>
                    <a:solidFill>
                      <a:srgbClr val="FFFFFF"/>
                    </a:solidFill>
                  </a:tcPr>
                </a:tc>
              </a:tr>
              <a:tr h="2592000">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rPr>
                        <a:t>注意事项</a:t>
                      </a:r>
                      <a:endPar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endParaRPr>
                    </a:p>
                  </a:txBody>
                  <a:tcPr marL="36195" marR="36195" marT="36195" marB="36195" anchor="ctr" anchorCtr="1">
                    <a:lnL w="19050" cap="rnd">
                      <a:solidFill>
                        <a:srgbClr val="4A626E"/>
                      </a:solidFill>
                      <a:prstDash val="solid"/>
                    </a:lnL>
                    <a:lnR w="3175">
                      <a:solidFill>
                        <a:srgbClr val="4A626E"/>
                      </a:solidFill>
                      <a:prstDash val="dot"/>
                    </a:lnR>
                    <a:lnT w="19050" cap="flat" cmpd="sng" algn="ctr">
                      <a:solidFill>
                        <a:srgbClr val="4A626E"/>
                      </a:solidFill>
                      <a:prstDash val="solid"/>
                      <a:round/>
                      <a:headEnd type="none" w="med" len="med"/>
                      <a:tailEnd type="none" w="med" len="med"/>
                    </a:lnT>
                    <a:lnB w="19050">
                      <a:solidFill>
                        <a:srgbClr val="4A626E"/>
                      </a:solidFill>
                      <a:prstDash val="solid"/>
                    </a:lnB>
                    <a:solidFill>
                      <a:srgbClr val="FFFFFF"/>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rgbClr val="4A626E"/>
                        </a:solidFill>
                        <a:effectLst/>
                        <a:uLnTx/>
                        <a:uFillTx/>
                        <a:latin typeface="Times New Roman" panose="02020603050405020304" pitchFamily="18" charset="0"/>
                        <a:ea typeface="方正粗黑宋简体" panose="02000000000000000000" pitchFamily="2" charset="-122"/>
                        <a:cs typeface="+mn-cs"/>
                      </a:endParaRPr>
                    </a:p>
                  </a:txBody>
                  <a:tcPr marL="36195" marR="36195" marT="36195" marB="36195" anchor="ctr" anchorCtr="1">
                    <a:lnL w="3175" cap="flat" cmpd="sng" algn="ctr">
                      <a:solidFill>
                        <a:srgbClr val="4A626E"/>
                      </a:solidFill>
                      <a:prstDash val="dot"/>
                      <a:round/>
                      <a:headEnd type="none" w="med" len="med"/>
                      <a:tailEnd type="none" w="med" len="med"/>
                    </a:lnL>
                    <a:lnR w="3175">
                      <a:solidFill>
                        <a:srgbClr val="4A626E"/>
                      </a:solidFill>
                      <a:prstDash val="dot"/>
                    </a:lnR>
                    <a:lnT w="19050" cap="flat" cmpd="sng" algn="ctr">
                      <a:solidFill>
                        <a:srgbClr val="4A626E"/>
                      </a:solidFill>
                      <a:prstDash val="solid"/>
                      <a:round/>
                      <a:headEnd type="none" w="med" len="med"/>
                      <a:tailEnd type="none" w="med" len="med"/>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txBody>
                  <a:tcPr marL="144145" marR="36195" marT="36195" marB="36195" anchor="ctr">
                    <a:lnL w="3175">
                      <a:solidFill>
                        <a:srgbClr val="4A626E"/>
                      </a:solidFill>
                      <a:prstDash val="dot"/>
                    </a:lnL>
                    <a:lnR w="3175">
                      <a:solidFill>
                        <a:srgbClr val="4A626E"/>
                      </a:solidFill>
                      <a:prstDash val="dot"/>
                    </a:lnR>
                    <a:lnT w="19050" cap="flat" cmpd="sng" algn="ctr">
                      <a:solidFill>
                        <a:srgbClr val="4A626E"/>
                      </a:solidFill>
                      <a:prstDash val="solid"/>
                      <a:round/>
                      <a:headEnd type="none" w="med" len="med"/>
                      <a:tailEnd type="none" w="med" len="med"/>
                    </a:lnT>
                    <a:lnB w="19050">
                      <a:solidFill>
                        <a:srgbClr val="4A626E"/>
                      </a:solidFill>
                      <a:prstDash val="solid"/>
                    </a:lnB>
                    <a:solidFill>
                      <a:srgbClr val="FFFFFF"/>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sz="2400" b="1" dirty="0">
                        <a:solidFill>
                          <a:srgbClr val="4A626E"/>
                        </a:solidFill>
                        <a:uFillTx/>
                        <a:latin typeface="Times New Roman" panose="02020603050405020304" pitchFamily="18" charset="0"/>
                        <a:ea typeface="宋体" panose="02010600030101010101" pitchFamily="2" charset="-122"/>
                      </a:endParaRPr>
                    </a:p>
                  </a:txBody>
                  <a:tcPr marL="36195" marR="36195" marT="36195" marB="36195" anchor="ctr">
                    <a:lnL w="3175">
                      <a:solidFill>
                        <a:srgbClr val="4A626E"/>
                      </a:solidFill>
                      <a:prstDash val="dot"/>
                    </a:lnL>
                    <a:lnR w="19050" cap="rnd">
                      <a:solidFill>
                        <a:srgbClr val="4A626E"/>
                      </a:solidFill>
                      <a:prstDash val="solid"/>
                    </a:lnR>
                    <a:lnT w="19050" cap="flat" cmpd="sng" algn="ctr">
                      <a:solidFill>
                        <a:srgbClr val="4A626E"/>
                      </a:solidFill>
                      <a:prstDash val="solid"/>
                      <a:round/>
                      <a:headEnd type="none" w="med" len="med"/>
                      <a:tailEnd type="none" w="med" len="med"/>
                    </a:lnT>
                    <a:lnB w="19050">
                      <a:solidFill>
                        <a:srgbClr val="4A626E"/>
                      </a:solidFill>
                      <a:prstDash val="solid"/>
                    </a:lnB>
                    <a:solidFill>
                      <a:srgbClr val="FFFFFF"/>
                    </a:solidFill>
                  </a:tcPr>
                </a:tc>
              </a:tr>
              <a:tr h="1620000">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zh-CN" altLang="en-US" sz="2400" b="1" dirty="0">
                          <a:solidFill>
                            <a:srgbClr val="C00000"/>
                          </a:solidFill>
                          <a:latin typeface="Times New Roman" panose="02020603050405020304" pitchFamily="18" charset="0"/>
                          <a:ea typeface="方正粗黑宋简体" panose="02000000000000000000" pitchFamily="2" charset="-122"/>
                        </a:rPr>
                        <a:t>工业</a:t>
                      </a:r>
                      <a:r>
                        <a:rPr lang="zh-CN" altLang="en-US" sz="2400" b="1" dirty="0">
                          <a:solidFill>
                            <a:srgbClr val="404040"/>
                          </a:solidFill>
                          <a:latin typeface="Times New Roman" panose="02020603050405020304" pitchFamily="18" charset="0"/>
                          <a:ea typeface="方正粗黑宋简体" panose="02000000000000000000" pitchFamily="2" charset="-122"/>
                        </a:rPr>
                        <a:t>制取</a:t>
                      </a:r>
                      <a:endParaRPr lang="zh-CN" altLang="en-US" sz="2400" b="1" dirty="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4A626E"/>
                      </a:solidFill>
                      <a:prstDash val="solid"/>
                    </a:lnL>
                    <a:lnR w="3175">
                      <a:solidFill>
                        <a:srgbClr val="4A626E"/>
                      </a:solidFill>
                      <a:prstDash val="dot"/>
                    </a:lnR>
                    <a:lnT w="19050">
                      <a:solidFill>
                        <a:srgbClr val="4A626E"/>
                      </a:solidFill>
                      <a:prstDash val="solid"/>
                    </a:lnT>
                    <a:lnB w="3175">
                      <a:solidFill>
                        <a:srgbClr val="4A626E"/>
                      </a:solidFill>
                      <a:prstDash val="dot"/>
                    </a:lnB>
                    <a:solidFill>
                      <a:srgbClr val="F2F2F2"/>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zh-CN" altLang="en-US" sz="2400" b="1" dirty="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nchorCtr="1">
                    <a:lnL w="3175" cap="flat" cmpd="sng" algn="ctr">
                      <a:solidFill>
                        <a:srgbClr val="4A626E"/>
                      </a:solidFill>
                      <a:prstDash val="dot"/>
                      <a:round/>
                      <a:headEnd type="none" w="med" len="med"/>
                      <a:tailEnd type="none" w="med" len="med"/>
                    </a:lnL>
                    <a:lnR w="3175">
                      <a:solidFill>
                        <a:srgbClr val="4A626E"/>
                      </a:solidFill>
                      <a:prstDash val="dot"/>
                    </a:lnR>
                    <a:lnT w="19050">
                      <a:solidFill>
                        <a:srgbClr val="4A626E"/>
                      </a:solidFill>
                      <a:prstDash val="solid"/>
                    </a:lnT>
                    <a:lnB w="3175">
                      <a:solidFill>
                        <a:srgbClr val="4A626E"/>
                      </a:solidFill>
                      <a:prstDash val="dot"/>
                    </a:lnB>
                    <a:solidFill>
                      <a:srgbClr val="F2F2F2"/>
                    </a:solidFill>
                  </a:tcPr>
                </a:tc>
                <a:tc hMerge="1">
                  <a:tcPr marL="36195" marR="36195" marT="36195" marB="36195">
                    <a:lnL w="3175">
                      <a:solidFill>
                        <a:srgbClr val="4A626E"/>
                      </a:solidFill>
                      <a:prstDash val="dot"/>
                    </a:lnL>
                    <a:lnR w="3175">
                      <a:solidFill>
                        <a:srgbClr val="4A626E"/>
                      </a:solidFill>
                      <a:prstDash val="dot"/>
                    </a:lnR>
                    <a:lnT w="19050">
                      <a:solidFill>
                        <a:srgbClr val="4A626E"/>
                      </a:solidFill>
                      <a:prstDash val="solid"/>
                    </a:lnT>
                    <a:lnB w="3175">
                      <a:solidFill>
                        <a:srgbClr val="4A626E"/>
                      </a:solidFill>
                      <a:prstDash val="dot"/>
                    </a:lnB>
                    <a:solidFill>
                      <a:srgbClr val="F2F2F2"/>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zh-CN" altLang="en-US" dirty="0">
                        <a:solidFill>
                          <a:srgbClr val="404040"/>
                        </a:solidFill>
                      </a:endParaRPr>
                    </a:p>
                  </a:txBody>
                  <a:tcPr marL="36195" marR="36195" marT="36195" marB="36195" anchor="ctr">
                    <a:lnL w="3175">
                      <a:solidFill>
                        <a:srgbClr val="4A626E"/>
                      </a:solidFill>
                      <a:prstDash val="dot"/>
                    </a:lnL>
                    <a:lnR w="19050" cap="rnd">
                      <a:solidFill>
                        <a:srgbClr val="4A626E"/>
                      </a:solidFill>
                      <a:prstDash val="solid"/>
                    </a:lnR>
                    <a:lnT w="19050">
                      <a:solidFill>
                        <a:srgbClr val="4A626E"/>
                      </a:solidFill>
                      <a:prstDash val="solid"/>
                    </a:lnT>
                    <a:lnB w="3175">
                      <a:solidFill>
                        <a:srgbClr val="4A626E"/>
                      </a:solidFill>
                      <a:prstDash val="dot"/>
                    </a:lnB>
                    <a:solidFill>
                      <a:srgbClr val="F2F2F2"/>
                    </a:solidFill>
                  </a:tcPr>
                </a:tc>
              </a:tr>
            </a:tbl>
          </a:graphicData>
        </a:graphic>
      </p:graphicFrame>
      <p:sp>
        <p:nvSpPr>
          <p:cNvPr id="19" name="文本框 18"/>
          <p:cNvSpPr txBox="1"/>
          <p:nvPr/>
        </p:nvSpPr>
        <p:spPr>
          <a:xfrm>
            <a:off x="1810385" y="1065530"/>
            <a:ext cx="3084830" cy="3094990"/>
          </a:xfrm>
          <a:prstGeom prst="rect">
            <a:avLst/>
          </a:prstGeom>
          <a:noFill/>
        </p:spPr>
        <p:txBody>
          <a:bodyPr wrap="square" lIns="36195" rtlCol="0" anchor="t">
            <a:spAutoFit/>
          </a:bodyPr>
          <a:lstStyle/>
          <a:p>
            <a:pPr algn="ctr"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固体、液体，常温</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ctr" latinLnBrk="1">
              <a:spcBef>
                <a:spcPts val="0"/>
              </a:spcBef>
              <a:spcAft>
                <a:spcPts val="0"/>
              </a:spcAft>
              <a:buClrTx/>
              <a:buSzTx/>
              <a:buFontTx/>
              <a:defRPr/>
            </a:pP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(1)先检查装置的气密性</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(2)用排水法收集时，待</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气泡连续均匀排出时才收集，</a:t>
            </a:r>
            <a:r>
              <a:rPr lang="zh-CN" altLang="en-US" sz="2200" b="1" dirty="0">
                <a:solidFill>
                  <a:srgbClr val="4A626E"/>
                </a:solidFill>
                <a:uFillTx/>
                <a:latin typeface="Times New Roman" panose="02020603050405020304" pitchFamily="18" charset="0"/>
                <a:ea typeface="宋体" panose="02010600030101010101" pitchFamily="2" charset="-122"/>
                <a:sym typeface="+mn-ea"/>
              </a:rPr>
              <a:t>导管置集气瓶</a:t>
            </a:r>
            <a:r>
              <a:rPr lang="zh-CN" altLang="en-US" sz="2400" b="1" dirty="0">
                <a:solidFill>
                  <a:srgbClr val="C00000"/>
                </a:solidFill>
                <a:uFillTx/>
                <a:latin typeface="方正粗黑宋简体" panose="02000000000000000000" pitchFamily="2" charset="-122"/>
                <a:ea typeface="方正粗黑宋简体" panose="02000000000000000000" pitchFamily="2" charset="-122"/>
                <a:sym typeface="+mn-ea"/>
              </a:rPr>
              <a:t>口</a:t>
            </a:r>
            <a:endParaRPr lang="zh-CN" altLang="en-US" sz="2200" b="1" dirty="0">
              <a:solidFill>
                <a:srgbClr val="C00000"/>
              </a:solidFill>
              <a:uFillTx/>
              <a:latin typeface="Times New Roman" panose="02020603050405020304" pitchFamily="18" charset="0"/>
              <a:ea typeface="宋体" panose="02010600030101010101" pitchFamily="2" charset="-122"/>
              <a:sym typeface="+mn-ea"/>
            </a:endParaRPr>
          </a:p>
          <a:p>
            <a:pPr algn="l"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(3)</a:t>
            </a:r>
            <a:r>
              <a:rPr lang="zh-CN" altLang="en-US" sz="2200" b="1" dirty="0">
                <a:solidFill>
                  <a:srgbClr val="4A626E"/>
                </a:solidFill>
                <a:uFillTx/>
                <a:latin typeface="Times New Roman" panose="02020603050405020304" pitchFamily="18" charset="0"/>
                <a:ea typeface="宋体" panose="02010600030101010101" pitchFamily="2" charset="-122"/>
                <a:sym typeface="+mn-ea"/>
              </a:rPr>
              <a:t>用排水法收集时，导管置集气瓶</a:t>
            </a:r>
            <a:r>
              <a:rPr lang="zh-CN" altLang="en-US" sz="2400" b="1" dirty="0">
                <a:solidFill>
                  <a:srgbClr val="C00000"/>
                </a:solidFill>
                <a:uFillTx/>
                <a:latin typeface="方正粗黑宋简体" panose="02000000000000000000" pitchFamily="2" charset="-122"/>
                <a:ea typeface="方正粗黑宋简体" panose="02000000000000000000" pitchFamily="2" charset="-122"/>
                <a:sym typeface="+mn-ea"/>
              </a:rPr>
              <a:t>底</a:t>
            </a:r>
            <a:endParaRPr lang="zh-CN" altLang="en-US" sz="2400" b="1" dirty="0">
              <a:solidFill>
                <a:srgbClr val="C00000"/>
              </a:solidFill>
              <a:uFillTx/>
              <a:latin typeface="方正粗黑宋简体" panose="02000000000000000000" pitchFamily="2" charset="-122"/>
              <a:ea typeface="方正粗黑宋简体" panose="02000000000000000000" pitchFamily="2" charset="-122"/>
              <a:sym typeface="+mn-ea"/>
            </a:endParaRPr>
          </a:p>
        </p:txBody>
      </p:sp>
      <p:sp>
        <p:nvSpPr>
          <p:cNvPr id="5" name="文本框 4"/>
          <p:cNvSpPr txBox="1"/>
          <p:nvPr/>
        </p:nvSpPr>
        <p:spPr>
          <a:xfrm>
            <a:off x="4858385" y="1065530"/>
            <a:ext cx="2772000" cy="3061335"/>
          </a:xfrm>
          <a:prstGeom prst="rect">
            <a:avLst/>
          </a:prstGeom>
          <a:noFill/>
        </p:spPr>
        <p:txBody>
          <a:bodyPr wrap="square" lIns="36195" rtlCol="0" anchor="t">
            <a:spAutoFit/>
          </a:bodyPr>
          <a:lstStyle/>
          <a:p>
            <a:pPr algn="ctr"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固体，加热</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ctr" latinLnBrk="1">
              <a:spcBef>
                <a:spcPts val="0"/>
              </a:spcBef>
              <a:spcAft>
                <a:spcPts val="0"/>
              </a:spcAft>
              <a:buClrTx/>
              <a:buSzTx/>
              <a:buFontTx/>
              <a:defRPr/>
            </a:pP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(1)先检查气密性 </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fontAlgn="auto"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(2)试管口略向下倾斜</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fontAlgn="auto"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(3)试管口放一团棉花</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fontAlgn="auto"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(4)先移出导气管，后</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fontAlgn="auto"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停止加热。以防倒吸</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fontAlgn="auto"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(5)集气瓶正放</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p:txBody>
      </p:sp>
      <p:sp>
        <p:nvSpPr>
          <p:cNvPr id="6" name="文本框 5"/>
          <p:cNvSpPr txBox="1"/>
          <p:nvPr/>
        </p:nvSpPr>
        <p:spPr>
          <a:xfrm>
            <a:off x="7630160" y="1065530"/>
            <a:ext cx="4176000" cy="4060825"/>
          </a:xfrm>
          <a:prstGeom prst="rect">
            <a:avLst/>
          </a:prstGeom>
          <a:noFill/>
        </p:spPr>
        <p:txBody>
          <a:bodyPr wrap="square" lIns="36195" rtlCol="0" anchor="t">
            <a:spAutoFit/>
          </a:bodyPr>
          <a:lstStyle/>
          <a:p>
            <a:pPr algn="ctr" latinLnBrk="1">
              <a:spcBef>
                <a:spcPts val="0"/>
              </a:spcBef>
              <a:spcAft>
                <a:spcPts val="0"/>
              </a:spcAft>
              <a:buClrTx/>
              <a:buSzTx/>
              <a:buFontTx/>
              <a:defRPr/>
            </a:pPr>
            <a:r>
              <a:rPr lang="zh-CN" altLang="en-US" sz="2400" b="1" dirty="0">
                <a:solidFill>
                  <a:srgbClr val="4A626E"/>
                </a:solidFill>
                <a:uFillTx/>
                <a:latin typeface="Times New Roman" panose="02020603050405020304" pitchFamily="18" charset="0"/>
                <a:ea typeface="宋体" panose="02010600030101010101" pitchFamily="2" charset="-122"/>
                <a:sym typeface="+mn-ea"/>
              </a:rPr>
              <a:t>固体、液体，常温</a:t>
            </a: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l" latinLnBrk="1">
              <a:spcBef>
                <a:spcPts val="0"/>
              </a:spcBef>
              <a:spcAft>
                <a:spcPts val="0"/>
              </a:spcAft>
              <a:buClrTx/>
              <a:buSzTx/>
              <a:buFontTx/>
              <a:defRPr/>
            </a:pPr>
            <a:endParaRPr lang="zh-CN" altLang="en-US" sz="24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(1)不能用稀硫酸，因为反应生成</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CaSO</a:t>
            </a:r>
            <a:r>
              <a:rPr lang="zh-CN" altLang="en-US" sz="2200" b="1" baseline="-25000" dirty="0">
                <a:solidFill>
                  <a:srgbClr val="4A626E"/>
                </a:solidFill>
                <a:uFillTx/>
                <a:latin typeface="Times New Roman" panose="02020603050405020304" pitchFamily="18" charset="0"/>
                <a:ea typeface="宋体" panose="02010600030101010101" pitchFamily="2" charset="-122"/>
                <a:sym typeface="+mn-ea"/>
              </a:rPr>
              <a:t>4</a:t>
            </a:r>
            <a:r>
              <a:rPr lang="zh-CN" altLang="en-US" sz="2200" b="1" dirty="0">
                <a:solidFill>
                  <a:srgbClr val="4A626E"/>
                </a:solidFill>
                <a:uFillTx/>
                <a:latin typeface="Times New Roman" panose="02020603050405020304" pitchFamily="18" charset="0"/>
                <a:ea typeface="宋体" panose="02010600030101010101" pitchFamily="2" charset="-122"/>
                <a:sym typeface="+mn-ea"/>
              </a:rPr>
              <a:t>附着在大理石表面、阻止反应继续进行。</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(2)长颈漏斗的末端应插入液体中(分液漏斗不强调)</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10000"/>
              </a:lnSpc>
              <a:spcBef>
                <a:spcPts val="0"/>
              </a:spcBef>
              <a:spcAft>
                <a:spcPts val="0"/>
              </a:spcAft>
              <a:buClrTx/>
              <a:buSzTx/>
              <a:buFontTx/>
              <a:defRPr/>
            </a:pPr>
            <a:r>
              <a:rPr lang="zh-CN" altLang="en-US" sz="2200" b="1" dirty="0">
                <a:solidFill>
                  <a:srgbClr val="4A626E"/>
                </a:solidFill>
                <a:uFillTx/>
                <a:latin typeface="Times New Roman" panose="02020603050405020304" pitchFamily="18" charset="0"/>
                <a:ea typeface="宋体" panose="02010600030101010101" pitchFamily="2" charset="-122"/>
                <a:sym typeface="+mn-ea"/>
              </a:rPr>
              <a:t>(3)集气瓶正放</a:t>
            </a: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10000"/>
              </a:lnSpc>
              <a:spcBef>
                <a:spcPts val="0"/>
              </a:spcBef>
              <a:spcAft>
                <a:spcPts val="0"/>
              </a:spcAft>
              <a:buClrTx/>
              <a:buSzTx/>
              <a:buFontTx/>
              <a:defRPr/>
            </a:pPr>
            <a:endParaRPr lang="zh-CN" altLang="en-US" sz="2200" b="1" dirty="0">
              <a:solidFill>
                <a:srgbClr val="4A626E"/>
              </a:solidFill>
              <a:uFillTx/>
              <a:latin typeface="Times New Roman" panose="02020603050405020304" pitchFamily="18" charset="0"/>
              <a:ea typeface="宋体" panose="02010600030101010101" pitchFamily="2" charset="-122"/>
              <a:sym typeface="+mn-ea"/>
            </a:endParaRPr>
          </a:p>
          <a:p>
            <a:pPr algn="l" latinLnBrk="1">
              <a:lnSpc>
                <a:spcPct val="170000"/>
              </a:lnSpc>
              <a:spcBef>
                <a:spcPts val="0"/>
              </a:spcBef>
              <a:spcAft>
                <a:spcPts val="0"/>
              </a:spcAft>
              <a:buClrTx/>
              <a:buSzTx/>
              <a:buFontTx/>
            </a:pP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高温</a:t>
            </a:r>
            <a:r>
              <a:rPr lang="zh-CN"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煅</a:t>
            </a: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烧石灰石</a:t>
            </a:r>
            <a:r>
              <a:rPr lang="zh-CN"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lang="zh-CN" altLang="en-US" sz="2400" b="1" dirty="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7" name="文本框 6"/>
          <p:cNvSpPr txBox="1"/>
          <p:nvPr/>
        </p:nvSpPr>
        <p:spPr>
          <a:xfrm>
            <a:off x="1850390" y="4391025"/>
            <a:ext cx="5688000" cy="1198245"/>
          </a:xfrm>
          <a:prstGeom prst="rect">
            <a:avLst/>
          </a:prstGeom>
          <a:noFill/>
        </p:spPr>
        <p:txBody>
          <a:bodyPr wrap="square" rtlCol="0" anchor="t">
            <a:spAutoFit/>
          </a:bodyPr>
          <a:lstStyle/>
          <a:p>
            <a:pPr algn="l" latinLnBrk="1">
              <a:lnSpc>
                <a:spcPct val="180000"/>
              </a:lnSpc>
              <a:spcBef>
                <a:spcPts val="0"/>
              </a:spcBef>
              <a:spcAft>
                <a:spcPts val="0"/>
              </a:spcAft>
              <a:buClrTx/>
              <a:buSzTx/>
              <a:buFontTx/>
            </a:pP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分离液态空气</a:t>
            </a:r>
            <a:r>
              <a:rPr lang="en-US"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依氧气和氮气的沸点不同</a:t>
            </a:r>
            <a:r>
              <a:rPr lang="en-US"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4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latinLnBrk="1">
              <a:lnSpc>
                <a:spcPct val="120000"/>
              </a:lnSpc>
              <a:spcBef>
                <a:spcPts val="0"/>
              </a:spcBef>
              <a:spcAft>
                <a:spcPts val="0"/>
              </a:spcAft>
              <a:buClrTx/>
              <a:buSzTx/>
              <a:buFontTx/>
            </a:pP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加压、蒸发</a:t>
            </a:r>
            <a:r>
              <a:rPr sz="2400" b="1">
                <a:ln>
                  <a:noFill/>
                </a:ln>
                <a:solidFill>
                  <a:schemeClr val="tx1">
                    <a:lumMod val="85000"/>
                    <a:lumOff val="15000"/>
                  </a:schemeClr>
                </a:solidFill>
                <a:effectLst/>
                <a:uFillTx/>
                <a:latin typeface="宋体" panose="02010600030101010101" pitchFamily="2" charset="-122"/>
                <a:ea typeface="宋体" panose="02010600030101010101" pitchFamily="2" charset="-122"/>
                <a:cs typeface="Arial" panose="020B0604020202090204" pitchFamily="34" charset="0"/>
                <a:sym typeface="Arial" panose="020B0604020202090204"/>
              </a:rPr>
              <a:t>→</a:t>
            </a: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物理变化高温</a:t>
            </a:r>
            <a:endParaRPr lang="zh-CN" altLang="en-US"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nvGrpSpPr>
          <p:cNvPr id="36" name="组合 35"/>
          <p:cNvGrpSpPr/>
          <p:nvPr/>
        </p:nvGrpSpPr>
        <p:grpSpPr>
          <a:xfrm>
            <a:off x="7622540" y="5000389"/>
            <a:ext cx="3279775" cy="573626"/>
            <a:chOff x="8822" y="3268"/>
            <a:chExt cx="5165" cy="903"/>
          </a:xfrm>
        </p:grpSpPr>
        <p:sp>
          <p:nvSpPr>
            <p:cNvPr id="37" name="文本框 36"/>
            <p:cNvSpPr txBox="1"/>
            <p:nvPr>
              <p:custDataLst>
                <p:tags r:id="rId2"/>
              </p:custDataLst>
            </p:nvPr>
          </p:nvSpPr>
          <p:spPr>
            <a:xfrm>
              <a:off x="8822" y="3461"/>
              <a:ext cx="5165" cy="710"/>
            </a:xfrm>
            <a:prstGeom prst="rect">
              <a:avLst/>
            </a:prstGeom>
            <a:noFill/>
            <a:ln w="9525">
              <a:noFill/>
            </a:ln>
          </p:spPr>
          <p:txBody>
            <a:bodyPr wrap="none" tIns="36195">
              <a:spAutoFit/>
            </a:bodyPr>
            <a:lstStyle>
              <a:lvl1pPr marL="342900" lvl="0" indent="-3429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3200" b="1" u="none" kern="1200" baseline="0">
                  <a:solidFill>
                    <a:schemeClr val="tx1"/>
                  </a:solidFill>
                  <a:latin typeface="Arial" panose="020B0604020202090204" pitchFamily="34" charset="0"/>
                  <a:ea typeface="宋体" panose="02010600030101010101" pitchFamily="2" charset="-122"/>
                </a:defRPr>
              </a:lvl1pPr>
              <a:lvl2pPr marL="742950" lvl="1" indent="-28575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800" b="1" u="none" kern="1200" baseline="0">
                  <a:solidFill>
                    <a:schemeClr val="tx1"/>
                  </a:solidFill>
                  <a:latin typeface="Arial" panose="020B0604020202090204" pitchFamily="34" charset="0"/>
                  <a:ea typeface="宋体" panose="02010600030101010101" pitchFamily="2" charset="-122"/>
                </a:defRPr>
              </a:lvl2pPr>
              <a:lvl3pPr marL="1143000" lvl="2"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400" b="1" u="none" kern="1200" baseline="0">
                  <a:solidFill>
                    <a:schemeClr val="tx1"/>
                  </a:solidFill>
                  <a:latin typeface="Arial" panose="020B0604020202090204" pitchFamily="34" charset="0"/>
                  <a:ea typeface="宋体" panose="02010600030101010101" pitchFamily="2" charset="-122"/>
                </a:defRPr>
              </a:lvl3pPr>
              <a:lvl4pPr marL="1600200" lvl="3"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000" b="1" u="none" kern="1200" baseline="0">
                  <a:solidFill>
                    <a:schemeClr val="tx1"/>
                  </a:solidFill>
                  <a:latin typeface="Arial" panose="020B0604020202090204" pitchFamily="34" charset="0"/>
                  <a:ea typeface="宋体" panose="02010600030101010101" pitchFamily="2" charset="-122"/>
                </a:defRPr>
              </a:lvl4pPr>
              <a:lvl5pPr marL="2057400" lvl="4" indent="-228600" algn="l" rtl="0" eaLnBrk="0" fontAlgn="base" latinLnBrk="0" hangingPunct="0">
                <a:lnSpc>
                  <a:spcPct val="100000"/>
                </a:lnSpc>
                <a:spcBef>
                  <a:spcPct val="20000"/>
                </a:spcBef>
                <a:spcAft>
                  <a:spcPct val="0"/>
                </a:spcAft>
                <a:buSzPct val="100000"/>
                <a:buFontTx/>
                <a:buChar char="»"/>
                <a:defRPr sz="2000" b="1" u="none" kern="1200" baseline="0">
                  <a:solidFill>
                    <a:schemeClr val="tx1"/>
                  </a:solidFill>
                  <a:latin typeface="Arial" panose="020B0604020202090204" pitchFamily="34" charset="0"/>
                  <a:ea typeface="宋体" panose="02010600030101010101" pitchFamily="2" charset="-122"/>
                </a:defRPr>
              </a:lvl5pPr>
            </a:lstStyle>
            <a:p>
              <a:pPr marL="0" lvl="0" indent="0" algn="l" eaLnBrk="1" latinLnBrk="0" hangingPunct="1">
                <a:spcBef>
                  <a:spcPct val="0"/>
                </a:spcBef>
                <a:buNone/>
              </a:pPr>
              <a:r>
                <a:rPr lang="en-US" sz="2400">
                  <a:ln>
                    <a:noFill/>
                  </a:ln>
                  <a:solidFill>
                    <a:schemeClr val="tx1">
                      <a:lumMod val="85000"/>
                      <a:lumOff val="15000"/>
                    </a:schemeClr>
                  </a:solidFill>
                  <a:uFillTx/>
                  <a:latin typeface="Times New Roman" panose="02020603050405020304" pitchFamily="18" charset="0"/>
                  <a:ea typeface="楷体" panose="02010609060101010101" charset="-122"/>
                  <a:cs typeface="楷体" panose="02010609060101010101" charset="-122"/>
                </a:rPr>
                <a:t>Ca</a:t>
              </a:r>
              <a:r>
                <a:rPr lang="en-US" altLang="zh-CN" sz="2400">
                  <a:ln>
                    <a:noFill/>
                  </a:ln>
                  <a:solidFill>
                    <a:schemeClr val="tx1">
                      <a:lumMod val="85000"/>
                      <a:lumOff val="15000"/>
                    </a:schemeClr>
                  </a:solidFill>
                  <a:uFillTx/>
                  <a:latin typeface="Times New Roman" panose="02020603050405020304" pitchFamily="18" charset="0"/>
                  <a:ea typeface="楷体" panose="02010609060101010101" charset="-122"/>
                  <a:cs typeface="楷体" panose="02010609060101010101" charset="-122"/>
                </a:rPr>
                <a:t>C</a:t>
              </a:r>
              <a:r>
                <a:rPr lang="zh-CN" altLang="en-US" sz="2400">
                  <a:ln>
                    <a:noFill/>
                  </a:ln>
                  <a:solidFill>
                    <a:schemeClr val="tx1">
                      <a:lumMod val="85000"/>
                      <a:lumOff val="15000"/>
                    </a:schemeClr>
                  </a:solidFill>
                  <a:uFillTx/>
                  <a:latin typeface="Times New Roman" panose="02020603050405020304" pitchFamily="18" charset="0"/>
                  <a:ea typeface="楷体" panose="02010609060101010101" charset="-122"/>
                  <a:cs typeface="楷体" panose="02010609060101010101" charset="-122"/>
                </a:rPr>
                <a:t>O</a:t>
              </a:r>
              <a:r>
                <a:rPr lang="en-US" altLang="zh-CN" sz="2400" baseline="-25000">
                  <a:ln>
                    <a:noFill/>
                  </a:ln>
                  <a:solidFill>
                    <a:schemeClr val="tx1">
                      <a:lumMod val="85000"/>
                      <a:lumOff val="15000"/>
                    </a:schemeClr>
                  </a:solidFill>
                  <a:uFillTx/>
                  <a:latin typeface="Times New Roman" panose="02020603050405020304" pitchFamily="18" charset="0"/>
                  <a:ea typeface="楷体" panose="02010609060101010101" charset="-122"/>
                  <a:cs typeface="楷体" panose="02010609060101010101" charset="-122"/>
                </a:rPr>
                <a:t>3</a:t>
              </a:r>
              <a:r>
                <a:rPr lang="zh-CN" altLang="en-US" sz="2400" baseline="-25000">
                  <a:ln>
                    <a:noFill/>
                  </a:ln>
                  <a:solidFill>
                    <a:schemeClr val="tx1">
                      <a:lumMod val="85000"/>
                      <a:lumOff val="15000"/>
                    </a:schemeClr>
                  </a:solidFill>
                  <a:uFillTx/>
                  <a:latin typeface="Times New Roman" panose="02020603050405020304" pitchFamily="18" charset="0"/>
                  <a:ea typeface="楷体" panose="02010609060101010101" charset="-122"/>
                  <a:cs typeface="楷体" panose="02010609060101010101" charset="-122"/>
                </a:rPr>
                <a:t>         </a:t>
              </a:r>
              <a:r>
                <a:rPr lang="zh-CN" altLang="en-US" sz="2400">
                  <a:ln>
                    <a:noFill/>
                  </a:ln>
                  <a:solidFill>
                    <a:schemeClr val="tx1">
                      <a:lumMod val="85000"/>
                      <a:lumOff val="15000"/>
                    </a:schemeClr>
                  </a:solidFill>
                  <a:uFillTx/>
                  <a:latin typeface="Times New Roman" panose="02020603050405020304" pitchFamily="18" charset="0"/>
                  <a:ea typeface="楷体" panose="02010609060101010101" charset="-122"/>
                  <a:cs typeface="楷体" panose="02010609060101010101" charset="-122"/>
                </a:rPr>
                <a:t>   </a:t>
              </a:r>
              <a:r>
                <a:rPr lang="en-US" altLang="zh-CN" sz="2400">
                  <a:ln>
                    <a:noFill/>
                  </a:ln>
                  <a:solidFill>
                    <a:schemeClr val="tx1">
                      <a:lumMod val="85000"/>
                      <a:lumOff val="15000"/>
                    </a:schemeClr>
                  </a:solidFill>
                  <a:uFillTx/>
                  <a:latin typeface="Times New Roman" panose="02020603050405020304" pitchFamily="18" charset="0"/>
                  <a:ea typeface="楷体" panose="02010609060101010101" charset="-122"/>
                  <a:cs typeface="楷体" panose="02010609060101010101" charset="-122"/>
                </a:rPr>
                <a:t>CO+CO</a:t>
              </a:r>
              <a:r>
                <a:rPr lang="en-US" altLang="zh-CN" sz="2400" baseline="-25000">
                  <a:ln>
                    <a:noFill/>
                  </a:ln>
                  <a:solidFill>
                    <a:schemeClr val="tx1">
                      <a:lumMod val="85000"/>
                      <a:lumOff val="15000"/>
                    </a:schemeClr>
                  </a:solidFill>
                  <a:uFillTx/>
                  <a:latin typeface="Times New Roman" panose="02020603050405020304" pitchFamily="18" charset="0"/>
                  <a:ea typeface="楷体" panose="02010609060101010101" charset="-122"/>
                  <a:cs typeface="楷体" panose="02010609060101010101" charset="-122"/>
                </a:rPr>
                <a:t>2</a:t>
              </a:r>
              <a:r>
                <a:rPr lang="en-US" altLang="zh-CN" sz="2400" kern="100" dirty="0">
                  <a:solidFill>
                    <a:schemeClr val="tx1">
                      <a:lumMod val="85000"/>
                      <a:lumOff val="15000"/>
                    </a:schemeClr>
                  </a:solidFill>
                  <a:latin typeface="宋体" panose="02010600030101010101" pitchFamily="2" charset="-122"/>
                  <a:sym typeface="+mn-ea"/>
                </a:rPr>
                <a:t>↑</a:t>
              </a:r>
              <a:endParaRPr lang="en-US" altLang="zh-CN" sz="2400" baseline="-25000">
                <a:ln>
                  <a:noFill/>
                </a:ln>
                <a:solidFill>
                  <a:schemeClr val="tx1">
                    <a:lumMod val="85000"/>
                    <a:lumOff val="15000"/>
                  </a:schemeClr>
                </a:solidFill>
                <a:uFillTx/>
                <a:latin typeface="Times New Roman" panose="02020603050405020304" pitchFamily="18" charset="0"/>
                <a:ea typeface="楷体" panose="02010609060101010101" charset="-122"/>
                <a:cs typeface="楷体" panose="02010609060101010101" charset="-122"/>
              </a:endParaRPr>
            </a:p>
          </p:txBody>
        </p:sp>
        <p:grpSp>
          <p:nvGrpSpPr>
            <p:cNvPr id="38" name="组合 37"/>
            <p:cNvGrpSpPr/>
            <p:nvPr/>
          </p:nvGrpSpPr>
          <p:grpSpPr>
            <a:xfrm>
              <a:off x="10416" y="3268"/>
              <a:ext cx="1034" cy="607"/>
              <a:chOff x="15965" y="5550"/>
              <a:chExt cx="843" cy="607"/>
            </a:xfrm>
          </p:grpSpPr>
          <p:grpSp>
            <p:nvGrpSpPr>
              <p:cNvPr id="39" name="组合 38"/>
              <p:cNvGrpSpPr/>
              <p:nvPr/>
            </p:nvGrpSpPr>
            <p:grpSpPr>
              <a:xfrm>
                <a:off x="15976" y="5550"/>
                <a:ext cx="832" cy="544"/>
                <a:chOff x="6728185" y="5103168"/>
                <a:chExt cx="528759" cy="345300"/>
              </a:xfrm>
            </p:grpSpPr>
            <p:sp>
              <p:nvSpPr>
                <p:cNvPr id="40" name="矩形 39"/>
                <p:cNvSpPr/>
                <p:nvPr>
                  <p:custDataLst>
                    <p:tags r:id="rId3"/>
                  </p:custDataLst>
                </p:nvPr>
              </p:nvSpPr>
              <p:spPr>
                <a:xfrm>
                  <a:off x="6729385" y="5103168"/>
                  <a:ext cx="493769" cy="345300"/>
                </a:xfrm>
                <a:prstGeom prst="rect">
                  <a:avLst/>
                </a:prstGeom>
              </p:spPr>
              <p:txBody>
                <a:bodyPr wrap="none">
                  <a:spAutoFit/>
                </a:bodyPr>
                <a:lstStyle/>
                <a:p>
                  <a:pPr lvl="0" algn="l"/>
                  <a:r>
                    <a:rPr lang="zh-CN" sz="2000" b="1" kern="100" dirty="0">
                      <a:ln>
                        <a:noFill/>
                      </a:ln>
                      <a:solidFill>
                        <a:schemeClr val="tx1">
                          <a:lumMod val="75000"/>
                          <a:lumOff val="25000"/>
                        </a:schemeClr>
                      </a:solidFill>
                      <a:latin typeface="楷体" panose="02010609060101010101" charset="-122"/>
                      <a:ea typeface="楷体" panose="02010609060101010101" charset="-122"/>
                    </a:rPr>
                    <a:t>高温</a:t>
                  </a:r>
                  <a:endParaRPr lang="zh-CN" sz="2000" b="1" kern="100" dirty="0">
                    <a:ln>
                      <a:noFill/>
                    </a:ln>
                    <a:solidFill>
                      <a:schemeClr val="tx1">
                        <a:lumMod val="75000"/>
                        <a:lumOff val="25000"/>
                      </a:schemeClr>
                    </a:solidFill>
                    <a:latin typeface="楷体" panose="02010609060101010101" charset="-122"/>
                    <a:ea typeface="楷体" panose="02010609060101010101" charset="-122"/>
                  </a:endParaRPr>
                </a:p>
              </p:txBody>
            </p:sp>
            <p:cxnSp>
              <p:nvCxnSpPr>
                <p:cNvPr id="41" name="直接箭头连接符 40"/>
                <p:cNvCxnSpPr/>
                <p:nvPr>
                  <p:custDataLst>
                    <p:tags r:id="rId4"/>
                  </p:custDataLst>
                </p:nvPr>
              </p:nvCxnSpPr>
              <p:spPr>
                <a:xfrm flipV="1">
                  <a:off x="6728185" y="5418161"/>
                  <a:ext cx="528759" cy="4555"/>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42" name="直接箭头连接符 41"/>
              <p:cNvCxnSpPr/>
              <p:nvPr>
                <p:custDataLst>
                  <p:tags r:id="rId5"/>
                </p:custDataLst>
              </p:nvPr>
            </p:nvCxnSpPr>
            <p:spPr>
              <a:xfrm flipV="1">
                <a:off x="15965" y="6150"/>
                <a:ext cx="832" cy="7"/>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blinds(horizontal)">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blinds(horizontal)">
                                      <p:cBhvr>
                                        <p:cTn id="12" dur="500"/>
                                        <p:tgtEl>
                                          <p:spTgt spid="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
                                            <p:txEl>
                                              <p:pRg st="3" end="3"/>
                                            </p:txEl>
                                          </p:spTgt>
                                        </p:tgtEl>
                                        <p:attrNameLst>
                                          <p:attrName>style.visibility</p:attrName>
                                        </p:attrNameLst>
                                      </p:cBhvr>
                                      <p:to>
                                        <p:strVal val="visible"/>
                                      </p:to>
                                    </p:set>
                                    <p:animEffect transition="in" filter="blinds(horizontal)">
                                      <p:cBhvr>
                                        <p:cTn id="17" dur="500"/>
                                        <p:tgtEl>
                                          <p:spTgt spid="19">
                                            <p:txEl>
                                              <p:pRg st="3" end="3"/>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9">
                                            <p:txEl>
                                              <p:pRg st="4" end="4"/>
                                            </p:txEl>
                                          </p:spTgt>
                                        </p:tgtEl>
                                        <p:attrNameLst>
                                          <p:attrName>style.visibility</p:attrName>
                                        </p:attrNameLst>
                                      </p:cBhvr>
                                      <p:to>
                                        <p:strVal val="visible"/>
                                      </p:to>
                                    </p:set>
                                    <p:animEffect transition="in" filter="blinds(horizontal)">
                                      <p:cBhvr>
                                        <p:cTn id="20" dur="500"/>
                                        <p:tgtEl>
                                          <p:spTgt spid="1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9">
                                            <p:txEl>
                                              <p:pRg st="5" end="5"/>
                                            </p:txEl>
                                          </p:spTgt>
                                        </p:tgtEl>
                                        <p:attrNameLst>
                                          <p:attrName>style.visibility</p:attrName>
                                        </p:attrNameLst>
                                      </p:cBhvr>
                                      <p:to>
                                        <p:strVal val="visible"/>
                                      </p:to>
                                    </p:set>
                                    <p:animEffect transition="in" filter="blinds(horizontal)">
                                      <p:cBhvr>
                                        <p:cTn id="25" dur="500"/>
                                        <p:tgtEl>
                                          <p:spTgt spid="19">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Effect transition="in" filter="blinds(horizontal)">
                                      <p:cBhvr>
                                        <p:cTn id="30" dur="500"/>
                                        <p:tgtEl>
                                          <p:spTgt spid="5">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animEffect transition="in" filter="blinds(horizontal)">
                                      <p:cBhvr>
                                        <p:cTn id="35" dur="500"/>
                                        <p:tgtEl>
                                          <p:spTgt spid="5">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
                                            <p:txEl>
                                              <p:pRg st="3" end="3"/>
                                            </p:txEl>
                                          </p:spTgt>
                                        </p:tgtEl>
                                        <p:attrNameLst>
                                          <p:attrName>style.visibility</p:attrName>
                                        </p:attrNameLst>
                                      </p:cBhvr>
                                      <p:to>
                                        <p:strVal val="visible"/>
                                      </p:to>
                                    </p:set>
                                    <p:animEffect transition="in" filter="blinds(horizontal)">
                                      <p:cBhvr>
                                        <p:cTn id="40" dur="500"/>
                                        <p:tgtEl>
                                          <p:spTgt spid="5">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5">
                                            <p:txEl>
                                              <p:pRg st="4" end="4"/>
                                            </p:txEl>
                                          </p:spTgt>
                                        </p:tgtEl>
                                        <p:attrNameLst>
                                          <p:attrName>style.visibility</p:attrName>
                                        </p:attrNameLst>
                                      </p:cBhvr>
                                      <p:to>
                                        <p:strVal val="visible"/>
                                      </p:to>
                                    </p:set>
                                    <p:animEffect transition="in" filter="blinds(horizontal)">
                                      <p:cBhvr>
                                        <p:cTn id="45" dur="500"/>
                                        <p:tgtEl>
                                          <p:spTgt spid="5">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5">
                                            <p:txEl>
                                              <p:pRg st="5" end="5"/>
                                            </p:txEl>
                                          </p:spTgt>
                                        </p:tgtEl>
                                        <p:attrNameLst>
                                          <p:attrName>style.visibility</p:attrName>
                                        </p:attrNameLst>
                                      </p:cBhvr>
                                      <p:to>
                                        <p:strVal val="visible"/>
                                      </p:to>
                                    </p:set>
                                    <p:animEffect transition="in" filter="blinds(horizontal)">
                                      <p:cBhvr>
                                        <p:cTn id="50" dur="500"/>
                                        <p:tgtEl>
                                          <p:spTgt spid="5">
                                            <p:txEl>
                                              <p:pRg st="5" end="5"/>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5">
                                            <p:txEl>
                                              <p:pRg st="6" end="6"/>
                                            </p:txEl>
                                          </p:spTgt>
                                        </p:tgtEl>
                                        <p:attrNameLst>
                                          <p:attrName>style.visibility</p:attrName>
                                        </p:attrNameLst>
                                      </p:cBhvr>
                                      <p:to>
                                        <p:strVal val="visible"/>
                                      </p:to>
                                    </p:set>
                                    <p:animEffect transition="in" filter="blinds(horizontal)">
                                      <p:cBhvr>
                                        <p:cTn id="53" dur="500"/>
                                        <p:tgtEl>
                                          <p:spTgt spid="5">
                                            <p:txEl>
                                              <p:pRg st="6" end="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5">
                                            <p:txEl>
                                              <p:pRg st="7" end="7"/>
                                            </p:txEl>
                                          </p:spTgt>
                                        </p:tgtEl>
                                        <p:attrNameLst>
                                          <p:attrName>style.visibility</p:attrName>
                                        </p:attrNameLst>
                                      </p:cBhvr>
                                      <p:to>
                                        <p:strVal val="visible"/>
                                      </p:to>
                                    </p:set>
                                    <p:animEffect transition="in" filter="blinds(horizontal)">
                                      <p:cBhvr>
                                        <p:cTn id="58" dur="500"/>
                                        <p:tgtEl>
                                          <p:spTgt spid="5">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6">
                                            <p:txEl>
                                              <p:pRg st="0" end="0"/>
                                            </p:txEl>
                                          </p:spTgt>
                                        </p:tgtEl>
                                        <p:attrNameLst>
                                          <p:attrName>style.visibility</p:attrName>
                                        </p:attrNameLst>
                                      </p:cBhvr>
                                      <p:to>
                                        <p:strVal val="visible"/>
                                      </p:to>
                                    </p:set>
                                    <p:animEffect transition="in" filter="blinds(horizontal)">
                                      <p:cBhvr>
                                        <p:cTn id="63" dur="500"/>
                                        <p:tgtEl>
                                          <p:spTgt spid="6">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6">
                                            <p:txEl>
                                              <p:pRg st="2" end="2"/>
                                            </p:txEl>
                                          </p:spTgt>
                                        </p:tgtEl>
                                        <p:attrNameLst>
                                          <p:attrName>style.visibility</p:attrName>
                                        </p:attrNameLst>
                                      </p:cBhvr>
                                      <p:to>
                                        <p:strVal val="visible"/>
                                      </p:to>
                                    </p:set>
                                    <p:animEffect transition="in" filter="blinds(horizontal)">
                                      <p:cBhvr>
                                        <p:cTn id="68" dur="500"/>
                                        <p:tgtEl>
                                          <p:spTgt spid="6">
                                            <p:txEl>
                                              <p:pRg st="2" end="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6">
                                            <p:txEl>
                                              <p:pRg st="3" end="3"/>
                                            </p:txEl>
                                          </p:spTgt>
                                        </p:tgtEl>
                                        <p:attrNameLst>
                                          <p:attrName>style.visibility</p:attrName>
                                        </p:attrNameLst>
                                      </p:cBhvr>
                                      <p:to>
                                        <p:strVal val="visible"/>
                                      </p:to>
                                    </p:set>
                                    <p:animEffect transition="in" filter="blinds(horizontal)">
                                      <p:cBhvr>
                                        <p:cTn id="73" dur="500"/>
                                        <p:tgtEl>
                                          <p:spTgt spid="6">
                                            <p:txEl>
                                              <p:pRg st="3" end="3"/>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6">
                                            <p:txEl>
                                              <p:pRg st="4" end="4"/>
                                            </p:txEl>
                                          </p:spTgt>
                                        </p:tgtEl>
                                        <p:attrNameLst>
                                          <p:attrName>style.visibility</p:attrName>
                                        </p:attrNameLst>
                                      </p:cBhvr>
                                      <p:to>
                                        <p:strVal val="visible"/>
                                      </p:to>
                                    </p:set>
                                    <p:animEffect transition="in" filter="blinds(horizontal)">
                                      <p:cBhvr>
                                        <p:cTn id="78" dur="500"/>
                                        <p:tgtEl>
                                          <p:spTgt spid="6">
                                            <p:txEl>
                                              <p:pRg st="4" end="4"/>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6">
                                            <p:txEl>
                                              <p:pRg st="5" end="5"/>
                                            </p:txEl>
                                          </p:spTgt>
                                        </p:tgtEl>
                                        <p:attrNameLst>
                                          <p:attrName>style.visibility</p:attrName>
                                        </p:attrNameLst>
                                      </p:cBhvr>
                                      <p:to>
                                        <p:strVal val="visible"/>
                                      </p:to>
                                    </p:set>
                                    <p:animEffect transition="in" filter="blinds(horizontal)">
                                      <p:cBhvr>
                                        <p:cTn id="83" dur="500"/>
                                        <p:tgtEl>
                                          <p:spTgt spid="6">
                                            <p:txEl>
                                              <p:pRg st="5" end="5"/>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nodeType="clickEffect">
                                  <p:stCondLst>
                                    <p:cond delay="0"/>
                                  </p:stCondLst>
                                  <p:childTnLst>
                                    <p:set>
                                      <p:cBhvr>
                                        <p:cTn id="87" dur="1" fill="hold">
                                          <p:stCondLst>
                                            <p:cond delay="0"/>
                                          </p:stCondLst>
                                        </p:cTn>
                                        <p:tgtEl>
                                          <p:spTgt spid="7">
                                            <p:txEl>
                                              <p:pRg st="0" end="0"/>
                                            </p:txEl>
                                          </p:spTgt>
                                        </p:tgtEl>
                                        <p:attrNameLst>
                                          <p:attrName>style.visibility</p:attrName>
                                        </p:attrNameLst>
                                      </p:cBhvr>
                                      <p:to>
                                        <p:strVal val="visible"/>
                                      </p:to>
                                    </p:set>
                                    <p:animEffect transition="in" filter="blinds(horizontal)">
                                      <p:cBhvr>
                                        <p:cTn id="88" dur="500"/>
                                        <p:tgtEl>
                                          <p:spTgt spid="7">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nodeType="clickEffect">
                                  <p:stCondLst>
                                    <p:cond delay="0"/>
                                  </p:stCondLst>
                                  <p:childTnLst>
                                    <p:set>
                                      <p:cBhvr>
                                        <p:cTn id="92" dur="1" fill="hold">
                                          <p:stCondLst>
                                            <p:cond delay="0"/>
                                          </p:stCondLst>
                                        </p:cTn>
                                        <p:tgtEl>
                                          <p:spTgt spid="7">
                                            <p:txEl>
                                              <p:pRg st="1" end="1"/>
                                            </p:txEl>
                                          </p:spTgt>
                                        </p:tgtEl>
                                        <p:attrNameLst>
                                          <p:attrName>style.visibility</p:attrName>
                                        </p:attrNameLst>
                                      </p:cBhvr>
                                      <p:to>
                                        <p:strVal val="visible"/>
                                      </p:to>
                                    </p:set>
                                    <p:animEffect transition="in" filter="blinds(horizontal)">
                                      <p:cBhvr>
                                        <p:cTn id="93" dur="500"/>
                                        <p:tgtEl>
                                          <p:spTgt spid="7">
                                            <p:txEl>
                                              <p:pRg st="1" end="1"/>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nodeType="clickEffect">
                                  <p:stCondLst>
                                    <p:cond delay="0"/>
                                  </p:stCondLst>
                                  <p:childTnLst>
                                    <p:set>
                                      <p:cBhvr>
                                        <p:cTn id="97" dur="1" fill="hold">
                                          <p:stCondLst>
                                            <p:cond delay="0"/>
                                          </p:stCondLst>
                                        </p:cTn>
                                        <p:tgtEl>
                                          <p:spTgt spid="6">
                                            <p:txEl>
                                              <p:pRg st="7" end="7"/>
                                            </p:txEl>
                                          </p:spTgt>
                                        </p:tgtEl>
                                        <p:attrNameLst>
                                          <p:attrName>style.visibility</p:attrName>
                                        </p:attrNameLst>
                                      </p:cBhvr>
                                      <p:to>
                                        <p:strVal val="visible"/>
                                      </p:to>
                                    </p:set>
                                    <p:animEffect transition="in" filter="blinds(horizontal)">
                                      <p:cBhvr>
                                        <p:cTn id="98" dur="500"/>
                                        <p:tgtEl>
                                          <p:spTgt spid="6">
                                            <p:txEl>
                                              <p:pRg st="7" end="7"/>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nodeType="click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blinds(horizontal)">
                                      <p:cBhvr>
                                        <p:cTn id="10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405130" y="1261745"/>
            <a:ext cx="11412000" cy="373697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lstStyle/>
          <a:p>
            <a:pPr marL="0" marR="0" indent="0" algn="l" defTabSz="914400" rtl="0" fontAlgn="auto" latinLnBrk="1">
              <a:lnSpc>
                <a:spcPct val="180000"/>
              </a:lnSpc>
              <a:spcBef>
                <a:spcPts val="0"/>
              </a:spcBef>
              <a:spcAft>
                <a:spcPts val="0"/>
              </a:spcAft>
              <a:buClrTx/>
              <a:buSzTx/>
              <a:buFontTx/>
              <a:buNone/>
            </a:pPr>
            <a:r>
              <a:rPr kumimoji="0" lang="zh-CN" altLang="en-US" sz="2500" b="1" i="0" kern="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rPr>
              <a:t>(1)装置的</a:t>
            </a:r>
            <a:r>
              <a:rPr kumimoji="0" lang="zh-CN" altLang="en-US" sz="2500" b="1" i="0" kern="0" dirty="0">
                <a:solidFill>
                  <a:srgbClr val="0E0EE4"/>
                </a:solidFill>
                <a:latin typeface="Times New Roman" panose="02020603050405020304" pitchFamily="18" charset="0"/>
                <a:ea typeface="宋体" panose="02010600030101010101" pitchFamily="2" charset="-122"/>
                <a:sym typeface="Arial" panose="020B0604020202090204"/>
              </a:rPr>
              <a:t>选取</a:t>
            </a:r>
            <a:r>
              <a:rPr kumimoji="0" lang="zh-CN" altLang="en-US" sz="2500" b="1" i="0" kern="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rPr>
              <a:t>与</a:t>
            </a:r>
            <a:r>
              <a:rPr kumimoji="0" lang="zh-CN" altLang="en-US" sz="2500" b="1" i="0" kern="0" dirty="0">
                <a:solidFill>
                  <a:srgbClr val="0E0EE4"/>
                </a:solidFill>
                <a:latin typeface="Times New Roman" panose="02020603050405020304" pitchFamily="18" charset="0"/>
                <a:ea typeface="宋体" panose="02010600030101010101" pitchFamily="2" charset="-122"/>
                <a:sym typeface="Arial" panose="020B0604020202090204"/>
              </a:rPr>
              <a:t>连接</a:t>
            </a:r>
            <a:r>
              <a:rPr kumimoji="0" lang="zh-CN" altLang="en-US" sz="2500" b="1" i="0" kern="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rPr>
              <a:t>。</a:t>
            </a:r>
            <a:endParaRPr kumimoji="0" lang="zh-CN" altLang="en-US" sz="2500" b="1" i="0" kern="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18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84" name="圆角矩形 83"/>
          <p:cNvSpPr/>
          <p:nvPr>
            <p:custDataLst>
              <p:tags r:id="rId2"/>
            </p:custDataLst>
          </p:nvPr>
        </p:nvSpPr>
        <p:spPr>
          <a:xfrm>
            <a:off x="798173" y="2142905"/>
            <a:ext cx="1548000" cy="527073"/>
          </a:xfrm>
          <a:prstGeom prst="roundRect">
            <a:avLst/>
          </a:prstGeom>
          <a:noFill/>
          <a:ln w="12700"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1">
            <a:spAutoFit/>
          </a:bodyPr>
          <a:lstStyle/>
          <a:p>
            <a:pPr algn="l"/>
            <a:r>
              <a:rPr lang="zh-CN" altLang="en-US" sz="2500" b="1" kern="0" dirty="0">
                <a:gradFill>
                  <a:gsLst>
                    <a:gs pos="0">
                      <a:srgbClr val="E30000"/>
                    </a:gs>
                    <a:gs pos="100000">
                      <a:srgbClr val="760303"/>
                    </a:gs>
                  </a:gsLst>
                  <a:lin scaled="0"/>
                </a:gradFill>
                <a:latin typeface="Times New Roman" panose="02020603050405020304" pitchFamily="18" charset="0"/>
                <a:ea typeface="宋体" panose="02010600030101010101" pitchFamily="2" charset="-122"/>
                <a:sym typeface="+mn-ea"/>
              </a:rPr>
              <a:t>发生</a:t>
            </a:r>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装置</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sp>
        <p:nvSpPr>
          <p:cNvPr id="3" name="圆角矩形 2"/>
          <p:cNvSpPr/>
          <p:nvPr>
            <p:custDataLst>
              <p:tags r:id="rId3"/>
            </p:custDataLst>
          </p:nvPr>
        </p:nvSpPr>
        <p:spPr>
          <a:xfrm>
            <a:off x="3059913" y="2142905"/>
            <a:ext cx="1547495" cy="527073"/>
          </a:xfrm>
          <a:prstGeom prst="roundRect">
            <a:avLst/>
          </a:prstGeom>
          <a:noFill/>
          <a:ln w="12700"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1">
            <a:spAutoFit/>
          </a:bodyPr>
          <a:lstStyle/>
          <a:p>
            <a:pPr algn="l"/>
            <a:r>
              <a:rPr lang="zh-CN" altLang="en-US" sz="2500" b="1" kern="0" dirty="0">
                <a:gradFill>
                  <a:gsLst>
                    <a:gs pos="0">
                      <a:srgbClr val="E30000"/>
                    </a:gs>
                    <a:gs pos="100000">
                      <a:srgbClr val="760303"/>
                    </a:gs>
                  </a:gsLst>
                  <a:lin scaled="0"/>
                </a:gradFill>
                <a:latin typeface="Times New Roman" panose="02020603050405020304" pitchFamily="18" charset="0"/>
                <a:ea typeface="宋体" panose="02010600030101010101" pitchFamily="2" charset="-122"/>
                <a:sym typeface="+mn-ea"/>
              </a:rPr>
              <a:t>净化</a:t>
            </a:r>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装置</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sp>
        <p:nvSpPr>
          <p:cNvPr id="4" name="圆角矩形 3"/>
          <p:cNvSpPr/>
          <p:nvPr>
            <p:custDataLst>
              <p:tags r:id="rId4"/>
            </p:custDataLst>
          </p:nvPr>
        </p:nvSpPr>
        <p:spPr>
          <a:xfrm>
            <a:off x="5307181" y="2142905"/>
            <a:ext cx="1547495" cy="527073"/>
          </a:xfrm>
          <a:prstGeom prst="roundRect">
            <a:avLst/>
          </a:prstGeom>
          <a:noFill/>
          <a:ln w="12700"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1">
            <a:spAutoFit/>
          </a:bodyPr>
          <a:lstStyle/>
          <a:p>
            <a:pPr algn="l"/>
            <a:r>
              <a:rPr lang="zh-CN" altLang="en-US" sz="2500" b="1" kern="0" dirty="0">
                <a:gradFill>
                  <a:gsLst>
                    <a:gs pos="0">
                      <a:srgbClr val="E30000"/>
                    </a:gs>
                    <a:gs pos="100000">
                      <a:srgbClr val="760303"/>
                    </a:gs>
                  </a:gsLst>
                  <a:lin scaled="0"/>
                </a:gradFill>
                <a:latin typeface="Times New Roman" panose="02020603050405020304" pitchFamily="18" charset="0"/>
                <a:ea typeface="宋体" panose="02010600030101010101" pitchFamily="2" charset="-122"/>
                <a:sym typeface="+mn-ea"/>
              </a:rPr>
              <a:t>干燥</a:t>
            </a:r>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装置</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sp>
        <p:nvSpPr>
          <p:cNvPr id="6" name="圆角矩形 5"/>
          <p:cNvSpPr/>
          <p:nvPr>
            <p:custDataLst>
              <p:tags r:id="rId5"/>
            </p:custDataLst>
          </p:nvPr>
        </p:nvSpPr>
        <p:spPr>
          <a:xfrm>
            <a:off x="7582383" y="2142905"/>
            <a:ext cx="1547495" cy="527073"/>
          </a:xfrm>
          <a:prstGeom prst="roundRect">
            <a:avLst/>
          </a:prstGeom>
          <a:noFill/>
          <a:ln w="12700"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1">
            <a:spAutoFit/>
          </a:bodyPr>
          <a:lstStyle/>
          <a:p>
            <a:pPr algn="l"/>
            <a:r>
              <a:rPr lang="zh-CN" altLang="en-US" sz="2500" b="1" kern="0" dirty="0">
                <a:gradFill>
                  <a:gsLst>
                    <a:gs pos="0">
                      <a:srgbClr val="E30000"/>
                    </a:gs>
                    <a:gs pos="100000">
                      <a:srgbClr val="760303"/>
                    </a:gs>
                  </a:gsLst>
                  <a:lin scaled="0"/>
                </a:gradFill>
                <a:latin typeface="Times New Roman" panose="02020603050405020304" pitchFamily="18" charset="0"/>
                <a:ea typeface="宋体" panose="02010600030101010101" pitchFamily="2" charset="-122"/>
                <a:sym typeface="+mn-ea"/>
              </a:rPr>
              <a:t>收集</a:t>
            </a:r>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装置</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sp>
        <p:nvSpPr>
          <p:cNvPr id="7" name="圆角矩形 6"/>
          <p:cNvSpPr/>
          <p:nvPr>
            <p:custDataLst>
              <p:tags r:id="rId6"/>
            </p:custDataLst>
          </p:nvPr>
        </p:nvSpPr>
        <p:spPr>
          <a:xfrm>
            <a:off x="9843618" y="2142905"/>
            <a:ext cx="1547495" cy="527073"/>
          </a:xfrm>
          <a:prstGeom prst="roundRect">
            <a:avLst/>
          </a:prstGeom>
          <a:noFill/>
          <a:ln w="12700"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1">
            <a:spAutoFit/>
          </a:bodyPr>
          <a:lstStyle/>
          <a:p>
            <a:pPr algn="l"/>
            <a:r>
              <a:rPr lang="zh-CN" altLang="en-US" sz="2500" b="1" kern="0" dirty="0">
                <a:gradFill>
                  <a:gsLst>
                    <a:gs pos="0">
                      <a:srgbClr val="E30000"/>
                    </a:gs>
                    <a:gs pos="100000">
                      <a:srgbClr val="760303"/>
                    </a:gs>
                  </a:gsLst>
                  <a:lin scaled="0"/>
                </a:gradFill>
                <a:latin typeface="Times New Roman" panose="02020603050405020304" pitchFamily="18" charset="0"/>
                <a:ea typeface="宋体" panose="02010600030101010101" pitchFamily="2" charset="-122"/>
                <a:sym typeface="+mn-ea"/>
              </a:rPr>
              <a:t>吸收</a:t>
            </a:r>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装置</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sp>
        <p:nvSpPr>
          <p:cNvPr id="8" name="圆角矩形 7"/>
          <p:cNvSpPr/>
          <p:nvPr>
            <p:custDataLst>
              <p:tags r:id="rId7"/>
            </p:custDataLst>
          </p:nvPr>
        </p:nvSpPr>
        <p:spPr>
          <a:xfrm>
            <a:off x="564173" y="3653202"/>
            <a:ext cx="2016000" cy="953517"/>
          </a:xfrm>
          <a:prstGeom prst="roundRect">
            <a:avLst/>
          </a:prstGeom>
          <a:noFill/>
          <a:ln w="12700"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1">
            <a:spAutoFit/>
          </a:bodyPr>
          <a:lstStyle/>
          <a:p>
            <a:pPr algn="l"/>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反应物状态和</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a:p>
            <a:pPr algn="l"/>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反应条件决定</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sp>
        <p:nvSpPr>
          <p:cNvPr id="9" name="圆角矩形 8"/>
          <p:cNvSpPr/>
          <p:nvPr>
            <p:custDataLst>
              <p:tags r:id="rId8"/>
            </p:custDataLst>
          </p:nvPr>
        </p:nvSpPr>
        <p:spPr>
          <a:xfrm>
            <a:off x="2861478" y="3653202"/>
            <a:ext cx="1727835" cy="953517"/>
          </a:xfrm>
          <a:prstGeom prst="roundRect">
            <a:avLst/>
          </a:prstGeom>
          <a:noFill/>
          <a:ln w="12700"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1">
            <a:spAutoFit/>
          </a:bodyPr>
          <a:lstStyle/>
          <a:p>
            <a:pPr algn="l"/>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气体和杂质</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a:p>
            <a:pPr algn="l"/>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的性质决定</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sp>
        <p:nvSpPr>
          <p:cNvPr id="10" name="圆角矩形 9"/>
          <p:cNvSpPr/>
          <p:nvPr>
            <p:custDataLst>
              <p:tags r:id="rId9"/>
            </p:custDataLst>
          </p:nvPr>
        </p:nvSpPr>
        <p:spPr>
          <a:xfrm>
            <a:off x="5019208" y="3652719"/>
            <a:ext cx="2123440" cy="954000"/>
          </a:xfrm>
          <a:prstGeom prst="roundRect">
            <a:avLst/>
          </a:prstGeom>
          <a:noFill/>
          <a:ln w="12700"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1">
            <a:spAutoFit/>
          </a:bodyPr>
          <a:lstStyle/>
          <a:p>
            <a:pPr algn="l"/>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气体的性质决定干燥剂选择</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sp>
        <p:nvSpPr>
          <p:cNvPr id="11" name="圆角矩形 10"/>
          <p:cNvSpPr/>
          <p:nvPr>
            <p:custDataLst>
              <p:tags r:id="rId10"/>
            </p:custDataLst>
          </p:nvPr>
        </p:nvSpPr>
        <p:spPr>
          <a:xfrm>
            <a:off x="7348385" y="3653202"/>
            <a:ext cx="2015490" cy="953517"/>
          </a:xfrm>
          <a:prstGeom prst="roundRect">
            <a:avLst/>
          </a:prstGeom>
          <a:noFill/>
          <a:ln w="12700"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1">
            <a:spAutoFit/>
          </a:bodyPr>
          <a:lstStyle/>
          <a:p>
            <a:pPr algn="l"/>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气体的密度和</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a:p>
            <a:pPr algn="ctr"/>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溶解性决定</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sp>
        <p:nvSpPr>
          <p:cNvPr id="12" name="圆角矩形 11"/>
          <p:cNvSpPr/>
          <p:nvPr>
            <p:custDataLst>
              <p:tags r:id="rId11"/>
            </p:custDataLst>
          </p:nvPr>
        </p:nvSpPr>
        <p:spPr>
          <a:xfrm>
            <a:off x="9572158" y="3649134"/>
            <a:ext cx="2087880" cy="954000"/>
          </a:xfrm>
          <a:prstGeom prst="roundRect">
            <a:avLst/>
          </a:prstGeom>
          <a:noFill/>
          <a:ln w="12700"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1">
            <a:spAutoFit/>
          </a:bodyPr>
          <a:lstStyle/>
          <a:p>
            <a:pPr algn="l">
              <a:lnSpc>
                <a:spcPct val="100000"/>
              </a:lnSpc>
            </a:pPr>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rPr>
              <a:t>气体的性质决定吸收剂选择</a:t>
            </a:r>
            <a:endPar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cxnSp>
        <p:nvCxnSpPr>
          <p:cNvPr id="13" name="肘形连接符 12"/>
          <p:cNvCxnSpPr/>
          <p:nvPr>
            <p:custDataLst>
              <p:tags r:id="rId12"/>
            </p:custDataLst>
          </p:nvPr>
        </p:nvCxnSpPr>
        <p:spPr>
          <a:xfrm rot="16200000" flipV="1">
            <a:off x="3221073" y="3153445"/>
            <a:ext cx="1008000" cy="1580"/>
          </a:xfrm>
          <a:prstGeom prst="bentConnector3">
            <a:avLst/>
          </a:prstGeom>
          <a:noFill/>
          <a:ln w="28575" cap="flat" cmpd="sng" algn="ctr">
            <a:solidFill>
              <a:srgbClr val="3A4150"/>
            </a:solidFill>
            <a:prstDash val="solid"/>
            <a:miter lim="800000"/>
            <a:tailEnd type="none" w="lg" len="lg"/>
          </a:ln>
          <a:effectLst/>
        </p:spPr>
      </p:cxnSp>
      <p:cxnSp>
        <p:nvCxnSpPr>
          <p:cNvPr id="14" name="肘形连接符 13"/>
          <p:cNvCxnSpPr/>
          <p:nvPr>
            <p:custDataLst>
              <p:tags r:id="rId13"/>
            </p:custDataLst>
          </p:nvPr>
        </p:nvCxnSpPr>
        <p:spPr>
          <a:xfrm rot="16200000" flipV="1">
            <a:off x="5576928" y="3160430"/>
            <a:ext cx="1008000" cy="1580"/>
          </a:xfrm>
          <a:prstGeom prst="bentConnector3">
            <a:avLst/>
          </a:prstGeom>
          <a:noFill/>
          <a:ln w="28575" cap="flat" cmpd="sng" algn="ctr">
            <a:solidFill>
              <a:srgbClr val="3A4150"/>
            </a:solidFill>
            <a:prstDash val="solid"/>
            <a:miter lim="800000"/>
            <a:tailEnd type="none" w="lg" len="lg"/>
          </a:ln>
          <a:effectLst/>
        </p:spPr>
      </p:cxnSp>
      <p:cxnSp>
        <p:nvCxnSpPr>
          <p:cNvPr id="15" name="肘形连接符 14"/>
          <p:cNvCxnSpPr/>
          <p:nvPr>
            <p:custDataLst>
              <p:tags r:id="rId14"/>
            </p:custDataLst>
          </p:nvPr>
        </p:nvCxnSpPr>
        <p:spPr>
          <a:xfrm rot="16200000" flipV="1">
            <a:off x="7852130" y="3146460"/>
            <a:ext cx="1008000" cy="1580"/>
          </a:xfrm>
          <a:prstGeom prst="bentConnector3">
            <a:avLst/>
          </a:prstGeom>
          <a:noFill/>
          <a:ln w="28575" cap="flat" cmpd="sng" algn="ctr">
            <a:solidFill>
              <a:srgbClr val="3A4150"/>
            </a:solidFill>
            <a:prstDash val="solid"/>
            <a:miter lim="800000"/>
            <a:tailEnd type="none" w="lg" len="lg"/>
          </a:ln>
          <a:effectLst/>
        </p:spPr>
      </p:cxnSp>
      <p:cxnSp>
        <p:nvCxnSpPr>
          <p:cNvPr id="16" name="肘形连接符 15"/>
          <p:cNvCxnSpPr/>
          <p:nvPr>
            <p:custDataLst>
              <p:tags r:id="rId15"/>
            </p:custDataLst>
          </p:nvPr>
        </p:nvCxnSpPr>
        <p:spPr>
          <a:xfrm rot="16200000" flipV="1">
            <a:off x="10112093" y="3153445"/>
            <a:ext cx="1008000" cy="1580"/>
          </a:xfrm>
          <a:prstGeom prst="bentConnector3">
            <a:avLst/>
          </a:prstGeom>
          <a:noFill/>
          <a:ln w="28575" cap="flat" cmpd="sng" algn="ctr">
            <a:solidFill>
              <a:srgbClr val="3A4150"/>
            </a:solidFill>
            <a:prstDash val="solid"/>
            <a:miter lim="800000"/>
            <a:tailEnd type="none" w="lg" len="lg"/>
          </a:ln>
          <a:effectLst/>
        </p:spPr>
      </p:cxnSp>
      <p:cxnSp>
        <p:nvCxnSpPr>
          <p:cNvPr id="18" name="肘形连接符 17"/>
          <p:cNvCxnSpPr/>
          <p:nvPr>
            <p:custDataLst>
              <p:tags r:id="rId16"/>
            </p:custDataLst>
          </p:nvPr>
        </p:nvCxnSpPr>
        <p:spPr>
          <a:xfrm rot="10800000" flipV="1">
            <a:off x="2363023" y="2389220"/>
            <a:ext cx="684000" cy="1580"/>
          </a:xfrm>
          <a:prstGeom prst="bentConnector3">
            <a:avLst/>
          </a:prstGeom>
          <a:noFill/>
          <a:ln w="28575" cap="flat" cmpd="sng" algn="ctr">
            <a:solidFill>
              <a:srgbClr val="3A4150"/>
            </a:solidFill>
            <a:prstDash val="solid"/>
            <a:miter lim="800000"/>
            <a:headEnd type="triangle" w="lg" len="lg"/>
            <a:tailEnd type="none" w="lg" len="lg"/>
          </a:ln>
          <a:effectLst/>
        </p:spPr>
      </p:cxnSp>
      <p:cxnSp>
        <p:nvCxnSpPr>
          <p:cNvPr id="19" name="肘形连接符 18"/>
          <p:cNvCxnSpPr/>
          <p:nvPr>
            <p:custDataLst>
              <p:tags r:id="rId17"/>
            </p:custDataLst>
          </p:nvPr>
        </p:nvCxnSpPr>
        <p:spPr>
          <a:xfrm rot="10800000" flipV="1">
            <a:off x="4636323" y="2384140"/>
            <a:ext cx="684000" cy="1580"/>
          </a:xfrm>
          <a:prstGeom prst="bentConnector3">
            <a:avLst/>
          </a:prstGeom>
          <a:noFill/>
          <a:ln w="28575" cap="flat" cmpd="sng" algn="ctr">
            <a:solidFill>
              <a:srgbClr val="3A4150"/>
            </a:solidFill>
            <a:prstDash val="solid"/>
            <a:miter lim="800000"/>
            <a:headEnd type="triangle" w="lg" len="lg"/>
            <a:tailEnd type="none" w="lg" len="lg"/>
          </a:ln>
          <a:effectLst/>
        </p:spPr>
      </p:cxnSp>
      <p:cxnSp>
        <p:nvCxnSpPr>
          <p:cNvPr id="20" name="肘形连接符 19"/>
          <p:cNvCxnSpPr/>
          <p:nvPr>
            <p:custDataLst>
              <p:tags r:id="rId18"/>
            </p:custDataLst>
          </p:nvPr>
        </p:nvCxnSpPr>
        <p:spPr>
          <a:xfrm rot="10800000" flipV="1">
            <a:off x="6881683" y="2400650"/>
            <a:ext cx="684000" cy="1580"/>
          </a:xfrm>
          <a:prstGeom prst="bentConnector3">
            <a:avLst/>
          </a:prstGeom>
          <a:noFill/>
          <a:ln w="28575" cap="flat" cmpd="sng" algn="ctr">
            <a:solidFill>
              <a:srgbClr val="3A4150"/>
            </a:solidFill>
            <a:prstDash val="solid"/>
            <a:miter lim="800000"/>
            <a:headEnd type="triangle" w="lg" len="lg"/>
            <a:tailEnd type="none" w="lg" len="lg"/>
          </a:ln>
          <a:effectLst/>
        </p:spPr>
      </p:cxnSp>
      <p:cxnSp>
        <p:nvCxnSpPr>
          <p:cNvPr id="21" name="肘形连接符 20"/>
          <p:cNvCxnSpPr/>
          <p:nvPr>
            <p:custDataLst>
              <p:tags r:id="rId19"/>
            </p:custDataLst>
          </p:nvPr>
        </p:nvCxnSpPr>
        <p:spPr>
          <a:xfrm rot="10800000" flipV="1">
            <a:off x="9143553" y="2400650"/>
            <a:ext cx="684000" cy="1580"/>
          </a:xfrm>
          <a:prstGeom prst="bentConnector3">
            <a:avLst/>
          </a:prstGeom>
          <a:noFill/>
          <a:ln w="28575" cap="flat" cmpd="sng" algn="ctr">
            <a:solidFill>
              <a:srgbClr val="3A4150"/>
            </a:solidFill>
            <a:prstDash val="solid"/>
            <a:miter lim="800000"/>
            <a:headEnd type="triangle" w="lg" len="lg"/>
            <a:tailEnd type="none" w="lg" len="lg"/>
          </a:ln>
          <a:effectLst/>
        </p:spPr>
      </p:cxnSp>
      <p:sp>
        <p:nvSpPr>
          <p:cNvPr id="22" name="标题 4"/>
          <p:cNvSpPr>
            <a:spLocks noGrp="1"/>
          </p:cNvSpPr>
          <p:nvPr>
            <p:custDataLst>
              <p:tags r:id="rId20"/>
            </p:custDataLst>
          </p:nvPr>
        </p:nvSpPr>
        <p:spPr>
          <a:xfrm>
            <a:off x="405130" y="60393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cxnSp>
        <p:nvCxnSpPr>
          <p:cNvPr id="23" name="肘形连接符 22"/>
          <p:cNvCxnSpPr/>
          <p:nvPr>
            <p:custDataLst>
              <p:tags r:id="rId21"/>
            </p:custDataLst>
          </p:nvPr>
        </p:nvCxnSpPr>
        <p:spPr>
          <a:xfrm rot="16200000" flipV="1">
            <a:off x="1020163" y="3148365"/>
            <a:ext cx="1008000" cy="1580"/>
          </a:xfrm>
          <a:prstGeom prst="bentConnector3">
            <a:avLst/>
          </a:prstGeom>
          <a:noFill/>
          <a:ln w="28575" cap="flat" cmpd="sng" algn="ctr">
            <a:solidFill>
              <a:srgbClr val="3A4150"/>
            </a:solidFill>
            <a:prstDash val="solid"/>
            <a:miter lim="800000"/>
            <a:tailEnd type="none" w="lg" len="lg"/>
          </a:ln>
          <a:effectLst/>
        </p:spPr>
      </p:cxnSp>
      <p:sp>
        <p:nvSpPr>
          <p:cNvPr id="24" name="文本框 23"/>
          <p:cNvSpPr txBox="1"/>
          <p:nvPr/>
        </p:nvSpPr>
        <p:spPr>
          <a:xfrm>
            <a:off x="3725545" y="1487170"/>
            <a:ext cx="2501979" cy="522049"/>
          </a:xfrm>
          <a:prstGeom prst="roundRect">
            <a:avLst/>
          </a:prstGeom>
          <a:gradFill>
            <a:gsLst>
              <a:gs pos="50000">
                <a:srgbClr val="ECCFCB"/>
              </a:gs>
              <a:gs pos="0">
                <a:srgbClr val="F2DFDC"/>
              </a:gs>
              <a:gs pos="100000">
                <a:srgbClr val="E5BEB9"/>
              </a:gs>
            </a:gsLst>
            <a:lin scaled="1"/>
          </a:gradFill>
        </p:spPr>
        <p:txBody>
          <a:bodyPr wrap="none" rtlCol="0" anchor="t">
            <a:spAutoFit/>
          </a:bodyPr>
          <a:lstStyle/>
          <a:p>
            <a:r>
              <a:rPr lang="en-US" altLang="zh-CN" sz="2500" b="1" kern="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rPr>
              <a:t>CO</a:t>
            </a:r>
            <a:r>
              <a:rPr lang="en-US" altLang="zh-CN" sz="2500" b="1" kern="0" baseline="-2500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rPr>
              <a:t>2</a:t>
            </a:r>
            <a:r>
              <a:rPr lang="en-US" altLang="zh-CN" sz="2500" b="1" kern="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rPr>
              <a:t>(HCl</a:t>
            </a:r>
            <a:r>
              <a:rPr lang="zh-CN" altLang="en-US" sz="2500" b="1" kern="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rPr>
              <a:t>、</a:t>
            </a:r>
            <a:r>
              <a:rPr lang="en-US" altLang="zh-CN" sz="2500" b="1" kern="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rPr>
              <a:t>H</a:t>
            </a:r>
            <a:r>
              <a:rPr lang="en-US" altLang="zh-CN" sz="2500" b="1" kern="0" baseline="-2500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rPr>
              <a:t>2</a:t>
            </a:r>
            <a:r>
              <a:rPr lang="en-US" altLang="zh-CN" sz="2500" b="1" kern="0" dirty="0">
                <a:solidFill>
                  <a:schemeClr val="tx1">
                    <a:lumMod val="75000"/>
                    <a:lumOff val="25000"/>
                  </a:schemeClr>
                </a:solidFill>
                <a:latin typeface="Times New Roman" panose="02020603050405020304" pitchFamily="18" charset="0"/>
                <a:ea typeface="宋体" panose="02010600030101010101" pitchFamily="2" charset="-122"/>
                <a:sym typeface="Arial" panose="020B0604020202090204"/>
              </a:rPr>
              <a:t>O)</a:t>
            </a:r>
            <a:endParaRPr lang="zh-CN" altLang="en-US"/>
          </a:p>
        </p:txBody>
      </p:sp>
    </p:spTree>
    <p:custDataLst>
      <p:tags r:id="rId2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blinds(horizontal)">
                                      <p:cBhvr>
                                        <p:cTn id="12" dur="500"/>
                                        <p:tgtEl>
                                          <p:spTgt spid="8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linds(horizontal)">
                                      <p:cBhvr>
                                        <p:cTn id="25" dur="500"/>
                                        <p:tgtEl>
                                          <p:spTgt spid="1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blinds(horizontal)">
                                      <p:cBhvr>
                                        <p:cTn id="33" dur="500"/>
                                        <p:tgtEl>
                                          <p:spTgt spid="20"/>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blinds(horizontal)">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blinds(horizontal)">
                                      <p:cBhvr>
                                        <p:cTn id="41" dur="500"/>
                                        <p:tgtEl>
                                          <p:spTgt spid="21"/>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blinds(horizontal)">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blinds(horizontal)">
                                      <p:cBhvr>
                                        <p:cTn id="49" dur="500"/>
                                        <p:tgtEl>
                                          <p:spTgt spid="23"/>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blinds(horizontal)">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blinds(horizontal)">
                                      <p:cBhvr>
                                        <p:cTn id="57" dur="500"/>
                                        <p:tgtEl>
                                          <p:spTgt spid="13"/>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blinds(horizontal)">
                                      <p:cBhvr>
                                        <p:cTn id="60" dur="500"/>
                                        <p:tgtEl>
                                          <p:spTgt spid="9"/>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blinds(horizontal)">
                                      <p:cBhvr>
                                        <p:cTn id="65" dur="500"/>
                                        <p:tgtEl>
                                          <p:spTgt spid="14"/>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blinds(horizontal)">
                                      <p:cBhvr>
                                        <p:cTn id="68" dur="500"/>
                                        <p:tgtEl>
                                          <p:spTgt spid="10"/>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blinds(horizontal)">
                                      <p:cBhvr>
                                        <p:cTn id="73" dur="500"/>
                                        <p:tgtEl>
                                          <p:spTgt spid="15"/>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blinds(horizontal)">
                                      <p:cBhvr>
                                        <p:cTn id="76" dur="500"/>
                                        <p:tgtEl>
                                          <p:spTgt spid="11"/>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blinds(horizontal)">
                                      <p:cBhvr>
                                        <p:cTn id="81" dur="500"/>
                                        <p:tgtEl>
                                          <p:spTgt spid="16"/>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blinds(horizontal)">
                                      <p:cBhvr>
                                        <p:cTn id="8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bldLvl="0" animBg="1"/>
      <p:bldP spid="3" grpId="0" bldLvl="0" animBg="1"/>
      <p:bldP spid="4" grpId="0" bldLvl="0" animBg="1"/>
      <p:bldP spid="6" grpId="0" bldLvl="0" animBg="1"/>
      <p:bldP spid="7" grpId="0" bldLvl="0" animBg="1"/>
      <p:bldP spid="8" grpId="0" bldLvl="0" animBg="1"/>
      <p:bldP spid="9" grpId="0" bldLvl="0" animBg="1"/>
      <p:bldP spid="10" grpId="0" bldLvl="0" animBg="1"/>
      <p:bldP spid="11" grpId="0" bldLvl="0" animBg="1"/>
      <p:bldP spid="12" grpId="0" bldLvl="0" animBg="1"/>
      <p:bldP spid="24"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619760" y="197485"/>
            <a:ext cx="10956290" cy="641096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lstStyle/>
          <a:p>
            <a:pPr marL="0" marR="0" indent="0" algn="l" defTabSz="914400" rtl="0" fontAlgn="auto" latinLnBrk="1">
              <a:lnSpc>
                <a:spcPct val="12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对</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常温下</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固液反应制备气体的装置的评价。</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15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15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15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装置A的特点</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装置B的特点</a:t>
            </a:r>
            <a:r>
              <a:rPr kumimoji="0" lang="zh-CN"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装置C的特点</a:t>
            </a:r>
            <a:r>
              <a:rPr kumimoji="0" lang="zh-CN"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装置D的特点</a:t>
            </a:r>
            <a:r>
              <a:rPr kumimoji="0" lang="zh-CN"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lang="en-US" sz="2400" b="1" i="0">
                <a:ln>
                  <a:noFill/>
                </a:ln>
                <a:solidFill>
                  <a:schemeClr val="tx1"/>
                </a:solidFill>
                <a:effectLst/>
                <a:uFillTx/>
                <a:latin typeface="Times New Roman" panose="02020603050405020304" pitchFamily="18" charset="0"/>
                <a:ea typeface="幼圆" panose="02010509060101010101" charset="-122"/>
                <a:cs typeface="Times New Roman" panose="02020603050405020304" pitchFamily="18" charset="0"/>
                <a:sym typeface="Arial" panose="020B0604020202090204"/>
              </a:rPr>
              <a:t>(</a:t>
            </a:r>
            <a:r>
              <a:rPr kumimoji="0" sz="2400" b="1" i="0">
                <a:ln>
                  <a:noFill/>
                </a:ln>
                <a:solidFill>
                  <a:schemeClr val="tx1"/>
                </a:solidFill>
                <a:effectLst/>
                <a:uFillTx/>
                <a:latin typeface="Times New Roman" panose="02020603050405020304" pitchFamily="18" charset="0"/>
                <a:ea typeface="幼圆" panose="02010509060101010101" charset="-122"/>
                <a:cs typeface="Times New Roman" panose="02020603050405020304" pitchFamily="18" charset="0"/>
                <a:sym typeface="Arial" panose="020B0604020202090204"/>
              </a:rPr>
              <a:t>要停止反应时，用</a:t>
            </a:r>
            <a:r>
              <a:rPr kumimoji="0" sz="2400" b="1" i="0">
                <a:ln>
                  <a:noFill/>
                </a:ln>
                <a:solidFill>
                  <a:srgbClr val="C00000"/>
                </a:solidFill>
                <a:effectLst/>
                <a:uFillTx/>
                <a:latin typeface="Times New Roman" panose="02020603050405020304" pitchFamily="18" charset="0"/>
                <a:ea typeface="幼圆" panose="02010509060101010101" charset="-122"/>
                <a:cs typeface="Times New Roman" panose="02020603050405020304" pitchFamily="18" charset="0"/>
                <a:sym typeface="Arial" panose="020B0604020202090204"/>
              </a:rPr>
              <a:t>弹簧夹夹住橡皮管</a:t>
            </a:r>
            <a:r>
              <a:rPr kumimoji="0" sz="2400" b="1" i="0">
                <a:ln>
                  <a:noFill/>
                </a:ln>
                <a:solidFill>
                  <a:schemeClr val="tx1"/>
                </a:solidFill>
                <a:effectLst/>
                <a:uFillTx/>
                <a:latin typeface="Times New Roman" panose="02020603050405020304" pitchFamily="18" charset="0"/>
                <a:ea typeface="幼圆" panose="02010509060101010101" charset="-122"/>
                <a:cs typeface="Times New Roman" panose="02020603050405020304" pitchFamily="18" charset="0"/>
                <a:sym typeface="Arial" panose="020B0604020202090204"/>
              </a:rPr>
              <a:t>。这时由于试管内的气压大于外界大气压，试管内的液体会进入长颈漏斗，从而使试管内的液面下降</a:t>
            </a:r>
            <a:r>
              <a:rPr kumimoji="0" lang="zh-CN" sz="2400" b="1" i="0">
                <a:ln>
                  <a:noFill/>
                </a:ln>
                <a:solidFill>
                  <a:schemeClr val="tx1"/>
                </a:solidFill>
                <a:effectLst/>
                <a:uFillTx/>
                <a:latin typeface="Times New Roman" panose="02020603050405020304" pitchFamily="18" charset="0"/>
                <a:ea typeface="幼圆" panose="02010509060101010101" charset="-122"/>
                <a:cs typeface="Times New Roman" panose="02020603050405020304" pitchFamily="18" charset="0"/>
                <a:sym typeface="Arial" panose="020B0604020202090204"/>
              </a:rPr>
              <a:t>，固液分离</a:t>
            </a:r>
            <a:r>
              <a:rPr kumimoji="0" sz="2400" b="1" i="0">
                <a:ln>
                  <a:noFill/>
                </a:ln>
                <a:solidFill>
                  <a:schemeClr val="tx1"/>
                </a:solidFill>
                <a:effectLst/>
                <a:uFillTx/>
                <a:latin typeface="Times New Roman" panose="02020603050405020304" pitchFamily="18" charset="0"/>
                <a:ea typeface="幼圆" panose="02010509060101010101" charset="-122"/>
                <a:cs typeface="Times New Roman" panose="02020603050405020304" pitchFamily="18" charset="0"/>
                <a:sym typeface="Arial" panose="020B0604020202090204"/>
              </a:rPr>
              <a:t>。</a:t>
            </a:r>
            <a:r>
              <a:rPr kumimoji="0" lang="en-US"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en-US" sz="24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nvGrpSpPr>
          <p:cNvPr id="23" name="组合 22"/>
          <p:cNvGrpSpPr/>
          <p:nvPr/>
        </p:nvGrpSpPr>
        <p:grpSpPr>
          <a:xfrm>
            <a:off x="957580" y="737870"/>
            <a:ext cx="9180195" cy="2555875"/>
            <a:chOff x="1508" y="2698"/>
            <a:chExt cx="14457" cy="4025"/>
          </a:xfrm>
        </p:grpSpPr>
        <p:sp>
          <p:nvSpPr>
            <p:cNvPr id="22" name="文本框 21"/>
            <p:cNvSpPr txBox="1"/>
            <p:nvPr/>
          </p:nvSpPr>
          <p:spPr>
            <a:xfrm>
              <a:off x="1508" y="2698"/>
              <a:ext cx="14457" cy="4025"/>
            </a:xfrm>
            <a:prstGeom prst="rect">
              <a:avLst/>
            </a:prstGeom>
            <a:solidFill>
              <a:schemeClr val="bg1"/>
            </a:solidFill>
          </p:spPr>
          <p:txBody>
            <a:bodyPr wrap="square" rtlCol="0" anchor="b" anchorCtr="0">
              <a:noAutofit/>
            </a:bodyPr>
            <a:lstStyle/>
            <a:p>
              <a:pPr>
                <a:lnSpc>
                  <a:spcPct val="100000"/>
                </a:lnSpc>
              </a:pPr>
              <a:r>
                <a:rPr lang="en-US"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                             </a:t>
              </a:r>
              <a:r>
                <a:rPr lang="en-US"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B                              C                           D</a:t>
              </a:r>
              <a:endParaRPr lang="en-US"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pic>
          <p:nvPicPr>
            <p:cNvPr id="13" name="Picture 5" descr="C:\Users\Administrator\Desktop\360截图16610720659497.png"/>
            <p:cNvPicPr>
              <a:picLocks noChangeArrowheads="1"/>
            </p:cNvPicPr>
            <p:nvPr/>
          </p:nvPicPr>
          <p:blipFill>
            <a:blip r:embed="rId3" cstate="print"/>
            <a:srcRect l="26260" t="16876" r="65155" b="13104"/>
            <a:stretch>
              <a:fillRect/>
            </a:stretch>
          </p:blipFill>
          <p:spPr bwMode="auto">
            <a:xfrm>
              <a:off x="5826" y="3135"/>
              <a:ext cx="2040" cy="3061"/>
            </a:xfrm>
            <a:prstGeom prst="rect">
              <a:avLst/>
            </a:prstGeom>
            <a:noFill/>
          </p:spPr>
        </p:pic>
        <p:grpSp>
          <p:nvGrpSpPr>
            <p:cNvPr id="20" name="组合 19"/>
            <p:cNvGrpSpPr/>
            <p:nvPr/>
          </p:nvGrpSpPr>
          <p:grpSpPr>
            <a:xfrm>
              <a:off x="13226" y="2766"/>
              <a:ext cx="2465" cy="3430"/>
              <a:chOff x="13226" y="2766"/>
              <a:chExt cx="2465" cy="3430"/>
            </a:xfrm>
          </p:grpSpPr>
          <p:pic>
            <p:nvPicPr>
              <p:cNvPr id="15" name="Picture 5" descr="C:\Users\Administrator\Desktop\360截图16610720659497.png"/>
              <p:cNvPicPr>
                <a:picLocks noChangeAspect="1" noChangeArrowheads="1"/>
              </p:cNvPicPr>
              <p:nvPr/>
            </p:nvPicPr>
            <p:blipFill>
              <a:blip r:embed="rId3" cstate="print"/>
              <a:srcRect l="53333" r="32344" b="13732"/>
              <a:stretch>
                <a:fillRect/>
              </a:stretch>
            </p:blipFill>
            <p:spPr bwMode="auto">
              <a:xfrm>
                <a:off x="13226" y="2766"/>
                <a:ext cx="2364" cy="3430"/>
              </a:xfrm>
              <a:prstGeom prst="rect">
                <a:avLst/>
              </a:prstGeom>
              <a:noFill/>
            </p:spPr>
          </p:pic>
          <p:sp>
            <p:nvSpPr>
              <p:cNvPr id="16" name="文本框 15"/>
              <p:cNvSpPr txBox="1"/>
              <p:nvPr/>
            </p:nvSpPr>
            <p:spPr>
              <a:xfrm>
                <a:off x="14105" y="4121"/>
                <a:ext cx="1587" cy="508"/>
              </a:xfrm>
              <a:prstGeom prst="rect">
                <a:avLst/>
              </a:prstGeom>
              <a:solidFill>
                <a:schemeClr val="bg1"/>
              </a:solidFill>
            </p:spPr>
            <p:txBody>
              <a:bodyPr wrap="square" lIns="0" rIns="0" bIns="0" rtlCol="0" anchor="t">
                <a:spAutoFit/>
              </a:bodyPr>
              <a:lstStyle/>
              <a:p>
                <a:r>
                  <a:rPr lang="zh-CN" altLang="en-US" b="1">
                    <a:latin typeface="宋体" panose="02010600030101010101" pitchFamily="2" charset="-122"/>
                    <a:ea typeface="宋体" panose="02010600030101010101" pitchFamily="2" charset="-122"/>
                  </a:rPr>
                  <a:t>多孔隔板</a:t>
                </a:r>
                <a:endParaRPr lang="zh-CN" altLang="en-US" b="1">
                  <a:latin typeface="宋体" panose="02010600030101010101" pitchFamily="2" charset="-122"/>
                  <a:ea typeface="宋体" panose="02010600030101010101" pitchFamily="2" charset="-122"/>
                </a:endParaRPr>
              </a:p>
            </p:txBody>
          </p:sp>
        </p:grpSp>
        <p:pic>
          <p:nvPicPr>
            <p:cNvPr id="18" name="Picture 5" descr="C:\Users\Administrator\Desktop\360截图16610720659497.png"/>
            <p:cNvPicPr>
              <a:picLocks noChangeArrowheads="1"/>
            </p:cNvPicPr>
            <p:nvPr/>
          </p:nvPicPr>
          <p:blipFill>
            <a:blip r:embed="rId3" cstate="print"/>
            <a:srcRect l="13536" t="16876" r="75625" b="13104"/>
            <a:stretch>
              <a:fillRect/>
            </a:stretch>
          </p:blipFill>
          <p:spPr bwMode="auto">
            <a:xfrm>
              <a:off x="1870" y="3135"/>
              <a:ext cx="2948" cy="3061"/>
            </a:xfrm>
            <a:prstGeom prst="rect">
              <a:avLst/>
            </a:prstGeom>
            <a:noFill/>
          </p:spPr>
        </p:pic>
        <p:grpSp>
          <p:nvGrpSpPr>
            <p:cNvPr id="21" name="组合 20"/>
            <p:cNvGrpSpPr/>
            <p:nvPr/>
          </p:nvGrpSpPr>
          <p:grpSpPr>
            <a:xfrm>
              <a:off x="8874" y="2766"/>
              <a:ext cx="2694" cy="3430"/>
              <a:chOff x="8874" y="2766"/>
              <a:chExt cx="2694" cy="3430"/>
            </a:xfrm>
          </p:grpSpPr>
          <p:pic>
            <p:nvPicPr>
              <p:cNvPr id="19" name="Picture 5" descr="C:\Users\Administrator\Desktop\360截图16610720659497.png"/>
              <p:cNvPicPr>
                <a:picLocks noChangeArrowheads="1"/>
              </p:cNvPicPr>
              <p:nvPr/>
            </p:nvPicPr>
            <p:blipFill>
              <a:blip r:embed="rId3" cstate="print"/>
              <a:srcRect l="37155" r="51301" b="13732"/>
              <a:stretch>
                <a:fillRect/>
              </a:stretch>
            </p:blipFill>
            <p:spPr bwMode="auto">
              <a:xfrm>
                <a:off x="8874" y="2766"/>
                <a:ext cx="2695" cy="3430"/>
              </a:xfrm>
              <a:prstGeom prst="rect">
                <a:avLst/>
              </a:prstGeom>
              <a:noFill/>
            </p:spPr>
          </p:pic>
          <p:sp>
            <p:nvSpPr>
              <p:cNvPr id="17" name="文本框 16"/>
              <p:cNvSpPr txBox="1"/>
              <p:nvPr/>
            </p:nvSpPr>
            <p:spPr>
              <a:xfrm>
                <a:off x="9018" y="3727"/>
                <a:ext cx="850" cy="508"/>
              </a:xfrm>
              <a:prstGeom prst="rect">
                <a:avLst/>
              </a:prstGeom>
              <a:solidFill>
                <a:schemeClr val="bg1"/>
              </a:solidFill>
            </p:spPr>
            <p:txBody>
              <a:bodyPr wrap="square" lIns="0" rIns="0" bIns="0" rtlCol="0" anchor="t">
                <a:spAutoFit/>
              </a:bodyPr>
              <a:lstStyle/>
              <a:p>
                <a:pPr algn="r"/>
                <a:r>
                  <a:rPr lang="zh-CN" altLang="en-US" b="1">
                    <a:latin typeface="宋体" panose="02010600030101010101" pitchFamily="2" charset="-122"/>
                    <a:ea typeface="宋体" panose="02010600030101010101" pitchFamily="2" charset="-122"/>
                  </a:rPr>
                  <a:t>活塞</a:t>
                </a:r>
                <a:endParaRPr lang="zh-CN" altLang="en-US" b="1">
                  <a:latin typeface="宋体" panose="02010600030101010101" pitchFamily="2" charset="-122"/>
                  <a:ea typeface="宋体" panose="02010600030101010101" pitchFamily="2" charset="-122"/>
                </a:endParaRPr>
              </a:p>
            </p:txBody>
          </p:sp>
        </p:grpSp>
      </p:grpSp>
      <p:sp>
        <p:nvSpPr>
          <p:cNvPr id="4" name="文本框 3"/>
          <p:cNvSpPr txBox="1"/>
          <p:nvPr/>
        </p:nvSpPr>
        <p:spPr>
          <a:xfrm>
            <a:off x="2614930" y="3152775"/>
            <a:ext cx="8813165" cy="2330450"/>
          </a:xfrm>
          <a:prstGeom prst="rect">
            <a:avLst/>
          </a:prstGeom>
          <a:noFill/>
        </p:spPr>
        <p:txBody>
          <a:bodyPr wrap="square" rtlCol="0" anchor="t">
            <a:spAutoFit/>
          </a:bodyPr>
          <a:lstStyle/>
          <a:p>
            <a:pPr algn="l" latinLnBrk="1">
              <a:lnSpc>
                <a:spcPct val="150000"/>
              </a:lnSpc>
              <a:spcBef>
                <a:spcPts val="0"/>
              </a:spcBef>
              <a:spcAft>
                <a:spcPts val="0"/>
              </a:spcAft>
              <a:buClrTx/>
              <a:buSzTx/>
              <a:buFontTx/>
            </a:pPr>
            <a:r>
              <a:rPr lang="en-US" sz="2500" b="1">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 </a:t>
            </a:r>
            <a:r>
              <a:rPr sz="2500" b="1">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装置简单，适用于</a:t>
            </a:r>
            <a:r>
              <a:rPr sz="2500" b="1">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制取少量的气体</a:t>
            </a:r>
            <a:r>
              <a:rPr sz="2500" b="1">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，但添加药品不太方便。</a:t>
            </a:r>
            <a:endPar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a:p>
            <a:pPr algn="l" latinLnBrk="1">
              <a:lnSpc>
                <a:spcPct val="150000"/>
              </a:lnSpc>
              <a:spcBef>
                <a:spcPts val="0"/>
              </a:spcBef>
              <a:spcAft>
                <a:spcPts val="0"/>
              </a:spcAft>
              <a:buClrTx/>
              <a:buSzTx/>
              <a:buFontTx/>
            </a:pPr>
            <a:r>
              <a:rPr sz="2400" b="1">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便于随时添加药品。</a:t>
            </a:r>
            <a:endParaRPr sz="2400" b="1">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a:p>
            <a:pPr algn="l" latinLnBrk="1">
              <a:lnSpc>
                <a:spcPct val="150000"/>
              </a:lnSpc>
              <a:spcBef>
                <a:spcPts val="0"/>
              </a:spcBef>
              <a:spcAft>
                <a:spcPts val="0"/>
              </a:spcAft>
              <a:buClrTx/>
              <a:buSzTx/>
              <a:buFontTx/>
            </a:pPr>
            <a:r>
              <a:rPr sz="2400" b="1">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可以</a:t>
            </a:r>
            <a:r>
              <a:rPr sz="2400" b="1">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控制反应速率。</a:t>
            </a:r>
            <a:endPar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a:p>
            <a:pPr algn="l" latinLnBrk="1">
              <a:lnSpc>
                <a:spcPct val="150000"/>
              </a:lnSpc>
              <a:spcBef>
                <a:spcPts val="0"/>
              </a:spcBef>
              <a:spcAft>
                <a:spcPts val="0"/>
              </a:spcAft>
              <a:buClrTx/>
              <a:buSzTx/>
              <a:buFontTx/>
            </a:pPr>
            <a:r>
              <a:rPr sz="2400" b="1">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可以</a:t>
            </a:r>
            <a:r>
              <a:rPr sz="2400" b="1">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控制反应的发生和停止。</a:t>
            </a:r>
            <a:endParaRPr lang="zh-CN" altLang="en-US" sz="2400" b="1">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p:txBody>
      </p:sp>
      <p:sp>
        <p:nvSpPr>
          <p:cNvPr id="6" name="线形标注 1 5"/>
          <p:cNvSpPr/>
          <p:nvPr/>
        </p:nvSpPr>
        <p:spPr>
          <a:xfrm>
            <a:off x="9396948" y="1015763"/>
            <a:ext cx="2301942" cy="460374"/>
          </a:xfrm>
          <a:prstGeom prst="borderCallout1">
            <a:avLst>
              <a:gd name="adj1" fmla="val 99305"/>
              <a:gd name="adj2" fmla="val 16122"/>
              <a:gd name="adj3" fmla="val 232230"/>
              <a:gd name="adj4" fmla="val 8348"/>
            </a:avLst>
          </a:prstGeom>
          <a:ln w="254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2400" b="1" dirty="0">
                <a:solidFill>
                  <a:schemeClr val="bg1"/>
                </a:solidFill>
                <a:latin typeface="宋体" panose="02010600030101010101" pitchFamily="2" charset="-122"/>
                <a:ea typeface="宋体" panose="02010600030101010101" pitchFamily="2" charset="-122"/>
                <a:cs typeface="宋体" panose="02010600030101010101" pitchFamily="2" charset="-122"/>
              </a:rPr>
              <a:t>必须</a:t>
            </a:r>
            <a:r>
              <a:rPr lang="en-US" altLang="zh-CN" sz="2400" b="1" kern="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chemeClr val="bg1"/>
                </a:solidFill>
                <a:latin typeface="宋体" panose="02010600030101010101" pitchFamily="2" charset="-122"/>
                <a:ea typeface="宋体" panose="02010600030101010101" pitchFamily="2" charset="-122"/>
                <a:cs typeface="宋体" panose="02010600030101010101" pitchFamily="2" charset="-122"/>
              </a:rPr>
              <a:t>块状固体</a:t>
            </a:r>
            <a:r>
              <a:rPr lang="en-US" altLang="zh-CN" sz="24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Tree>
    <p:custDataLst>
      <p:tags r:id="rId4"/>
    </p:custData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blinds(horizontal)">
                                      <p:cBhvr>
                                        <p:cTn id="7" dur="500"/>
                                        <p:tgtEl>
                                          <p:spTgt spid="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linds(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blinds(horizontal)">
                                      <p:cBhvr>
                                        <p:cTn id="17" dur="500"/>
                                        <p:tgtEl>
                                          <p:spTgt spid="5">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blinds(horizontal)">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blinds(horizontal)">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blinds(horizontal)">
                                      <p:cBhvr>
                                        <p:cTn id="32" dur="500"/>
                                        <p:tgtEl>
                                          <p:spTgt spid="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blinds(horizontal)">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
                                            <p:txEl>
                                              <p:pRg st="3" end="3"/>
                                            </p:txEl>
                                          </p:spTgt>
                                        </p:tgtEl>
                                        <p:attrNameLst>
                                          <p:attrName>style.visibility</p:attrName>
                                        </p:attrNameLst>
                                      </p:cBhvr>
                                      <p:to>
                                        <p:strVal val="visible"/>
                                      </p:to>
                                    </p:set>
                                    <p:animEffect transition="in" filter="blinds(horizontal)">
                                      <p:cBhvr>
                                        <p:cTn id="42" dur="500"/>
                                        <p:tgtEl>
                                          <p:spTgt spid="4">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blinds(horizontal)">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blinds(horizontal)">
                                      <p:cBhvr>
                                        <p:cTn id="5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custDataLst>
              <p:tags r:id="rId1"/>
            </p:custDataLst>
          </p:nvPr>
        </p:nvGraphicFramePr>
        <p:xfrm>
          <a:off x="527368" y="450215"/>
          <a:ext cx="10997245" cy="5813895"/>
        </p:xfrm>
        <a:graphic>
          <a:graphicData uri="http://schemas.openxmlformats.org/drawingml/2006/table">
            <a:tbl>
              <a:tblPr firstRow="1" bandRow="1">
                <a:tableStyleId>{5C22544A-7EE6-4342-B048-85BDC9FD1C3A}</a:tableStyleId>
              </a:tblPr>
              <a:tblGrid>
                <a:gridCol w="2664000"/>
                <a:gridCol w="3960000"/>
                <a:gridCol w="4373245"/>
              </a:tblGrid>
              <a:tr h="1674000">
                <a:tc gridSpan="3">
                  <a:txBody>
                    <a:bodyPr/>
                    <a:lstStyle/>
                    <a:p>
                      <a:pPr indent="0" algn="l" fontAlgn="auto" latinLnBrk="1">
                        <a:lnSpc>
                          <a:spcPct val="120000"/>
                        </a:lnSpc>
                        <a:spcBef>
                          <a:spcPts val="0"/>
                        </a:spcBef>
                        <a:spcAft>
                          <a:spcPts val="0"/>
                        </a:spcAft>
                        <a:buClrTx/>
                        <a:buSzTx/>
                        <a:buFontTx/>
                        <a:buNone/>
                      </a:pPr>
                      <a:endParaRPr lang="zh-CN" altLang="en-US" sz="2500" b="1" spc="13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txBody>
                  <a:tcPr marL="179705" marR="36195" marT="36195" marB="36195" anchor="ctr">
                    <a:lnL w="9525">
                      <a:solidFill>
                        <a:srgbClr val="4A626E"/>
                      </a:solidFill>
                      <a:prstDash val="sysDash"/>
                    </a:lnL>
                    <a:lnR w="9525">
                      <a:solidFill>
                        <a:srgbClr val="4A626E"/>
                      </a:solidFill>
                      <a:prstDash val="sysDash"/>
                    </a:lnR>
                    <a:lnT w="28575">
                      <a:solidFill>
                        <a:srgbClr val="4A626E"/>
                      </a:solidFill>
                      <a:prstDash val="solid"/>
                    </a:lnT>
                    <a:lnB w="28575">
                      <a:solidFill>
                        <a:srgbClr val="4A626E"/>
                      </a:solidFill>
                      <a:prstDash val="solid"/>
                    </a:lnB>
                    <a:solidFill>
                      <a:srgbClr val="FFFFFF"/>
                    </a:solidFill>
                  </a:tcPr>
                </a:tc>
                <a:tc hMerge="1">
                  <a:tcPr marL="36195" marR="36195" marT="36195" marB="36195" anchor="ctr">
                    <a:lnL w="9525">
                      <a:solidFill>
                        <a:srgbClr val="4A626E"/>
                      </a:solidFill>
                      <a:prstDash val="sysDash"/>
                    </a:lnL>
                    <a:lnR w="9525">
                      <a:solidFill>
                        <a:srgbClr val="4A626E"/>
                      </a:solidFill>
                      <a:prstDash val="sysDash"/>
                    </a:lnR>
                    <a:lnT w="28575">
                      <a:solidFill>
                        <a:srgbClr val="4A626E"/>
                      </a:solidFill>
                      <a:prstDash val="solid"/>
                    </a:lnT>
                    <a:lnB w="28575">
                      <a:solidFill>
                        <a:srgbClr val="4A626E"/>
                      </a:solidFill>
                      <a:prstDash val="solid"/>
                    </a:lnB>
                    <a:solidFill>
                      <a:srgbClr val="FFFFFF"/>
                    </a:solidFill>
                  </a:tcPr>
                </a:tc>
                <a:tc hMerge="1">
                  <a:tcPr marL="36195" marR="36195" marT="36195" marB="36195" anchor="ctr">
                    <a:lnL w="9525">
                      <a:solidFill>
                        <a:srgbClr val="4A626E"/>
                      </a:solidFill>
                      <a:prstDash val="sysDash"/>
                    </a:lnL>
                    <a:lnR w="9525">
                      <a:solidFill>
                        <a:srgbClr val="4A626E"/>
                      </a:solidFill>
                      <a:prstDash val="sysDash"/>
                    </a:lnR>
                    <a:lnT w="28575">
                      <a:solidFill>
                        <a:srgbClr val="4A626E"/>
                      </a:solidFill>
                      <a:prstDash val="solid"/>
                    </a:lnT>
                    <a:lnB w="28575">
                      <a:solidFill>
                        <a:srgbClr val="4A626E"/>
                      </a:solidFill>
                      <a:prstDash val="solid"/>
                    </a:lnB>
                    <a:solidFill>
                      <a:srgbClr val="FFFFFF"/>
                    </a:solidFill>
                  </a:tcPr>
                </a:tc>
              </a:tr>
              <a:tr h="683895">
                <a:tc>
                  <a:txBody>
                    <a:bodyPr/>
                    <a:lstStyle/>
                    <a:p>
                      <a:pPr indent="0" algn="ctr" fontAlgn="auto" latinLnBrk="1">
                        <a:lnSpc>
                          <a:spcPct val="100000"/>
                        </a:lnSpc>
                        <a:spcBef>
                          <a:spcPts val="0"/>
                        </a:spcBef>
                        <a:spcAft>
                          <a:spcPts val="0"/>
                        </a:spcAft>
                        <a:buNone/>
                      </a:pPr>
                      <a:r>
                        <a:rPr lang="zh-CN" altLang="en-US" sz="2400" b="1" spc="130">
                          <a:solidFill>
                            <a:srgbClr val="4A626E"/>
                          </a:solidFill>
                          <a:latin typeface="方正粗黑宋简体" panose="02000000000000000000" pitchFamily="2" charset="-122"/>
                          <a:ea typeface="方正粗黑宋简体" panose="02000000000000000000" pitchFamily="2" charset="-122"/>
                        </a:rPr>
                        <a:t>干燥剂</a:t>
                      </a:r>
                      <a:endParaRPr lang="zh-CN" altLang="en-US" sz="2400" b="1" spc="130">
                        <a:solidFill>
                          <a:srgbClr val="4A626E"/>
                        </a:solidFill>
                        <a:latin typeface="方正粗黑宋简体" panose="02000000000000000000" pitchFamily="2" charset="-122"/>
                        <a:ea typeface="方正粗黑宋简体" panose="02000000000000000000" pitchFamily="2" charset="-122"/>
                      </a:endParaRPr>
                    </a:p>
                  </a:txBody>
                  <a:tcPr marL="36195" marR="36195" marT="36195" marB="36195" anchor="ctr">
                    <a:lnL w="9525">
                      <a:solidFill>
                        <a:srgbClr val="4A626E"/>
                      </a:solidFill>
                      <a:prstDash val="sysDash"/>
                    </a:lnL>
                    <a:lnR w="9525">
                      <a:solidFill>
                        <a:srgbClr val="4A626E"/>
                      </a:solidFill>
                      <a:prstDash val="sysDash"/>
                    </a:lnR>
                    <a:lnT w="28575">
                      <a:solidFill>
                        <a:srgbClr val="4A626E"/>
                      </a:solidFill>
                      <a:prstDash val="solid"/>
                    </a:lnT>
                    <a:lnB w="9525">
                      <a:solidFill>
                        <a:srgbClr val="4A626E"/>
                      </a:solidFill>
                      <a:prstDash val="sysDash"/>
                    </a:lnB>
                    <a:solidFill>
                      <a:srgbClr val="FFFFFF"/>
                    </a:solidFill>
                  </a:tcPr>
                </a:tc>
                <a:tc>
                  <a:txBody>
                    <a:bodyPr/>
                    <a:lstStyle/>
                    <a:p>
                      <a:pPr algn="ctr" latinLnBrk="1">
                        <a:lnSpc>
                          <a:spcPct val="100000"/>
                        </a:lnSpc>
                        <a:spcBef>
                          <a:spcPts val="0"/>
                        </a:spcBef>
                        <a:spcAft>
                          <a:spcPts val="0"/>
                        </a:spcAft>
                        <a:buClrTx/>
                        <a:buSzTx/>
                        <a:buFontTx/>
                        <a:buNone/>
                      </a:pPr>
                      <a:r>
                        <a:rPr lang="zh-CN" altLang="en-US" sz="2400" b="1" spc="130">
                          <a:solidFill>
                            <a:srgbClr val="4A626E"/>
                          </a:solidFill>
                          <a:latin typeface="方正粗黑宋简体" panose="02000000000000000000" pitchFamily="2" charset="-122"/>
                          <a:ea typeface="方正粗黑宋简体" panose="02000000000000000000" pitchFamily="2" charset="-122"/>
                        </a:rPr>
                        <a:t>可干燥的气体</a:t>
                      </a:r>
                      <a:endParaRPr lang="zh-CN" altLang="en-US" sz="2400" b="1" spc="130">
                        <a:solidFill>
                          <a:srgbClr val="4A626E"/>
                        </a:solidFill>
                        <a:latin typeface="方正粗黑宋简体" panose="02000000000000000000" pitchFamily="2" charset="-122"/>
                        <a:ea typeface="方正粗黑宋简体" panose="02000000000000000000" pitchFamily="2" charset="-122"/>
                      </a:endParaRPr>
                    </a:p>
                  </a:txBody>
                  <a:tcPr marL="36195" marR="36195" marT="36195" marB="36195" anchor="ctr">
                    <a:lnL w="9525">
                      <a:solidFill>
                        <a:srgbClr val="4A626E"/>
                      </a:solidFill>
                      <a:prstDash val="sysDash"/>
                    </a:lnL>
                    <a:lnR w="9525">
                      <a:solidFill>
                        <a:srgbClr val="4A626E"/>
                      </a:solidFill>
                      <a:prstDash val="sysDash"/>
                    </a:lnR>
                    <a:lnT w="28575">
                      <a:solidFill>
                        <a:srgbClr val="4A626E"/>
                      </a:solidFill>
                      <a:prstDash val="solid"/>
                    </a:lnT>
                    <a:lnB w="9525">
                      <a:solidFill>
                        <a:srgbClr val="4A626E"/>
                      </a:solidFill>
                      <a:prstDash val="sysDash"/>
                    </a:lnB>
                    <a:solidFill>
                      <a:srgbClr val="FFFFFF"/>
                    </a:solidFill>
                  </a:tcPr>
                </a:tc>
                <a:tc>
                  <a:txBody>
                    <a:bodyPr/>
                    <a:lstStyle/>
                    <a:p>
                      <a:pPr algn="ctr" latinLnBrk="1">
                        <a:lnSpc>
                          <a:spcPct val="100000"/>
                        </a:lnSpc>
                        <a:spcBef>
                          <a:spcPts val="0"/>
                        </a:spcBef>
                        <a:spcAft>
                          <a:spcPts val="0"/>
                        </a:spcAft>
                        <a:buClrTx/>
                        <a:buSzTx/>
                        <a:buFontTx/>
                        <a:buNone/>
                      </a:pPr>
                      <a:r>
                        <a:rPr lang="zh-CN" altLang="en-US" sz="2400" b="1" spc="130">
                          <a:solidFill>
                            <a:srgbClr val="4A626E"/>
                          </a:solidFill>
                          <a:latin typeface="方正粗黑宋简体" panose="02000000000000000000" pitchFamily="2" charset="-122"/>
                          <a:ea typeface="方正粗黑宋简体" panose="02000000000000000000" pitchFamily="2" charset="-122"/>
                        </a:rPr>
                        <a:t>注意事项</a:t>
                      </a:r>
                      <a:endParaRPr lang="zh-CN" altLang="en-US" sz="2400" b="1" spc="130">
                        <a:solidFill>
                          <a:srgbClr val="4A626E"/>
                        </a:solidFill>
                        <a:latin typeface="方正粗黑宋简体" panose="02000000000000000000" pitchFamily="2" charset="-122"/>
                        <a:ea typeface="方正粗黑宋简体" panose="02000000000000000000" pitchFamily="2" charset="-122"/>
                      </a:endParaRPr>
                    </a:p>
                  </a:txBody>
                  <a:tcPr marL="36195" marR="36195" marT="36195" marB="36195" anchor="ctr">
                    <a:lnL w="9525">
                      <a:solidFill>
                        <a:srgbClr val="4A626E"/>
                      </a:solidFill>
                      <a:prstDash val="sysDash"/>
                    </a:lnL>
                    <a:lnR w="9525">
                      <a:solidFill>
                        <a:srgbClr val="4A626E"/>
                      </a:solidFill>
                      <a:prstDash val="sysDash"/>
                    </a:lnR>
                    <a:lnT w="28575">
                      <a:solidFill>
                        <a:srgbClr val="4A626E"/>
                      </a:solidFill>
                      <a:prstDash val="solid"/>
                    </a:lnT>
                    <a:lnB w="9525">
                      <a:solidFill>
                        <a:srgbClr val="4A626E"/>
                      </a:solidFill>
                      <a:prstDash val="sysDash"/>
                    </a:lnB>
                    <a:solidFill>
                      <a:srgbClr val="FFFFFF"/>
                    </a:solidFill>
                  </a:tcPr>
                </a:tc>
              </a:tr>
              <a:tr h="1152000">
                <a:tc>
                  <a:txBody>
                    <a:bodyPr/>
                    <a:lstStyle/>
                    <a:p>
                      <a:pPr indent="0" algn="ctr" fontAlgn="auto" latinLnBrk="1">
                        <a:lnSpc>
                          <a:spcPct val="100000"/>
                        </a:lnSpc>
                        <a:spcBef>
                          <a:spcPts val="0"/>
                        </a:spcBef>
                        <a:spcAft>
                          <a:spcPts val="0"/>
                        </a:spcAft>
                        <a:buNone/>
                      </a:pPr>
                      <a:r>
                        <a:rPr lang="zh-CN" altLang="en-US" sz="2400" b="1">
                          <a:solidFill>
                            <a:srgbClr val="4A626E"/>
                          </a:solidFill>
                          <a:uFillTx/>
                          <a:latin typeface="Times New Roman" panose="02020603050405020304" pitchFamily="18" charset="0"/>
                          <a:ea typeface="宋体" panose="02010600030101010101" pitchFamily="2" charset="-122"/>
                        </a:rPr>
                        <a:t>浓硫酸</a:t>
                      </a:r>
                      <a:r>
                        <a:rPr lang="en-US" altLang="zh-CN" sz="2400" b="1">
                          <a:solidFill>
                            <a:srgbClr val="4A626E"/>
                          </a:solidFill>
                          <a:uFillTx/>
                          <a:latin typeface="Times New Roman" panose="02020603050405020304" pitchFamily="18" charset="0"/>
                          <a:ea typeface="宋体" panose="02010600030101010101" pitchFamily="2" charset="-122"/>
                        </a:rPr>
                        <a:t>(</a:t>
                      </a:r>
                      <a:r>
                        <a:rPr lang="zh-CN" altLang="en-US" sz="2400" b="1">
                          <a:solidFill>
                            <a:srgbClr val="4A626E"/>
                          </a:solidFill>
                          <a:uFillTx/>
                          <a:latin typeface="Times New Roman" panose="02020603050405020304" pitchFamily="18" charset="0"/>
                          <a:ea typeface="宋体" panose="02010600030101010101" pitchFamily="2" charset="-122"/>
                        </a:rPr>
                        <a:t>液体</a:t>
                      </a:r>
                      <a:r>
                        <a:rPr lang="en-US" altLang="zh-CN" sz="2400" b="1">
                          <a:solidFill>
                            <a:srgbClr val="4A626E"/>
                          </a:solidFill>
                          <a:uFillTx/>
                          <a:latin typeface="Times New Roman" panose="02020603050405020304" pitchFamily="18" charset="0"/>
                          <a:ea typeface="宋体" panose="02010600030101010101" pitchFamily="2" charset="-122"/>
                        </a:rPr>
                        <a:t>)</a:t>
                      </a:r>
                      <a:endParaRPr lang="en-US" altLang="zh-CN" sz="2400" b="1">
                        <a:solidFill>
                          <a:srgbClr val="4A626E"/>
                        </a:solidFill>
                        <a:uFillTx/>
                        <a:latin typeface="Times New Roman" panose="02020603050405020304" pitchFamily="18" charset="0"/>
                        <a:ea typeface="宋体" panose="02010600030101010101" pitchFamily="2" charset="-122"/>
                      </a:endParaRPr>
                    </a:p>
                  </a:txBody>
                  <a:tcPr marL="36195" marR="36195" marT="36195" marB="36195" anchor="ctr">
                    <a:lnL w="9525">
                      <a:solidFill>
                        <a:srgbClr val="4A626E"/>
                      </a:solidFill>
                      <a:prstDash val="sysDash"/>
                    </a:lnL>
                    <a:lnR w="9525">
                      <a:solidFill>
                        <a:srgbClr val="4A626E"/>
                      </a:solidFill>
                      <a:prstDash val="sysDash"/>
                    </a:lnR>
                    <a:lnT w="9525">
                      <a:solidFill>
                        <a:srgbClr val="4A626E"/>
                      </a:solidFill>
                      <a:prstDash val="sysDash"/>
                    </a:lnT>
                    <a:lnB w="9525">
                      <a:solidFill>
                        <a:srgbClr val="4A626E"/>
                      </a:solidFill>
                      <a:prstDash val="sysDash"/>
                    </a:lnB>
                    <a:solidFill>
                      <a:srgbClr val="F2F2F2"/>
                    </a:solidFill>
                  </a:tcPr>
                </a:tc>
                <a:tc>
                  <a:txBody>
                    <a:bodyPr/>
                    <a:lstStyle/>
                    <a:p>
                      <a:pPr indent="0" algn="ctr">
                        <a:lnSpc>
                          <a:spcPct val="120000"/>
                        </a:lnSpc>
                        <a:spcBef>
                          <a:spcPts val="0"/>
                        </a:spcBef>
                        <a:spcAft>
                          <a:spcPts val="0"/>
                        </a:spcAft>
                        <a:buNone/>
                      </a:pPr>
                      <a:endParaRPr lang="zh-CN" alt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4A626E"/>
                      </a:solidFill>
                      <a:prstDash val="sysDash"/>
                    </a:lnL>
                    <a:lnR w="9525">
                      <a:solidFill>
                        <a:srgbClr val="4A626E"/>
                      </a:solidFill>
                      <a:prstDash val="sysDash"/>
                    </a:lnR>
                    <a:lnT w="9525">
                      <a:solidFill>
                        <a:srgbClr val="4A626E"/>
                      </a:solidFill>
                      <a:prstDash val="sysDash"/>
                    </a:lnT>
                    <a:lnB w="9525">
                      <a:solidFill>
                        <a:srgbClr val="4A626E"/>
                      </a:solidFill>
                      <a:prstDash val="sysDash"/>
                    </a:lnB>
                    <a:solidFill>
                      <a:srgbClr val="F2F2F2"/>
                    </a:solidFill>
                  </a:tcPr>
                </a:tc>
                <a:tc>
                  <a:txBody>
                    <a:bodyPr/>
                    <a:lstStyle/>
                    <a:p>
                      <a:pPr indent="0" algn="ctr">
                        <a:lnSpc>
                          <a:spcPct val="120000"/>
                        </a:lnSpc>
                        <a:spcBef>
                          <a:spcPts val="0"/>
                        </a:spcBef>
                        <a:spcAft>
                          <a:spcPts val="0"/>
                        </a:spcAft>
                        <a:buNone/>
                      </a:pPr>
                      <a:endParaRPr lang="zh-CN" alt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4A626E"/>
                      </a:solidFill>
                      <a:prstDash val="sysDash"/>
                    </a:lnL>
                    <a:lnR w="9525">
                      <a:solidFill>
                        <a:srgbClr val="4A626E"/>
                      </a:solidFill>
                      <a:prstDash val="sysDash"/>
                    </a:lnR>
                    <a:lnT w="9525">
                      <a:solidFill>
                        <a:srgbClr val="4A626E"/>
                      </a:solidFill>
                      <a:prstDash val="sysDash"/>
                    </a:lnT>
                    <a:lnB w="9525">
                      <a:solidFill>
                        <a:srgbClr val="4A626E"/>
                      </a:solidFill>
                      <a:prstDash val="sysDash"/>
                    </a:lnB>
                    <a:solidFill>
                      <a:srgbClr val="F2F2F2"/>
                    </a:solidFill>
                  </a:tcPr>
                </a:tc>
              </a:tr>
              <a:tr h="1152000">
                <a:tc>
                  <a:txBody>
                    <a:bodyPr/>
                    <a:lstStyle/>
                    <a:p>
                      <a:pPr indent="0" algn="ctr" fontAlgn="auto" latinLnBrk="1">
                        <a:lnSpc>
                          <a:spcPct val="100000"/>
                        </a:lnSpc>
                        <a:spcBef>
                          <a:spcPts val="0"/>
                        </a:spcBef>
                        <a:spcAft>
                          <a:spcPts val="0"/>
                        </a:spcAft>
                        <a:buNone/>
                      </a:pPr>
                      <a:r>
                        <a:rPr lang="zh-CN" altLang="en-US" sz="2400" b="1" dirty="0">
                          <a:solidFill>
                            <a:srgbClr val="4A626E"/>
                          </a:solidFill>
                          <a:uFillTx/>
                          <a:latin typeface="Times New Roman" panose="02020603050405020304" pitchFamily="18" charset="0"/>
                          <a:ea typeface="宋体" panose="02010600030101010101" pitchFamily="2" charset="-122"/>
                        </a:rPr>
                        <a:t>碱石灰</a:t>
                      </a:r>
                      <a:r>
                        <a:rPr lang="en-US" altLang="zh-CN" sz="2400" b="1" dirty="0">
                          <a:solidFill>
                            <a:srgbClr val="4A626E"/>
                          </a:solidFill>
                          <a:uFillTx/>
                          <a:latin typeface="Times New Roman" panose="02020603050405020304" pitchFamily="18" charset="0"/>
                          <a:ea typeface="宋体" panose="02010600030101010101" pitchFamily="2" charset="-122"/>
                        </a:rPr>
                        <a:t>(</a:t>
                      </a:r>
                      <a:r>
                        <a:rPr lang="zh-CN" altLang="en-US" sz="2400" b="1" dirty="0">
                          <a:solidFill>
                            <a:srgbClr val="4A626E"/>
                          </a:solidFill>
                          <a:uFillTx/>
                          <a:latin typeface="Times New Roman" panose="02020603050405020304" pitchFamily="18" charset="0"/>
                          <a:ea typeface="宋体" panose="02010600030101010101" pitchFamily="2" charset="-122"/>
                        </a:rPr>
                        <a:t>固体</a:t>
                      </a:r>
                      <a:r>
                        <a:rPr lang="en-US" altLang="zh-CN" sz="2400" b="1" dirty="0">
                          <a:solidFill>
                            <a:srgbClr val="4A626E"/>
                          </a:solidFill>
                          <a:uFillTx/>
                          <a:latin typeface="Times New Roman" panose="02020603050405020304" pitchFamily="18" charset="0"/>
                          <a:ea typeface="宋体" panose="02010600030101010101" pitchFamily="2" charset="-122"/>
                        </a:rPr>
                        <a:t>)</a:t>
                      </a:r>
                      <a:endParaRPr lang="en-US" altLang="zh-CN" sz="2400" b="1" dirty="0">
                        <a:solidFill>
                          <a:srgbClr val="4A626E"/>
                        </a:solidFill>
                        <a:uFillTx/>
                        <a:latin typeface="Times New Roman" panose="02020603050405020304" pitchFamily="18" charset="0"/>
                        <a:ea typeface="宋体" panose="02010600030101010101" pitchFamily="2" charset="-122"/>
                      </a:endParaRPr>
                    </a:p>
                  </a:txBody>
                  <a:tcPr marL="36195" marR="36195" marT="36195" marB="36195" anchor="ctr">
                    <a:lnL w="9525">
                      <a:solidFill>
                        <a:srgbClr val="4A626E"/>
                      </a:solidFill>
                      <a:prstDash val="sysDash"/>
                    </a:lnL>
                    <a:lnR w="9525">
                      <a:solidFill>
                        <a:srgbClr val="4A626E"/>
                      </a:solidFill>
                      <a:prstDash val="sysDash"/>
                    </a:lnR>
                    <a:lnT w="9525">
                      <a:solidFill>
                        <a:srgbClr val="4A626E"/>
                      </a:solidFill>
                      <a:prstDash val="sysDash"/>
                    </a:lnT>
                    <a:lnB w="9525">
                      <a:solidFill>
                        <a:srgbClr val="4A626E"/>
                      </a:solidFill>
                      <a:prstDash val="sysDash"/>
                    </a:lnB>
                    <a:solidFill>
                      <a:srgbClr val="FFFFFF"/>
                    </a:solidFill>
                  </a:tcPr>
                </a:tc>
                <a:tc>
                  <a:txBody>
                    <a:bodyPr/>
                    <a:lstStyle/>
                    <a:p>
                      <a:pPr indent="0" algn="ctr">
                        <a:lnSpc>
                          <a:spcPct val="120000"/>
                        </a:lnSpc>
                        <a:spcBef>
                          <a:spcPts val="0"/>
                        </a:spcBef>
                        <a:spcAft>
                          <a:spcPts val="0"/>
                        </a:spcAft>
                        <a:buNone/>
                      </a:pPr>
                      <a:endParaRPr lang="zh-CN" alt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4A626E"/>
                      </a:solidFill>
                      <a:prstDash val="sysDash"/>
                    </a:lnL>
                    <a:lnR w="9525">
                      <a:solidFill>
                        <a:srgbClr val="4A626E"/>
                      </a:solidFill>
                      <a:prstDash val="sysDash"/>
                    </a:lnR>
                    <a:lnT w="9525">
                      <a:solidFill>
                        <a:srgbClr val="4A626E"/>
                      </a:solidFill>
                      <a:prstDash val="sysDash"/>
                    </a:lnT>
                    <a:lnB w="9525">
                      <a:solidFill>
                        <a:srgbClr val="4A626E"/>
                      </a:solidFill>
                      <a:prstDash val="sysDash"/>
                    </a:lnB>
                    <a:solidFill>
                      <a:srgbClr val="FFFFFF"/>
                    </a:solidFill>
                  </a:tcPr>
                </a:tc>
                <a:tc>
                  <a:txBody>
                    <a:bodyPr/>
                    <a:lstStyle/>
                    <a:p>
                      <a:pPr indent="0" algn="ctr">
                        <a:lnSpc>
                          <a:spcPct val="120000"/>
                        </a:lnSpc>
                        <a:spcBef>
                          <a:spcPts val="0"/>
                        </a:spcBef>
                        <a:spcAft>
                          <a:spcPts val="0"/>
                        </a:spcAft>
                        <a:buNone/>
                      </a:pPr>
                      <a:endParaRPr lang="zh-CN" alt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4A626E"/>
                      </a:solidFill>
                      <a:prstDash val="sysDash"/>
                    </a:lnL>
                    <a:lnR w="9525">
                      <a:solidFill>
                        <a:srgbClr val="4A626E"/>
                      </a:solidFill>
                      <a:prstDash val="sysDash"/>
                    </a:lnR>
                    <a:lnT w="9525">
                      <a:solidFill>
                        <a:srgbClr val="4A626E"/>
                      </a:solidFill>
                      <a:prstDash val="sysDash"/>
                    </a:lnT>
                    <a:lnB w="9525">
                      <a:solidFill>
                        <a:srgbClr val="4A626E"/>
                      </a:solidFill>
                      <a:prstDash val="sysDash"/>
                    </a:lnB>
                    <a:solidFill>
                      <a:srgbClr val="FFFFFF"/>
                    </a:solidFill>
                  </a:tcPr>
                </a:tc>
              </a:tr>
              <a:tr h="1152000">
                <a:tc>
                  <a:txBody>
                    <a:bodyPr/>
                    <a:lstStyle/>
                    <a:p>
                      <a:pPr indent="0" algn="ctr" fontAlgn="auto" latinLnBrk="1">
                        <a:lnSpc>
                          <a:spcPct val="100000"/>
                        </a:lnSpc>
                        <a:spcBef>
                          <a:spcPts val="0"/>
                        </a:spcBef>
                        <a:spcAft>
                          <a:spcPts val="0"/>
                        </a:spcAft>
                        <a:buNone/>
                      </a:pPr>
                      <a:r>
                        <a:rPr lang="zh-CN" altLang="en-US"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无水Cu</a:t>
                      </a:r>
                      <a:r>
                        <a:rPr lang="en-US" altLang="zh-CN"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S</a:t>
                      </a:r>
                      <a:r>
                        <a:rPr lang="zh-CN" altLang="en-US"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O</a:t>
                      </a:r>
                      <a:r>
                        <a:rPr lang="en-US" altLang="zh-CN" sz="2400" b="1" baseline="-25000">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4</a:t>
                      </a:r>
                      <a:r>
                        <a:rPr lang="zh-CN" altLang="en-US"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a:t>
                      </a:r>
                      <a:endParaRPr lang="zh-CN" altLang="en-US"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endParaRPr>
                    </a:p>
                    <a:p>
                      <a:pPr indent="0" algn="ctr" fontAlgn="auto" latinLnBrk="1">
                        <a:lnSpc>
                          <a:spcPct val="100000"/>
                        </a:lnSpc>
                        <a:spcBef>
                          <a:spcPts val="0"/>
                        </a:spcBef>
                        <a:spcAft>
                          <a:spcPts val="0"/>
                        </a:spcAft>
                        <a:buNone/>
                      </a:pPr>
                      <a:r>
                        <a:rPr lang="zh-CN" altLang="en-US"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无水CaCl</a:t>
                      </a:r>
                      <a:r>
                        <a:rPr lang="en-US" altLang="zh-CN" sz="2400" b="1" baseline="-25000">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2</a:t>
                      </a:r>
                      <a:r>
                        <a:rPr lang="zh-CN" altLang="en-US"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等</a:t>
                      </a:r>
                      <a:r>
                        <a:rPr lang="en-US" altLang="zh-CN"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a:t>
                      </a:r>
                      <a:r>
                        <a:rPr lang="zh-CN" altLang="en-US"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固体</a:t>
                      </a:r>
                      <a:r>
                        <a:rPr lang="en-US" altLang="zh-CN"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rPr>
                        <a:t>)</a:t>
                      </a:r>
                      <a:endParaRPr lang="en-US" altLang="zh-CN" sz="2400" b="1">
                        <a:solidFill>
                          <a:srgbClr val="4A626E"/>
                        </a:solidFill>
                        <a:uFillTx/>
                        <a:latin typeface="Times New Roman" panose="02020603050405020304" pitchFamily="18" charset="0"/>
                        <a:ea typeface="宋体" panose="02010600030101010101" pitchFamily="2" charset="-122"/>
                        <a:cs typeface="微软雅黑" panose="020B0503020204020204" pitchFamily="34" charset="-122"/>
                      </a:endParaRPr>
                    </a:p>
                  </a:txBody>
                  <a:tcPr marL="36195" marR="36195" marT="36195" marB="36195" anchor="ctr">
                    <a:lnL w="9525">
                      <a:solidFill>
                        <a:srgbClr val="4A626E"/>
                      </a:solidFill>
                      <a:prstDash val="sysDash"/>
                    </a:lnL>
                    <a:lnR w="9525">
                      <a:solidFill>
                        <a:srgbClr val="4A626E"/>
                      </a:solidFill>
                      <a:prstDash val="sysDash"/>
                    </a:lnR>
                    <a:lnT w="9525">
                      <a:solidFill>
                        <a:srgbClr val="4A626E"/>
                      </a:solidFill>
                      <a:prstDash val="sysDash"/>
                    </a:lnT>
                    <a:lnB w="28575">
                      <a:solidFill>
                        <a:srgbClr val="4A626E"/>
                      </a:solidFill>
                      <a:prstDash val="solid"/>
                    </a:lnB>
                    <a:solidFill>
                      <a:srgbClr val="F2F2F2"/>
                    </a:solidFill>
                  </a:tcPr>
                </a:tc>
                <a:tc>
                  <a:txBody>
                    <a:bodyPr/>
                    <a:lstStyle/>
                    <a:p>
                      <a:pPr indent="0" algn="ctr">
                        <a:lnSpc>
                          <a:spcPct val="120000"/>
                        </a:lnSpc>
                        <a:spcBef>
                          <a:spcPts val="0"/>
                        </a:spcBef>
                        <a:spcAft>
                          <a:spcPts val="0"/>
                        </a:spcAft>
                        <a:buNone/>
                      </a:pPr>
                      <a:endParaRPr lang="zh-CN" alt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4A626E"/>
                      </a:solidFill>
                      <a:prstDash val="sysDash"/>
                    </a:lnL>
                    <a:lnR w="9525">
                      <a:solidFill>
                        <a:srgbClr val="4A626E"/>
                      </a:solidFill>
                      <a:prstDash val="sysDash"/>
                    </a:lnR>
                    <a:lnT w="9525">
                      <a:solidFill>
                        <a:srgbClr val="4A626E"/>
                      </a:solidFill>
                      <a:prstDash val="sysDash"/>
                    </a:lnT>
                    <a:lnB w="28575">
                      <a:solidFill>
                        <a:srgbClr val="4A626E"/>
                      </a:solidFill>
                      <a:prstDash val="solid"/>
                    </a:lnB>
                    <a:solidFill>
                      <a:srgbClr val="F2F2F2"/>
                    </a:solidFill>
                  </a:tcPr>
                </a:tc>
                <a:tc>
                  <a:txBody>
                    <a:bodyPr/>
                    <a:lstStyle/>
                    <a:p>
                      <a:pPr indent="0" algn="ctr">
                        <a:lnSpc>
                          <a:spcPct val="120000"/>
                        </a:lnSpc>
                        <a:spcBef>
                          <a:spcPts val="0"/>
                        </a:spcBef>
                        <a:spcAft>
                          <a:spcPts val="0"/>
                        </a:spcAft>
                        <a:buNone/>
                      </a:pPr>
                      <a:endParaRPr lang="zh-CN" altLang="en-US" sz="1800" b="0" spc="130" dirty="0">
                        <a:solidFill>
                          <a:srgbClr val="404040"/>
                        </a:solidFill>
                        <a:latin typeface="微软雅黑" panose="020B0503020204020204" pitchFamily="34" charset="-122"/>
                        <a:ea typeface="微软雅黑" panose="020B0503020204020204" pitchFamily="34" charset="-122"/>
                      </a:endParaRPr>
                    </a:p>
                  </a:txBody>
                  <a:tcPr marL="317500" marR="317500" marT="215900" marB="215900" anchor="ctr">
                    <a:lnL w="9525">
                      <a:solidFill>
                        <a:srgbClr val="4A626E"/>
                      </a:solidFill>
                      <a:prstDash val="sysDash"/>
                    </a:lnL>
                    <a:lnR w="9525">
                      <a:solidFill>
                        <a:srgbClr val="4A626E"/>
                      </a:solidFill>
                      <a:prstDash val="sysDash"/>
                    </a:lnR>
                    <a:lnT w="9525">
                      <a:solidFill>
                        <a:srgbClr val="4A626E"/>
                      </a:solidFill>
                      <a:prstDash val="sysDash"/>
                    </a:lnT>
                    <a:lnB w="28575">
                      <a:solidFill>
                        <a:srgbClr val="4A626E"/>
                      </a:solidFill>
                      <a:prstDash val="solid"/>
                    </a:lnB>
                    <a:solidFill>
                      <a:srgbClr val="F2F2F2"/>
                    </a:solidFill>
                  </a:tcPr>
                </a:tc>
              </a:tr>
            </a:tbl>
          </a:graphicData>
        </a:graphic>
      </p:graphicFrame>
      <p:sp>
        <p:nvSpPr>
          <p:cNvPr id="6" name="文本框 5"/>
          <p:cNvSpPr txBox="1"/>
          <p:nvPr/>
        </p:nvSpPr>
        <p:spPr>
          <a:xfrm>
            <a:off x="3224530" y="2990215"/>
            <a:ext cx="3924000" cy="3259455"/>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p:spPr>
        <p:style>
          <a:lnRef idx="0">
            <a:scrgbClr r="0" g="0" b="0"/>
          </a:lnRef>
          <a:fillRef idx="0">
            <a:scrgbClr r="0" g="0" b="0"/>
          </a:fillRef>
          <a:effectRef idx="0">
            <a:scrgbClr r="0" g="0" b="0"/>
          </a:effectRef>
          <a:fontRef idx="none"/>
        </p:style>
        <p:txBody>
          <a:bodyPr rot="0" vertOverflow="overflow" horzOverflow="overflow" vert="horz" wrap="square" lIns="36195" tIns="60958" rIns="60958" bIns="60958" numCol="1" spcCol="38100" rtlCol="0" anchor="t">
            <a:spAutoFit/>
          </a:bodyPr>
          <a:lstStyle/>
          <a:p>
            <a:pPr marL="0" marR="0" indent="0" algn="l" defTabSz="914400" rtl="0" fontAlgn="auto" latinLnBrk="1">
              <a:lnSpc>
                <a:spcPct val="100000"/>
              </a:lnSpc>
              <a:spcBef>
                <a:spcPts val="0"/>
              </a:spcBef>
              <a:spcAft>
                <a:spcPts val="0"/>
              </a:spcAft>
              <a:buClrTx/>
              <a:buSzTx/>
              <a:buFontTx/>
              <a:buNone/>
            </a:pP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CO、CO</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、HCl、 H</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、O</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、SO</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 CH</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4</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等</a:t>
            </a:r>
            <a:endPar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kumimoji="0" lang="zh-CN" altLang="en-US" sz="2400" b="1" i="0">
              <a:solidFill>
                <a:srgbClr val="4A626E"/>
              </a:solidFill>
              <a:uFillTx/>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100000"/>
              </a:lnSpc>
              <a:spcBef>
                <a:spcPts val="0"/>
              </a:spcBef>
              <a:spcAft>
                <a:spcPts val="0"/>
              </a:spcAft>
              <a:buClrTx/>
              <a:buSzTx/>
              <a:buFontTx/>
              <a:buNone/>
            </a:pP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H</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、O</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、CO、NH</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3</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、CH</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4</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等</a:t>
            </a:r>
            <a:endParaRPr kumimoji="0" lang="zh-CN" altLang="en-US" sz="2400" b="1" i="0">
              <a:solidFill>
                <a:srgbClr val="4A626E"/>
              </a:solidFill>
              <a:uFillTx/>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100000"/>
              </a:lnSpc>
              <a:spcBef>
                <a:spcPts val="0"/>
              </a:spcBef>
              <a:spcAft>
                <a:spcPts val="0"/>
              </a:spcAft>
              <a:buClrTx/>
              <a:buSzTx/>
              <a:buFontTx/>
              <a:buNone/>
            </a:pPr>
            <a:endPar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200000"/>
              </a:lnSpc>
              <a:spcBef>
                <a:spcPts val="0"/>
              </a:spcBef>
              <a:spcAft>
                <a:spcPts val="0"/>
              </a:spcAft>
              <a:buClrTx/>
              <a:buSzTx/>
              <a:buFontTx/>
              <a:buNone/>
            </a:pP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H</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、O</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、CO、 CO</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、CH</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4</a:t>
            </a:r>
            <a:endPar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100000"/>
              </a:lnSpc>
              <a:spcBef>
                <a:spcPts val="0"/>
              </a:spcBef>
              <a:spcAft>
                <a:spcPts val="0"/>
              </a:spcAft>
              <a:buClrTx/>
              <a:buSzTx/>
              <a:buFontTx/>
              <a:buNone/>
            </a:pP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等</a:t>
            </a:r>
            <a:endParaRPr kumimoji="0" lang="zh-CN" altLang="en-US" sz="2400" b="1" i="0">
              <a:solidFill>
                <a:srgbClr val="4A626E"/>
              </a:solidFill>
              <a:uFillTx/>
              <a:latin typeface="Times New Roman" panose="02020603050405020304" pitchFamily="18" charset="0"/>
              <a:ea typeface="宋体" panose="02010600030101010101" pitchFamily="2" charset="-122"/>
              <a:sym typeface="Arial" panose="020B0604020202090204"/>
            </a:endParaRPr>
          </a:p>
        </p:txBody>
      </p:sp>
      <p:sp>
        <p:nvSpPr>
          <p:cNvPr id="2" name="文本框 1"/>
          <p:cNvSpPr txBox="1"/>
          <p:nvPr/>
        </p:nvSpPr>
        <p:spPr>
          <a:xfrm>
            <a:off x="7143115" y="2990215"/>
            <a:ext cx="4152265" cy="3148965"/>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a:spAutoFit/>
          </a:bodyPr>
          <a:lstStyle/>
          <a:p>
            <a:pPr marL="0" marR="0" indent="0" algn="l" defTabSz="914400" rtl="0" fontAlgn="auto" latinLnBrk="1">
              <a:lnSpc>
                <a:spcPct val="120000"/>
              </a:lnSpc>
              <a:spcBef>
                <a:spcPts val="0"/>
              </a:spcBef>
              <a:spcAft>
                <a:spcPts val="0"/>
              </a:spcAft>
              <a:buClrTx/>
              <a:buSzTx/>
              <a:buFontTx/>
              <a:buNone/>
            </a:pP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浓硫酸呈酸性，不能干燥</a:t>
            </a:r>
            <a:endPar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100000"/>
              </a:lnSpc>
              <a:spcBef>
                <a:spcPts val="0"/>
              </a:spcBef>
              <a:spcAft>
                <a:spcPts val="0"/>
              </a:spcAft>
              <a:buClrTx/>
              <a:buSzTx/>
              <a:buFontTx/>
              <a:buNone/>
            </a:pPr>
            <a:r>
              <a:rPr lang="zh-CN" altLang="en-US" sz="2400" b="1" u="sng">
                <a:solidFill>
                  <a:srgbClr val="4A626E"/>
                </a:solidFill>
                <a:uFillTx/>
                <a:latin typeface="Times New Roman" panose="02020603050405020304" pitchFamily="18" charset="0"/>
                <a:ea typeface="宋体" panose="02010600030101010101" pitchFamily="2" charset="-122"/>
                <a:sym typeface="Arial" panose="020B0604020202090204"/>
              </a:rPr>
              <a:t>          </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性气体(如NH</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3</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a:t>
            </a:r>
            <a:endPar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200000"/>
              </a:lnSpc>
              <a:spcBef>
                <a:spcPts val="0"/>
              </a:spcBef>
              <a:spcAft>
                <a:spcPts val="0"/>
              </a:spcAft>
              <a:buClrTx/>
              <a:buSzTx/>
              <a:buFontTx/>
              <a:buNone/>
            </a:pP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碱石灰呈碱性，不能干燥</a:t>
            </a:r>
            <a:r>
              <a:rPr lang="zh-CN" altLang="en-US" sz="2400" b="1">
                <a:solidFill>
                  <a:srgbClr val="C00000"/>
                </a:solidFill>
                <a:uFillTx/>
                <a:latin typeface="Times New Roman" panose="02020603050405020304" pitchFamily="18" charset="0"/>
                <a:ea typeface="宋体" panose="02010600030101010101" pitchFamily="2" charset="-122"/>
                <a:sym typeface="Arial" panose="020B0604020202090204"/>
              </a:rPr>
              <a:t>酸</a:t>
            </a:r>
            <a:endPar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100000"/>
              </a:lnSpc>
              <a:spcBef>
                <a:spcPts val="0"/>
              </a:spcBef>
              <a:spcAft>
                <a:spcPts val="0"/>
              </a:spcAft>
              <a:buClrTx/>
              <a:buSzTx/>
              <a:buFontTx/>
              <a:buNone/>
            </a:pP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性气体(如HCl、SO</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、CO</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等)</a:t>
            </a:r>
            <a:endPar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200000"/>
              </a:lnSpc>
              <a:spcBef>
                <a:spcPts val="0"/>
              </a:spcBef>
              <a:spcAft>
                <a:spcPts val="0"/>
              </a:spcAft>
              <a:buClrTx/>
              <a:buSzTx/>
              <a:buFontTx/>
              <a:buNone/>
            </a:pP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中性，可干燥不与CuSO</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4</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 </a:t>
            </a:r>
            <a:endPar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endParaRPr>
          </a:p>
          <a:p>
            <a:pPr marL="0" marR="0" indent="0" algn="l" defTabSz="914400" rtl="0" fontAlgn="auto" latinLnBrk="1">
              <a:lnSpc>
                <a:spcPct val="100000"/>
              </a:lnSpc>
              <a:spcBef>
                <a:spcPts val="0"/>
              </a:spcBef>
              <a:spcAft>
                <a:spcPts val="0"/>
              </a:spcAft>
              <a:buClrTx/>
              <a:buSzTx/>
              <a:buFontTx/>
              <a:buNone/>
            </a:pP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CaCl</a:t>
            </a:r>
            <a:r>
              <a:rPr lang="zh-CN" altLang="en-US" sz="2400" b="1" baseline="-25000">
                <a:solidFill>
                  <a:srgbClr val="4A626E"/>
                </a:solidFill>
                <a:uFillTx/>
                <a:latin typeface="Times New Roman" panose="02020603050405020304" pitchFamily="18" charset="0"/>
                <a:ea typeface="宋体" panose="02010600030101010101" pitchFamily="2" charset="-122"/>
                <a:sym typeface="Arial" panose="020B0604020202090204"/>
              </a:rPr>
              <a:t>2</a:t>
            </a:r>
            <a:r>
              <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rPr>
              <a:t>反应的气体</a:t>
            </a:r>
            <a:endParaRPr lang="zh-CN" altLang="en-US" sz="2400" b="1">
              <a:solidFill>
                <a:srgbClr val="4A626E"/>
              </a:solidFill>
              <a:uFillTx/>
              <a:latin typeface="Times New Roman" panose="02020603050405020304" pitchFamily="18" charset="0"/>
              <a:ea typeface="宋体" panose="02010600030101010101" pitchFamily="2" charset="-122"/>
              <a:sym typeface="Arial" panose="020B0604020202090204"/>
            </a:endParaRPr>
          </a:p>
        </p:txBody>
      </p:sp>
      <p:sp>
        <p:nvSpPr>
          <p:cNvPr id="4" name="文本框 3"/>
          <p:cNvSpPr txBox="1"/>
          <p:nvPr/>
        </p:nvSpPr>
        <p:spPr>
          <a:xfrm>
            <a:off x="527685" y="417195"/>
            <a:ext cx="10996295" cy="1736090"/>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a:spAutoFit/>
          </a:bodyPr>
          <a:lstStyle/>
          <a:p>
            <a:pPr marL="0" indent="0" algn="l" defTabSz="914400" rtl="0" fontAlgn="auto" latinLnBrk="1">
              <a:lnSpc>
                <a:spcPct val="120000"/>
              </a:lnSpc>
              <a:spcBef>
                <a:spcPts val="0"/>
              </a:spcBef>
              <a:spcAft>
                <a:spcPts val="0"/>
              </a:spcAft>
              <a:buClrTx/>
              <a:buSzTx/>
              <a:buFontTx/>
              <a:buNone/>
            </a:pPr>
            <a:r>
              <a:rPr lang="en-US" sz="2500" b="1" dirty="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sz="2500" b="1" dirty="0" err="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气体的干燥</a:t>
            </a:r>
            <a:endParaRPr kumimoji="0" sz="2500" b="1" i="0" dirty="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indent="0" algn="l" defTabSz="914400" rtl="0" fontAlgn="auto" latinLnBrk="1">
              <a:lnSpc>
                <a:spcPct val="150000"/>
              </a:lnSpc>
              <a:spcBef>
                <a:spcPts val="0"/>
              </a:spcBef>
              <a:spcAft>
                <a:spcPts val="0"/>
              </a:spcAft>
              <a:buClrTx/>
              <a:buSzTx/>
              <a:buFontTx/>
              <a:buNone/>
            </a:pPr>
            <a:r>
              <a:rPr sz="2500" b="1" dirty="0">
                <a:ln>
                  <a:noFill/>
                </a:ln>
                <a:solidFill>
                  <a:schemeClr val="tx1">
                    <a:lumMod val="75000"/>
                    <a:lumOff val="25000"/>
                  </a:schemeClr>
                </a:solidFill>
                <a:effectLst/>
                <a:uFillTx/>
                <a:latin typeface="Calibri" panose="020F0502020204030204" pitchFamily="34" charset="0"/>
                <a:ea typeface="宋体" panose="02010600030101010101" pitchFamily="2" charset="-122"/>
                <a:cs typeface="Times New Roman" panose="02020603050405020304" pitchFamily="18" charset="0"/>
                <a:sym typeface="Arial" panose="020B0604020202090204"/>
              </a:rPr>
              <a:t>①</a:t>
            </a:r>
            <a:r>
              <a:rPr sz="2500" b="1" dirty="0" err="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气体干燥的原则</a:t>
            </a:r>
            <a:r>
              <a:rPr lang="zh-CN" sz="2500" b="1" dirty="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dirty="0" err="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干燥剂只能吸收气体中的</a:t>
            </a:r>
            <a:r>
              <a:rPr sz="2500" b="1" u="sng" dirty="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500" b="1" dirty="0" err="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而不能与气体发生反应</a:t>
            </a:r>
            <a:r>
              <a:rPr sz="2500" b="1" dirty="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sz="2500" b="1" dirty="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indent="0" algn="l" defTabSz="914400" rtl="0" fontAlgn="auto" latinLnBrk="1">
              <a:lnSpc>
                <a:spcPct val="150000"/>
              </a:lnSpc>
              <a:spcBef>
                <a:spcPts val="0"/>
              </a:spcBef>
              <a:spcAft>
                <a:spcPts val="0"/>
              </a:spcAft>
              <a:buClrTx/>
              <a:buSzTx/>
              <a:buFontTx/>
              <a:buNone/>
            </a:pPr>
            <a:r>
              <a:rPr sz="2500" b="1" dirty="0">
                <a:ln>
                  <a:noFill/>
                </a:ln>
                <a:solidFill>
                  <a:schemeClr val="tx1">
                    <a:lumMod val="75000"/>
                    <a:lumOff val="25000"/>
                  </a:schemeClr>
                </a:solidFill>
                <a:effectLst/>
                <a:uFillTx/>
                <a:latin typeface="Calibri" panose="020F0502020204030204" pitchFamily="34" charset="0"/>
                <a:ea typeface="宋体" panose="02010600030101010101" pitchFamily="2" charset="-122"/>
                <a:cs typeface="Times New Roman" panose="02020603050405020304" pitchFamily="18" charset="0"/>
                <a:sym typeface="Arial" panose="020B0604020202090204"/>
              </a:rPr>
              <a:t>②</a:t>
            </a:r>
            <a:r>
              <a:rPr sz="2500" b="1" dirty="0" err="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气体干燥常用的试剂</a:t>
            </a:r>
            <a:endParaRPr kumimoji="0" lang="en-US" altLang="en-US" sz="2500" b="1" i="0" dirty="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7" name="文本框 6"/>
          <p:cNvSpPr txBox="1"/>
          <p:nvPr/>
        </p:nvSpPr>
        <p:spPr>
          <a:xfrm>
            <a:off x="7047229" y="1054100"/>
            <a:ext cx="1237828" cy="461665"/>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p:spPr>
        <p:style>
          <a:lnRef idx="0">
            <a:scrgbClr r="0" g="0" b="0"/>
          </a:lnRef>
          <a:fillRef idx="0">
            <a:scrgbClr r="0" g="0" b="0"/>
          </a:fillRef>
          <a:effectRef idx="0">
            <a:scrgbClr r="0" g="0" b="0"/>
          </a:effectRef>
          <a:fontRef idx="none"/>
        </p:style>
        <p:txBody>
          <a:bodyPr wrap="square">
            <a:spAutoFit/>
          </a:bodyPr>
          <a:lstStyle/>
          <a:p>
            <a:r>
              <a:rPr lang="zh-CN" altLang="en-US" sz="2400" b="1" dirty="0">
                <a:solidFill>
                  <a:srgbClr val="C00000"/>
                </a:solidFill>
                <a:uFillTx/>
                <a:latin typeface="Times New Roman" panose="02020603050405020304" pitchFamily="18" charset="0"/>
                <a:ea typeface="宋体" panose="02010600030101010101" pitchFamily="2" charset="-122"/>
              </a:rPr>
              <a:t>水蒸气</a:t>
            </a:r>
            <a:endParaRPr lang="zh-CN" altLang="en-US" sz="2400" b="1" dirty="0">
              <a:solidFill>
                <a:srgbClr val="C00000"/>
              </a:solidFill>
              <a:uFillTx/>
              <a:latin typeface="Times New Roman" panose="02020603050405020304" pitchFamily="18" charset="0"/>
              <a:ea typeface="宋体" panose="02010600030101010101" pitchFamily="2" charset="-122"/>
            </a:endParaRPr>
          </a:p>
        </p:txBody>
      </p:sp>
      <p:sp>
        <p:nvSpPr>
          <p:cNvPr id="5" name="文本框 4"/>
          <p:cNvSpPr txBox="1"/>
          <p:nvPr/>
        </p:nvSpPr>
        <p:spPr>
          <a:xfrm>
            <a:off x="7355205" y="3448050"/>
            <a:ext cx="621665" cy="460375"/>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p:spPr>
        <p:style>
          <a:lnRef idx="0">
            <a:scrgbClr r="0" g="0" b="0"/>
          </a:lnRef>
          <a:fillRef idx="0">
            <a:scrgbClr r="0" g="0" b="0"/>
          </a:fillRef>
          <a:effectRef idx="0">
            <a:scrgbClr r="0" g="0" b="0"/>
          </a:effectRef>
          <a:fontRef idx="none"/>
        </p:style>
        <p:txBody>
          <a:bodyPr wrap="square">
            <a:spAutoFit/>
          </a:bodyPr>
          <a:p>
            <a:r>
              <a:rPr lang="zh-CN" altLang="en-US" sz="2400" b="1" dirty="0">
                <a:solidFill>
                  <a:srgbClr val="C00000"/>
                </a:solidFill>
                <a:uFillTx/>
                <a:latin typeface="Times New Roman" panose="02020603050405020304" pitchFamily="18" charset="0"/>
                <a:ea typeface="宋体" panose="02010600030101010101" pitchFamily="2" charset="-122"/>
              </a:rPr>
              <a:t>碱</a:t>
            </a:r>
            <a:endParaRPr lang="zh-CN" altLang="en-US" sz="2400" b="1" dirty="0">
              <a:solidFill>
                <a:srgbClr val="C00000"/>
              </a:solidFill>
              <a:uFillTx/>
              <a:latin typeface="Times New Roman" panose="02020603050405020304" pitchFamily="18" charset="0"/>
              <a:ea typeface="宋体" panose="02010600030101010101"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blinds(horizontal)">
                                      <p:cBhvr>
                                        <p:cTn id="18" dur="500"/>
                                        <p:tgtEl>
                                          <p:spTgt spid="6">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Effect transition="in" filter="blinds(horizontal)">
                                      <p:cBhvr>
                                        <p:cTn id="23" dur="500"/>
                                        <p:tgtEl>
                                          <p:spTgt spid="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3" presetClass="entr" presetSubtype="10" fill="hold" nodeType="with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blinds(horizontal)">
                                      <p:cBhvr>
                                        <p:cTn id="30" dur="500"/>
                                        <p:tgtEl>
                                          <p:spTgt spid="2">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blinds(horizontal)">
                                      <p:cBhvr>
                                        <p:cTn id="35" dur="500"/>
                                        <p:tgtEl>
                                          <p:spTgt spid="6">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
                                            <p:txEl>
                                              <p:pRg st="2" end="2"/>
                                            </p:txEl>
                                          </p:spTgt>
                                        </p:tgtEl>
                                        <p:attrNameLst>
                                          <p:attrName>style.visibility</p:attrName>
                                        </p:attrNameLst>
                                      </p:cBhvr>
                                      <p:to>
                                        <p:strVal val="visible"/>
                                      </p:to>
                                    </p:set>
                                    <p:animEffect transition="in" filter="blinds(horizontal)">
                                      <p:cBhvr>
                                        <p:cTn id="40" dur="500"/>
                                        <p:tgtEl>
                                          <p:spTgt spid="2">
                                            <p:txEl>
                                              <p:pRg st="2" end="2"/>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2">
                                            <p:txEl>
                                              <p:pRg st="3" end="3"/>
                                            </p:txEl>
                                          </p:spTgt>
                                        </p:tgtEl>
                                        <p:attrNameLst>
                                          <p:attrName>style.visibility</p:attrName>
                                        </p:attrNameLst>
                                      </p:cBhvr>
                                      <p:to>
                                        <p:strVal val="visible"/>
                                      </p:to>
                                    </p:set>
                                    <p:animEffect transition="in" filter="blinds(horizontal)">
                                      <p:cBhvr>
                                        <p:cTn id="43" dur="500"/>
                                        <p:tgtEl>
                                          <p:spTgt spid="2">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6">
                                            <p:txEl>
                                              <p:pRg st="4" end="4"/>
                                            </p:txEl>
                                          </p:spTgt>
                                        </p:tgtEl>
                                        <p:attrNameLst>
                                          <p:attrName>style.visibility</p:attrName>
                                        </p:attrNameLst>
                                      </p:cBhvr>
                                      <p:to>
                                        <p:strVal val="visible"/>
                                      </p:to>
                                    </p:set>
                                    <p:animEffect transition="in" filter="blinds(horizontal)">
                                      <p:cBhvr>
                                        <p:cTn id="48" dur="500"/>
                                        <p:tgtEl>
                                          <p:spTgt spid="6">
                                            <p:txEl>
                                              <p:pRg st="4" end="4"/>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6">
                                            <p:txEl>
                                              <p:pRg st="5" end="5"/>
                                            </p:txEl>
                                          </p:spTgt>
                                        </p:tgtEl>
                                        <p:attrNameLst>
                                          <p:attrName>style.visibility</p:attrName>
                                        </p:attrNameLst>
                                      </p:cBhvr>
                                      <p:to>
                                        <p:strVal val="visible"/>
                                      </p:to>
                                    </p:set>
                                    <p:animEffect transition="in" filter="blinds(horizontal)">
                                      <p:cBhvr>
                                        <p:cTn id="51" dur="500"/>
                                        <p:tgtEl>
                                          <p:spTgt spid="6">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2">
                                            <p:txEl>
                                              <p:pRg st="4" end="4"/>
                                            </p:txEl>
                                          </p:spTgt>
                                        </p:tgtEl>
                                        <p:attrNameLst>
                                          <p:attrName>style.visibility</p:attrName>
                                        </p:attrNameLst>
                                      </p:cBhvr>
                                      <p:to>
                                        <p:strVal val="visible"/>
                                      </p:to>
                                    </p:set>
                                    <p:animEffect transition="in" filter="blinds(horizontal)">
                                      <p:cBhvr>
                                        <p:cTn id="56" dur="500"/>
                                        <p:tgtEl>
                                          <p:spTgt spid="2">
                                            <p:txEl>
                                              <p:pRg st="4" end="4"/>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2">
                                            <p:txEl>
                                              <p:pRg st="5" end="5"/>
                                            </p:txEl>
                                          </p:spTgt>
                                        </p:tgtEl>
                                        <p:attrNameLst>
                                          <p:attrName>style.visibility</p:attrName>
                                        </p:attrNameLst>
                                      </p:cBhvr>
                                      <p:to>
                                        <p:strVal val="visible"/>
                                      </p:to>
                                    </p:set>
                                    <p:animEffect transition="in" filter="blinds(horizontal)">
                                      <p:cBhvr>
                                        <p:cTn id="59"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29995" y="1037590"/>
            <a:ext cx="9828000" cy="342900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lstStyle/>
          <a:p>
            <a:pPr marL="0" marR="0" indent="0" algn="l" defTabSz="914400" rtl="0" fontAlgn="auto" latinLnBrk="1">
              <a:lnSpc>
                <a:spcPct val="15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气体的干燥</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effectLst/>
                <a:uFillTx/>
                <a:latin typeface="Calibri" panose="020F0502020204030204" pitchFamily="34" charset="0"/>
                <a:ea typeface="宋体" panose="02010600030101010101" pitchFamily="2" charset="-122"/>
                <a:cs typeface="Times New Roman" panose="02020603050405020304" pitchFamily="18" charset="0"/>
                <a:sym typeface="Arial" panose="020B0604020202090204"/>
              </a:rPr>
              <a:t>③</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气体干燥常用的装置</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3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3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0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0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0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nvGrpSpPr>
          <p:cNvPr id="18" name="组合 17"/>
          <p:cNvGrpSpPr/>
          <p:nvPr/>
        </p:nvGrpSpPr>
        <p:grpSpPr>
          <a:xfrm>
            <a:off x="1840865" y="2388235"/>
            <a:ext cx="8686800" cy="2052000"/>
            <a:chOff x="2131" y="3305"/>
            <a:chExt cx="13680" cy="3231"/>
          </a:xfrm>
        </p:grpSpPr>
        <p:sp>
          <p:nvSpPr>
            <p:cNvPr id="17" name="文本框 16"/>
            <p:cNvSpPr txBox="1"/>
            <p:nvPr/>
          </p:nvSpPr>
          <p:spPr>
            <a:xfrm>
              <a:off x="2131" y="3305"/>
              <a:ext cx="13680" cy="3231"/>
            </a:xfrm>
            <a:prstGeom prst="rect">
              <a:avLst/>
            </a:prstGeom>
            <a:solidFill>
              <a:schemeClr val="bg1"/>
            </a:solidFill>
            <a:ln w="19050" cap="flat" cmpd="tri">
              <a:noFill/>
              <a:prstDash val="dashDot"/>
              <a:miter lim="400000"/>
            </a:ln>
            <a:effec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a:noAutofit/>
            </a:bodyPr>
            <a:lstStyle/>
            <a:p>
              <a:pPr marL="0" marR="0" indent="0" algn="l" defTabSz="914400" rtl="0" fontAlgn="auto" latinLnBrk="1">
                <a:lnSpc>
                  <a:spcPct val="120000"/>
                </a:lnSpc>
                <a:spcBef>
                  <a:spcPts val="0"/>
                </a:spcBef>
                <a:spcAft>
                  <a:spcPts val="0"/>
                </a:spcAft>
                <a:buClrTx/>
                <a:buSzTx/>
                <a:buFontTx/>
                <a:buNone/>
              </a:pPr>
              <a:endParaRPr kumimoji="0" lang="en-US" alt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nvGrpSpPr>
            <p:cNvPr id="16" name="组合 15"/>
            <p:cNvGrpSpPr/>
            <p:nvPr/>
          </p:nvGrpSpPr>
          <p:grpSpPr>
            <a:xfrm>
              <a:off x="2131" y="3401"/>
              <a:ext cx="12363" cy="2961"/>
              <a:chOff x="2059" y="3209"/>
              <a:chExt cx="12363" cy="2961"/>
            </a:xfrm>
          </p:grpSpPr>
          <p:grpSp>
            <p:nvGrpSpPr>
              <p:cNvPr id="11" name="组合 10"/>
              <p:cNvGrpSpPr/>
              <p:nvPr/>
            </p:nvGrpSpPr>
            <p:grpSpPr>
              <a:xfrm>
                <a:off x="2059" y="3209"/>
                <a:ext cx="3464" cy="2961"/>
                <a:chOff x="2059" y="3209"/>
                <a:chExt cx="3464" cy="2961"/>
              </a:xfrm>
            </p:grpSpPr>
            <p:pic>
              <p:nvPicPr>
                <p:cNvPr id="4" name="图片 3"/>
                <p:cNvPicPr>
                  <a:picLocks noChangeAspect="1"/>
                </p:cNvPicPr>
                <p:nvPr/>
              </p:nvPicPr>
              <p:blipFill>
                <a:blip r:embed="rId2"/>
                <a:srcRect l="74471" t="42168"/>
                <a:stretch>
                  <a:fillRect/>
                </a:stretch>
              </p:blipFill>
              <p:spPr>
                <a:xfrm>
                  <a:off x="2925" y="3677"/>
                  <a:ext cx="2192" cy="2493"/>
                </a:xfrm>
                <a:prstGeom prst="rect">
                  <a:avLst/>
                </a:prstGeom>
              </p:spPr>
            </p:pic>
            <p:sp>
              <p:nvSpPr>
                <p:cNvPr id="10" name="文本框 9"/>
                <p:cNvSpPr txBox="1"/>
                <p:nvPr/>
              </p:nvSpPr>
              <p:spPr>
                <a:xfrm>
                  <a:off x="2059" y="3209"/>
                  <a:ext cx="3464" cy="848"/>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p:spPr>
              <p:style>
                <a:lnRef idx="0">
                  <a:scrgbClr r="0" g="0" b="0"/>
                </a:lnRef>
                <a:fillRef idx="0">
                  <a:scrgbClr r="0" g="0" b="0"/>
                </a:fillRef>
                <a:effectRef idx="0">
                  <a:scrgbClr r="0" g="0" b="0"/>
                </a:effectRef>
                <a:fontRef idx="none"/>
              </p:style>
              <p:txBody>
                <a:bodyPr rot="0" vertOverflow="overflow" horzOverflow="overflow" vert="horz" wrap="none" lIns="144145" tIns="107950" rIns="60958" bIns="0" numCol="1" spcCol="38100" rtlCol="0" anchor="t">
                  <a:spAutoFit/>
                </a:bodyPr>
                <a:lstStyle/>
                <a:p>
                  <a:pPr marL="0" marR="0" indent="0" algn="l" defTabSz="914400" rtl="0" fontAlgn="auto" latinLnBrk="1">
                    <a:lnSpc>
                      <a:spcPct val="70000"/>
                    </a:lnSpc>
                    <a:spcBef>
                      <a:spcPts val="0"/>
                    </a:spcBef>
                    <a:spcAft>
                      <a:spcPts val="0"/>
                    </a:spcAft>
                    <a:buClrTx/>
                    <a:buSzTx/>
                    <a:buFontTx/>
                    <a:buNone/>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气体</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70000"/>
                    </a:lnSpc>
                    <a:spcBef>
                      <a:spcPts val="0"/>
                    </a:spcBef>
                    <a:spcAft>
                      <a:spcPts val="0"/>
                    </a:spcAft>
                    <a:buClrTx/>
                    <a:buSzTx/>
                    <a:buFontTx/>
                    <a:buNone/>
                  </a:pPr>
                  <a:r>
                    <a:rPr kumimoji="0" lang="en-US" altLang="en-US" sz="2000" b="1" i="0">
                      <a:ln>
                        <a:noFill/>
                      </a:ln>
                      <a:effectLst/>
                      <a:uFillTx/>
                      <a:latin typeface="宋体" panose="02010600030101010101" pitchFamily="2" charset="-122"/>
                      <a:ea typeface="宋体" panose="02010600030101010101" pitchFamily="2" charset="-122"/>
                      <a:cs typeface="Arial" panose="020B0604020202090204" pitchFamily="34" charset="0"/>
                      <a:sym typeface="Arial" panose="020B0604020202090204"/>
                    </a:rPr>
                    <a:t> →          </a:t>
                  </a:r>
                  <a:r>
                    <a:rPr kumimoji="0" lang="en-US" altLang="en-US" sz="2000" b="1" i="0">
                      <a:ln>
                        <a:noFill/>
                      </a:ln>
                      <a:effectLst/>
                      <a:uFillTx/>
                      <a:latin typeface="方正粗黑宋简体" panose="02000000000000000000" pitchFamily="2" charset="-122"/>
                      <a:ea typeface="方正粗黑宋简体" panose="02000000000000000000" pitchFamily="2" charset="-122"/>
                      <a:cs typeface="Arial" panose="020B0604020202090204" pitchFamily="34" charset="0"/>
                      <a:sym typeface="Arial" panose="020B0604020202090204"/>
                    </a:rPr>
                    <a:t> </a:t>
                  </a:r>
                  <a:r>
                    <a:rPr lang="en-US" altLang="en-US" sz="2000" b="1">
                      <a:ln>
                        <a:noFill/>
                      </a:ln>
                      <a:effectLst/>
                      <a:uFillTx/>
                      <a:latin typeface="宋体" panose="02010600030101010101" pitchFamily="2" charset="-122"/>
                      <a:ea typeface="宋体" panose="02010600030101010101" pitchFamily="2" charset="-122"/>
                      <a:cs typeface="Arial" panose="020B0604020202090204" pitchFamily="34" charset="0"/>
                      <a:sym typeface="Arial" panose="020B0604020202090204"/>
                    </a:rPr>
                    <a:t>→</a:t>
                  </a:r>
                  <a:endParaRPr kumimoji="0" lang="en-US" altLang="en-US" sz="2000" b="1" i="0">
                    <a:ln>
                      <a:noFill/>
                    </a:ln>
                    <a:effectLst/>
                    <a:uFillTx/>
                    <a:latin typeface="宋体" panose="02010600030101010101" pitchFamily="2" charset="-122"/>
                    <a:ea typeface="宋体" panose="02010600030101010101" pitchFamily="2" charset="-122"/>
                    <a:cs typeface="Arial" panose="020B0604020202090204" pitchFamily="34" charset="0"/>
                    <a:sym typeface="Arial" panose="020B0604020202090204"/>
                  </a:endParaRPr>
                </a:p>
              </p:txBody>
            </p:sp>
          </p:grpSp>
          <p:grpSp>
            <p:nvGrpSpPr>
              <p:cNvPr id="13" name="组合 12"/>
              <p:cNvGrpSpPr/>
              <p:nvPr/>
            </p:nvGrpSpPr>
            <p:grpSpPr>
              <a:xfrm>
                <a:off x="6811" y="3677"/>
                <a:ext cx="3758" cy="2266"/>
                <a:chOff x="6538" y="3960"/>
                <a:chExt cx="3758" cy="2266"/>
              </a:xfrm>
            </p:grpSpPr>
            <p:pic>
              <p:nvPicPr>
                <p:cNvPr id="9" name="图片 8"/>
                <p:cNvPicPr>
                  <a:picLocks noChangeAspect="1"/>
                </p:cNvPicPr>
                <p:nvPr/>
              </p:nvPicPr>
              <p:blipFill>
                <a:blip r:embed="rId3"/>
                <a:srcRect l="61861" t="36650" r="4890" b="31743"/>
                <a:stretch>
                  <a:fillRect/>
                </a:stretch>
              </p:blipFill>
              <p:spPr>
                <a:xfrm>
                  <a:off x="6538" y="3960"/>
                  <a:ext cx="3758" cy="1928"/>
                </a:xfrm>
                <a:prstGeom prst="rect">
                  <a:avLst/>
                </a:prstGeom>
              </p:spPr>
            </p:pic>
            <p:sp>
              <p:nvSpPr>
                <p:cNvPr id="12" name="文本框 11"/>
                <p:cNvSpPr txBox="1"/>
                <p:nvPr/>
              </p:nvSpPr>
              <p:spPr>
                <a:xfrm>
                  <a:off x="7444" y="5552"/>
                  <a:ext cx="1930" cy="674"/>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p:spPr>
              <p:style>
                <a:lnRef idx="0">
                  <a:scrgbClr r="0" g="0" b="0"/>
                </a:lnRef>
                <a:fillRef idx="0">
                  <a:scrgbClr r="0" g="0" b="0"/>
                </a:fillRef>
                <a:effectRef idx="0">
                  <a:scrgbClr r="0" g="0" b="0"/>
                </a:effectRef>
                <a:fontRef idx="none"/>
              </p:style>
              <p:txBody>
                <a:bodyPr rot="0" vertOverflow="overflow" horzOverflow="overflow" vert="horz" wrap="none" lIns="144145" tIns="60958" rIns="60958" bIns="60958" numCol="1" spcCol="38100" rtlCol="0" anchor="t">
                  <a:spAutoFit/>
                </a:bodyPr>
                <a:lstStyle/>
                <a:p>
                  <a:pPr marL="0" marR="0" indent="0" algn="l" defTabSz="914400" rtl="0" fontAlgn="auto" latinLnBrk="1">
                    <a:lnSpc>
                      <a:spcPct val="100000"/>
                    </a:lnSpc>
                    <a:spcBef>
                      <a:spcPts val="0"/>
                    </a:spcBef>
                    <a:spcAft>
                      <a:spcPts val="0"/>
                    </a:spcAft>
                    <a:buClrTx/>
                    <a:buSzTx/>
                    <a:buFontTx/>
                    <a:buNone/>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粗进细出</a:t>
                  </a:r>
                  <a:endParaRPr kumimoji="0" lang="en-US" altLang="en-US" sz="20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grpSp>
            <p:nvGrpSpPr>
              <p:cNvPr id="15" name="组合 14"/>
              <p:cNvGrpSpPr/>
              <p:nvPr/>
            </p:nvGrpSpPr>
            <p:grpSpPr>
              <a:xfrm>
                <a:off x="12003" y="3505"/>
                <a:ext cx="2419" cy="2438"/>
                <a:chOff x="12003" y="3505"/>
                <a:chExt cx="2419" cy="2438"/>
              </a:xfrm>
            </p:grpSpPr>
            <p:pic>
              <p:nvPicPr>
                <p:cNvPr id="7" name="图片 6"/>
                <p:cNvPicPr>
                  <a:picLocks noChangeAspect="1"/>
                </p:cNvPicPr>
                <p:nvPr/>
              </p:nvPicPr>
              <p:blipFill>
                <a:blip r:embed="rId4"/>
                <a:srcRect l="24969" r="37044" b="19566"/>
                <a:stretch>
                  <a:fillRect/>
                </a:stretch>
              </p:blipFill>
              <p:spPr>
                <a:xfrm>
                  <a:off x="12003" y="3505"/>
                  <a:ext cx="2223" cy="2438"/>
                </a:xfrm>
                <a:prstGeom prst="rect">
                  <a:avLst/>
                </a:prstGeom>
              </p:spPr>
            </p:pic>
            <p:sp>
              <p:nvSpPr>
                <p:cNvPr id="14" name="文本框 13"/>
                <p:cNvSpPr txBox="1"/>
                <p:nvPr/>
              </p:nvSpPr>
              <p:spPr>
                <a:xfrm>
                  <a:off x="13925" y="4397"/>
                  <a:ext cx="497" cy="1498"/>
                </a:xfrm>
                <a:prstGeom prst="rect">
                  <a:avLst/>
                </a:prstGeom>
                <a:solidFill>
                  <a:schemeClr val="bg1"/>
                </a:solidFill>
                <a:ln w="19050" cap="flat" cmpd="tri">
                  <a:noFill/>
                  <a:prstDash val="dashDot"/>
                  <a:miter lim="400000"/>
                </a:ln>
                <a:effectLst/>
              </p:spPr>
              <p:style>
                <a:lnRef idx="0">
                  <a:scrgbClr r="0" g="0" b="0"/>
                </a:lnRef>
                <a:fillRef idx="0">
                  <a:scrgbClr r="0" g="0" b="0"/>
                </a:fillRef>
                <a:effectRef idx="0">
                  <a:scrgbClr r="0" g="0" b="0"/>
                </a:effectRef>
                <a:fontRef idx="none"/>
              </p:style>
              <p:txBody>
                <a:bodyPr rot="0" vertOverflow="overflow" horzOverflow="overflow" vert="horz" wrap="none" lIns="0" tIns="60958" rIns="60958" bIns="60958" numCol="1" spcCol="38100" rtlCol="0" anchor="t">
                  <a:spAutoFit/>
                </a:bodyPr>
                <a:lstStyle/>
                <a:p>
                  <a:pPr marL="0" marR="0" indent="0" algn="l" defTabSz="914400" rtl="0" fontAlgn="auto" latinLnBrk="1">
                    <a:lnSpc>
                      <a:spcPct val="90000"/>
                    </a:lnSpc>
                    <a:spcBef>
                      <a:spcPts val="0"/>
                    </a:spcBef>
                    <a:spcAft>
                      <a:spcPts val="0"/>
                    </a:spcAft>
                    <a:buClrTx/>
                    <a:buSzTx/>
                    <a:buFontTx/>
                    <a:buNone/>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干</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90000"/>
                    </a:lnSpc>
                    <a:spcBef>
                      <a:spcPts val="0"/>
                    </a:spcBef>
                    <a:spcAft>
                      <a:spcPts val="0"/>
                    </a:spcAft>
                    <a:buClrTx/>
                    <a:buSzTx/>
                    <a:buFontTx/>
                    <a:buNone/>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燥</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90000"/>
                    </a:lnSpc>
                    <a:spcBef>
                      <a:spcPts val="0"/>
                    </a:spcBef>
                    <a:spcAft>
                      <a:spcPts val="0"/>
                    </a:spcAft>
                    <a:buClrTx/>
                    <a:buSzTx/>
                    <a:buFontTx/>
                    <a:buNone/>
                  </a:pPr>
                  <a:r>
                    <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剂</a:t>
                  </a:r>
                  <a:endParaRPr kumimoji="0" lang="zh-CN" sz="20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grpSp>
      </p:grpSp>
      <p:sp>
        <p:nvSpPr>
          <p:cNvPr id="22" name="标题 4"/>
          <p:cNvSpPr>
            <a:spLocks noGrp="1"/>
          </p:cNvSpPr>
          <p:nvPr>
            <p:custDataLst>
              <p:tags r:id="rId5"/>
            </p:custDataLst>
          </p:nvPr>
        </p:nvSpPr>
        <p:spPr>
          <a:xfrm>
            <a:off x="1226820" y="38549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
        <p:nvSpPr>
          <p:cNvPr id="19" name="文本框 18"/>
          <p:cNvSpPr txBox="1"/>
          <p:nvPr/>
        </p:nvSpPr>
        <p:spPr>
          <a:xfrm>
            <a:off x="1229995" y="4589145"/>
            <a:ext cx="9827895" cy="1306074"/>
          </a:xfrm>
          <a:prstGeom prst="roundRect">
            <a:avLst/>
          </a:prstGeom>
          <a:gradFill>
            <a:gsLst>
              <a:gs pos="50000">
                <a:srgbClr val="ECCFCB"/>
              </a:gs>
              <a:gs pos="0">
                <a:srgbClr val="F2DFDC"/>
              </a:gs>
              <a:gs pos="100000">
                <a:srgbClr val="E5BEB9"/>
              </a:gs>
            </a:gsLst>
            <a:lin scaled="1"/>
          </a:gradFill>
          <a:ln w="19050" cap="flat" cmpd="tri">
            <a:noFill/>
            <a:prstDash val="dashDot"/>
            <a:miter lim="400000"/>
          </a:ln>
          <a:effectLst>
            <a:outerShdw blurRad="50800" dist="38100" dir="2700000" sx="101000" sy="101000" algn="tl" rotWithShape="0">
              <a:prstClr val="black">
                <a:alpha val="40000"/>
              </a:prstClr>
            </a:outerShdw>
          </a:effec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a:spAutoFit/>
          </a:bodyPr>
          <a:lstStyle/>
          <a:p>
            <a:pPr marL="0" marR="0" indent="0" algn="l" defTabSz="914400" rtl="0" fontAlgn="auto" latinLnBrk="1">
              <a:lnSpc>
                <a:spcPct val="125000"/>
              </a:lnSpc>
              <a:spcBef>
                <a:spcPts val="0"/>
              </a:spcBef>
              <a:spcAft>
                <a:spcPts val="0"/>
              </a:spcAft>
              <a:buClrTx/>
              <a:buSzTx/>
              <a:buFontTx/>
              <a:buNone/>
            </a:pP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 金属的物理性质和某些化学性质</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见本书第三单元     身边的化学物质      金属与金属矿物 </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619760" y="865505"/>
            <a:ext cx="10956290" cy="519874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lstStyle/>
          <a:p>
            <a:pPr marL="0" marR="0" indent="0" algn="l" defTabSz="914400" rtl="0" fontAlgn="auto" latinLnBrk="1">
              <a:lnSpc>
                <a:spcPct val="12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.燃烧的条件</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对燃烧的条件进行实验探究的设计思路</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用</a:t>
            </a:r>
            <a:r>
              <a:rPr kumimoji="0" sz="2500" b="1" i="0">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对比法和条件控制法</a:t>
            </a: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设计简单的实验，通过比较、分析、推理和归纳，探究并认识燃烧的条件。</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灭火的方法</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lang="zh-CN" sz="25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①</a:t>
            </a: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清除</a:t>
            </a:r>
            <a:r>
              <a:rPr kumimoji="0" lang="zh-CN"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或隔离</a:t>
            </a: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可燃物</a:t>
            </a:r>
            <a:r>
              <a:rPr kumimoji="0" lang="zh-CN"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lang="zh-CN" sz="25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②</a:t>
            </a: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使可燃物与空气隔离</a:t>
            </a:r>
            <a:r>
              <a:rPr kumimoji="0" lang="zh-CN"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lang="zh-CN" sz="25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③</a:t>
            </a: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将温度降到着火点以下。</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2" name="标题 4"/>
          <p:cNvSpPr>
            <a:spLocks noGrp="1"/>
          </p:cNvSpPr>
          <p:nvPr>
            <p:custDataLst>
              <p:tags r:id="rId2"/>
            </p:custDataLst>
          </p:nvPr>
        </p:nvSpPr>
        <p:spPr>
          <a:xfrm>
            <a:off x="619760" y="214678"/>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pSp>
        <p:nvGrpSpPr>
          <p:cNvPr id="10" name="组合 9"/>
          <p:cNvGrpSpPr/>
          <p:nvPr/>
        </p:nvGrpSpPr>
        <p:grpSpPr>
          <a:xfrm>
            <a:off x="4262120" y="2735580"/>
            <a:ext cx="6344816" cy="2448000"/>
            <a:chOff x="6712" y="4360"/>
            <a:chExt cx="9992" cy="3855"/>
          </a:xfrm>
        </p:grpSpPr>
        <p:pic>
          <p:nvPicPr>
            <p:cNvPr id="3" name="图片 2"/>
            <p:cNvPicPr>
              <a:picLocks noChangeAspect="1"/>
            </p:cNvPicPr>
            <p:nvPr/>
          </p:nvPicPr>
          <p:blipFill>
            <a:blip r:embed="rId3"/>
            <a:stretch>
              <a:fillRect/>
            </a:stretch>
          </p:blipFill>
          <p:spPr>
            <a:xfrm>
              <a:off x="6712" y="4360"/>
              <a:ext cx="9992" cy="3855"/>
            </a:xfrm>
            <a:prstGeom prst="rect">
              <a:avLst/>
            </a:prstGeom>
          </p:spPr>
        </p:pic>
        <p:sp>
          <p:nvSpPr>
            <p:cNvPr id="4" name="文本框 3"/>
            <p:cNvSpPr txBox="1"/>
            <p:nvPr/>
          </p:nvSpPr>
          <p:spPr>
            <a:xfrm>
              <a:off x="7507" y="7520"/>
              <a:ext cx="7924" cy="628"/>
            </a:xfrm>
            <a:prstGeom prst="rect">
              <a:avLst/>
            </a:prstGeom>
            <a:solidFill>
              <a:schemeClr val="bg1"/>
            </a:solidFill>
            <a:ln w="19050" cap="flat" cmpd="tri">
              <a:noFill/>
              <a:prstDash val="dashDot"/>
              <a:miter lim="400000"/>
            </a:ln>
            <a:effectLst/>
          </p:spPr>
          <p:style>
            <a:lnRef idx="0">
              <a:scrgbClr r="0" g="0" b="0"/>
            </a:lnRef>
            <a:fillRef idx="0">
              <a:scrgbClr r="0" g="0" b="0"/>
            </a:fillRef>
            <a:effectRef idx="0">
              <a:scrgbClr r="0" g="0" b="0"/>
            </a:effectRef>
            <a:fontRef idx="none"/>
          </p:style>
          <p:txBody>
            <a:bodyPr rot="0" vertOverflow="overflow" horzOverflow="overflow" vert="horz" wrap="none" lIns="144145" tIns="0" rIns="60958" bIns="60958" numCol="1" spcCol="38100" rtlCol="0" anchor="t">
              <a:spAutoFit/>
            </a:bodyPr>
            <a:lstStyle/>
            <a:p>
              <a:pPr marL="0" marR="0" indent="0" algn="l" defTabSz="914400" rtl="0" fontAlgn="auto" latinLnBrk="1">
                <a:lnSpc>
                  <a:spcPct val="100000"/>
                </a:lnSpc>
                <a:spcBef>
                  <a:spcPts val="0"/>
                </a:spcBef>
                <a:spcAft>
                  <a:spcPts val="0"/>
                </a:spcAft>
                <a:buClrTx/>
                <a:buSzTx/>
                <a:buFontTx/>
                <a:buNone/>
              </a:pPr>
              <a:r>
                <a:rPr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实验1                     实验2                  实验3</a:t>
              </a:r>
              <a:endParaRPr kumimoji="0" lang="en-US" altLang="en-US" sz="22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6" name="文本框 5"/>
            <p:cNvSpPr txBox="1"/>
            <p:nvPr/>
          </p:nvSpPr>
          <p:spPr>
            <a:xfrm>
              <a:off x="14820" y="4807"/>
              <a:ext cx="1036" cy="646"/>
            </a:xfrm>
            <a:prstGeom prst="rect">
              <a:avLst/>
            </a:prstGeom>
            <a:solidFill>
              <a:schemeClr val="bg1"/>
            </a:solidFill>
            <a:ln w="19050" cap="flat" cmpd="tri">
              <a:noFill/>
              <a:prstDash val="dashDot"/>
              <a:miter lim="400000"/>
            </a:ln>
            <a:effectLst/>
          </p:spPr>
          <p:style>
            <a:lnRef idx="0">
              <a:scrgbClr r="0" g="0" b="0"/>
            </a:lnRef>
            <a:fillRef idx="0">
              <a:scrgbClr r="0" g="0" b="0"/>
            </a:fillRef>
            <a:effectRef idx="0">
              <a:scrgbClr r="0" g="0" b="0"/>
            </a:effectRef>
            <a:fontRef idx="none"/>
          </p:style>
          <p:txBody>
            <a:bodyPr rot="0" vertOverflow="overflow" horzOverflow="overflow" vert="horz" wrap="none" lIns="36195" tIns="71755" rIns="60958" bIns="0" numCol="1" spcCol="38100" rtlCol="0" anchor="t">
              <a:spAutoFit/>
            </a:bodyPr>
            <a:lstStyle/>
            <a:p>
              <a:pPr marL="0" marR="0" indent="0" algn="l" defTabSz="914400" rtl="0" fontAlgn="auto" latinLnBrk="1">
                <a:lnSpc>
                  <a:spcPct val="100000"/>
                </a:lnSpc>
                <a:spcBef>
                  <a:spcPts val="0"/>
                </a:spcBef>
                <a:spcAft>
                  <a:spcPts val="0"/>
                </a:spcAft>
                <a:buClrTx/>
                <a:buSzTx/>
                <a:buFontTx/>
                <a:buNone/>
              </a:pPr>
              <a:r>
                <a:rPr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煤块</a:t>
              </a:r>
              <a:endParaRPr kumimoji="0" lang="en-US" altLang="en-US" sz="22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7" name="文本框 6"/>
            <p:cNvSpPr txBox="1"/>
            <p:nvPr/>
          </p:nvSpPr>
          <p:spPr>
            <a:xfrm>
              <a:off x="13188" y="4807"/>
              <a:ext cx="612" cy="1072"/>
            </a:xfrm>
            <a:prstGeom prst="rect">
              <a:avLst/>
            </a:prstGeom>
            <a:solidFill>
              <a:schemeClr val="bg1"/>
            </a:solidFill>
            <a:ln w="19050" cap="flat" cmpd="tri">
              <a:noFill/>
              <a:prstDash val="dashDot"/>
              <a:miter lim="400000"/>
            </a:ln>
            <a:effectLst/>
          </p:spPr>
          <p:style>
            <a:lnRef idx="0">
              <a:scrgbClr r="0" g="0" b="0"/>
            </a:lnRef>
            <a:fillRef idx="0">
              <a:scrgbClr r="0" g="0" b="0"/>
            </a:fillRef>
            <a:effectRef idx="0">
              <a:scrgbClr r="0" g="0" b="0"/>
            </a:effectRef>
            <a:fontRef idx="none"/>
          </p:style>
          <p:txBody>
            <a:bodyPr rot="0" vertOverflow="overflow" horzOverflow="overflow" vert="horz" wrap="none" lIns="107950" tIns="71755" rIns="0" bIns="0" numCol="1" spcCol="38100" rtlCol="0" anchor="t">
              <a:spAutoFit/>
            </a:bodyPr>
            <a:lstStyle/>
            <a:p>
              <a:pPr marL="0" marR="0" indent="0" algn="l" defTabSz="914400" rtl="0" fontAlgn="auto" latinLnBrk="1">
                <a:lnSpc>
                  <a:spcPct val="90000"/>
                </a:lnSpc>
                <a:spcBef>
                  <a:spcPts val="0"/>
                </a:spcBef>
                <a:spcAft>
                  <a:spcPts val="0"/>
                </a:spcAft>
                <a:buClrTx/>
                <a:buSzTx/>
                <a:buFontTx/>
                <a:buNone/>
              </a:pPr>
              <a:r>
                <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木</a:t>
              </a:r>
              <a:endPar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90000"/>
                </a:lnSpc>
                <a:spcBef>
                  <a:spcPts val="0"/>
                </a:spcBef>
                <a:spcAft>
                  <a:spcPts val="0"/>
                </a:spcAft>
                <a:buClrTx/>
                <a:buSzTx/>
                <a:buFontTx/>
                <a:buNone/>
              </a:pPr>
              <a:r>
                <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条</a:t>
              </a:r>
              <a:endParaRPr kumimoji="0" lang="zh-CN" sz="22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8" name="文本框 7"/>
            <p:cNvSpPr txBox="1"/>
            <p:nvPr/>
          </p:nvSpPr>
          <p:spPr>
            <a:xfrm>
              <a:off x="8520" y="4402"/>
              <a:ext cx="555" cy="1551"/>
            </a:xfrm>
            <a:prstGeom prst="rect">
              <a:avLst/>
            </a:prstGeom>
            <a:solidFill>
              <a:schemeClr val="bg1"/>
            </a:solidFill>
            <a:ln w="19050" cap="flat" cmpd="tri">
              <a:noFill/>
              <a:prstDash val="dashDot"/>
              <a:miter lim="400000"/>
            </a:ln>
            <a:effectLst/>
          </p:spPr>
          <p:style>
            <a:lnRef idx="0">
              <a:scrgbClr r="0" g="0" b="0"/>
            </a:lnRef>
            <a:fillRef idx="0">
              <a:scrgbClr r="0" g="0" b="0"/>
            </a:fillRef>
            <a:effectRef idx="0">
              <a:scrgbClr r="0" g="0" b="0"/>
            </a:effectRef>
            <a:fontRef idx="none"/>
          </p:style>
          <p:txBody>
            <a:bodyPr rot="0" vertOverflow="overflow" horzOverflow="overflow" vert="horz" wrap="none" lIns="71755" tIns="71755" rIns="0" bIns="0" numCol="1" spcCol="38100" rtlCol="0" anchor="t">
              <a:spAutoFit/>
            </a:bodyPr>
            <a:lstStyle/>
            <a:p>
              <a:pPr marL="0" marR="0" indent="0" algn="l" defTabSz="914400" rtl="0" fontAlgn="auto" latinLnBrk="1">
                <a:lnSpc>
                  <a:spcPct val="90000"/>
                </a:lnSpc>
                <a:spcBef>
                  <a:spcPts val="0"/>
                </a:spcBef>
                <a:spcAft>
                  <a:spcPts val="0"/>
                </a:spcAft>
                <a:buClrTx/>
                <a:buSzTx/>
                <a:buFontTx/>
                <a:buNone/>
              </a:pPr>
              <a:r>
                <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玻</a:t>
              </a:r>
              <a:endPar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90000"/>
                </a:lnSpc>
                <a:spcBef>
                  <a:spcPts val="0"/>
                </a:spcBef>
                <a:spcAft>
                  <a:spcPts val="0"/>
                </a:spcAft>
                <a:buClrTx/>
                <a:buSzTx/>
                <a:buFontTx/>
                <a:buNone/>
              </a:pPr>
              <a:r>
                <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璃</a:t>
              </a:r>
              <a:endPar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90000"/>
                </a:lnSpc>
                <a:spcBef>
                  <a:spcPts val="0"/>
                </a:spcBef>
                <a:spcAft>
                  <a:spcPts val="0"/>
                </a:spcAft>
                <a:buClrTx/>
                <a:buSzTx/>
                <a:buFontTx/>
                <a:buNone/>
              </a:pPr>
              <a:r>
                <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棒</a:t>
              </a:r>
              <a:endParaRPr kumimoji="0" lang="zh-CN" sz="22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9" name="文本框 8"/>
            <p:cNvSpPr txBox="1"/>
            <p:nvPr/>
          </p:nvSpPr>
          <p:spPr>
            <a:xfrm>
              <a:off x="6760" y="4693"/>
              <a:ext cx="612" cy="1072"/>
            </a:xfrm>
            <a:prstGeom prst="rect">
              <a:avLst/>
            </a:prstGeom>
            <a:solidFill>
              <a:schemeClr val="bg1"/>
            </a:solidFill>
            <a:ln w="19050" cap="flat" cmpd="tri">
              <a:noFill/>
              <a:prstDash val="dashDot"/>
              <a:miter lim="400000"/>
            </a:ln>
            <a:effectLst/>
          </p:spPr>
          <p:style>
            <a:lnRef idx="0">
              <a:scrgbClr r="0" g="0" b="0"/>
            </a:lnRef>
            <a:fillRef idx="0">
              <a:scrgbClr r="0" g="0" b="0"/>
            </a:fillRef>
            <a:effectRef idx="0">
              <a:scrgbClr r="0" g="0" b="0"/>
            </a:effectRef>
            <a:fontRef idx="none"/>
          </p:style>
          <p:txBody>
            <a:bodyPr rot="0" vertOverflow="overflow" horzOverflow="overflow" vert="horz" wrap="none" lIns="107950" tIns="71755" rIns="0" bIns="0" numCol="1" spcCol="38100" rtlCol="0" anchor="t">
              <a:spAutoFit/>
            </a:bodyPr>
            <a:lstStyle/>
            <a:p>
              <a:pPr marL="0" marR="0" indent="0" algn="l" defTabSz="914400" rtl="0" fontAlgn="auto" latinLnBrk="1">
                <a:lnSpc>
                  <a:spcPct val="90000"/>
                </a:lnSpc>
                <a:spcBef>
                  <a:spcPts val="0"/>
                </a:spcBef>
                <a:spcAft>
                  <a:spcPts val="0"/>
                </a:spcAft>
                <a:buClrTx/>
                <a:buSzTx/>
                <a:buFontTx/>
                <a:buNone/>
              </a:pPr>
              <a:r>
                <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木</a:t>
              </a:r>
              <a:endPar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90000"/>
                </a:lnSpc>
                <a:spcBef>
                  <a:spcPts val="0"/>
                </a:spcBef>
                <a:spcAft>
                  <a:spcPts val="0"/>
                </a:spcAft>
                <a:buClrTx/>
                <a:buSzTx/>
                <a:buFontTx/>
                <a:buNone/>
              </a:pPr>
              <a:r>
                <a:rPr lang="zh-CN" sz="2200" b="1">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条</a:t>
              </a:r>
              <a:endParaRPr kumimoji="0" lang="zh-CN" sz="2200" b="1" i="0">
                <a:ln>
                  <a:noFill/>
                </a:ln>
                <a:solidFill>
                  <a:schemeClr val="tx1"/>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linds(horizontal)">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blinds(horizontal)">
                                      <p:cBhvr>
                                        <p:cTn id="17" dur="500"/>
                                        <p:tgtEl>
                                          <p:spTgt spid="5">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7" end="7"/>
                                            </p:txEl>
                                          </p:spTgt>
                                        </p:tgtEl>
                                        <p:attrNameLst>
                                          <p:attrName>style.visibility</p:attrName>
                                        </p:attrNameLst>
                                      </p:cBhvr>
                                      <p:to>
                                        <p:strVal val="visible"/>
                                      </p:to>
                                    </p:set>
                                    <p:animEffect transition="in" filter="blinds(horizontal)">
                                      <p:cBhvr>
                                        <p:cTn id="2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485140" y="187325"/>
            <a:ext cx="11139170" cy="612203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lstStyle/>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5. 一定溶质质量分数的氯化钠溶液的配制</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lang="en-US"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配制一定溶质质量分数的</a:t>
            </a:r>
            <a:r>
              <a:rPr kumimoji="0" lang="zh-CN" sz="24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a:t>
            </a:r>
            <a:r>
              <a:rPr kumimoji="0" sz="24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化钠溶液</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所需的仪器</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       托盘天平、药匙、量筒、胶头滴管、玻璃棒、烧杯等。</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步骤</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lang="zh-CN" sz="2400" b="1" i="0">
                <a:ln>
                  <a:noFill/>
                </a:ln>
                <a:solidFill>
                  <a:srgbClr val="C00000"/>
                </a:solidFill>
                <a:effectLst/>
                <a:uFillTx/>
                <a:latin typeface="幼圆" panose="02010509060101010101" charset="-122"/>
                <a:ea typeface="幼圆" panose="02010509060101010101" charset="-122"/>
                <a:cs typeface="Times New Roman" panose="02020603050405020304" pitchFamily="18" charset="0"/>
                <a:sym typeface="Arial" panose="020B0604020202090204"/>
              </a:rPr>
              <a:t>例题</a:t>
            </a:r>
            <a:r>
              <a:rPr kumimoji="0" lang="zh-CN" sz="2400" b="1" i="0">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验室配制50g溶质质量分数为8%的氯化钠溶液。 </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Calibri" panose="020F0502020204030204" pitchFamily="34" charset="0"/>
                <a:ea typeface="宋体" panose="02010600030101010101" pitchFamily="2" charset="-122"/>
                <a:cs typeface="Times New Roman" panose="02020603050405020304" pitchFamily="18" charset="0"/>
                <a:sym typeface="Arial" panose="020B0604020202090204"/>
              </a:rPr>
              <a:t>①</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计算</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所需氯化钠的质量____和水的体积</a:t>
            </a:r>
            <a:r>
              <a:rPr kumimoji="0" sz="24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(水的密度:1g/mL)</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Calibri" panose="020F0502020204030204" pitchFamily="34" charset="0"/>
                <a:ea typeface="宋体" panose="02010600030101010101" pitchFamily="2" charset="-122"/>
                <a:cs typeface="Times New Roman" panose="02020603050405020304" pitchFamily="18" charset="0"/>
                <a:sym typeface="Arial" panose="020B0604020202090204"/>
              </a:rPr>
              <a:t>②</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称量</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用_________称量氯化钠，应放于托盘天平的___(填“左”或“右”)盘； </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Calibri" panose="020F0502020204030204" pitchFamily="34" charset="0"/>
                <a:ea typeface="宋体" panose="02010600030101010101" pitchFamily="2" charset="-122"/>
                <a:cs typeface="Times New Roman" panose="02020603050405020304" pitchFamily="18" charset="0"/>
                <a:sym typeface="Arial" panose="020B0604020202090204"/>
              </a:rPr>
              <a:t>③</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量取</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用</a:t>
            </a:r>
            <a:r>
              <a:rPr kumimoji="0" sz="24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量取所需的水； </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Calibri" panose="020F0502020204030204" pitchFamily="34" charset="0"/>
                <a:ea typeface="宋体" panose="02010600030101010101" pitchFamily="2" charset="-122"/>
                <a:cs typeface="Times New Roman" panose="02020603050405020304" pitchFamily="18" charset="0"/>
                <a:sym typeface="Arial" panose="020B0604020202090204"/>
              </a:rPr>
              <a:t>④</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溶解</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把氯化钠和水全部转移到</a:t>
            </a:r>
            <a:r>
              <a:rPr kumimoji="0" sz="24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中，用</a:t>
            </a:r>
            <a:r>
              <a:rPr kumimoji="0" sz="24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(填</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常用的玻璃仪器名称)，搅拌直到固体全部溶解。 </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Calibri" panose="020F0502020204030204" pitchFamily="34" charset="0"/>
                <a:ea typeface="宋体" panose="02010600030101010101" pitchFamily="2" charset="-122"/>
                <a:cs typeface="Times New Roman" panose="02020603050405020304" pitchFamily="18" charset="0"/>
                <a:sym typeface="Arial" panose="020B0604020202090204"/>
              </a:rPr>
              <a:t>⑤</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装瓶</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把所配溶液装入试剂瓶，填写如图标签</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3" name="文本框 2"/>
          <p:cNvSpPr txBox="1"/>
          <p:nvPr/>
        </p:nvSpPr>
        <p:spPr>
          <a:xfrm>
            <a:off x="1743075" y="1897380"/>
            <a:ext cx="6261100" cy="504825"/>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p:spPr>
        <p:style>
          <a:lnRef idx="0">
            <a:scrgbClr r="0" g="0" b="0"/>
          </a:lnRef>
          <a:fillRef idx="0">
            <a:scrgbClr r="0" g="0" b="0"/>
          </a:fillRef>
          <a:effectRef idx="0">
            <a:scrgbClr r="0" g="0" b="0"/>
          </a:effectRef>
          <a:fontRef idx="none"/>
        </p:style>
        <p:txBody>
          <a:bodyPr rot="0" vertOverflow="overflow" horzOverflow="overflow" vert="horz" wrap="none" lIns="144145" tIns="60958" rIns="60958" bIns="60958" numCol="1" spcCol="38100" rtlCol="0" anchor="t">
            <a:spAutoFit/>
          </a:bodyPr>
          <a:lstStyle/>
          <a:p>
            <a:pPr marL="0" marR="0" indent="0" algn="l" defTabSz="914400" rtl="0" fontAlgn="auto" latinLnBrk="1">
              <a:lnSpc>
                <a:spcPct val="100000"/>
              </a:lnSpc>
              <a:spcBef>
                <a:spcPts val="0"/>
              </a:spcBef>
              <a:spcAft>
                <a:spcPts val="0"/>
              </a:spcAft>
              <a:buClrTx/>
              <a:buSzTx/>
              <a:buFontTx/>
              <a:buNone/>
            </a:pPr>
            <a:r>
              <a:rPr sz="2500" b="1">
                <a:ln>
                  <a:noFill/>
                </a:ln>
                <a:effectLst/>
                <a:uFillTx/>
                <a:latin typeface="楷体" panose="02010609060101010101" charset="-122"/>
                <a:ea typeface="楷体" panose="02010609060101010101" charset="-122"/>
                <a:cs typeface="Times New Roman" panose="02020603050405020304" pitchFamily="18" charset="0"/>
                <a:sym typeface="Arial" panose="020B0604020202090204"/>
              </a:rPr>
              <a:t>计算</a:t>
            </a:r>
            <a:r>
              <a:rPr sz="2500" b="1">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sz="2500" b="1">
                <a:ln>
                  <a:noFill/>
                </a:ln>
                <a:effectLst/>
                <a:uFillTx/>
                <a:latin typeface="楷体" panose="02010609060101010101" charset="-122"/>
                <a:ea typeface="楷体" panose="02010609060101010101" charset="-122"/>
                <a:cs typeface="Times New Roman" panose="02020603050405020304" pitchFamily="18" charset="0"/>
                <a:sym typeface="Arial" panose="020B0604020202090204"/>
              </a:rPr>
              <a:t>称量</a:t>
            </a:r>
            <a:r>
              <a:rPr sz="2500" b="1">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sz="2500" b="1">
                <a:ln>
                  <a:noFill/>
                </a:ln>
                <a:effectLst/>
                <a:uFillTx/>
                <a:latin typeface="楷体" panose="02010609060101010101" charset="-122"/>
                <a:ea typeface="楷体" panose="02010609060101010101" charset="-122"/>
                <a:cs typeface="Times New Roman" panose="02020603050405020304" pitchFamily="18" charset="0"/>
                <a:sym typeface="Arial" panose="020B0604020202090204"/>
              </a:rPr>
              <a:t>量取</a:t>
            </a:r>
            <a:r>
              <a:rPr sz="2500" b="1">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sz="2500" b="1">
                <a:ln>
                  <a:noFill/>
                </a:ln>
                <a:effectLst/>
                <a:uFillTx/>
                <a:latin typeface="楷体" panose="02010609060101010101" charset="-122"/>
                <a:ea typeface="楷体" panose="02010609060101010101" charset="-122"/>
                <a:cs typeface="Times New Roman" panose="02020603050405020304" pitchFamily="18" charset="0"/>
                <a:sym typeface="Arial" panose="020B0604020202090204"/>
              </a:rPr>
              <a:t>溶解</a:t>
            </a:r>
            <a:r>
              <a:rPr sz="2500" b="1">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sz="2500" b="1">
                <a:ln>
                  <a:noFill/>
                </a:ln>
                <a:effectLst/>
                <a:uFillTx/>
                <a:latin typeface="楷体" panose="02010609060101010101" charset="-122"/>
                <a:ea typeface="楷体" panose="02010609060101010101" charset="-122"/>
                <a:cs typeface="Times New Roman" panose="02020603050405020304" pitchFamily="18" charset="0"/>
                <a:sym typeface="Arial" panose="020B0604020202090204"/>
              </a:rPr>
              <a:t>装瓶，贴标签</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en-US" alt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blinds(horizontal)">
                                      <p:cBhvr>
                                        <p:cTn id="30" dur="500"/>
                                        <p:tgtEl>
                                          <p:spTgt spid="5">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blinds(horizontal)">
                                      <p:cBhvr>
                                        <p:cTn id="33" dur="500"/>
                                        <p:tgtEl>
                                          <p:spTgt spid="5">
                                            <p:txEl>
                                              <p:pRg st="6" end="6"/>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5">
                                            <p:txEl>
                                              <p:pRg st="7" end="7"/>
                                            </p:txEl>
                                          </p:spTgt>
                                        </p:tgtEl>
                                        <p:attrNameLst>
                                          <p:attrName>style.visibility</p:attrName>
                                        </p:attrNameLst>
                                      </p:cBhvr>
                                      <p:to>
                                        <p:strVal val="visible"/>
                                      </p:to>
                                    </p:set>
                                    <p:animEffect transition="in" filter="blinds(horizontal)">
                                      <p:cBhvr>
                                        <p:cTn id="36" dur="500"/>
                                        <p:tgtEl>
                                          <p:spTgt spid="5">
                                            <p:txEl>
                                              <p:pRg st="7" end="7"/>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animEffect transition="in" filter="blinds(horizontal)">
                                      <p:cBhvr>
                                        <p:cTn id="39" dur="500"/>
                                        <p:tgtEl>
                                          <p:spTgt spid="5">
                                            <p:txEl>
                                              <p:pRg st="8" end="8"/>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5">
                                            <p:txEl>
                                              <p:pRg st="9" end="9"/>
                                            </p:txEl>
                                          </p:spTgt>
                                        </p:tgtEl>
                                        <p:attrNameLst>
                                          <p:attrName>style.visibility</p:attrName>
                                        </p:attrNameLst>
                                      </p:cBhvr>
                                      <p:to>
                                        <p:strVal val="visible"/>
                                      </p:to>
                                    </p:set>
                                    <p:animEffect transition="in" filter="blinds(horizontal)">
                                      <p:cBhvr>
                                        <p:cTn id="42" dur="500"/>
                                        <p:tgtEl>
                                          <p:spTgt spid="5">
                                            <p:txEl>
                                              <p:pRg st="9" end="9"/>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5">
                                            <p:txEl>
                                              <p:pRg st="10" end="10"/>
                                            </p:txEl>
                                          </p:spTgt>
                                        </p:tgtEl>
                                        <p:attrNameLst>
                                          <p:attrName>style.visibility</p:attrName>
                                        </p:attrNameLst>
                                      </p:cBhvr>
                                      <p:to>
                                        <p:strVal val="visible"/>
                                      </p:to>
                                    </p:set>
                                    <p:animEffect transition="in" filter="blinds(horizontal)">
                                      <p:cBhvr>
                                        <p:cTn id="45"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892175" y="1219200"/>
            <a:ext cx="10440000" cy="404431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6.溶液酸碱性的检测</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定性</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检测酸碱性</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aphicFrame>
        <p:nvGraphicFramePr>
          <p:cNvPr id="2" name="表格 1"/>
          <p:cNvGraphicFramePr/>
          <p:nvPr>
            <p:custDataLst>
              <p:tags r:id="rId2"/>
            </p:custDataLst>
          </p:nvPr>
        </p:nvGraphicFramePr>
        <p:xfrm>
          <a:off x="1355090" y="2395855"/>
          <a:ext cx="6748145" cy="2591700"/>
        </p:xfrm>
        <a:graphic>
          <a:graphicData uri="http://schemas.openxmlformats.org/drawingml/2006/table">
            <a:tbl>
              <a:tblPr firstRow="1" bandRow="1">
                <a:tableStyleId>{5C22544A-7EE6-4342-B048-85BDC9FD1C3A}</a:tableStyleId>
              </a:tblPr>
              <a:tblGrid>
                <a:gridCol w="1887855"/>
                <a:gridCol w="1620000"/>
                <a:gridCol w="1620000"/>
                <a:gridCol w="1620000"/>
              </a:tblGrid>
              <a:tr h="647700">
                <a:tc gridSpan="4">
                  <a:txBody>
                    <a:bodyPr/>
                    <a:lstStyle/>
                    <a:p>
                      <a:pPr algn="ctr">
                        <a:buNone/>
                      </a:pPr>
                      <a:r>
                        <a:rPr lang="zh-CN" altLang="en-US" sz="2400">
                          <a:solidFill>
                            <a:schemeClr val="tx1">
                              <a:lumMod val="85000"/>
                              <a:lumOff val="15000"/>
                            </a:schemeClr>
                          </a:solidFill>
                          <a:latin typeface="Times New Roman" panose="02020603050405020304" pitchFamily="18" charset="0"/>
                          <a:ea typeface="宋体" panose="02010600030101010101" pitchFamily="2" charset="-122"/>
                        </a:rPr>
                        <a:t>酸碱指示剂变色规律</a:t>
                      </a:r>
                      <a:endParaRPr lang="zh-CN" altLang="en-US" sz="2400">
                        <a:solidFill>
                          <a:schemeClr val="tx1">
                            <a:lumMod val="85000"/>
                            <a:lumOff val="15000"/>
                          </a:schemeClr>
                        </a:solidFill>
                        <a:latin typeface="Times New Roman" panose="02020603050405020304" pitchFamily="18" charset="0"/>
                        <a:ea typeface="宋体" panose="02010600030101010101"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hMerge="1">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hMerge="1">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hMerge="1">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r h="648000">
                <a:tc>
                  <a:txBody>
                    <a:bodyPr/>
                    <a:lstStyle/>
                    <a:p>
                      <a:pPr>
                        <a:buNone/>
                      </a:pPr>
                      <a:endParaRPr lang="zh-CN" altLang="en-US" sz="2400">
                        <a:solidFill>
                          <a:schemeClr val="tx1">
                            <a:lumMod val="85000"/>
                            <a:lumOff val="15000"/>
                          </a:schemeClr>
                        </a:solidFill>
                        <a:latin typeface="Times New Roman" panose="02020603050405020304" pitchFamily="18" charset="0"/>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buNone/>
                      </a:pPr>
                      <a:r>
                        <a:rPr lang="zh-CN" altLang="en-US" sz="2400" b="1">
                          <a:solidFill>
                            <a:schemeClr val="tx1">
                              <a:lumMod val="85000"/>
                              <a:lumOff val="15000"/>
                            </a:schemeClr>
                          </a:solidFill>
                          <a:ea typeface="宋体" panose="02010600030101010101" pitchFamily="2" charset="-122"/>
                        </a:rPr>
                        <a:t>酸性溶液</a:t>
                      </a:r>
                      <a:endParaRPr lang="zh-CN" altLang="en-US" sz="2400" b="1">
                        <a:solidFill>
                          <a:schemeClr val="tx1">
                            <a:lumMod val="85000"/>
                            <a:lumOff val="15000"/>
                          </a:schemeClr>
                        </a:solidFill>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buNone/>
                      </a:pPr>
                      <a:r>
                        <a:rPr lang="zh-CN" altLang="en-US" sz="2400" b="1">
                          <a:solidFill>
                            <a:schemeClr val="tx1">
                              <a:lumMod val="85000"/>
                              <a:lumOff val="15000"/>
                            </a:schemeClr>
                          </a:solidFill>
                          <a:ea typeface="宋体" panose="02010600030101010101" pitchFamily="2" charset="-122"/>
                        </a:rPr>
                        <a:t>中性溶液</a:t>
                      </a:r>
                      <a:endParaRPr lang="zh-CN" altLang="en-US" sz="2400" b="1">
                        <a:solidFill>
                          <a:schemeClr val="tx1">
                            <a:lumMod val="85000"/>
                            <a:lumOff val="15000"/>
                          </a:schemeClr>
                        </a:solidFill>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a:buNone/>
                      </a:pPr>
                      <a:r>
                        <a:rPr lang="zh-CN" altLang="en-US" sz="2400" b="1">
                          <a:solidFill>
                            <a:schemeClr val="tx1">
                              <a:lumMod val="85000"/>
                              <a:lumOff val="15000"/>
                            </a:schemeClr>
                          </a:solidFill>
                          <a:ea typeface="宋体" panose="02010600030101010101" pitchFamily="2" charset="-122"/>
                        </a:rPr>
                        <a:t>碱性性质</a:t>
                      </a:r>
                      <a:endParaRPr lang="zh-CN" altLang="en-US" sz="2400" b="1">
                        <a:solidFill>
                          <a:schemeClr val="tx1">
                            <a:lumMod val="85000"/>
                            <a:lumOff val="15000"/>
                          </a:schemeClr>
                        </a:solidFill>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r h="648000">
                <a:tc>
                  <a:txBody>
                    <a:bodyPr/>
                    <a:lstStyle/>
                    <a:p>
                      <a:pPr>
                        <a:buNone/>
                      </a:pPr>
                      <a:r>
                        <a:rPr sz="24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石蕊溶液</a:t>
                      </a:r>
                      <a:endParaRPr sz="24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endParaRPr>
                    </a:p>
                  </a:txBody>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a:txBody>
                    <a:bodyPr/>
                    <a:lstStyle/>
                    <a:p>
                      <a:pPr>
                        <a:buNone/>
                      </a:pPr>
                      <a:endParaRPr lang="zh-CN" altLang="en-US" sz="2400">
                        <a:solidFill>
                          <a:schemeClr val="tx1">
                            <a:lumMod val="85000"/>
                            <a:lumOff val="15000"/>
                          </a:schemeClr>
                        </a:solidFill>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a:txBody>
                    <a:bodyPr/>
                    <a:lstStyle/>
                    <a:p>
                      <a:pPr>
                        <a:buNone/>
                      </a:pPr>
                      <a:endParaRPr lang="zh-CN" altLang="en-US" sz="2400">
                        <a:solidFill>
                          <a:schemeClr val="tx1">
                            <a:lumMod val="85000"/>
                            <a:lumOff val="15000"/>
                          </a:schemeClr>
                        </a:solidFill>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a:txBody>
                    <a:bodyPr/>
                    <a:lstStyle/>
                    <a:p>
                      <a:pPr>
                        <a:buNone/>
                      </a:pPr>
                      <a:endParaRPr lang="zh-CN" altLang="en-US" sz="2400" b="1">
                        <a:solidFill>
                          <a:srgbClr val="0E0EE6"/>
                        </a:solidFill>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r>
              <a:tr h="648000">
                <a:tc>
                  <a:txBody>
                    <a:bodyPr/>
                    <a:lstStyle/>
                    <a:p>
                      <a:pPr>
                        <a:buNone/>
                      </a:pPr>
                      <a:r>
                        <a:rPr lang="zh-CN" altLang="en-US" sz="2400" b="1">
                          <a:solidFill>
                            <a:schemeClr val="tx1">
                              <a:lumMod val="85000"/>
                              <a:lumOff val="15000"/>
                            </a:schemeClr>
                          </a:solidFill>
                          <a:ea typeface="宋体" panose="02010600030101010101" pitchFamily="2" charset="-122"/>
                        </a:rPr>
                        <a:t>酚酞溶液</a:t>
                      </a:r>
                      <a:endParaRPr lang="zh-CN" altLang="en-US" sz="2400" b="1">
                        <a:solidFill>
                          <a:schemeClr val="tx1">
                            <a:lumMod val="85000"/>
                            <a:lumOff val="15000"/>
                          </a:schemeClr>
                        </a:solidFill>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a:buNone/>
                      </a:pPr>
                      <a:endParaRPr lang="zh-CN" altLang="en-US" sz="2400">
                        <a:solidFill>
                          <a:schemeClr val="tx1">
                            <a:lumMod val="85000"/>
                            <a:lumOff val="15000"/>
                          </a:schemeClr>
                        </a:solidFill>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a:buNone/>
                      </a:pPr>
                      <a:endParaRPr lang="zh-CN" altLang="en-US" sz="2400">
                        <a:solidFill>
                          <a:schemeClr val="tx1">
                            <a:lumMod val="85000"/>
                            <a:lumOff val="15000"/>
                          </a:schemeClr>
                        </a:solidFill>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a:buNone/>
                      </a:pPr>
                      <a:endParaRPr lang="zh-CN" altLang="en-US" sz="2400" b="1">
                        <a:solidFill>
                          <a:srgbClr val="0E0EE6"/>
                        </a:solidFill>
                        <a:ea typeface="宋体" panose="02010600030101010101" pitchFamily="2" charset="-122"/>
                      </a:endParaRPr>
                    </a:p>
                  </a:txBody>
                  <a:tcPr marL="36195" marR="36195" marT="36195" marB="36195" anchor="ctr" anchorCtr="1">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r>
            </a:tbl>
          </a:graphicData>
        </a:graphic>
      </p:graphicFrame>
      <p:sp>
        <p:nvSpPr>
          <p:cNvPr id="3" name="文本框 2"/>
          <p:cNvSpPr txBox="1"/>
          <p:nvPr/>
        </p:nvSpPr>
        <p:spPr>
          <a:xfrm>
            <a:off x="5269230" y="3495675"/>
            <a:ext cx="755650" cy="1475105"/>
          </a:xfrm>
          <a:prstGeom prst="rect">
            <a:avLst/>
          </a:prstGeom>
          <a:noFill/>
          <a:ln w="22225">
            <a:noFill/>
            <a:prstDash val="sysDash"/>
            <a:miter lim="800000"/>
          </a:ln>
        </p:spPr>
        <p:txBody>
          <a:bodyPr vert="horz" wrap="none" lIns="71755" tIns="36195" rIns="71755" bIns="36195" numCol="1" anchor="t" anchorCtr="0" compatLnSpc="1">
            <a:spAutoFit/>
          </a:bodyPr>
          <a:lstStyle/>
          <a:p>
            <a:pPr marL="0" marR="0" indent="0" algn="ctr" defTabSz="914400" rtl="0" fontAlgn="auto" latinLnBrk="1">
              <a:lnSpc>
                <a:spcPct val="190000"/>
              </a:lnSpc>
              <a:spcBef>
                <a:spcPts val="0"/>
              </a:spcBef>
              <a:spcAft>
                <a:spcPts val="0"/>
              </a:spcAft>
              <a:buClrTx/>
              <a:buSzTx/>
              <a:buFontTx/>
              <a:buNone/>
            </a:pPr>
            <a:r>
              <a:rPr lang="zh-CN" sz="2400" b="1">
                <a:ln>
                  <a:noFill/>
                </a:ln>
                <a:solidFill>
                  <a:srgbClr val="7030A0"/>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紫</a:t>
            </a:r>
            <a:r>
              <a:rPr sz="2400" b="1">
                <a:ln>
                  <a:noFill/>
                </a:ln>
                <a:solidFill>
                  <a:srgbClr val="7030A0"/>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色</a:t>
            </a:r>
            <a:endParaRPr sz="2400" b="1">
              <a:ln>
                <a:noFill/>
              </a:ln>
              <a:solidFill>
                <a:srgbClr val="7030A0"/>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a:p>
            <a:pPr marL="0" marR="0" indent="0" algn="ctr" defTabSz="914400" rtl="0" fontAlgn="auto" latinLnBrk="1">
              <a:lnSpc>
                <a:spcPct val="190000"/>
              </a:lnSpc>
              <a:spcBef>
                <a:spcPts val="0"/>
              </a:spcBef>
              <a:spcAft>
                <a:spcPts val="0"/>
              </a:spcAft>
              <a:buClrTx/>
              <a:buSzTx/>
              <a:buFontTx/>
              <a:buNone/>
            </a:pPr>
            <a:r>
              <a:rPr lang="zh-CN" sz="24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无</a:t>
            </a:r>
            <a:r>
              <a:rPr sz="24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色</a:t>
            </a:r>
            <a:endParaRPr lang="zh-CN" altLang="en-US" sz="24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p:txBody>
      </p:sp>
      <p:sp>
        <p:nvSpPr>
          <p:cNvPr id="4" name="文本框 3"/>
          <p:cNvSpPr txBox="1"/>
          <p:nvPr/>
        </p:nvSpPr>
        <p:spPr>
          <a:xfrm>
            <a:off x="3630295" y="3495675"/>
            <a:ext cx="755650" cy="1475105"/>
          </a:xfrm>
          <a:prstGeom prst="rect">
            <a:avLst/>
          </a:prstGeom>
          <a:noFill/>
          <a:ln w="22225">
            <a:noFill/>
            <a:prstDash val="sysDash"/>
            <a:miter lim="800000"/>
          </a:ln>
        </p:spPr>
        <p:txBody>
          <a:bodyPr vert="horz" wrap="none" lIns="71755" tIns="36195" rIns="71755" bIns="36195" numCol="1" anchor="t" anchorCtr="0" compatLnSpc="1">
            <a:spAutoFit/>
          </a:bodyPr>
          <a:lstStyle/>
          <a:p>
            <a:pPr marL="0" marR="0" indent="0" algn="ctr" defTabSz="914400" rtl="0" fontAlgn="auto" latinLnBrk="1">
              <a:lnSpc>
                <a:spcPct val="190000"/>
              </a:lnSpc>
              <a:spcBef>
                <a:spcPts val="0"/>
              </a:spcBef>
              <a:spcAft>
                <a:spcPts val="0"/>
              </a:spcAft>
              <a:buClrTx/>
              <a:buSzTx/>
              <a:buFontTx/>
              <a:buNone/>
            </a:pPr>
            <a:r>
              <a:rPr sz="2400" b="1">
                <a:ln>
                  <a:noFill/>
                </a:ln>
                <a:solidFill>
                  <a:srgbClr val="C00000"/>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红色</a:t>
            </a:r>
            <a:endParaRPr sz="2400" b="1">
              <a:ln>
                <a:noFill/>
              </a:ln>
              <a:solidFill>
                <a:schemeClr val="accent6">
                  <a:lumMod val="75000"/>
                </a:schemeClr>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a:p>
            <a:pPr marL="0" marR="0" indent="0" algn="ctr" defTabSz="914400" rtl="0" fontAlgn="auto" latinLnBrk="1">
              <a:lnSpc>
                <a:spcPct val="190000"/>
              </a:lnSpc>
              <a:spcBef>
                <a:spcPts val="0"/>
              </a:spcBef>
              <a:spcAft>
                <a:spcPts val="0"/>
              </a:spcAft>
              <a:buClrTx/>
              <a:buSzTx/>
              <a:buFontTx/>
              <a:buNone/>
            </a:pPr>
            <a:r>
              <a:rPr lang="zh-CN" sz="24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无</a:t>
            </a:r>
            <a:r>
              <a:rPr sz="24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色</a:t>
            </a:r>
            <a:endParaRPr lang="zh-CN" altLang="en-US" sz="24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p:txBody>
      </p:sp>
      <p:sp>
        <p:nvSpPr>
          <p:cNvPr id="7" name="文本框 6"/>
          <p:cNvSpPr txBox="1"/>
          <p:nvPr/>
        </p:nvSpPr>
        <p:spPr>
          <a:xfrm>
            <a:off x="6908165" y="3495675"/>
            <a:ext cx="755650" cy="1475105"/>
          </a:xfrm>
          <a:prstGeom prst="rect">
            <a:avLst/>
          </a:prstGeom>
          <a:noFill/>
          <a:ln w="22225">
            <a:noFill/>
            <a:prstDash val="sysDash"/>
            <a:miter lim="800000"/>
          </a:ln>
        </p:spPr>
        <p:txBody>
          <a:bodyPr vert="horz" wrap="none" lIns="71755" tIns="36195" rIns="71755" bIns="36195" numCol="1" anchor="t" anchorCtr="0" compatLnSpc="1">
            <a:spAutoFit/>
          </a:bodyPr>
          <a:lstStyle/>
          <a:p>
            <a:pPr marL="0" marR="0" indent="0" algn="ctr" defTabSz="914400" rtl="0" fontAlgn="auto" latinLnBrk="1">
              <a:lnSpc>
                <a:spcPct val="190000"/>
              </a:lnSpc>
              <a:spcBef>
                <a:spcPts val="0"/>
              </a:spcBef>
              <a:spcAft>
                <a:spcPts val="0"/>
              </a:spcAft>
              <a:buClrTx/>
              <a:buSzTx/>
              <a:buFontTx/>
              <a:buNone/>
            </a:pPr>
            <a:r>
              <a:rPr sz="2400" b="1">
                <a:ln>
                  <a:noFill/>
                </a:ln>
                <a:solidFill>
                  <a:srgbClr val="0E0EE6"/>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蓝色</a:t>
            </a:r>
            <a:endParaRPr sz="2400" b="1">
              <a:ln>
                <a:noFill/>
              </a:ln>
              <a:solidFill>
                <a:srgbClr val="0E0EE6"/>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a:p>
            <a:pPr marL="0" marR="0" indent="0" algn="ctr" defTabSz="914400" rtl="0" fontAlgn="auto" latinLnBrk="1">
              <a:lnSpc>
                <a:spcPct val="190000"/>
              </a:lnSpc>
              <a:spcBef>
                <a:spcPts val="0"/>
              </a:spcBef>
              <a:spcAft>
                <a:spcPts val="0"/>
              </a:spcAft>
              <a:buClrTx/>
              <a:buSzTx/>
              <a:buFontTx/>
              <a:buNone/>
            </a:pPr>
            <a:r>
              <a:rPr lang="zh-CN" sz="2400" b="1">
                <a:ln>
                  <a:noFill/>
                </a:ln>
                <a:solidFill>
                  <a:srgbClr val="C00000"/>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红</a:t>
            </a:r>
            <a:r>
              <a:rPr sz="2400" b="1">
                <a:ln>
                  <a:noFill/>
                </a:ln>
                <a:solidFill>
                  <a:srgbClr val="C00000"/>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色</a:t>
            </a:r>
            <a:endParaRPr lang="zh-CN" altLang="en-US" sz="2400" b="1">
              <a:ln>
                <a:noFill/>
              </a:ln>
              <a:solidFill>
                <a:srgbClr val="C00000"/>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p:txBody>
      </p:sp>
      <p:sp>
        <p:nvSpPr>
          <p:cNvPr id="8" name="文本框 7"/>
          <p:cNvSpPr txBox="1"/>
          <p:nvPr/>
        </p:nvSpPr>
        <p:spPr>
          <a:xfrm>
            <a:off x="8232140" y="3471545"/>
            <a:ext cx="2540000" cy="1475105"/>
          </a:xfrm>
          <a:prstGeom prst="rect">
            <a:avLst/>
          </a:prstGeom>
          <a:noFill/>
          <a:ln w="22225">
            <a:noFill/>
            <a:prstDash val="sysDash"/>
            <a:miter lim="800000"/>
          </a:ln>
        </p:spPr>
        <p:txBody>
          <a:bodyPr vert="horz" wrap="square" lIns="71755" tIns="36195" rIns="71755" bIns="36195" numCol="1" anchor="t" anchorCtr="0" compatLnSpc="1">
            <a:spAutoFit/>
          </a:bodyPr>
          <a:lstStyle/>
          <a:p>
            <a:pPr marL="0" marR="0" indent="0" algn="l" defTabSz="914400" rtl="0" fontAlgn="auto" latinLnBrk="1" hangingPunct="0">
              <a:lnSpc>
                <a:spcPct val="190000"/>
              </a:lnSpc>
              <a:spcBef>
                <a:spcPts val="0"/>
              </a:spcBef>
              <a:spcAft>
                <a:spcPts val="0"/>
              </a:spcAft>
              <a:buClrTx/>
              <a:buSzTx/>
              <a:buFontTx/>
              <a:buNone/>
            </a:pPr>
            <a:r>
              <a:rPr sz="24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酸</a:t>
            </a:r>
            <a:r>
              <a:rPr sz="2400" b="1">
                <a:ln>
                  <a:noFill/>
                </a:ln>
                <a:solidFill>
                  <a:srgbClr val="C00000"/>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红</a:t>
            </a:r>
            <a:r>
              <a:rPr sz="24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碱</a:t>
            </a:r>
            <a:r>
              <a:rPr sz="2400" b="1">
                <a:ln>
                  <a:noFill/>
                </a:ln>
                <a:solidFill>
                  <a:srgbClr val="0E0EE6"/>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蓝</a:t>
            </a:r>
            <a:r>
              <a:rPr sz="24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中性</a:t>
            </a:r>
            <a:r>
              <a:rPr sz="2400" b="1">
                <a:ln>
                  <a:noFill/>
                </a:ln>
                <a:solidFill>
                  <a:srgbClr val="7030A0"/>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紫</a:t>
            </a:r>
            <a:endParaRPr sz="24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endParaRPr>
          </a:p>
          <a:p>
            <a:pPr marL="0" marR="0" indent="0" algn="l" defTabSz="914400" rtl="0" fontAlgn="auto" latinLnBrk="1" hangingPunct="0">
              <a:lnSpc>
                <a:spcPct val="190000"/>
              </a:lnSpc>
              <a:spcBef>
                <a:spcPts val="0"/>
              </a:spcBef>
              <a:spcAft>
                <a:spcPts val="0"/>
              </a:spcAft>
              <a:buClrTx/>
              <a:buSzTx/>
              <a:buFontTx/>
              <a:buNone/>
            </a:pPr>
            <a:r>
              <a:rPr sz="24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酸中无色碱里</a:t>
            </a:r>
            <a:r>
              <a:rPr sz="2400" b="1">
                <a:ln>
                  <a:noFill/>
                </a:ln>
                <a:solidFill>
                  <a:srgbClr val="C00000"/>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红</a:t>
            </a:r>
            <a:endParaRPr lang="zh-CN" altLang="en-US" sz="2400" b="1">
              <a:ln>
                <a:noFill/>
              </a:ln>
              <a:solidFill>
                <a:srgbClr val="C00000"/>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p:txBody>
      </p:sp>
      <p:sp>
        <p:nvSpPr>
          <p:cNvPr id="22" name="标题 4"/>
          <p:cNvSpPr>
            <a:spLocks noGrp="1"/>
          </p:cNvSpPr>
          <p:nvPr>
            <p:custDataLst>
              <p:tags r:id="rId3"/>
            </p:custDataLst>
          </p:nvPr>
        </p:nvSpPr>
        <p:spPr>
          <a:xfrm>
            <a:off x="892175" y="551228"/>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blinds(horizont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blinds(horizontal)">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blinds(horizontal)">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blinds(horizontal)">
                                      <p:cBhvr>
                                        <p:cTn id="32" dur="500"/>
                                        <p:tgtEl>
                                          <p:spTgt spid="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blinds(horizontal)">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1" end="1"/>
                                            </p:txEl>
                                          </p:spTgt>
                                        </p:tgtEl>
                                        <p:attrNameLst>
                                          <p:attrName>style.visibility</p:attrName>
                                        </p:attrNameLst>
                                      </p:cBhvr>
                                      <p:to>
                                        <p:strVal val="visible"/>
                                      </p:to>
                                    </p:set>
                                    <p:animEffect transition="in" filter="blinds(horizontal)">
                                      <p:cBhvr>
                                        <p:cTn id="42" dur="500"/>
                                        <p:tgtEl>
                                          <p:spTgt spid="3">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animEffect transition="in" filter="blinds(horizontal)">
                                      <p:cBhvr>
                                        <p:cTn id="47" dur="500"/>
                                        <p:tgtEl>
                                          <p:spTgt spid="7">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8">
                                            <p:txEl>
                                              <p:pRg st="1" end="1"/>
                                            </p:txEl>
                                          </p:spTgt>
                                        </p:tgtEl>
                                        <p:attrNameLst>
                                          <p:attrName>style.visibility</p:attrName>
                                        </p:attrNameLst>
                                      </p:cBhvr>
                                      <p:to>
                                        <p:strVal val="visible"/>
                                      </p:to>
                                    </p:set>
                                    <p:animEffect transition="in" filter="blinds(horizontal)">
                                      <p:cBhvr>
                                        <p:cTn id="5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55625" y="815975"/>
            <a:ext cx="10972800" cy="542988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lang="en-US"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定量</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检</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测酸碱度</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溶液酸减性的强弱</a:t>
            </a:r>
            <a:r>
              <a:rPr kumimoji="0" lang="zh-CN"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常以溶液的酸碱度来衡量，表示为溶液的pH。其适用范围通常在0</a:t>
            </a:r>
            <a:r>
              <a:rPr kumimoji="0" lang="en-US"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14。pH和溶液酸碱性关系如下图</a:t>
            </a:r>
            <a:r>
              <a:rPr kumimoji="0" lang="zh-CN"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粗略测定溶液的酸碱度通常用pH试纸</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测定时，用干燥的滴管吸取</a:t>
            </a:r>
            <a:r>
              <a:rPr kumimoji="0" lang="en-US"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或用玻璃棒蘸取</a:t>
            </a:r>
            <a:r>
              <a:rPr kumimoji="0" lang="en-US"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待测液</a:t>
            </a:r>
            <a:r>
              <a:rPr kumimoji="0" lang="zh-CN"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滴</a:t>
            </a:r>
            <a:r>
              <a:rPr kumimoji="0" lang="zh-CN"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一</a:t>
            </a: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小滴在pH试纸上，把试纸显现的颜色与</a:t>
            </a:r>
            <a:r>
              <a:rPr kumimoji="0" sz="2500" b="1" i="0">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标准比色卡</a:t>
            </a: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颜色对照，读出pH数值。</a:t>
            </a:r>
            <a:endPar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p:txBody>
      </p:sp>
      <p:sp>
        <p:nvSpPr>
          <p:cNvPr id="7" name="文本框 6"/>
          <p:cNvSpPr txBox="1"/>
          <p:nvPr/>
        </p:nvSpPr>
        <p:spPr>
          <a:xfrm>
            <a:off x="5361305" y="2689860"/>
            <a:ext cx="807720" cy="791210"/>
          </a:xfrm>
          <a:prstGeom prst="rect">
            <a:avLst/>
          </a:prstGeom>
          <a:noFill/>
          <a:ln w="22225">
            <a:noFill/>
            <a:prstDash val="sysDash"/>
            <a:miter lim="800000"/>
          </a:ln>
        </p:spPr>
        <p:txBody>
          <a:bodyPr vert="horz" wrap="none" lIns="71755" tIns="36195" rIns="71755" bIns="36195" numCol="1" anchor="t" anchorCtr="0" compatLnSpc="1">
            <a:spAutoFit/>
          </a:bodyPr>
          <a:p>
            <a:pPr marL="0" marR="0" indent="0" algn="ctr" defTabSz="914400" rtl="0" fontAlgn="auto" latinLnBrk="1">
              <a:lnSpc>
                <a:spcPct val="90000"/>
              </a:lnSpc>
              <a:spcBef>
                <a:spcPts val="0"/>
              </a:spcBef>
              <a:spcAft>
                <a:spcPts val="0"/>
              </a:spcAft>
              <a:buClrTx/>
              <a:buSzTx/>
              <a:buFontTx/>
              <a:buNone/>
            </a:pPr>
            <a:r>
              <a:rPr sz="26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中性</a:t>
            </a:r>
            <a:endParaRPr sz="26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endParaRPr>
          </a:p>
          <a:p>
            <a:pPr marL="0" marR="0" indent="0" algn="ctr" defTabSz="914400" rtl="0" fontAlgn="auto" latinLnBrk="1">
              <a:lnSpc>
                <a:spcPct val="90000"/>
              </a:lnSpc>
              <a:spcBef>
                <a:spcPts val="0"/>
              </a:spcBef>
              <a:spcAft>
                <a:spcPts val="0"/>
              </a:spcAft>
              <a:buClrTx/>
              <a:buSzTx/>
              <a:buFontTx/>
              <a:buNone/>
            </a:pPr>
            <a:r>
              <a:rPr sz="2600" b="1">
                <a:ln>
                  <a:noFill/>
                </a:ln>
                <a:effectLst/>
                <a:uFillTx/>
                <a:latin typeface="宋体" panose="02010600030101010101" pitchFamily="2" charset="-122"/>
                <a:ea typeface="宋体" panose="02010600030101010101" pitchFamily="2" charset="-122"/>
                <a:cs typeface="Arial" panose="020B0604020202090204" pitchFamily="34" charset="0"/>
                <a:sym typeface="Arial" panose="020B0604020202090204"/>
              </a:rPr>
              <a:t>↓</a:t>
            </a:r>
            <a:endParaRPr lang="zh-CN" altLang="en-US" sz="2600" b="1">
              <a:ln>
                <a:noFill/>
              </a:ln>
              <a:solidFill>
                <a:srgbClr val="7030A0"/>
              </a:solidFill>
              <a:effectLst/>
              <a:uFillTx/>
              <a:latin typeface="宋体" panose="02010600030101010101" pitchFamily="2" charset="-122"/>
              <a:ea typeface="宋体" panose="02010600030101010101" pitchFamily="2" charset="-122"/>
              <a:cs typeface="Arial" panose="020B0604020202090204" pitchFamily="34" charset="0"/>
              <a:sym typeface="Arial" panose="020B0604020202090204"/>
            </a:endParaRPr>
          </a:p>
        </p:txBody>
      </p:sp>
      <p:grpSp>
        <p:nvGrpSpPr>
          <p:cNvPr id="16" name="组合 15"/>
          <p:cNvGrpSpPr/>
          <p:nvPr/>
        </p:nvGrpSpPr>
        <p:grpSpPr>
          <a:xfrm>
            <a:off x="960120" y="3227705"/>
            <a:ext cx="9921875" cy="995680"/>
            <a:chOff x="1512" y="6175"/>
            <a:chExt cx="15625" cy="1568"/>
          </a:xfrm>
        </p:grpSpPr>
        <p:pic>
          <p:nvPicPr>
            <p:cNvPr id="14" name="图片 13"/>
            <p:cNvPicPr>
              <a:picLocks noChangeAspect="1"/>
            </p:cNvPicPr>
            <p:nvPr/>
          </p:nvPicPr>
          <p:blipFill>
            <a:blip r:embed="rId2"/>
            <a:srcRect l="2588" t="55491"/>
            <a:stretch>
              <a:fillRect/>
            </a:stretch>
          </p:blipFill>
          <p:spPr>
            <a:xfrm>
              <a:off x="2116" y="6382"/>
              <a:ext cx="15021" cy="1346"/>
            </a:xfrm>
            <a:prstGeom prst="rect">
              <a:avLst/>
            </a:prstGeom>
          </p:spPr>
        </p:pic>
        <p:sp>
          <p:nvSpPr>
            <p:cNvPr id="15" name="文本框 14"/>
            <p:cNvSpPr txBox="1"/>
            <p:nvPr/>
          </p:nvSpPr>
          <p:spPr>
            <a:xfrm>
              <a:off x="1512" y="6175"/>
              <a:ext cx="628" cy="1568"/>
            </a:xfrm>
            <a:prstGeom prst="rect">
              <a:avLst/>
            </a:prstGeom>
            <a:solidFill>
              <a:schemeClr val="bg1"/>
            </a:solidFill>
            <a:ln w="22225">
              <a:noFill/>
              <a:prstDash val="sysDash"/>
              <a:miter lim="800000"/>
            </a:ln>
          </p:spPr>
          <p:txBody>
            <a:bodyPr vert="horz" wrap="none" lIns="71755" tIns="36195" rIns="71755" bIns="36195" numCol="1" anchor="t" anchorCtr="0" compatLnSpc="1">
              <a:spAutoFit/>
            </a:bodyPr>
            <a:p>
              <a:pPr marL="0" marR="0" indent="0" algn="l" defTabSz="914400" rtl="0" fontAlgn="auto" latinLnBrk="1">
                <a:lnSpc>
                  <a:spcPct val="100000"/>
                </a:lnSpc>
                <a:spcBef>
                  <a:spcPts val="0"/>
                </a:spcBef>
                <a:spcAft>
                  <a:spcPts val="0"/>
                </a:spcAft>
                <a:buClrTx/>
                <a:buSzTx/>
                <a:buFontTx/>
                <a:buNone/>
              </a:pPr>
              <a:r>
                <a:rPr sz="20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比</a:t>
              </a:r>
              <a:endParaRPr sz="20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endParaRPr>
            </a:p>
            <a:p>
              <a:pPr marL="0" marR="0" indent="0" algn="l" defTabSz="914400" rtl="0" fontAlgn="auto" latinLnBrk="1">
                <a:lnSpc>
                  <a:spcPct val="100000"/>
                </a:lnSpc>
                <a:spcBef>
                  <a:spcPts val="0"/>
                </a:spcBef>
                <a:spcAft>
                  <a:spcPts val="0"/>
                </a:spcAft>
                <a:buClrTx/>
                <a:buSzTx/>
                <a:buFontTx/>
                <a:buNone/>
              </a:pPr>
              <a:r>
                <a:rPr lang="zh-CN" sz="20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色</a:t>
              </a:r>
              <a:endParaRPr lang="zh-CN" sz="20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endParaRPr>
            </a:p>
            <a:p>
              <a:pPr marL="0" marR="0" indent="0" algn="l" defTabSz="914400" rtl="0" fontAlgn="auto" latinLnBrk="1">
                <a:lnSpc>
                  <a:spcPct val="100000"/>
                </a:lnSpc>
                <a:spcBef>
                  <a:spcPts val="0"/>
                </a:spcBef>
                <a:spcAft>
                  <a:spcPts val="0"/>
                </a:spcAft>
                <a:buClrTx/>
                <a:buSzTx/>
                <a:buFontTx/>
                <a:buNone/>
              </a:pPr>
              <a:r>
                <a:rPr lang="zh-CN" sz="20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卡</a:t>
              </a:r>
              <a:endParaRPr lang="zh-CN" sz="2000" b="1">
                <a:ln>
                  <a:noFill/>
                </a:ln>
                <a:solidFill>
                  <a:srgbClr val="7030A0"/>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p:txBody>
        </p:sp>
      </p:grpSp>
      <p:grpSp>
        <p:nvGrpSpPr>
          <p:cNvPr id="20" name="组合 19"/>
          <p:cNvGrpSpPr/>
          <p:nvPr/>
        </p:nvGrpSpPr>
        <p:grpSpPr>
          <a:xfrm>
            <a:off x="1316990" y="2613660"/>
            <a:ext cx="3924300" cy="379730"/>
            <a:chOff x="2002" y="5208"/>
            <a:chExt cx="6180" cy="598"/>
          </a:xfrm>
        </p:grpSpPr>
        <p:cxnSp>
          <p:nvCxnSpPr>
            <p:cNvPr id="18" name="直接箭头连接符 17"/>
            <p:cNvCxnSpPr/>
            <p:nvPr/>
          </p:nvCxnSpPr>
          <p:spPr>
            <a:xfrm flipH="1">
              <a:off x="2002" y="5786"/>
              <a:ext cx="618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370" y="5208"/>
              <a:ext cx="1834" cy="598"/>
            </a:xfrm>
            <a:prstGeom prst="rect">
              <a:avLst/>
            </a:prstGeom>
            <a:noFill/>
            <a:ln w="22225">
              <a:noFill/>
              <a:prstDash val="sysDash"/>
              <a:miter lim="800000"/>
            </a:ln>
          </p:spPr>
          <p:txBody>
            <a:bodyPr vert="horz" wrap="none" lIns="71755" tIns="36195" rIns="71755" bIns="36195" numCol="1" anchor="t" anchorCtr="0" compatLnSpc="1">
              <a:spAutoFit/>
            </a:bodyPr>
            <a:p>
              <a:pPr marL="0" marR="0" indent="0" algn="l" defTabSz="914400" rtl="0" fontAlgn="auto" latinLnBrk="1" hangingPunct="0">
                <a:lnSpc>
                  <a:spcPct val="100000"/>
                </a:lnSpc>
                <a:spcBef>
                  <a:spcPts val="0"/>
                </a:spcBef>
                <a:spcAft>
                  <a:spcPts val="0"/>
                </a:spcAft>
                <a:buClrTx/>
                <a:buSzTx/>
                <a:buFontTx/>
                <a:buNone/>
              </a:pPr>
              <a:r>
                <a:rPr sz="20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酸性增强</a:t>
              </a:r>
              <a:endParaRPr lang="zh-CN" altLang="en-US" sz="20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p:txBody>
        </p:sp>
      </p:grpSp>
      <p:sp>
        <p:nvSpPr>
          <p:cNvPr id="23" name="文本框 22"/>
          <p:cNvSpPr txBox="1"/>
          <p:nvPr/>
        </p:nvSpPr>
        <p:spPr>
          <a:xfrm>
            <a:off x="1417320" y="2916555"/>
            <a:ext cx="3961130" cy="534035"/>
          </a:xfrm>
          <a:prstGeom prst="rect">
            <a:avLst/>
          </a:prstGeom>
          <a:noFill/>
          <a:ln w="22225">
            <a:noFill/>
            <a:prstDash val="sysDash"/>
            <a:miter lim="800000"/>
          </a:ln>
        </p:spPr>
        <p:txBody>
          <a:bodyPr vert="horz" wrap="none" lIns="71755" tIns="36195" rIns="71755" bIns="36195" numCol="1" anchor="t" anchorCtr="0" compatLnSpc="1">
            <a:spAutoFit/>
          </a:bodyPr>
          <a:p>
            <a:pPr marL="0" marR="0" indent="0" algn="l" defTabSz="914400" rtl="0" fontAlgn="auto" latinLnBrk="1" hangingPunct="0">
              <a:lnSpc>
                <a:spcPct val="150000"/>
              </a:lnSpc>
              <a:spcBef>
                <a:spcPts val="0"/>
              </a:spcBef>
              <a:spcAft>
                <a:spcPts val="0"/>
              </a:spcAft>
              <a:buClrTx/>
              <a:buSzTx/>
              <a:buFontTx/>
              <a:buNone/>
            </a:pPr>
            <a:r>
              <a:rPr sz="20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强酸性                                    弱酸性</a:t>
            </a:r>
            <a:endParaRPr lang="zh-CN" altLang="en-US" sz="2000" b="1">
              <a:ln>
                <a:noFill/>
              </a:ln>
              <a:solidFill>
                <a:srgbClr val="7030A0"/>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p:txBody>
      </p:sp>
      <p:grpSp>
        <p:nvGrpSpPr>
          <p:cNvPr id="22" name="组合 21"/>
          <p:cNvGrpSpPr/>
          <p:nvPr/>
        </p:nvGrpSpPr>
        <p:grpSpPr>
          <a:xfrm>
            <a:off x="6428105" y="2628900"/>
            <a:ext cx="4319905" cy="379730"/>
            <a:chOff x="10123" y="5232"/>
            <a:chExt cx="6803" cy="598"/>
          </a:xfrm>
        </p:grpSpPr>
        <p:cxnSp>
          <p:nvCxnSpPr>
            <p:cNvPr id="17" name="直接箭头连接符 16"/>
            <p:cNvCxnSpPr/>
            <p:nvPr/>
          </p:nvCxnSpPr>
          <p:spPr>
            <a:xfrm>
              <a:off x="10123" y="5786"/>
              <a:ext cx="680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2059" y="5232"/>
              <a:ext cx="1834" cy="598"/>
            </a:xfrm>
            <a:prstGeom prst="rect">
              <a:avLst/>
            </a:prstGeom>
            <a:noFill/>
            <a:ln w="22225">
              <a:noFill/>
              <a:prstDash val="sysDash"/>
              <a:miter lim="800000"/>
            </a:ln>
          </p:spPr>
          <p:txBody>
            <a:bodyPr vert="horz" wrap="none" lIns="71755" tIns="36195" rIns="71755" bIns="36195" numCol="1" anchor="t" anchorCtr="0" compatLnSpc="1">
              <a:spAutoFit/>
            </a:bodyPr>
            <a:p>
              <a:pPr marL="0" marR="0" indent="0" algn="l" defTabSz="914400" rtl="0" fontAlgn="auto" latinLnBrk="1" hangingPunct="0">
                <a:lnSpc>
                  <a:spcPct val="100000"/>
                </a:lnSpc>
                <a:spcBef>
                  <a:spcPts val="0"/>
                </a:spcBef>
                <a:spcAft>
                  <a:spcPts val="0"/>
                </a:spcAft>
                <a:buClrTx/>
                <a:buSzTx/>
                <a:buFontTx/>
                <a:buNone/>
              </a:pPr>
              <a:r>
                <a:rPr lang="zh-CN" sz="20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碱</a:t>
              </a:r>
              <a:r>
                <a:rPr sz="20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rPr>
                <a:t>性增强</a:t>
              </a:r>
              <a:endParaRPr lang="zh-CN" altLang="en-US" sz="2000" b="1">
                <a:ln>
                  <a:noFill/>
                </a:ln>
                <a:solidFill>
                  <a:schemeClr val="tx1"/>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p:txBody>
        </p:sp>
      </p:grpSp>
      <p:sp>
        <p:nvSpPr>
          <p:cNvPr id="24" name="文本框 23"/>
          <p:cNvSpPr txBox="1"/>
          <p:nvPr/>
        </p:nvSpPr>
        <p:spPr>
          <a:xfrm>
            <a:off x="6169025" y="3043555"/>
            <a:ext cx="4215130" cy="379730"/>
          </a:xfrm>
          <a:prstGeom prst="rect">
            <a:avLst/>
          </a:prstGeom>
          <a:noFill/>
          <a:ln w="22225">
            <a:noFill/>
            <a:prstDash val="sysDash"/>
            <a:miter lim="800000"/>
          </a:ln>
        </p:spPr>
        <p:txBody>
          <a:bodyPr vert="horz" wrap="none" lIns="71755" tIns="36195" rIns="71755" bIns="36195" numCol="1" anchor="t" anchorCtr="0" compatLnSpc="1">
            <a:spAutoFit/>
          </a:bodyPr>
          <a:p>
            <a:pPr marL="0" marR="0" indent="0" algn="l" defTabSz="914400" rtl="0" fontAlgn="auto" latinLnBrk="1">
              <a:lnSpc>
                <a:spcPct val="100000"/>
              </a:lnSpc>
              <a:spcBef>
                <a:spcPts val="0"/>
              </a:spcBef>
              <a:spcAft>
                <a:spcPts val="0"/>
              </a:spcAft>
              <a:buClrTx/>
              <a:buSzTx/>
              <a:buFontTx/>
              <a:buNone/>
            </a:pPr>
            <a:r>
              <a:rPr sz="2000" b="1">
                <a:ln>
                  <a:noFill/>
                </a:ln>
                <a:effectLst/>
                <a:uFillTx/>
                <a:latin typeface="Times New Roman" panose="02020603050405020304" pitchFamily="18" charset="0"/>
                <a:ea typeface="宋体" panose="02010600030101010101" pitchFamily="2" charset="-122"/>
                <a:cs typeface="Arial" panose="020B0604020202090204"/>
                <a:sym typeface="Arial" panose="020B0604020202090204"/>
              </a:rPr>
              <a:t>弱碱性                                        强碱性</a:t>
            </a:r>
            <a:endParaRPr lang="zh-CN" altLang="en-US" sz="2000" b="1">
              <a:ln>
                <a:noFill/>
              </a:ln>
              <a:solidFill>
                <a:srgbClr val="7030A0"/>
              </a:solidFill>
              <a:effectLst/>
              <a:uFillTx/>
              <a:latin typeface="Times New Roman" panose="02020603050405020304" pitchFamily="18" charset="0"/>
              <a:ea typeface="宋体" panose="02010600030101010101" pitchFamily="2" charset="-122"/>
              <a:cs typeface="Arial" panose="020B0604020202090204"/>
              <a:sym typeface="Arial" panose="020B0604020202090204"/>
            </a:endParaRPr>
          </a:p>
        </p:txBody>
      </p:sp>
      <p:sp>
        <p:nvSpPr>
          <p:cNvPr id="3" name="标题 4"/>
          <p:cNvSpPr>
            <a:spLocks noGrp="1"/>
          </p:cNvSpPr>
          <p:nvPr>
            <p:custDataLst>
              <p:tags r:id="rId3"/>
            </p:custDataLst>
          </p:nvPr>
        </p:nvSpPr>
        <p:spPr>
          <a:xfrm>
            <a:off x="555625" y="18737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
        <p:nvSpPr>
          <p:cNvPr id="6" name="圆角矩形 5"/>
          <p:cNvSpPr/>
          <p:nvPr>
            <p:custDataLst>
              <p:tags r:id="rId4"/>
            </p:custDataLst>
          </p:nvPr>
        </p:nvSpPr>
        <p:spPr>
          <a:xfrm>
            <a:off x="8821903" y="5566825"/>
            <a:ext cx="1260000" cy="527073"/>
          </a:xfrm>
          <a:prstGeom prst="roundRect">
            <a:avLst/>
          </a:prstGeom>
          <a:gradFill>
            <a:gsLst>
              <a:gs pos="50000">
                <a:srgbClr val="ECCFCB"/>
              </a:gs>
              <a:gs pos="0">
                <a:srgbClr val="F2DFDC"/>
              </a:gs>
              <a:gs pos="100000">
                <a:srgbClr val="E5BEB9"/>
              </a:gs>
            </a:gsLst>
            <a:lin scaled="1"/>
          </a:gradFill>
          <a:ln w="12700"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1">
            <a:spAutoFit/>
          </a:bodyPr>
          <a:p>
            <a:pPr algn="l">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取整数</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blinds(horizontal)">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blinds(horizontal)">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blinds(horizontal)">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linds(horizontal)">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animEffect transition="in" filter="blinds(horizontal)">
                                      <p:cBhvr>
                                        <p:cTn id="47" dur="500"/>
                                        <p:tgtEl>
                                          <p:spTgt spid="5">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blinds(horizontal)">
                                      <p:cBhvr>
                                        <p:cTn id="5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3" grpId="0"/>
      <p:bldP spid="24" grpId="0"/>
      <p:bldP spid="6"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06095" y="385445"/>
            <a:ext cx="11122025" cy="604583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7. 酸、碱的化学性质</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见本书第三单元    身边的化学物质     常见的酸、碱、盐 </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lang="en-US" sz="2400" b="1" i="0">
                <a:ln>
                  <a:noFill/>
                </a:ln>
                <a:effectLst/>
                <a:uFillTx/>
                <a:latin typeface="方正粗黑宋简体" panose="02000000000000000000" pitchFamily="2" charset="-122"/>
                <a:ea typeface="方正粗黑宋简体" panose="02000000000000000000" pitchFamily="2" charset="-122"/>
                <a:cs typeface="Times New Roman" panose="02020603050405020304" pitchFamily="18" charset="0"/>
                <a:sym typeface="Arial" panose="020B0604020202090204"/>
              </a:rPr>
              <a:t>[</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要点提示</a:t>
            </a:r>
            <a:r>
              <a:rPr kumimoji="0" lang="en-US" sz="2400" b="1" i="0">
                <a:ln>
                  <a:noFill/>
                </a:ln>
                <a:effectLst/>
                <a:uFillTx/>
                <a:latin typeface="方正粗黑宋简体" panose="02000000000000000000" pitchFamily="2" charset="-122"/>
                <a:ea typeface="方正粗黑宋简体" panose="02000000000000000000" pitchFamily="2" charset="-122"/>
                <a:cs typeface="Times New Roman" panose="02020603050405020304" pitchFamily="18" charset="0"/>
                <a:sym typeface="Arial" panose="020B0604020202090204"/>
              </a:rPr>
              <a:t>]</a:t>
            </a:r>
            <a:endPar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lang="en-US" sz="2400" b="1">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(1)</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凡用固体加热制取气体的都选用高锰酸钾制O</a:t>
            </a:r>
            <a:r>
              <a:rPr kumimoji="0" lang="en-US" sz="2400" b="1" i="0" baseline="-2500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2</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装置</a:t>
            </a:r>
            <a:r>
              <a:rPr kumimoji="0" lang="en-US"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固固加热型</a:t>
            </a:r>
            <a:r>
              <a:rPr kumimoji="0" lang="en-US"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lang="zh-CN"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endParaRPr kumimoji="0" lang="zh-CN"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     凡用固体与液体反应且不需加热制气体的都可选用双氧水制O</a:t>
            </a:r>
            <a:r>
              <a:rPr kumimoji="0" lang="en-US" sz="2400" b="1" i="0" baseline="-2500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2</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装置</a:t>
            </a:r>
            <a:r>
              <a:rPr kumimoji="0" lang="en-US"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固液不加热型</a:t>
            </a:r>
            <a:r>
              <a:rPr kumimoji="0" lang="en-US"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endPar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lang="en-US" sz="2400" b="1">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(2)</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凡是给试管里的固体加热，都要先预热，试管口都应略向下倾斜。</a:t>
            </a:r>
            <a:endPar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lang="en-US" sz="2400" b="1">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(3)</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生成的气体难溶于水</a:t>
            </a:r>
            <a:r>
              <a:rPr kumimoji="0" lang="en-US"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400" b="1" i="0">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不与水反应</a:t>
            </a:r>
            <a:r>
              <a:rPr kumimoji="0" lang="en-US"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的，可用排水法收集</a:t>
            </a:r>
            <a:r>
              <a:rPr kumimoji="0" lang="zh-CN"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endParaRPr kumimoji="0" lang="zh-CN"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    生成的气体密度比空气大</a:t>
            </a:r>
            <a:r>
              <a:rPr lang="en-US" sz="2400" b="1">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sz="2400" b="1">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不与</a:t>
            </a:r>
            <a:r>
              <a:rPr lang="zh-CN" sz="2400" b="1">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空气中的气体</a:t>
            </a:r>
            <a:r>
              <a:rPr sz="2400" b="1">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反应</a:t>
            </a:r>
            <a:r>
              <a:rPr lang="en-US" sz="2400" b="1">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的，可用向上排空气法收集</a:t>
            </a:r>
            <a:r>
              <a:rPr kumimoji="0" lang="zh-CN"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endParaRPr kumimoji="0" lang="zh-CN"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    生成的气体密度比空气小</a:t>
            </a:r>
            <a:r>
              <a:rPr lang="en-US" sz="2400" b="1">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sz="2400" b="1">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不与</a:t>
            </a:r>
            <a:r>
              <a:rPr lang="zh-CN" sz="2400" b="1">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空气中的气体</a:t>
            </a:r>
            <a:r>
              <a:rPr sz="2400" b="1">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反应</a:t>
            </a:r>
            <a:r>
              <a:rPr lang="en-US" sz="2400" b="1">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a:t>
            </a:r>
            <a:r>
              <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的，可用向下排空气法收集。</a:t>
            </a:r>
            <a:endParaRPr kumimoji="0" sz="24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p:txBody>
      </p:sp>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blinds(horizontal)">
                                      <p:cBhvr>
                                        <p:cTn id="20" dur="500"/>
                                        <p:tgtEl>
                                          <p:spTgt spid="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blinds(horizontal)">
                                      <p:cBhvr>
                                        <p:cTn id="25" dur="500"/>
                                        <p:tgtEl>
                                          <p:spTgt spid="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blinds(horizontal)">
                                      <p:cBhvr>
                                        <p:cTn id="30" dur="500"/>
                                        <p:tgtEl>
                                          <p:spTgt spid="5">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blinds(horizontal)">
                                      <p:cBhvr>
                                        <p:cTn id="35" dur="500"/>
                                        <p:tgtEl>
                                          <p:spTgt spid="5">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
                                            <p:txEl>
                                              <p:pRg st="7" end="7"/>
                                            </p:txEl>
                                          </p:spTgt>
                                        </p:tgtEl>
                                        <p:attrNameLst>
                                          <p:attrName>style.visibility</p:attrName>
                                        </p:attrNameLst>
                                      </p:cBhvr>
                                      <p:to>
                                        <p:strVal val="visible"/>
                                      </p:to>
                                    </p:set>
                                    <p:animEffect transition="in" filter="blinds(horizontal)">
                                      <p:cBhvr>
                                        <p:cTn id="40" dur="500"/>
                                        <p:tgtEl>
                                          <p:spTgt spid="5">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5">
                                            <p:txEl>
                                              <p:pRg st="8" end="8"/>
                                            </p:txEl>
                                          </p:spTgt>
                                        </p:tgtEl>
                                        <p:attrNameLst>
                                          <p:attrName>style.visibility</p:attrName>
                                        </p:attrNameLst>
                                      </p:cBhvr>
                                      <p:to>
                                        <p:strVal val="visible"/>
                                      </p:to>
                                    </p:set>
                                    <p:animEffect transition="in" filter="blinds(horizontal)">
                                      <p:cBhvr>
                                        <p:cTn id="45"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609600" y="861695"/>
            <a:ext cx="10972800" cy="542988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8.实验中的规律</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做制取气体的实验时，</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先要检查装置的气密性</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，导管应</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稍微露出</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橡皮塞，   </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铁夹应夹在距管口三分之一处。</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(5)</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做用</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长颈漏斗</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制气体的实验时，长颈漏斗的末端管口应插入液面下</a:t>
            </a:r>
            <a:r>
              <a:rPr kumimoji="0" lang="en-US" sz="2500" b="1" i="0">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lang="zh-CN" altLang="en-US" sz="2500" b="1" i="0">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液封</a:t>
            </a:r>
            <a:r>
              <a:rPr kumimoji="0" lang="en-US" sz="2500" b="1" i="0">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(6)</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点燃可燃性气体时，一定先要</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检验它的纯度</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(7)</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使用有毒气体做实验时，最后一定要</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处理尾气</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(8)</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使用还原性气体还原金属氧化物时，一定要</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一通、二点、三灭、四停</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3" name="标题 4"/>
          <p:cNvSpPr>
            <a:spLocks noGrp="1"/>
          </p:cNvSpPr>
          <p:nvPr>
            <p:custDataLst>
              <p:tags r:id="rId2"/>
            </p:custDataLst>
          </p:nvPr>
        </p:nvSpPr>
        <p:spPr>
          <a:xfrm>
            <a:off x="609600" y="204518"/>
            <a:ext cx="3964209"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r>
              <a:rPr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rPr>
              <a:t>P</a:t>
            </a:r>
            <a:r>
              <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rPr>
              <a:t>58</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
        <p:nvSpPr>
          <p:cNvPr id="6" name="圆角矩形 5"/>
          <p:cNvSpPr/>
          <p:nvPr>
            <p:custDataLst>
              <p:tags r:id="rId3"/>
            </p:custDataLst>
          </p:nvPr>
        </p:nvSpPr>
        <p:spPr>
          <a:xfrm>
            <a:off x="2359025" y="5546384"/>
            <a:ext cx="4608000" cy="527097"/>
          </a:xfrm>
          <a:prstGeom prst="roundRect">
            <a:avLst/>
          </a:prstGeom>
          <a:gradFill>
            <a:gsLst>
              <a:gs pos="50000">
                <a:srgbClr val="ECCFCB"/>
              </a:gs>
              <a:gs pos="0">
                <a:srgbClr val="F2DFDC"/>
              </a:gs>
              <a:gs pos="100000">
                <a:srgbClr val="E5BEB9"/>
              </a:gs>
            </a:gsLst>
            <a:lin scaled="1"/>
          </a:gradFill>
          <a:ln w="12700"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en-US" altLang="zh-CN"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CO</a:t>
            </a: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早出晚归，酒精灯迟到早退</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blinds(horizontal)">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blinds(horizontal)">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blinds(horizontal)">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24"/>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24"/>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SUBCATEGORY" val="0"/>
  <p:tag name="KSO_WM_TEMPLATE_MASTER_TYPE" val="1"/>
  <p:tag name="KSO_WM_TEMPLATE_COLOR_TYPE" val="1"/>
  <p:tag name="KSO_WM_TEMPLATE_MASTER_THUMB_INDEX" val="18"/>
  <p:tag name="KSO_WM_TAG_VERSION" val="1.0"/>
  <p:tag name="KSO_WM_BEAUTIFY_FLAG" val="#wm#"/>
  <p:tag name="KSO_WM_TEMPLATE_CATEGORY" val="custom"/>
  <p:tag name="KSO_WM_TEMPLATE_INDEX" val="20202824"/>
  <p:tag name="KSO_WM_TEMPLATE_THUMBS_INDEX" val="1、4、5、6、7、8、9、10、11、12、13"/>
</p:tagLst>
</file>

<file path=ppt/tags/tag125.xml><?xml version="1.0" encoding="utf-8"?>
<p:tagLst xmlns:p="http://schemas.openxmlformats.org/presentationml/2006/main">
  <p:tag name="KSO_WM_TAG_VERSION" val="1.0"/>
  <p:tag name="KSO_WM_BEAUTIFY_FLAG" val="#wm#"/>
  <p:tag name="KSO_WM_UNIT_TYPE" val="i"/>
  <p:tag name="KSO_WM_UNIT_ID" val="custom20181609_1*i*4"/>
  <p:tag name="KSO_WM_TEMPLATE_CATEGORY" val="custom"/>
  <p:tag name="KSO_WM_TEMPLATE_INDEX" val="20181609"/>
  <p:tag name="KSO_WM_UNIT_INDEX" val="4"/>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ISCONTENTSTITLE" val="0"/>
  <p:tag name="KSO_WM_UNIT_PRESET_TEXT" val="教育教学说课公开课"/>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181609_1*a*1"/>
  <p:tag name="KSO_WM_TEMPLATE_CATEGORY" val="custom"/>
  <p:tag name="KSO_WM_TEMPLATE_INDEX" val="20181609"/>
  <p:tag name="KSO_WM_UNIT_LAYERLEVEL" val="1"/>
  <p:tag name="KSO_WM_TAG_VERSION" val="1.0"/>
  <p:tag name="KSO_WM_BEAUTIFY_FLAG" val="#wm#"/>
</p:tagLst>
</file>

<file path=ppt/tags/tag127.xml><?xml version="1.0" encoding="utf-8"?>
<p:tagLst xmlns:p="http://schemas.openxmlformats.org/presentationml/2006/main">
  <p:tag name="KSO_WM_TEMPLATE_CATEGORY" val="custom"/>
  <p:tag name="KSO_WM_TEMPLATE_INDEX" val="20181609"/>
  <p:tag name="KSO_WM_UNIT_TYPE" val="b"/>
  <p:tag name="KSO_WM_UNIT_INDEX" val="1"/>
  <p:tag name="KSO_WM_UNIT_ID" val="custom20181609_1*b*1"/>
  <p:tag name="KSO_WM_UNIT_LAYERLEVEL" val="1"/>
  <p:tag name="KSO_WM_UNIT_VALUE" val="28"/>
  <p:tag name="KSO_WM_UNIT_ISCONTENTSTITLE" val="0"/>
  <p:tag name="KSO_WM_UNIT_HIGHLIGHT" val="0"/>
  <p:tag name="KSO_WM_UNIT_COMPATIBLE" val="0"/>
  <p:tag name="KSO_WM_BEAUTIFY_FLAG" val="#wm#"/>
  <p:tag name="KSO_WM_TAG_VERSION" val="1.0"/>
  <p:tag name="KSO_WM_UNIT_PRESET_TEXT" val="信息话教学      公开课        示范课        说课微课"/>
  <p:tag name="KSO_WM_UNIT_NOCLEAR" val="0"/>
  <p:tag name="KSO_WM_UNIT_DIAGRAM_ISNUMVISUAL" val="0"/>
  <p:tag name="KSO_WM_UNIT_DIAGRAM_ISREFERUNIT" val="0"/>
</p:tagLst>
</file>

<file path=ppt/tags/tag128.xml><?xml version="1.0" encoding="utf-8"?>
<p:tagLst xmlns:p="http://schemas.openxmlformats.org/presentationml/2006/main">
  <p:tag name="KSO_WM_TAG_VERSION" val="1.0"/>
  <p:tag name="KSO_WM_SLIDE_ITEM_CNT" val="0"/>
  <p:tag name="KSO_WM_SLIDE_LAYOUT" val="a_b"/>
  <p:tag name="KSO_WM_SLIDE_LAYOUT_CNT" val="1_3"/>
  <p:tag name="KSO_WM_SLIDE_TYPE" val="title"/>
  <p:tag name="KSO_WM_BEAUTIFY_FLAG" val="#wm#"/>
  <p:tag name="KSO_WM_COMBINE_RELATE_SLIDE_ID" val="background20180991_1"/>
  <p:tag name="KSO_WM_TEMPLATE_CATEGORY" val="custom"/>
  <p:tag name="KSO_WM_TEMPLATE_INDEX" val="20202824"/>
  <p:tag name="KSO_WM_SLIDE_ID" val="custom20181609_1"/>
  <p:tag name="KSO_WM_SLIDE_INDEX" val="1"/>
  <p:tag name="KSO_WM_TEMPLATE_SUBCATEGORY" val="0"/>
  <p:tag name="KSO_WM_TEMPLATE_THUMBS_INDEX" val="1、4、5、6、12、13、18、19"/>
  <p:tag name="KSO_WM_SLIDE_SUBTYPE" val="pureTxt"/>
  <p:tag name="KSO_WM_SPECIAL_SOURCE" val="bdnull"/>
</p:tagLst>
</file>

<file path=ppt/tags/tag129.xml><?xml version="1.0" encoding="utf-8"?>
<p:tagLst xmlns:p="http://schemas.openxmlformats.org/presentationml/2006/main">
  <p:tag name="KSO_WM_FULL_TEXT_BEAUTIFY_COPY_ID" val="2"/>
</p:tagLst>
</file>

<file path=ppt/tags/tag130.xml><?xml version="1.0" encoding="utf-8"?>
<p:tagLst xmlns:p="http://schemas.openxmlformats.org/presentationml/2006/main">
  <p:tag name="KSO_WM_FULL_TEXT_BEAUTIFY_COPY_ID" val="5"/>
</p:tagLst>
</file>

<file path=ppt/tags/tag131.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32.xml><?xml version="1.0" encoding="utf-8"?>
<p:tagLst xmlns:p="http://schemas.openxmlformats.org/presentationml/2006/main">
  <p:tag name="KSO_WM_FULL_TEXT_BEAUTIFY_COPY_ID" val="5"/>
</p:tagLst>
</file>

<file path=ppt/tags/tag133.xml><?xml version="1.0" encoding="utf-8"?>
<p:tagLst xmlns:p="http://schemas.openxmlformats.org/presentationml/2006/main">
  <p:tag name="KSO_WM_TEMPLATE_CATEGORY" val="diagram"/>
  <p:tag name="KSO_WM_TEMPLATE_INDEX" val="160819"/>
  <p:tag name="KSO_WM_UNIT_TYPE" val="n_h_i"/>
  <p:tag name="KSO_WM_UNIT_INDEX" val="1_1_1"/>
  <p:tag name="KSO_WM_UNIT_ID" val="diagram160819_2*n_h_i*1_1_1"/>
  <p:tag name="KSO_WM_UNIT_LAYERLEVEL" val="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15"/>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2"/>
</p:tagLst>
</file>

<file path=ppt/tags/tag134.xml><?xml version="1.0" encoding="utf-8"?>
<p:tagLst xmlns:p="http://schemas.openxmlformats.org/presentationml/2006/main">
  <p:tag name="KSO_WM_TEMPLATE_CATEGORY" val="diagram"/>
  <p:tag name="KSO_WM_TEMPLATE_INDEX" val="160819"/>
  <p:tag name="KSO_WM_UNIT_TYPE" val="n_h_i"/>
  <p:tag name="KSO_WM_UNIT_INDEX" val="1_1_1"/>
  <p:tag name="KSO_WM_UNIT_ID" val="diagram160819_2*n_h_i*1_1_1"/>
  <p:tag name="KSO_WM_UNIT_LAYERLEVEL" val="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15"/>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2"/>
</p:tagLst>
</file>

<file path=ppt/tags/tag135.xml><?xml version="1.0" encoding="utf-8"?>
<p:tagLst xmlns:p="http://schemas.openxmlformats.org/presentationml/2006/main">
  <p:tag name="KSO_WM_TEMPLATE_CATEGORY" val="diagram"/>
  <p:tag name="KSO_WM_TEMPLATE_INDEX" val="160819"/>
  <p:tag name="KSO_WM_UNIT_TYPE" val="n_h_i"/>
  <p:tag name="KSO_WM_UNIT_INDEX" val="1_1_1"/>
  <p:tag name="KSO_WM_UNIT_ID" val="diagram160819_2*n_h_i*1_1_1"/>
  <p:tag name="KSO_WM_UNIT_LAYERLEVEL" val="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15"/>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14"/>
</p:tagLst>
</file>

<file path=ppt/tags/tag136.xml><?xml version="1.0" encoding="utf-8"?>
<p:tagLst xmlns:p="http://schemas.openxmlformats.org/presentationml/2006/main">
  <p:tag name="KSO_WM_TEMPLATE_CATEGORY" val="diagram"/>
  <p:tag name="KSO_WM_TEMPLATE_INDEX" val="160819"/>
  <p:tag name="KSO_WM_UNIT_TYPE" val="n_h_i"/>
  <p:tag name="KSO_WM_UNIT_INDEX" val="1_1_1"/>
  <p:tag name="KSO_WM_UNIT_ID" val="diagram160819_2*n_h_i*1_1_1"/>
  <p:tag name="KSO_WM_UNIT_LAYERLEVEL" val="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15"/>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14"/>
</p:tagLst>
</file>

<file path=ppt/tags/tag137.xml><?xml version="1.0" encoding="utf-8"?>
<p:tagLst xmlns:p="http://schemas.openxmlformats.org/presentationml/2006/main">
  <p:tag name="KSO_WM_TEMPLATE_CATEGORY" val="diagram"/>
  <p:tag name="KSO_WM_TEMPLATE_INDEX" val="160819"/>
  <p:tag name="KSO_WM_UNIT_TYPE" val="n_h_i"/>
  <p:tag name="KSO_WM_UNIT_INDEX" val="1_1_1"/>
  <p:tag name="KSO_WM_UNIT_ID" val="diagram160819_2*n_h_i*1_1_1"/>
  <p:tag name="KSO_WM_UNIT_LAYERLEVEL" val="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15"/>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14"/>
</p:tagLst>
</file>

<file path=ppt/tags/tag138.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39.xml><?xml version="1.0" encoding="utf-8"?>
<p:tagLst xmlns:p="http://schemas.openxmlformats.org/presentationml/2006/main">
  <p:tag name="KSO_WM_UNIT_TABLE_BEAUTIFY" val="smartTable{0f52ec3f-9749-4f25-a99e-8ca8460beadd}"/>
  <p:tag name="TABLE_ENDDRAG_ORIGIN_RECT" val="907*233"/>
  <p:tag name="TABLE_ENDDRAG_RECT" val="25*80*907*233"/>
  <p:tag name="TABLE_EMPHASIZE_COLOR" val="4874862"/>
  <p:tag name="TABLE_SKINIDX" val="0"/>
  <p:tag name="TABLE_COLORIDX" val="9"/>
  <p:tag name="TABLE_COLOR_RGB" val="0x000000*0xFFFFFF*0x212121*0xFFFFFF*0x4A626E*0xA4B9B0*0xD6E6E6*0xF8E8CF*0xEEB991*0xB26C53"/>
</p:tagLst>
</file>

<file path=ppt/tags/tag140.xml><?xml version="1.0" encoding="utf-8"?>
<p:tagLst xmlns:p="http://schemas.openxmlformats.org/presentationml/2006/main">
  <p:tag name="KSO_WM_FULL_TEXT_BEAUTIFY_COPY_ID" val="104"/>
</p:tagLst>
</file>

<file path=ppt/tags/tag141.xml><?xml version="1.0" encoding="utf-8"?>
<p:tagLst xmlns:p="http://schemas.openxmlformats.org/presentationml/2006/main">
  <p:tag name="KSO_WM_FULL_TEXT_BEAUTIFY_COPY_ID" val="41"/>
</p:tagLst>
</file>

<file path=ppt/tags/tag142.xml><?xml version="1.0" encoding="utf-8"?>
<p:tagLst xmlns:p="http://schemas.openxmlformats.org/presentationml/2006/main">
  <p:tag name="KSO_WM_FULL_TEXT_BEAUTIFY_COPY_ID" val="42"/>
</p:tagLst>
</file>

<file path=ppt/tags/tag143.xml><?xml version="1.0" encoding="utf-8"?>
<p:tagLst xmlns:p="http://schemas.openxmlformats.org/presentationml/2006/main">
  <p:tag name="KSO_WM_FULL_TEXT_BEAUTIFY_COPY_ID" val="41"/>
</p:tagLst>
</file>

<file path=ppt/tags/tag144.xml><?xml version="1.0" encoding="utf-8"?>
<p:tagLst xmlns:p="http://schemas.openxmlformats.org/presentationml/2006/main">
  <p:tag name="KSO_WM_FULL_TEXT_BEAUTIFY_COPY_ID" val="42"/>
</p:tagLst>
</file>

<file path=ppt/tags/tag145.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46.xml><?xml version="1.0" encoding="utf-8"?>
<p:tagLst xmlns:p="http://schemas.openxmlformats.org/presentationml/2006/main">
  <p:tag name="KSO_WM_UNIT_TABLE_BEAUTIFY" val="smartTable{0f52ec3f-9749-4f25-a99e-8ca8460beadd}"/>
  <p:tag name="TABLE_ENDDRAG_ORIGIN_RECT" val="907*233"/>
  <p:tag name="TABLE_ENDDRAG_RECT" val="25*80*907*233"/>
  <p:tag name="TABLE_EMPHASIZE_COLOR" val="4874862"/>
  <p:tag name="TABLE_SKINIDX" val="0"/>
  <p:tag name="TABLE_COLORIDX" val="9"/>
  <p:tag name="TABLE_COLOR_RGB" val="0x000000*0xFFFFFF*0x212121*0xFFFFFF*0x4A626E*0xA4B9B0*0xD6E6E6*0xF8E8CF*0xEEB991*0xB26C53"/>
</p:tagLst>
</file>

<file path=ppt/tags/tag147.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48.xml><?xml version="1.0" encoding="utf-8"?>
<p:tagLst xmlns:p="http://schemas.openxmlformats.org/presentationml/2006/main">
  <p:tag name="KSO_WM_UNIT_TABLE_BEAUTIFY" val="smartTable{49a113d1-b181-4d4a-a164-360b937bf3c4}"/>
</p:tagLst>
</file>

<file path=ppt/tags/tag149.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50.xml><?xml version="1.0" encoding="utf-8"?>
<p:tagLst xmlns:p="http://schemas.openxmlformats.org/presentationml/2006/main">
  <p:tag name="KSO_WM_UNIT_TABLE_BEAUTIFY" val="smartTable{af95a288-8c66-48c2-ab80-ab7abded88d7}"/>
</p:tagLst>
</file>

<file path=ppt/tags/tag151.xml><?xml version="1.0" encoding="utf-8"?>
<p:tagLst xmlns:p="http://schemas.openxmlformats.org/presentationml/2006/main">
  <p:tag name="KSO_WM_BEAUTIFY_FLAG" val="#wm#"/>
  <p:tag name="KSO_WM_TEMPLATE_CATEGORY" val="custom"/>
  <p:tag name="KSO_WM_TEMPLATE_INDEX" val="20202824"/>
  <p:tag name="KSO_WM_SPECIAL_SOURCE" val="bdnull"/>
</p:tagLst>
</file>

<file path=ppt/tags/tag152.xml><?xml version="1.0" encoding="utf-8"?>
<p:tagLst xmlns:p="http://schemas.openxmlformats.org/presentationml/2006/main">
  <p:tag name="KSO_WM_UNIT_TABLE_BEAUTIFY" val="smartTable{af95a288-8c66-48c2-ab80-ab7abded88d7}"/>
</p:tagLst>
</file>

<file path=ppt/tags/tag153.xml><?xml version="1.0" encoding="utf-8"?>
<p:tagLst xmlns:p="http://schemas.openxmlformats.org/presentationml/2006/main">
  <p:tag name="KSO_WM_FULL_TEXT_BEAUTIFY_COPY_ID" val="37"/>
</p:tagLst>
</file>

<file path=ppt/tags/tag154.xml><?xml version="1.0" encoding="utf-8"?>
<p:tagLst xmlns:p="http://schemas.openxmlformats.org/presentationml/2006/main">
  <p:tag name="KSO_WM_FULL_TEXT_BEAUTIFY_COPY_ID" val="40"/>
</p:tagLst>
</file>

<file path=ppt/tags/tag155.xml><?xml version="1.0" encoding="utf-8"?>
<p:tagLst xmlns:p="http://schemas.openxmlformats.org/presentationml/2006/main">
  <p:tag name="KSO_WM_FULL_TEXT_BEAUTIFY_COPY_ID" val="41"/>
</p:tagLst>
</file>

<file path=ppt/tags/tag156.xml><?xml version="1.0" encoding="utf-8"?>
<p:tagLst xmlns:p="http://schemas.openxmlformats.org/presentationml/2006/main">
  <p:tag name="KSO_WM_FULL_TEXT_BEAUTIFY_COPY_ID" val="42"/>
</p:tagLst>
</file>

<file path=ppt/tags/tag157.xml><?xml version="1.0" encoding="utf-8"?>
<p:tagLst xmlns:p="http://schemas.openxmlformats.org/presentationml/2006/main">
  <p:tag name="KSO_WM_BEAUTIFY_FLAG" val="#wm#"/>
  <p:tag name="KSO_WM_TEMPLATE_CATEGORY" val="custom"/>
  <p:tag name="KSO_WM_TEMPLATE_INDEX" val="20202824"/>
  <p:tag name="KSO_WM_SPECIAL_SOURCE" val="bdnull"/>
</p:tagLst>
</file>

<file path=ppt/tags/tag158.xml><?xml version="1.0" encoding="utf-8"?>
<p:tagLst xmlns:p="http://schemas.openxmlformats.org/presentationml/2006/main">
  <p:tag name="KSO_WM_FULL_TEXT_BEAUTIFY_COPY_ID" val="5"/>
</p:tagLst>
</file>

<file path=ppt/tags/tag159.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60.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61.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62.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63.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64.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65.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66.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67.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68.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69.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0.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1.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2.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3.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4.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5.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6.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7.xml><?xml version="1.0" encoding="utf-8"?>
<p:tagLst xmlns:p="http://schemas.openxmlformats.org/presentationml/2006/main">
  <p:tag name="KSO_WM_FULL_TEXT_BEAUTIFY_COPY_ID" val="2"/>
</p:tagLst>
</file>

<file path=ppt/tags/tag178.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9.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80.xml><?xml version="1.0" encoding="utf-8"?>
<p:tagLst xmlns:p="http://schemas.openxmlformats.org/presentationml/2006/main">
  <p:tag name="KSO_WM_FULL_TEXT_BEAUTIFY_COPY_ID" val="5"/>
</p:tagLst>
</file>

<file path=ppt/tags/tag181.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82.xml><?xml version="1.0" encoding="utf-8"?>
<p:tagLst xmlns:p="http://schemas.openxmlformats.org/presentationml/2006/main">
  <p:tag name="KSO_WM_UNIT_TABLE_BEAUTIFY" val="smartTable{c2e20e2b-a195-497d-8d08-fa05daec9f13}"/>
  <p:tag name="TABLE_EMPHASIZE_COLOR" val="4874862"/>
  <p:tag name="TABLE_SKINIDX" val="-1"/>
  <p:tag name="TABLE_COLORIDX" val="l"/>
  <p:tag name="TABLE_COLOR_RGB" val="0x000000*0xFFFFFF*0x212121*0xFFFFFF*0x4A626E*0xA4B9B0*0xD6E6E6*0xF8E8CF*0xEEB991*0xB26C53"/>
  <p:tag name="TABLE_RECT" val="197.875*148.75*564.25*242.5"/>
  <p:tag name="TABLE_ONEKEY_SKIN_IDX" val="0"/>
</p:tagLst>
</file>

<file path=ppt/tags/tag183.xml><?xml version="1.0" encoding="utf-8"?>
<p:tagLst xmlns:p="http://schemas.openxmlformats.org/presentationml/2006/main">
  <p:tag name="KSO_WM_BEAUTIFY_FLAG" val="#wm#"/>
  <p:tag name="KSO_WM_TEMPLATE_CATEGORY" val="custom"/>
  <p:tag name="KSO_WM_TEMPLATE_INDEX" val="20202824"/>
  <p:tag name="KSO_WM_SPECIAL_SOURCE" val="bdnull"/>
</p:tagLst>
</file>

<file path=ppt/tags/tag184.xml><?xml version="1.0" encoding="utf-8"?>
<p:tagLst xmlns:p="http://schemas.openxmlformats.org/presentationml/2006/main">
  <p:tag name="KSO_WM_FULL_TEXT_BEAUTIFY_COPY_ID" val="5"/>
</p:tagLst>
</file>

<file path=ppt/tags/tag185.xml><?xml version="1.0" encoding="utf-8"?>
<p:tagLst xmlns:p="http://schemas.openxmlformats.org/presentationml/2006/main">
  <p:tag name="KSO_WM_FULL_TEXT_BEAUTIFY_COPY_ID" val="2"/>
</p:tagLst>
</file>

<file path=ppt/tags/tag186.xml><?xml version="1.0" encoding="utf-8"?>
<p:tagLst xmlns:p="http://schemas.openxmlformats.org/presentationml/2006/main">
  <p:tag name="KSO_WM_BEAUTIFY_FLAG" val="#wm#"/>
  <p:tag name="KSO_WM_TEMPLATE_CATEGORY" val="custom"/>
  <p:tag name="KSO_WM_TEMPLATE_INDEX" val="20202824"/>
  <p:tag name="KSO_WM_SPECIAL_SOURCE" val="bdnull"/>
</p:tagLst>
</file>

<file path=ppt/tags/tag187.xml><?xml version="1.0" encoding="utf-8"?>
<p:tagLst xmlns:p="http://schemas.openxmlformats.org/presentationml/2006/main">
  <p:tag name="KSO_WM_FULL_TEXT_BEAUTIFY_COPY_ID" val="5"/>
</p:tagLst>
</file>

<file path=ppt/tags/tag188.xml><?xml version="1.0" encoding="utf-8"?>
<p:tagLst xmlns:p="http://schemas.openxmlformats.org/presentationml/2006/main">
  <p:tag name="KSO_WM_FULL_TEXT_BEAUTIFY_COPY_ID" val="2"/>
</p:tagLst>
</file>

<file path=ppt/tags/tag189.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90.xml><?xml version="1.0" encoding="utf-8"?>
<p:tagLst xmlns:p="http://schemas.openxmlformats.org/presentationml/2006/main">
  <p:tag name="KSO_WM_FULL_TEXT_BEAUTIFY_COPY_ID" val="5"/>
</p:tagLst>
</file>

<file path=ppt/tags/tag191.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92.xml><?xml version="1.0" encoding="utf-8"?>
<p:tagLst xmlns:p="http://schemas.openxmlformats.org/presentationml/2006/main">
  <p:tag name="KSO_WM_FULL_TEXT_BEAUTIFY_COPY_ID" val="5"/>
</p:tagLst>
</file>

<file path=ppt/tags/tag193.xml><?xml version="1.0" encoding="utf-8"?>
<p:tagLst xmlns:p="http://schemas.openxmlformats.org/presentationml/2006/main">
  <p:tag name="KSO_WM_UNIT_TABLE_BEAUTIFY" val="smartTable{b5dd2adb-ff6c-4cb5-adc0-a479dfc4112f}"/>
  <p:tag name="TABLE_RECT" val="144*210*671.8*120"/>
  <p:tag name="TABLE_EMPHASIZE_COLOR" val="6579300"/>
  <p:tag name="TABLE_ONEKEY_SKIN_IDX" val="0"/>
  <p:tag name="TABLE_SKINIDX" val="-1"/>
  <p:tag name="TABLE_COLORIDX" val="l"/>
  <p:tag name="TABLE_ENDDRAG_ORIGIN_RECT" val="787*170"/>
  <p:tag name="TABLE_ENDDRAG_RECT" val="81*207*787*170"/>
</p:tagLst>
</file>

<file path=ppt/tags/tag194.xml><?xml version="1.0" encoding="utf-8"?>
<p:tagLst xmlns:p="http://schemas.openxmlformats.org/presentationml/2006/main">
  <p:tag name="KSO_WM_FULL_TEXT_BEAUTIFY_COPY_ID" val="2"/>
</p:tagLst>
</file>

<file path=ppt/tags/tag195.xml><?xml version="1.0" encoding="utf-8"?>
<p:tagLst xmlns:p="http://schemas.openxmlformats.org/presentationml/2006/main">
  <p:tag name="KSO_WM_SPECIAL_SOURCE" val="bdnull"/>
</p:tagLst>
</file>

<file path=ppt/tags/tag196.xml><?xml version="1.0" encoding="utf-8"?>
<p:tagLst xmlns:p="http://schemas.openxmlformats.org/presentationml/2006/main">
  <p:tag name="KSO_WM_FULL_TEXT_BEAUTIFY_COPY_ID" val="5"/>
</p:tagLst>
</file>

<file path=ppt/tags/tag197.xml><?xml version="1.0" encoding="utf-8"?>
<p:tagLst xmlns:p="http://schemas.openxmlformats.org/presentationml/2006/main">
  <p:tag name="KSO_WM_FULL_TEXT_BEAUTIFY_COPY_ID" val="2"/>
</p:tagLst>
</file>

<file path=ppt/tags/tag198.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9.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00.xml><?xml version="1.0" encoding="utf-8"?>
<p:tagLst xmlns:p="http://schemas.openxmlformats.org/presentationml/2006/main">
  <p:tag name="KSO_WM_FULL_TEXT_BEAUTIFY_COPY_ID" val="5"/>
</p:tagLst>
</file>

<file path=ppt/tags/tag201.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02.xml><?xml version="1.0" encoding="utf-8"?>
<p:tagLst xmlns:p="http://schemas.openxmlformats.org/presentationml/2006/main">
  <p:tag name="KSO_WM_FULL_TEXT_BEAUTIFY_COPY_ID" val="5"/>
</p:tagLst>
</file>

<file path=ppt/tags/tag203.xml><?xml version="1.0" encoding="utf-8"?>
<p:tagLst xmlns:p="http://schemas.openxmlformats.org/presentationml/2006/main">
  <p:tag name="KSO_WM_FULL_TEXT_BEAUTIFY_COPY_ID" val="2"/>
</p:tagLst>
</file>

<file path=ppt/tags/tag204.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05.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汉仪细等线繁"/>
        <a:ea typeface=""/>
        <a:cs typeface=""/>
        <a:font script="Jpan" typeface="游ゴシック Light"/>
        <a:font script="Hang" typeface="맑은 고딕"/>
        <a:font script="Hans" typeface="汉仪细等线繁"/>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细等线繁"/>
        <a:ea typeface=""/>
        <a:cs typeface=""/>
        <a:font script="Jpan" typeface="游ゴシック"/>
        <a:font script="Hang" typeface="맑은 고딕"/>
        <a:font script="Hans" typeface="汉仪细等线繁"/>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WPS主题色">
      <a:dk1>
        <a:srgbClr val="000000"/>
      </a:dk1>
      <a:lt1>
        <a:srgbClr val="FFFFFF"/>
      </a:lt1>
      <a:dk2>
        <a:srgbClr val="E5EAF2"/>
      </a:dk2>
      <a:lt2>
        <a:srgbClr val="FFFFFF"/>
      </a:lt2>
      <a:accent1>
        <a:srgbClr val="5F769F"/>
      </a:accent1>
      <a:accent2>
        <a:srgbClr val="71729B"/>
      </a:accent2>
      <a:accent3>
        <a:srgbClr val="7E6B95"/>
      </a:accent3>
      <a:accent4>
        <a:srgbClr val="8A668D"/>
      </a:accent4>
      <a:accent5>
        <a:srgbClr val="955F82"/>
      </a:accent5>
      <a:accent6>
        <a:srgbClr val="9B5B75"/>
      </a:accent6>
      <a:hlink>
        <a:srgbClr val="292BBB"/>
      </a:hlink>
      <a:folHlink>
        <a:srgbClr val="580C6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w="19050" cap="flat" cmpd="tri">
          <a:solidFill>
            <a:schemeClr val="tx1"/>
          </a:solidFill>
          <a:prstDash val="dashDot"/>
          <a:miter lim="400000"/>
        </a:ln>
        <a:effectLst>
          <a:outerShdw blurRad="50800" dist="38100" dir="2700000" sx="101000" sy="101000" algn="tl" rotWithShape="0">
            <a:prstClr val="black">
              <a:alpha val="40000"/>
            </a:prstClr>
          </a:outerShdw>
        </a:effectLst>
      </a:spPr>
      <a:bodyPr rot="0" vertOverflow="overflow" horzOverflow="overflow" vert="horz" wrap="square" lIns="144145" tIns="60958" rIns="60958" bIns="60958" numCol="1" spcCol="38100" rtlCol="0" anchor="t">
        <a:spAutoFit/>
      </a:bodyPr>
      <a:lstStyle>
        <a:defPPr marL="0" marR="0" indent="0" algn="l" defTabSz="914400" rtl="0" fontAlgn="auto" latinLnBrk="1">
          <a:lnSpc>
            <a:spcPct val="120000"/>
          </a:lnSpc>
          <a:spcBef>
            <a:spcPts val="0"/>
          </a:spcBef>
          <a:spcAft>
            <a:spcPts val="0"/>
          </a:spcAft>
          <a:buClrTx/>
          <a:buSzTx/>
          <a:buFontTx/>
          <a:buNone/>
          <a:def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defRPr>
        </a:def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汉仪细等线繁"/>
        <a:ea typeface=""/>
        <a:cs typeface=""/>
        <a:font script="Jpan" typeface="游ゴシック Light"/>
        <a:font script="Hang" typeface="맑은 고딕"/>
        <a:font script="Hans" typeface="汉仪细等线繁"/>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细等线繁"/>
        <a:ea typeface=""/>
        <a:cs typeface=""/>
        <a:font script="Jpan" typeface="游ゴシック"/>
        <a:font script="Hang" typeface="맑은 고딕"/>
        <a:font script="Hans" typeface="汉仪细等线繁"/>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主题色">
    <a:dk1>
      <a:srgbClr val="000000"/>
    </a:dk1>
    <a:lt1>
      <a:srgbClr val="FFFFFF"/>
    </a:lt1>
    <a:dk2>
      <a:srgbClr val="E5EAF2"/>
    </a:dk2>
    <a:lt2>
      <a:srgbClr val="FFFFFF"/>
    </a:lt2>
    <a:accent1>
      <a:srgbClr val="5F769F"/>
    </a:accent1>
    <a:accent2>
      <a:srgbClr val="71729B"/>
    </a:accent2>
    <a:accent3>
      <a:srgbClr val="7E6B95"/>
    </a:accent3>
    <a:accent4>
      <a:srgbClr val="8A668D"/>
    </a:accent4>
    <a:accent5>
      <a:srgbClr val="955F82"/>
    </a:accent5>
    <a:accent6>
      <a:srgbClr val="9B5B75"/>
    </a:accent6>
    <a:hlink>
      <a:srgbClr val="292BBB"/>
    </a:hlink>
    <a:folHlink>
      <a:srgbClr val="580C6F"/>
    </a:folHlink>
  </a:clrScheme>
</a:themeOverride>
</file>

<file path=docProps/app.xml><?xml version="1.0" encoding="utf-8"?>
<Properties xmlns="http://schemas.openxmlformats.org/officeDocument/2006/extended-properties" xmlns:vt="http://schemas.openxmlformats.org/officeDocument/2006/docPropsVTypes">
  <TotalTime>0</TotalTime>
  <Words>3906</Words>
  <Application>WPS 演示</Application>
  <PresentationFormat>宽屏</PresentationFormat>
  <Paragraphs>474</Paragraphs>
  <Slides>18</Slides>
  <Notes>32</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18</vt:i4>
      </vt:variant>
    </vt:vector>
  </HeadingPairs>
  <TitlesOfParts>
    <vt:vector size="41" baseType="lpstr">
      <vt:lpstr>Arial</vt:lpstr>
      <vt:lpstr>宋体</vt:lpstr>
      <vt:lpstr>Wingdings</vt:lpstr>
      <vt:lpstr>Times New Roman</vt:lpstr>
      <vt:lpstr>Arial</vt:lpstr>
      <vt:lpstr>微软雅黑</vt:lpstr>
      <vt:lpstr>汉仪旗黑Y4-85简</vt:lpstr>
      <vt:lpstr>方正粗黑宋简体</vt:lpstr>
      <vt:lpstr>楷体</vt:lpstr>
      <vt:lpstr>汉仪大隶书简</vt:lpstr>
      <vt:lpstr>汉仪铁山隶书繁</vt:lpstr>
      <vt:lpstr>Wingdings</vt:lpstr>
      <vt:lpstr>Times New Roman</vt:lpstr>
      <vt:lpstr>新宋体</vt:lpstr>
      <vt:lpstr>Calibri</vt:lpstr>
      <vt:lpstr>幼圆</vt:lpstr>
      <vt:lpstr>Arial Unicode MS</vt:lpstr>
      <vt:lpstr>黑体</vt:lpstr>
      <vt:lpstr>汉仪雅酷黑简</vt:lpstr>
      <vt:lpstr>汉仪细等线繁</vt:lpstr>
      <vt:lpstr>Segoe Print</vt:lpstr>
      <vt:lpstr>自定义设计方案</vt:lpstr>
      <vt:lpstr>2_Office 主题​​</vt:lpstr>
      <vt:lpstr>第五单元 科 学 探 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Administrator</dc:creator>
  <cp:lastModifiedBy>霖</cp:lastModifiedBy>
  <cp:revision>1902</cp:revision>
  <dcterms:created xsi:type="dcterms:W3CDTF">2019-06-19T02:08:00Z</dcterms:created>
  <dcterms:modified xsi:type="dcterms:W3CDTF">2022-04-11T14:41:29Z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y fmtid="{D5CDD505-2E9C-101B-9397-08002B2CF9AE}" pid="3" name="KSOSaveFontToCloudKey">
    <vt:lpwstr>454426875_cloud</vt:lpwstr>
  </property>
  <property fmtid="{D5CDD505-2E9C-101B-9397-08002B2CF9AE}" pid="4" name="ICV">
    <vt:lpwstr>B9A4CEBAEED945FBBD7A4B61D26B5076</vt:lpwstr>
  </property>
</Properties>
</file>