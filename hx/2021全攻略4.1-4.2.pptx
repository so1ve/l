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7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25"/>
  </p:handoutMasterIdLst>
  <p:sldIdLst>
    <p:sldId id="2821" r:id="rId4"/>
    <p:sldId id="3152" r:id="rId6"/>
    <p:sldId id="3281" r:id="rId7"/>
    <p:sldId id="3282" r:id="rId8"/>
    <p:sldId id="3288" r:id="rId9"/>
    <p:sldId id="3283" r:id="rId10"/>
    <p:sldId id="3344" r:id="rId11"/>
    <p:sldId id="3345" r:id="rId12"/>
    <p:sldId id="3346" r:id="rId13"/>
    <p:sldId id="3347" r:id="rId14"/>
    <p:sldId id="3348" r:id="rId15"/>
    <p:sldId id="3318" r:id="rId16"/>
    <p:sldId id="3322" r:id="rId17"/>
    <p:sldId id="3337" r:id="rId18"/>
    <p:sldId id="3323" r:id="rId19"/>
    <p:sldId id="3301" r:id="rId20"/>
    <p:sldId id="3326" r:id="rId21"/>
    <p:sldId id="3327" r:id="rId22"/>
    <p:sldId id="3339" r:id="rId23"/>
    <p:sldId id="333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新课标第一网" initials="xkb1.com" lastIdx="1" clrIdx="0"/>
  <p:cmAuthor id="1" name="Administrator" initials="A" lastIdx="1" clrIdx="0"/>
  <p:cmAuthor id="2" name="xkb1.com" initials="x" lastIdx="0" clrIdx="1"/>
  <p:cmAuthor id="4" name="陈锐华" initials="CRH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E0EE4"/>
    <a:srgbClr val="FFFFFF"/>
    <a:srgbClr val="475977"/>
    <a:srgbClr val="516587"/>
    <a:srgbClr val="5F769F"/>
    <a:srgbClr val="FFFDE9"/>
    <a:srgbClr val="D4F0FB"/>
    <a:srgbClr val="E1F5FC"/>
    <a:srgbClr val="86A3A1"/>
    <a:srgbClr val="384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772" autoAdjust="0"/>
    <p:restoredTop sz="95362" autoAdjust="0"/>
  </p:normalViewPr>
  <p:slideViewPr>
    <p:cSldViewPr snapToGrid="0">
      <p:cViewPr varScale="1">
        <p:scale>
          <a:sx n="67" d="100"/>
          <a:sy n="67" d="100"/>
        </p:scale>
        <p:origin x="-342" y="-102"/>
      </p:cViewPr>
      <p:guideLst>
        <p:guide orient="horz" pos="2014"/>
        <p:guide pos="36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E8FEA-3AC9-4DE1-B0CA-FA2A2FC791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E8FEA-3AC9-4DE1-B0CA-FA2A2FC791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image" Target="../media/image2.png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2.png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1.jpeg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2.png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image" Target="../media/image2.png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 hasCustomPrompt="1"/>
          </p:nvPr>
        </p:nvSpPr>
        <p:spPr>
          <a:xfrm>
            <a:off x="1524000" y="0"/>
            <a:ext cx="9144000" cy="3518120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pPr lvl="0">
              <a:defRPr sz="1800"/>
            </a:pPr>
            <a:r>
              <a:rPr sz="6000"/>
              <a:t>标题文本</a:t>
            </a:r>
            <a:endParaRPr sz="6000"/>
          </a:p>
        </p:txBody>
      </p:sp>
      <p:sp>
        <p:nvSpPr>
          <p:cNvPr id="6" name="Shape 6"/>
          <p:cNvSpPr>
            <a:spLocks noGrp="1"/>
          </p:cNvSpPr>
          <p:nvPr>
            <p:ph type="body" idx="1" hasCustomPrompt="1"/>
          </p:nvPr>
        </p:nvSpPr>
        <p:spPr>
          <a:xfrm>
            <a:off x="1524000" y="3609363"/>
            <a:ext cx="9144000" cy="324863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ct val="134000"/>
              </a:spcBef>
              <a:buSzTx/>
              <a:buNone/>
              <a:defRPr sz="3200"/>
            </a:lvl1pPr>
            <a:lvl2pPr marL="0" indent="609600" algn="ctr">
              <a:spcBef>
                <a:spcPct val="134000"/>
              </a:spcBef>
              <a:buSzTx/>
              <a:buNone/>
              <a:defRPr sz="3200"/>
            </a:lvl2pPr>
            <a:lvl3pPr marL="0" indent="1219200" algn="ctr">
              <a:spcBef>
                <a:spcPct val="134000"/>
              </a:spcBef>
              <a:buSzTx/>
              <a:buNone/>
              <a:defRPr sz="3200"/>
            </a:lvl3pPr>
            <a:lvl4pPr marL="0" indent="1828800" algn="ctr">
              <a:spcBef>
                <a:spcPct val="134000"/>
              </a:spcBef>
              <a:buSzTx/>
              <a:buNone/>
              <a:defRPr sz="3200"/>
            </a:lvl4pPr>
            <a:lvl5pPr marL="0" indent="2438400" algn="ctr">
              <a:spcBef>
                <a:spcPct val="134000"/>
              </a:spcBef>
              <a:buSzTx/>
              <a:buNone/>
              <a:defRPr sz="3200"/>
            </a:lvl5pPr>
          </a:lstStyle>
          <a:p>
            <a:pPr lvl="0">
              <a:defRPr sz="1800"/>
            </a:pPr>
            <a:r>
              <a:rPr sz="2400"/>
              <a:t>正文级别 1</a:t>
            </a:r>
            <a:endParaRPr sz="2400"/>
          </a:p>
          <a:p>
            <a:pPr lvl="1">
              <a:defRPr sz="1800"/>
            </a:pPr>
            <a:r>
              <a:rPr sz="2400"/>
              <a:t>正文级别 2</a:t>
            </a:r>
            <a:endParaRPr sz="2400"/>
          </a:p>
          <a:p>
            <a:pPr lvl="2">
              <a:defRPr sz="1800"/>
            </a:pPr>
            <a:r>
              <a:rPr sz="2400"/>
              <a:t>正文级别 3</a:t>
            </a:r>
            <a:endParaRPr sz="2400"/>
          </a:p>
          <a:p>
            <a:pPr lvl="3">
              <a:defRPr sz="1800"/>
            </a:pPr>
            <a:r>
              <a:rPr sz="2400"/>
              <a:t>正文级别 4</a:t>
            </a:r>
            <a:endParaRPr sz="2400"/>
          </a:p>
          <a:p>
            <a:pPr lvl="4">
              <a:defRPr sz="1800"/>
            </a:pPr>
            <a:r>
              <a:rPr sz="2400"/>
              <a:t>正文级别 5</a:t>
            </a:r>
            <a:endParaRPr sz="240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 rot="245821">
            <a:off x="1744345" y="1880870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 rot="21380745">
            <a:off x="1756410" y="1901190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1756410" y="1900057"/>
            <a:ext cx="9324340" cy="3429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>
            <p:custDataLst>
              <p:tags r:id="rId6"/>
            </p:custDataLst>
          </p:nvPr>
        </p:nvCxnSpPr>
        <p:spPr>
          <a:xfrm>
            <a:off x="5779167" y="3748839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426367" y="2438402"/>
            <a:ext cx="7704222" cy="1176155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426367" y="3870121"/>
            <a:ext cx="7704222" cy="801114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508184" y="4084721"/>
            <a:ext cx="4567816" cy="793459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36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Y4-8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508179" y="4956280"/>
            <a:ext cx="4567816" cy="1077985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bg1">
                    <a:lumMod val="50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5237746" y="3998543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24678" y="294859"/>
            <a:ext cx="11542644" cy="62682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1583670" y="5733415"/>
            <a:ext cx="498475" cy="1082675"/>
            <a:chOff x="17775" y="8015"/>
            <a:chExt cx="1252" cy="2719"/>
          </a:xfrm>
        </p:grpSpPr>
        <p:sp>
          <p:nvSpPr>
            <p:cNvPr id="13" name="椭圆 12"/>
            <p:cNvSpPr/>
            <p:nvPr userDrawn="1">
              <p:custDataLst>
                <p:tags r:id="rId4"/>
              </p:custDataLst>
            </p:nvPr>
          </p:nvSpPr>
          <p:spPr>
            <a:xfrm>
              <a:off x="18152" y="9860"/>
              <a:ext cx="875" cy="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>
              <p:custDataLst>
                <p:tags r:id="rId5"/>
              </p:custDataLst>
            </p:nvPr>
          </p:nvSpPr>
          <p:spPr>
            <a:xfrm>
              <a:off x="17775" y="9140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 userDrawn="1">
              <p:custDataLst>
                <p:tags r:id="rId6"/>
              </p:custDataLst>
            </p:nvPr>
          </p:nvSpPr>
          <p:spPr>
            <a:xfrm>
              <a:off x="18401" y="8687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>
              <p:custDataLst>
                <p:tags r:id="rId7"/>
              </p:custDataLst>
            </p:nvPr>
          </p:nvSpPr>
          <p:spPr>
            <a:xfrm>
              <a:off x="17883" y="8015"/>
              <a:ext cx="626" cy="6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1744578" y="1880787"/>
            <a:ext cx="9336506" cy="3449203"/>
            <a:chOff x="1744578" y="1880787"/>
            <a:chExt cx="9336506" cy="3449203"/>
          </a:xfrm>
        </p:grpSpPr>
        <p:sp>
          <p:nvSpPr>
            <p:cNvPr id="7" name="矩形 6"/>
            <p:cNvSpPr/>
            <p:nvPr>
              <p:custDataLst>
                <p:tags r:id="rId4"/>
              </p:custDataLst>
            </p:nvPr>
          </p:nvSpPr>
          <p:spPr>
            <a:xfrm rot="245821">
              <a:off x="1744578" y="1880787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 rot="21380745">
              <a:off x="1756611" y="1900990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1744578" y="1900990"/>
              <a:ext cx="9324473" cy="3429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3266167" y="2599827"/>
            <a:ext cx="6371319" cy="1179574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Y4-8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266168" y="3991669"/>
            <a:ext cx="6371318" cy="973138"/>
          </a:xfrm>
        </p:spPr>
        <p:txBody>
          <a:bodyPr lIns="90000" rIns="90000" bIns="46800"/>
          <a:lstStyle>
            <a:lvl1pPr marL="0" indent="0" algn="ctr">
              <a:buNone/>
              <a:defRPr sz="2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>
            <p:custDataLst>
              <p:tags r:id="rId12"/>
            </p:custDataLst>
          </p:nvPr>
        </p:nvCxnSpPr>
        <p:spPr>
          <a:xfrm>
            <a:off x="5779167" y="3863139"/>
            <a:ext cx="998621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48285" y="273050"/>
            <a:ext cx="11692255" cy="63119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9"/>
            <a:ext cx="6480000" cy="5087937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1147334"/>
            <a:ext cx="12192000" cy="36933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70144"/>
            <a:ext cx="10976400" cy="648512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68643"/>
            <a:ext cx="2700000" cy="279180"/>
          </a:xfrm>
        </p:spPr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68643"/>
            <a:ext cx="3960000" cy="279180"/>
          </a:xfrm>
        </p:spPr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68643"/>
            <a:ext cx="2700000" cy="279180"/>
          </a:xfrm>
        </p:spPr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382991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1980158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 lIns="90000" tIns="46800" rIns="90000" bIns="46800">
            <a:normAutofit/>
          </a:bodyPr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-11046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755" y="237490"/>
            <a:ext cx="11037570" cy="565150"/>
          </a:xfrm>
        </p:spPr>
        <p:txBody>
          <a:bodyPr wrap="square"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rm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5" Type="http://schemas.openxmlformats.org/officeDocument/2006/relationships/theme" Target="../theme/theme2.xml"/><Relationship Id="rId24" Type="http://schemas.openxmlformats.org/officeDocument/2006/relationships/tags" Target="../tags/tag124.xml"/><Relationship Id="rId23" Type="http://schemas.openxmlformats.org/officeDocument/2006/relationships/tags" Target="../tags/tag12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slideLayout" Target="../slideLayouts/slideLayout9.xml"/><Relationship Id="rId19" Type="http://schemas.openxmlformats.org/officeDocument/2006/relationships/tags" Target="../tags/tag119.xml"/><Relationship Id="rId18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slow">
    <p:strips dir="r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8" Type="http://schemas.openxmlformats.org/officeDocument/2006/relationships/slideLayout" Target="../slideLayouts/slideLayout9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204.xml"/><Relationship Id="rId2" Type="http://schemas.openxmlformats.org/officeDocument/2006/relationships/image" Target="../media/image3.png"/><Relationship Id="rId1" Type="http://schemas.openxmlformats.org/officeDocument/2006/relationships/tags" Target="../tags/tag20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13.xml"/><Relationship Id="rId8" Type="http://schemas.openxmlformats.org/officeDocument/2006/relationships/tags" Target="../tags/tag212.xml"/><Relationship Id="rId7" Type="http://schemas.openxmlformats.org/officeDocument/2006/relationships/tags" Target="../tags/tag211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219.xml"/><Relationship Id="rId14" Type="http://schemas.openxmlformats.org/officeDocument/2006/relationships/tags" Target="../tags/tag218.xml"/><Relationship Id="rId13" Type="http://schemas.openxmlformats.org/officeDocument/2006/relationships/tags" Target="../tags/tag217.xml"/><Relationship Id="rId12" Type="http://schemas.openxmlformats.org/officeDocument/2006/relationships/tags" Target="../tags/tag216.xml"/><Relationship Id="rId11" Type="http://schemas.openxmlformats.org/officeDocument/2006/relationships/tags" Target="../tags/tag215.xml"/><Relationship Id="rId10" Type="http://schemas.openxmlformats.org/officeDocument/2006/relationships/tags" Target="../tags/tag214.xml"/><Relationship Id="rId1" Type="http://schemas.openxmlformats.org/officeDocument/2006/relationships/tags" Target="../tags/tag20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image" Target="../media/image4.png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tags" Target="../tags/tag22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tags" Target="../tags/tag23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9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9538" y="143510"/>
            <a:ext cx="5705475" cy="1322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最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新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修订版</a:t>
            </a:r>
            <a:r>
              <a:rPr lang="zh-CN" altLang="en-US" sz="8000" b="1" spc="-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化学</a:t>
            </a:r>
            <a:r>
              <a:rPr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sym typeface="+mn-ea"/>
              </a:rPr>
              <a:t>九年级全册</a:t>
            </a:r>
            <a:endParaRPr lang="zh-CN" altLang="en-US" sz="2800" b="1" spc="-3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500249" y="2215489"/>
            <a:ext cx="8111490" cy="784860"/>
          </a:xfrm>
        </p:spPr>
        <p:txBody>
          <a:bodyPr wrap="none">
            <a:spAutoFit/>
          </a:bodyPr>
          <a:lstStyle/>
          <a:p>
            <a:pPr algn="ctr"/>
            <a:r>
              <a:rPr lang="zh-CN" altLang="en-US" sz="4800" b="1"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</a:rPr>
              <a:t>第五单元 化学与社会发展</a:t>
            </a:r>
            <a:endParaRPr lang="zh-CN" altLang="en-US" sz="4800" b="1">
              <a:latin typeface="汉仪大隶书简" panose="02010600000101010101" charset="-122"/>
              <a:ea typeface="汉仪大隶书简" panose="02010600000101010101" charset="-122"/>
              <a:cs typeface="汉仪大隶书简" panose="0201060000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81099" y="3480409"/>
            <a:ext cx="9444990" cy="1410970"/>
            <a:chOff x="682" y="4917"/>
            <a:chExt cx="14874" cy="2222"/>
          </a:xfrm>
        </p:grpSpPr>
        <p:sp>
          <p:nvSpPr>
            <p:cNvPr id="2" name="文本框 1"/>
            <p:cNvSpPr txBox="1"/>
            <p:nvPr/>
          </p:nvSpPr>
          <p:spPr>
            <a:xfrm>
              <a:off x="6739" y="5375"/>
              <a:ext cx="2353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682" y="4917"/>
              <a:ext cx="14874" cy="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sz="3400" b="1" spc="-1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Times New Roman" panose="02020603050405020304" pitchFamily="18" charset="0"/>
                  <a:ea typeface="方正粗黑宋简体" panose="02000000000000000000" pitchFamily="2" charset="-122"/>
                  <a:cs typeface="Times New Roman" panose="02020603050405020304" pitchFamily="18" charset="0"/>
                  <a:sym typeface="+mn-ea"/>
                </a:rPr>
                <a:t>一、化学与能源、资源的利用、保护好我们的环境</a:t>
              </a:r>
              <a:endParaRPr lang="zh-CN" sz="3400" b="1" spc="-100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  <a:sym typeface="+mn-ea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lang="zh-CN" altLang="en-US" sz="32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sym typeface="+mn-ea"/>
                </a:rPr>
                <a:t>—复习导航、例题</a:t>
              </a:r>
              <a:endParaRPr lang="en-US" altLang="zh-CN" sz="3200" b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汉仪铁山隶书繁" panose="00020600040101010101" charset="-122"/>
                <a:cs typeface="汉仪铁山隶书繁" panose="00020600040101010101" charset="-122"/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3720" y="941705"/>
          <a:ext cx="11073300" cy="5039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00"/>
                <a:gridCol w="4689475"/>
                <a:gridCol w="4466125"/>
              </a:tblGrid>
              <a:tr h="720090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80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zh-CN" altLang="en-US" sz="2800">
                          <a:solidFill>
                            <a:schemeClr val="bg1"/>
                          </a:solidFill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</a:rPr>
                        <a:t>燃烧与灭火</a:t>
                      </a:r>
                      <a:endParaRPr lang="zh-CN" altLang="en-US" sz="2800">
                        <a:solidFill>
                          <a:schemeClr val="bg1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475977"/>
                    </a:solidFill>
                  </a:tcPr>
                </a:tc>
                <a:tc hMerge="1">
                  <a:tcP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</a:tcPr>
                </a:tc>
                <a:tc hMerge="1">
                  <a:tcPr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</a:tcPr>
                </a:tc>
              </a:tr>
              <a:tr h="720000">
                <a:tc rowSpan="3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</a:rPr>
                        <a:t>燃烧条件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76889C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76889C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9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</a:rPr>
                        <a:t>灭火原理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19455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3720" y="348028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→考点精解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68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78405" y="1846580"/>
            <a:ext cx="3855720" cy="1938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①物质必须是可燃物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②接触氧气(或空气)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③温度达到可燃物的着火点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82485" y="2554605"/>
            <a:ext cx="444436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三个条件缺一不可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b="1">
              <a:solidFill>
                <a:srgbClr val="76889C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b="1">
              <a:solidFill>
                <a:srgbClr val="76889C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b="1">
              <a:solidFill>
                <a:srgbClr val="76889C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2400" b="1">
              <a:solidFill>
                <a:srgbClr val="76889C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三个原理使用其一即可灭火。根据具体情况使用灭火方法。</a:t>
            </a:r>
            <a:endParaRPr lang="zh-CN" altLang="en-US" sz="2400" b="1">
              <a:solidFill>
                <a:schemeClr val="tx1">
                  <a:lumMod val="85000"/>
                  <a:lumOff val="1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78405" y="4043045"/>
            <a:ext cx="4161790" cy="1938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①清除或转移可燃物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②隔绝氧气</a:t>
            </a: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或空气</a:t>
            </a:r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③降温至燃烧物的着火点以下</a:t>
            </a:r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86080" y="727710"/>
          <a:ext cx="11343005" cy="57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332000"/>
                <a:gridCol w="3091180"/>
                <a:gridCol w="3028820"/>
                <a:gridCol w="2990850"/>
              </a:tblGrid>
              <a:tr h="647700"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60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600">
                          <a:solidFill>
                            <a:schemeClr val="bg1"/>
                          </a:solidFill>
                          <a:uFillTx/>
                        </a:rPr>
                        <a:t>.</a:t>
                      </a:r>
                      <a:r>
                        <a:rPr lang="zh-CN" altLang="en-US" sz="2600">
                          <a:solidFill>
                            <a:schemeClr val="bg1"/>
                          </a:solidFill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</a:rPr>
                        <a:t>化石燃料与能源</a:t>
                      </a:r>
                      <a:endParaRPr lang="zh-CN" altLang="en-US" sz="2600">
                        <a:solidFill>
                          <a:schemeClr val="bg1"/>
                        </a:solidFill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516587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rowSpan="3">
                  <a:txBody>
                    <a:bodyPr/>
                    <a:p>
                      <a:pPr algn="l"/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化石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</a:rPr>
                        <a:t>燃料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</a:rPr>
                        <a:t>不可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</a:rPr>
                        <a:t>再生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种类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煤(工业粮食)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石油(工业血液)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天然气(清洁能源)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512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所含物质</a:t>
                      </a:r>
                      <a:endParaRPr lang="zh-CN" altLang="en-US" sz="2400">
                        <a:solidFill>
                          <a:srgbClr val="76889C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044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燃料产物</a:t>
                      </a:r>
                      <a:endParaRPr lang="zh-CN" altLang="en-US" sz="2400">
                        <a:solidFill>
                          <a:srgbClr val="76889C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乙醇(可再生)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氢气(循环再生)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新能源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6080" y="134668"/>
            <a:ext cx="331968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→考点精解</a:t>
            </a:r>
            <a:endParaRPr sz="2400" b="1" strike="noStrike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方正粗黑宋简体" panose="02000000000000000000" pitchFamily="2" charset="-122"/>
              <a:ea typeface="方正粗黑宋简体" panose="02000000000000000000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90800" y="4709795"/>
            <a:ext cx="8140700" cy="17887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被誉为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绿色液体燃料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zh-CN"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最清洁能源，产生热值高，</a:t>
            </a:r>
            <a:endParaRPr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太阳能、核能、风能、水能、地热能、潮汐能、生物质能等</a:t>
            </a:r>
            <a:endParaRPr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2230" y="2192020"/>
            <a:ext cx="3082925" cy="11734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复杂有机物和无机物的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混合物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主要含碳以及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氢、氧、氮、硫等元素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91505" y="2192020"/>
            <a:ext cx="3082925" cy="11734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多种碳、氢化合物的混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合物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主要含碳以及氢、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氧、氮、硫等元素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endParaRPr lang="en-US" altLang="zh-CN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06485" y="2366010"/>
            <a:ext cx="2844165" cy="22021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主要含甲烷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CH</a:t>
            </a:r>
            <a:r>
              <a:rPr lang="en-US" altLang="zh-CN" sz="22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en-US" altLang="zh-CN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的混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合物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300" b="1" spc="-1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300" b="1" spc="-1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300" b="1" spc="-1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污染少</a:t>
            </a:r>
            <a:endParaRPr lang="zh-CN" altLang="en-US" sz="22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93670" y="3680460"/>
            <a:ext cx="5759450" cy="7988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00000"/>
              </a:lnSpc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、H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O、硫的氧化物(SO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)和氮的氧化物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(NO、NO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)等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689340" y="3554095"/>
            <a:ext cx="3030220" cy="570865"/>
            <a:chOff x="13948" y="5597"/>
            <a:chExt cx="4772" cy="899"/>
          </a:xfrm>
        </p:grpSpPr>
        <p:sp>
          <p:nvSpPr>
            <p:cNvPr id="100" name="文本框 99"/>
            <p:cNvSpPr txBox="1"/>
            <p:nvPr/>
          </p:nvSpPr>
          <p:spPr>
            <a:xfrm>
              <a:off x="13948" y="5796"/>
              <a:ext cx="4773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indent="0"/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+2O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        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+2H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zh-CN" altLang="en-US" sz="23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1" name="组合 110"/>
            <p:cNvGrpSpPr/>
            <p:nvPr/>
          </p:nvGrpSpPr>
          <p:grpSpPr>
            <a:xfrm rot="0">
              <a:off x="15661" y="5597"/>
              <a:ext cx="972" cy="580"/>
              <a:chOff x="15940" y="5594"/>
              <a:chExt cx="793" cy="580"/>
            </a:xfrm>
          </p:grpSpPr>
          <p:grpSp>
            <p:nvGrpSpPr>
              <p:cNvPr id="136" name="组合 135"/>
              <p:cNvGrpSpPr/>
              <p:nvPr/>
            </p:nvGrpSpPr>
            <p:grpSpPr>
              <a:xfrm>
                <a:off x="15940" y="5594"/>
                <a:ext cx="793" cy="580"/>
                <a:chOff x="6705557" y="5131178"/>
                <a:chExt cx="503516" cy="368545"/>
              </a:xfrm>
            </p:grpSpPr>
            <p:sp>
              <p:nvSpPr>
                <p:cNvPr id="137" name="矩形 136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705557" y="5131178"/>
                  <a:ext cx="503516" cy="3685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lang="zh-CN" altLang="en-US" b="1" spc="-1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altLang="en-US" b="1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38" name="直接箭头连接符 137"/>
                <p:cNvCxnSpPr/>
                <p:nvPr>
                  <p:custDataLst>
                    <p:tags r:id="rId4"/>
                  </p:custDataLst>
                </p:nvPr>
              </p:nvCxnSpPr>
              <p:spPr>
                <a:xfrm flipV="1">
                  <a:off x="6728185" y="5418161"/>
                  <a:ext cx="440521" cy="4555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9" name="直接箭头连接符 138"/>
              <p:cNvCxnSpPr/>
              <p:nvPr>
                <p:custDataLst>
                  <p:tags r:id="rId5"/>
                </p:custDataLst>
              </p:nvPr>
            </p:nvCxnSpPr>
            <p:spPr>
              <a:xfrm flipV="1">
                <a:off x="15965" y="6100"/>
                <a:ext cx="694" cy="7"/>
              </a:xfrm>
              <a:prstGeom prst="straightConnector1">
                <a:avLst/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3"/>
          <p:cNvGrpSpPr/>
          <p:nvPr/>
        </p:nvGrpSpPr>
        <p:grpSpPr>
          <a:xfrm>
            <a:off x="6227445" y="4587875"/>
            <a:ext cx="3861435" cy="571500"/>
            <a:chOff x="13060" y="5597"/>
            <a:chExt cx="6081" cy="900"/>
          </a:xfrm>
        </p:grpSpPr>
        <p:sp>
          <p:nvSpPr>
            <p:cNvPr id="15" name="文本框 14"/>
            <p:cNvSpPr txBox="1"/>
            <p:nvPr/>
          </p:nvSpPr>
          <p:spPr>
            <a:xfrm>
              <a:off x="13060" y="5796"/>
              <a:ext cx="6081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indent="0"/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en-US" altLang="zh-CN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r>
                <a:rPr lang="en-US" altLang="zh-CN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OH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            </a:t>
              </a:r>
              <a:r>
                <a:rPr lang="en-US" altLang="zh-CN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zh-CN" altLang="en-US" sz="23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15661" y="5597"/>
              <a:ext cx="972" cy="580"/>
              <a:chOff x="15940" y="5594"/>
              <a:chExt cx="793" cy="58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15940" y="5594"/>
                <a:ext cx="793" cy="580"/>
                <a:chOff x="6705557" y="5131178"/>
                <a:chExt cx="503516" cy="368545"/>
              </a:xfrm>
            </p:grpSpPr>
            <p:sp>
              <p:nvSpPr>
                <p:cNvPr id="18" name="矩形 1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705557" y="5131178"/>
                  <a:ext cx="503516" cy="3685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lang="zh-CN" altLang="en-US" b="1" spc="-1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altLang="en-US" b="1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19" name="直接箭头连接符 18"/>
                <p:cNvCxnSpPr/>
                <p:nvPr>
                  <p:custDataLst>
                    <p:tags r:id="rId7"/>
                  </p:custDataLst>
                </p:nvPr>
              </p:nvCxnSpPr>
              <p:spPr>
                <a:xfrm flipV="1">
                  <a:off x="6728185" y="5418161"/>
                  <a:ext cx="440521" cy="4555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" name="直接箭头连接符 19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15965" y="6100"/>
                <a:ext cx="694" cy="7"/>
              </a:xfrm>
              <a:prstGeom prst="straightConnector1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/>
        </p:nvGrpSpPr>
        <p:grpSpPr>
          <a:xfrm>
            <a:off x="6227445" y="5243195"/>
            <a:ext cx="2339975" cy="571500"/>
            <a:chOff x="14140" y="5597"/>
            <a:chExt cx="3685" cy="900"/>
          </a:xfrm>
        </p:grpSpPr>
        <p:sp>
          <p:nvSpPr>
            <p:cNvPr id="22" name="文本框 21"/>
            <p:cNvSpPr txBox="1"/>
            <p:nvPr/>
          </p:nvSpPr>
          <p:spPr>
            <a:xfrm>
              <a:off x="14140" y="5796"/>
              <a:ext cx="3685" cy="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indent="0"/>
              <a:r>
                <a:rPr 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en-US" altLang="zh-CN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+O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                </a:t>
              </a:r>
              <a:r>
                <a:rPr lang="en-US" altLang="zh-CN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zh-CN" altLang="en-US" sz="2300" b="1" spc="-100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300" b="1" spc="-1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zh-CN" altLang="en-US" sz="23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 rot="0">
              <a:off x="15661" y="5597"/>
              <a:ext cx="972" cy="580"/>
              <a:chOff x="15940" y="5594"/>
              <a:chExt cx="793" cy="580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15940" y="5594"/>
                <a:ext cx="793" cy="580"/>
                <a:chOff x="6705557" y="5131178"/>
                <a:chExt cx="503516" cy="368545"/>
              </a:xfrm>
            </p:grpSpPr>
            <p:sp>
              <p:nvSpPr>
                <p:cNvPr id="25" name="矩形 2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6705557" y="5131178"/>
                  <a:ext cx="503516" cy="3685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p>
                  <a:pPr lvl="0" algn="l"/>
                  <a:r>
                    <a:rPr lang="zh-CN" altLang="en-US" b="1" spc="-1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 panose="02010609060101010101" charset="-122"/>
                      <a:ea typeface="楷体" panose="02010609060101010101" charset="-122"/>
                    </a:rPr>
                    <a:t>点燃</a:t>
                  </a:r>
                  <a:endParaRPr lang="zh-CN" altLang="en-US" b="1" spc="-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 panose="02010609060101010101" charset="-122"/>
                    <a:ea typeface="楷体" panose="02010609060101010101" charset="-122"/>
                  </a:endParaRPr>
                </a:p>
              </p:txBody>
            </p:sp>
            <p:cxnSp>
              <p:nvCxnSpPr>
                <p:cNvPr id="26" name="直接箭头连接符 25"/>
                <p:cNvCxnSpPr/>
                <p:nvPr>
                  <p:custDataLst>
                    <p:tags r:id="rId10"/>
                  </p:custDataLst>
                </p:nvPr>
              </p:nvCxnSpPr>
              <p:spPr>
                <a:xfrm flipV="1">
                  <a:off x="6728185" y="5418161"/>
                  <a:ext cx="440521" cy="4555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75000"/>
                      <a:lumOff val="2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直接箭头连接符 26"/>
              <p:cNvCxnSpPr/>
              <p:nvPr>
                <p:custDataLst>
                  <p:tags r:id="rId11"/>
                </p:custDataLst>
              </p:nvPr>
            </p:nvCxnSpPr>
            <p:spPr>
              <a:xfrm flipV="1">
                <a:off x="15965" y="6100"/>
                <a:ext cx="694" cy="7"/>
              </a:xfrm>
              <a:prstGeom prst="straightConnector1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31800" y="930275"/>
          <a:ext cx="11309985" cy="496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180"/>
                <a:gridCol w="5588000"/>
                <a:gridCol w="4916805"/>
              </a:tblGrid>
              <a:tr h="647700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en-US" altLang="zh-CN" sz="2600">
                          <a:solidFill>
                            <a:schemeClr val="bg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2600">
                          <a:solidFill>
                            <a:schemeClr val="bg1"/>
                          </a:solidFill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</a:rPr>
                        <a:t>燃料与环境</a:t>
                      </a:r>
                      <a:endParaRPr lang="zh-CN" altLang="en-US" sz="2600">
                        <a:solidFill>
                          <a:schemeClr val="bg1"/>
                        </a:solidFill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475977"/>
                    </a:solidFill>
                  </a:tcPr>
                </a:tc>
                <a:tc hMerge="1">
                  <a:tcP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</a:tcPr>
                </a:tc>
                <a:tc h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 b="1">
                        <a:ln>
                          <a:noFill/>
                        </a:ln>
                        <a:solidFill>
                          <a:srgbClr val="76889C"/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对环境的影响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防治措施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rowSpan="5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燃烧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化石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sz="2400" b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FillTx/>
                          <a:latin typeface="方正粗黑宋简体" panose="02000000000000000000" pitchFamily="2" charset="-122"/>
                          <a:ea typeface="方正粗黑宋简体" panose="02000000000000000000" pitchFamily="2" charset="-122"/>
                          <a:cs typeface="Times New Roman" panose="02020603050405020304" pitchFamily="18" charset="0"/>
                          <a:sym typeface="+mn-ea"/>
                        </a:rPr>
                        <a:t>燃料</a:t>
                      </a:r>
                      <a:endParaRPr sz="2400" b="1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FillTx/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  <a:latin typeface="方正粗黑宋简体" panose="02000000000000000000" pitchFamily="2" charset="-122"/>
                        <a:ea typeface="方正粗黑宋简体" panose="02000000000000000000" pitchFamily="2" charset="-122"/>
                        <a:sym typeface="+mn-ea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2400" b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2400" b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p>
                      <a:pPr>
                        <a:buNone/>
                      </a:pPr>
                      <a:endParaRPr lang="zh-CN" altLang="en-US" sz="2400">
                        <a:solidFill>
                          <a:srgbClr val="404040"/>
                        </a:solidFill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720000"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 b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FillTx/>
                        <a:latin typeface="Times New Roman" panose="02020603050405020304" pitchFamily="18" charset="0"/>
                        <a:ea typeface="方正粗黑宋简体" panose="02000000000000000000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vMerge="1">
                  <a:tcPr marL="36195" marR="36195" marT="36195" marB="36195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47040" y="302308"/>
            <a:ext cx="331968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→考点精解</a:t>
            </a:r>
            <a:endParaRPr sz="2400" b="1" strike="noStrike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方正粗黑宋简体" panose="02000000000000000000" pitchFamily="2" charset="-122"/>
              <a:ea typeface="方正粗黑宋简体" panose="02000000000000000000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58570" y="2480945"/>
            <a:ext cx="5648960" cy="334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①燃料燃烧不充分，产生</a:t>
            </a:r>
            <a:r>
              <a:rPr sz="2300" b="1">
                <a:solidFill>
                  <a:srgbClr val="0E0EE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剧毒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氧化碳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②生成CO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，加剧温室效应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③产生空气污染物SO</a:t>
            </a:r>
            <a:r>
              <a:rPr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、NO</a:t>
            </a:r>
            <a:r>
              <a:rPr lang="en-US" sz="2300" b="1" baseline="-2500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等，形成酸雨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④余热会污染水源，使水中生物死亡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⑤炉渣造成固体废物污染</a:t>
            </a:r>
            <a:endParaRPr sz="23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59270" y="2480945"/>
            <a:ext cx="4773930" cy="323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rtlCol="0" anchor="t">
            <a:spAutoFit/>
          </a:bodyPr>
          <a:p>
            <a:pPr algn="l"/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改良燃烧结构，促进燃料完全燃烧</a:t>
            </a:r>
            <a:endParaRPr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250000"/>
              </a:lnSpc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少用化石燃料，开发使用新能源</a:t>
            </a:r>
            <a:r>
              <a:rPr lang="zh-CN"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治理汽车和工厂尾气，达标后排放</a:t>
            </a:r>
            <a:endParaRPr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300000"/>
              </a:lnSpc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废水和废渣治理达标后排放</a:t>
            </a:r>
            <a:r>
              <a:rPr lang="zh-CN"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用填埋法等处理炉渣</a:t>
            </a:r>
            <a:endParaRPr sz="2400" b="1">
              <a:solidFill>
                <a:schemeClr val="tx1">
                  <a:lumMod val="75000"/>
                  <a:lumOff val="25000"/>
                </a:schemeClr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74040" y="700405"/>
            <a:ext cx="11111230" cy="596836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幼圆" panose="02010509060101010101" charset="-122"/>
                <a:ea typeface="幼圆" panose="02010509060101010101" charset="-122"/>
                <a:cs typeface="Times New Roman" panose="02020603050405020304" pitchFamily="18" charset="0"/>
                <a:sym typeface="Arial" panose="020B0604020202090204"/>
              </a:rPr>
              <a:t>例</a:t>
            </a:r>
            <a:r>
              <a:rPr kumimoji="0" lang="en-US" altLang="zh-CN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</a:t>
            </a: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[2020.</a:t>
            </a:r>
            <a:r>
              <a:rPr 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福建</a:t>
            </a: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]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合理利用化石燃料资源，是人类不断探索的课题。某城市家用</a:t>
            </a: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燃料的使用经历了下图所示的过程，并将逐步向理想燃料发展。</a:t>
            </a: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注</a:t>
            </a:r>
            <a:r>
              <a:rPr kumimoji="0" lang="zh-CN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括号中的物质是对应燃料的主要成分</a:t>
            </a: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(1)</a:t>
            </a: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500" b="1" kern="0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sz="2500" b="1" kern="0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、C</a:t>
            </a:r>
            <a:r>
              <a:rPr lang="en-US" altLang="zh-CN" sz="2500" b="1" kern="0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sz="2500" b="1" kern="0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10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两种物质中，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氢元素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的质量分数较大的是</a:t>
            </a:r>
            <a:r>
              <a:rPr kumimoji="0" sz="2500" b="1" i="0" u="sng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</a:t>
            </a: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填化学式</a:t>
            </a: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(2)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倡导</a:t>
            </a: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家用燃料低碳化</a:t>
            </a:r>
            <a:r>
              <a:rPr kumimoji="0" lang="en-US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的意义是</a:t>
            </a:r>
            <a:r>
              <a:rPr kumimoji="0" sz="2500" b="1" i="0" u="sng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(3)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一定条件下，仅用一个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置换反应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即可制得CO和H</a:t>
            </a:r>
            <a:r>
              <a:rPr kumimoji="0" lang="en-US" sz="2500" b="1" i="0" baseline="-2500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，反应的化学方程式为</a:t>
            </a:r>
            <a:r>
              <a:rPr kumimoji="0" lang="zh-CN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endParaRPr kumimoji="0" lang="zh-CN" sz="2500" b="1" i="0" u="sng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500" b="1" i="0" u="sng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     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(4)</a:t>
            </a:r>
            <a:r>
              <a:rPr kumimoji="0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随着全球能源使用量的增长，化石燃料等不可再生能源将日趋枯竭。请提出一个缓解能源危机的设想</a:t>
            </a:r>
            <a:r>
              <a:rPr kumimoji="0" lang="zh-CN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lang="zh-CN" sz="2500" b="1" i="0" u="sng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</a:t>
            </a:r>
            <a:r>
              <a:rPr kumimoji="0" lang="zh-CN" sz="2500" b="1" i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sz="2500" b="1" i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74040" y="83233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→范例剖析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69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8927711" y="2137040"/>
            <a:ext cx="1980497" cy="505969"/>
          </a:xfrm>
          <a:prstGeom prst="roundRect">
            <a:avLst/>
          </a:prstGeom>
          <a:noFill/>
          <a:ln w="222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tIns="36195" bIns="36195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天然气(CH</a:t>
            </a:r>
            <a:r>
              <a:rPr lang="en-US" altLang="zh-CN" sz="2500" b="1" kern="0" baseline="-2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endParaRPr lang="zh-CN" altLang="en-US" sz="2500" b="1" kern="0" dirty="0" smtClean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92785" y="2097686"/>
            <a:ext cx="1932243" cy="584677"/>
            <a:chOff x="7608" y="3657"/>
            <a:chExt cx="2954" cy="894"/>
          </a:xfrm>
        </p:grpSpPr>
        <p:sp>
          <p:nvSpPr>
            <p:cNvPr id="84" name="圆角矩形 83"/>
            <p:cNvSpPr/>
            <p:nvPr>
              <p:custDataLst>
                <p:tags r:id="rId4"/>
              </p:custDataLst>
            </p:nvPr>
          </p:nvSpPr>
          <p:spPr>
            <a:xfrm>
              <a:off x="7608" y="3657"/>
              <a:ext cx="1877" cy="894"/>
            </a:xfrm>
            <a:prstGeom prst="roundRect">
              <a:avLst/>
            </a:prstGeom>
            <a:noFill/>
            <a:ln w="22225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268A5"/>
                  </a:solidFill>
                </a14:hiddenFill>
              </a:ext>
            </a:extLst>
          </p:spPr>
          <p:txBody>
            <a:bodyPr wrap="square" tIns="71755" bIns="71755" rtlCol="0" anchor="ctr" anchorCtr="1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蜂窝煤</a:t>
              </a:r>
              <a:endPara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90" name="肘形连接符 89"/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9485" y="4103"/>
              <a:ext cx="1077" cy="2"/>
            </a:xfrm>
            <a:prstGeom prst="bentConnector3">
              <a:avLst/>
            </a:prstGeom>
            <a:noFill/>
            <a:ln w="28575" cap="flat" cmpd="sng" algn="ctr">
              <a:solidFill>
                <a:srgbClr val="3A4150"/>
              </a:solidFill>
              <a:prstDash val="solid"/>
              <a:miter lim="800000"/>
              <a:headEnd type="triangle" w="lg" len="lg"/>
              <a:tailEnd type="none" w="lg" len="lg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2654788" y="1963943"/>
            <a:ext cx="3075113" cy="852163"/>
            <a:chOff x="7654" y="3453"/>
            <a:chExt cx="4702" cy="1303"/>
          </a:xfrm>
        </p:grpSpPr>
        <p:sp>
          <p:nvSpPr>
            <p:cNvPr id="7" name="圆角矩形 6"/>
            <p:cNvSpPr/>
            <p:nvPr>
              <p:custDataLst>
                <p:tags r:id="rId6"/>
              </p:custDataLst>
            </p:nvPr>
          </p:nvSpPr>
          <p:spPr>
            <a:xfrm>
              <a:off x="7654" y="3453"/>
              <a:ext cx="3578" cy="1303"/>
            </a:xfrm>
            <a:prstGeom prst="roundRect">
              <a:avLst/>
            </a:prstGeom>
            <a:noFill/>
            <a:ln w="22225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268A5"/>
                  </a:solidFill>
                </a14:hiddenFill>
              </a:ext>
            </a:extLst>
          </p:spPr>
          <p:txBody>
            <a:bodyPr wrap="square" lIns="0" tIns="0" rIns="0" bIns="0" rtlCol="0" anchor="ctr" anchorCtr="1">
              <a:spAutoFit/>
            </a:bodyPr>
            <a:p>
              <a:pPr algn="ctr">
                <a:lnSpc>
                  <a:spcPct val="100000"/>
                </a:lnSpc>
              </a:pP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液化石油气(C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3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H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8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、C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4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H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10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)</a:t>
              </a:r>
              <a:endPara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8" name="肘形连接符 7"/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11279" y="4103"/>
              <a:ext cx="1077" cy="2"/>
            </a:xfrm>
            <a:prstGeom prst="bentConnector3">
              <a:avLst/>
            </a:prstGeom>
            <a:noFill/>
            <a:ln w="28575" cap="flat" cmpd="sng" algn="ctr">
              <a:solidFill>
                <a:srgbClr val="3A4150"/>
              </a:solidFill>
              <a:prstDash val="solid"/>
              <a:miter lim="800000"/>
              <a:headEnd type="triangle" w="lg" len="lg"/>
              <a:tailEnd type="none" w="lg" len="lg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>
            <a:off x="5741903" y="1963943"/>
            <a:ext cx="3136589" cy="852163"/>
            <a:chOff x="6157" y="3451"/>
            <a:chExt cx="4796" cy="1303"/>
          </a:xfrm>
        </p:grpSpPr>
        <p:sp>
          <p:nvSpPr>
            <p:cNvPr id="10" name="圆角矩形 9"/>
            <p:cNvSpPr/>
            <p:nvPr>
              <p:custDataLst>
                <p:tags r:id="rId8"/>
              </p:custDataLst>
            </p:nvPr>
          </p:nvSpPr>
          <p:spPr>
            <a:xfrm>
              <a:off x="6157" y="3451"/>
              <a:ext cx="3687" cy="1303"/>
            </a:xfrm>
            <a:prstGeom prst="roundRect">
              <a:avLst/>
            </a:prstGeom>
            <a:noFill/>
            <a:ln w="22225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268A5"/>
                  </a:solidFill>
                </a14:hiddenFill>
              </a:ext>
            </a:extLst>
          </p:spPr>
          <p:txBody>
            <a:bodyPr wrap="square" lIns="36195" tIns="0" rIns="36195" bIns="0" rtlCol="0" anchor="ctr" anchorCtr="1">
              <a:spAutoFit/>
            </a:bodyPr>
            <a:p>
              <a:pPr algn="ctr">
                <a:lnSpc>
                  <a:spcPct val="100000"/>
                </a:lnSpc>
              </a:pP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管道煤气</a:t>
              </a:r>
              <a:endPara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(CO、H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2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、CH</a:t>
              </a:r>
              <a:r>
                <a:rPr lang="en-US" altLang="zh-CN" sz="2500" b="1" kern="0" baseline="-25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4</a:t>
              </a:r>
              <a:r>
                <a:rPr lang="zh-CN" altLang="en-US" sz="2500" b="1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)</a:t>
              </a:r>
              <a:endParaRPr lang="zh-CN" altLang="en-US" sz="2500" b="1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</p:txBody>
        </p:sp>
        <p:cxnSp>
          <p:nvCxnSpPr>
            <p:cNvPr id="11" name="肘形连接符 10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9876" y="4103"/>
              <a:ext cx="1077" cy="2"/>
            </a:xfrm>
            <a:prstGeom prst="bentConnector3">
              <a:avLst/>
            </a:prstGeom>
            <a:noFill/>
            <a:ln w="28575" cap="flat" cmpd="sng" algn="ctr">
              <a:solidFill>
                <a:srgbClr val="3A4150"/>
              </a:solidFill>
              <a:prstDash val="solid"/>
              <a:miter lim="800000"/>
              <a:headEnd type="triangle" w="lg" len="lg"/>
              <a:tailEnd type="none" w="lg" len="lg"/>
            </a:ln>
            <a:effectLst/>
          </p:spPr>
        </p:cxnSp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1549400" y="2091916"/>
            <a:ext cx="1837214" cy="476407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2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经滤清器除尘</a:t>
            </a:r>
            <a:endParaRPr lang="zh-CN" altLang="en-US" sz="22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685" y="258445"/>
            <a:ext cx="11189335" cy="6193790"/>
          </a:xfrm>
          <a:noFill/>
          <a:ln w="25400" cmpd="tri">
            <a:solidFill>
              <a:schemeClr val="tx1">
                <a:lumMod val="85000"/>
                <a:lumOff val="15000"/>
              </a:schemeClr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8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indent="0" latinLnBrk="1">
              <a:spcAft>
                <a:spcPts val="0"/>
              </a:spcAft>
              <a:buNone/>
            </a:pPr>
            <a:r>
              <a:rPr sz="2500" b="1">
                <a:ln>
                  <a:noFill/>
                </a:ln>
                <a:solidFill>
                  <a:srgbClr val="0E0EE4"/>
                </a:solidFill>
                <a:effectLst/>
                <a:latin typeface="幼圆" panose="02010509060101010101" charset="-122"/>
                <a:ea typeface="幼圆" panose="02010509060101010101" charset="-122"/>
                <a:cs typeface="Times New Roman" panose="02020603050405020304" pitchFamily="18" charset="0"/>
                <a:sym typeface="Arial" panose="020B0604020202090204"/>
              </a:rPr>
              <a:t>例</a:t>
            </a:r>
            <a:r>
              <a:rPr lang="en-US" altLang="zh-CN" sz="2500" b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sz="2500" b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</a:t>
            </a:r>
            <a:r>
              <a:rPr lang="en-US" altLang="zh-CN" sz="2500" b="1" spc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[2020.</a:t>
            </a:r>
            <a:r>
              <a:rPr sz="2500" b="1" spc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大连</a:t>
            </a:r>
            <a:r>
              <a:rPr lang="en-US" altLang="zh-CN" sz="2500" b="1" spc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汽车给人们的生活带来方便的同时，也带来节能和减排的问题。如图是某种汽车的燃料燃烧过程示意图。 </a:t>
            </a:r>
            <a:endParaRPr lang="en-US" altLang="zh-CN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40000"/>
              </a:lnSpc>
              <a:spcAft>
                <a:spcPts val="0"/>
              </a:spcAft>
            </a:pPr>
            <a:endParaRPr lang="en-US" altLang="zh-CN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40000"/>
              </a:lnSpc>
              <a:spcAft>
                <a:spcPts val="0"/>
              </a:spcAft>
            </a:pPr>
            <a:endParaRPr lang="en-US" altLang="zh-CN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40000"/>
              </a:lnSpc>
              <a:spcAft>
                <a:spcPts val="0"/>
              </a:spcAft>
            </a:pPr>
            <a:endParaRPr lang="en-US" altLang="zh-CN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从燃烧的条件看，火花塞的作用是</a:t>
            </a:r>
            <a:r>
              <a:rPr lang="zh-CN" altLang="en-US" sz="2500" b="1" u="sng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40000"/>
              </a:lnSpc>
              <a:spcAft>
                <a:spcPts val="0"/>
              </a:spcAft>
              <a:buNone/>
            </a:pPr>
            <a:r>
              <a:rPr lang="en-US" altLang="zh-CN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将汽油与空气的混合气充分压缩，有助于节省燃料，说明主要原因</a:t>
            </a:r>
            <a:endParaRPr lang="en-US" altLang="zh-CN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spcAft>
                <a:spcPts val="0"/>
              </a:spcAft>
              <a:buNone/>
            </a:pPr>
            <a:r>
              <a:rPr lang="en-US" altLang="zh-CN" sz="2500" b="1" u="sng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spcAft>
                <a:spcPts val="0"/>
              </a:spcAft>
              <a:buNone/>
            </a:pPr>
            <a:r>
              <a:rPr lang="en-US" altLang="zh-CN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乙醇的含碳量比汽油的低。分析在汽油中加入适量乙醇，</a:t>
            </a:r>
            <a:r>
              <a:rPr lang="zh-CN" altLang="en-US" sz="2500" b="1" spc="0" dirty="0" smtClean="0">
                <a:solidFill>
                  <a:srgbClr val="0E0EE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对尾气中炭黑排放量的影响</a:t>
            </a:r>
            <a:r>
              <a:rPr lang="zh-CN" altLang="en-US" sz="2500" b="1" u="sng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spcAft>
                <a:spcPts val="0"/>
              </a:spcAft>
              <a:buNone/>
            </a:pP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(4)利用催化净化装置，可使燃烧过程中产生的CO和NO在催化剂的作用下，转化为两种空气中常见的无害气体，该反应的化学方程式为</a:t>
            </a:r>
            <a:r>
              <a:rPr lang="zh-CN" altLang="en-US" sz="2500" b="1" u="sng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</a:t>
            </a:r>
            <a:r>
              <a:rPr lang="zh-CN" altLang="en-US" sz="2500" b="1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500" b="1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圆角矩形 20"/>
          <p:cNvSpPr/>
          <p:nvPr>
            <p:custDataLst>
              <p:tags r:id="rId2"/>
            </p:custDataLst>
          </p:nvPr>
        </p:nvSpPr>
        <p:spPr>
          <a:xfrm>
            <a:off x="783590" y="1494688"/>
            <a:ext cx="873718" cy="527253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汽油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3"/>
            </p:custDataLst>
          </p:nvPr>
        </p:nvSpPr>
        <p:spPr>
          <a:xfrm>
            <a:off x="783590" y="2248433"/>
            <a:ext cx="873718" cy="527253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空气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1549400" y="1346253"/>
            <a:ext cx="1840752" cy="476753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2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经喷油嘴雾化</a:t>
            </a:r>
            <a:endParaRPr lang="zh-CN" altLang="en-US" sz="22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79880" y="1757680"/>
            <a:ext cx="2359660" cy="767080"/>
            <a:chOff x="2680" y="2882"/>
            <a:chExt cx="3716" cy="1208"/>
          </a:xfrm>
        </p:grpSpPr>
        <p:grpSp>
          <p:nvGrpSpPr>
            <p:cNvPr id="87" name="组合 86"/>
            <p:cNvGrpSpPr/>
            <p:nvPr/>
          </p:nvGrpSpPr>
          <p:grpSpPr>
            <a:xfrm rot="16200000">
              <a:off x="4893" y="2587"/>
              <a:ext cx="1191" cy="1814"/>
              <a:chOff x="3456532" y="3351494"/>
              <a:chExt cx="4962526" cy="1211247"/>
            </a:xfrm>
          </p:grpSpPr>
          <p:cxnSp>
            <p:nvCxnSpPr>
              <p:cNvPr id="88" name="肘形连接符 87"/>
              <p:cNvCxnSpPr/>
              <p:nvPr>
                <p:custDataLst>
                  <p:tags r:id="rId5"/>
                </p:custDataLst>
              </p:nvPr>
            </p:nvCxnSpPr>
            <p:spPr>
              <a:xfrm rot="16200000" flipV="1">
                <a:off x="4020066" y="2787960"/>
                <a:ext cx="1205871" cy="2332939"/>
              </a:xfrm>
              <a:prstGeom prst="bentConnector3">
                <a:avLst/>
              </a:prstGeom>
              <a:noFill/>
              <a:ln w="25400" cap="flat" cmpd="sng" algn="ctr">
                <a:solidFill>
                  <a:srgbClr val="3A4150"/>
                </a:solidFill>
                <a:prstDash val="solid"/>
                <a:miter lim="800000"/>
                <a:headEnd type="triangle" w="lg" len="lg"/>
                <a:tailEnd type="none" w="lg" len="lg"/>
              </a:ln>
              <a:effectLst/>
            </p:spPr>
          </p:cxnSp>
          <p:cxnSp>
            <p:nvCxnSpPr>
              <p:cNvPr id="89" name="肘形连接符 88"/>
              <p:cNvCxnSpPr/>
              <p:nvPr>
                <p:custDataLst>
                  <p:tags r:id="rId6"/>
                </p:custDataLst>
              </p:nvPr>
            </p:nvCxnSpPr>
            <p:spPr>
              <a:xfrm rot="5400000" flipH="1" flipV="1">
                <a:off x="6501671" y="2645354"/>
                <a:ext cx="1205871" cy="2628903"/>
              </a:xfrm>
              <a:prstGeom prst="bentConnector3">
                <a:avLst/>
              </a:prstGeom>
              <a:noFill/>
              <a:ln w="25400" cap="flat" cmpd="sng" algn="ctr">
                <a:solidFill>
                  <a:srgbClr val="3A4150"/>
                </a:solidFill>
                <a:prstDash val="solid"/>
                <a:miter lim="800000"/>
                <a:headEnd type="triangle" w="lg" len="lg"/>
                <a:tailEnd type="none" w="lg" len="lg"/>
              </a:ln>
              <a:effectLst/>
            </p:spPr>
          </p:cxnSp>
        </p:grpSp>
        <p:cxnSp>
          <p:nvCxnSpPr>
            <p:cNvPr id="8" name="肘形连接符 7"/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2680" y="2882"/>
              <a:ext cx="1928" cy="2"/>
            </a:xfrm>
            <a:prstGeom prst="bentConnector3">
              <a:avLst/>
            </a:prstGeom>
            <a:noFill/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  <p:cxnSp>
          <p:nvCxnSpPr>
            <p:cNvPr id="4" name="肘形连接符 3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2680" y="4066"/>
              <a:ext cx="1928" cy="2"/>
            </a:xfrm>
            <a:prstGeom prst="bentConnector3">
              <a:avLst/>
            </a:prstGeom>
            <a:noFill/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</p:grpSp>
      <p:cxnSp>
        <p:nvCxnSpPr>
          <p:cNvPr id="6" name="肘形连接符 5"/>
          <p:cNvCxnSpPr/>
          <p:nvPr>
            <p:custDataLst>
              <p:tags r:id="rId9"/>
            </p:custDataLst>
          </p:nvPr>
        </p:nvCxnSpPr>
        <p:spPr>
          <a:xfrm flipV="1">
            <a:off x="4553585" y="2167890"/>
            <a:ext cx="1224000" cy="1308"/>
          </a:xfrm>
          <a:prstGeom prst="bentConnector3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 type="none" w="lg" len="lg"/>
            <a:tailEnd type="triangle" w="lg" len="lg"/>
          </a:ln>
          <a:effectLst/>
        </p:spPr>
      </p:cxnSp>
      <p:sp>
        <p:nvSpPr>
          <p:cNvPr id="9" name="圆角矩形 8"/>
          <p:cNvSpPr/>
          <p:nvPr>
            <p:custDataLst>
              <p:tags r:id="rId10"/>
            </p:custDataLst>
          </p:nvPr>
        </p:nvSpPr>
        <p:spPr>
          <a:xfrm>
            <a:off x="3970313" y="1716177"/>
            <a:ext cx="553288" cy="914443"/>
          </a:xfrm>
          <a:prstGeom prst="roundRect">
            <a:avLst/>
          </a:prstGeom>
          <a:noFill/>
          <a:ln w="222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压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缩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11"/>
            </p:custDataLst>
          </p:nvPr>
        </p:nvSpPr>
        <p:spPr>
          <a:xfrm>
            <a:off x="5809908" y="1711097"/>
            <a:ext cx="553288" cy="914443"/>
          </a:xfrm>
          <a:prstGeom prst="roundRect">
            <a:avLst/>
          </a:prstGeom>
          <a:noFill/>
          <a:ln w="222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燃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烧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2"/>
            </p:custDataLst>
          </p:nvPr>
        </p:nvSpPr>
        <p:spPr>
          <a:xfrm>
            <a:off x="7080250" y="1691311"/>
            <a:ext cx="936000" cy="953793"/>
          </a:xfrm>
          <a:prstGeom prst="roundRect">
            <a:avLst/>
          </a:prstGeom>
          <a:noFill/>
          <a:ln w="222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催化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净化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圆角矩形 11"/>
          <p:cNvSpPr/>
          <p:nvPr>
            <p:custDataLst>
              <p:tags r:id="rId13"/>
            </p:custDataLst>
          </p:nvPr>
        </p:nvSpPr>
        <p:spPr>
          <a:xfrm>
            <a:off x="8734718" y="1882815"/>
            <a:ext cx="900000" cy="530767"/>
          </a:xfrm>
          <a:prstGeom prst="roundRect">
            <a:avLst/>
          </a:prstGeom>
          <a:noFill/>
          <a:ln w="222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尾气</a:t>
            </a:r>
            <a:endParaRPr lang="zh-CN" altLang="en-US" sz="2500" b="1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4" name="肘形连接符 13"/>
          <p:cNvCxnSpPr/>
          <p:nvPr>
            <p:custDataLst>
              <p:tags r:id="rId14"/>
            </p:custDataLst>
          </p:nvPr>
        </p:nvCxnSpPr>
        <p:spPr>
          <a:xfrm flipV="1">
            <a:off x="6372225" y="2172970"/>
            <a:ext cx="684000" cy="1308"/>
          </a:xfrm>
          <a:prstGeom prst="bentConnector3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 type="none" w="lg" len="lg"/>
            <a:tailEnd type="triangle" w="lg" len="lg"/>
          </a:ln>
          <a:effectLst/>
        </p:spPr>
      </p:cxnSp>
      <p:cxnSp>
        <p:nvCxnSpPr>
          <p:cNvPr id="15" name="肘形连接符 14"/>
          <p:cNvCxnSpPr/>
          <p:nvPr>
            <p:custDataLst>
              <p:tags r:id="rId15"/>
            </p:custDataLst>
          </p:nvPr>
        </p:nvCxnSpPr>
        <p:spPr>
          <a:xfrm flipV="1">
            <a:off x="8007985" y="2162810"/>
            <a:ext cx="684000" cy="1308"/>
          </a:xfrm>
          <a:prstGeom prst="bentConnector3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 type="none" w="lg" len="lg"/>
            <a:tailEnd type="triangle" w="lg" len="lg"/>
          </a:ln>
          <a:effectLst/>
        </p:spPr>
      </p:cxnSp>
      <p:sp>
        <p:nvSpPr>
          <p:cNvPr id="16" name="圆角矩形 15"/>
          <p:cNvSpPr/>
          <p:nvPr>
            <p:custDataLst>
              <p:tags r:id="rId16"/>
            </p:custDataLst>
          </p:nvPr>
        </p:nvSpPr>
        <p:spPr>
          <a:xfrm>
            <a:off x="4568825" y="1733776"/>
            <a:ext cx="1033302" cy="476407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2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火花塞</a:t>
            </a:r>
            <a:endParaRPr lang="zh-CN" altLang="en-US" sz="22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7" grpId="0" bldLvl="0" animBg="1"/>
      <p:bldP spid="1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9538" y="143510"/>
            <a:ext cx="5705475" cy="1322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最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新</a:t>
            </a:r>
            <a:r>
              <a:rPr lang="zh-CN" altLang="en-US" sz="2800" b="1"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effectLst/>
                <a:sym typeface="+mn-ea"/>
              </a:rPr>
              <a:t>修订版</a:t>
            </a:r>
            <a:r>
              <a:rPr lang="zh-CN" altLang="en-US" sz="8000" b="1" spc="-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  <a:sym typeface="+mn-ea"/>
              </a:rPr>
              <a:t>化学</a:t>
            </a:r>
            <a:r>
              <a:rPr lang="zh-CN" altLang="en-US" sz="2800" b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sym typeface="+mn-ea"/>
              </a:rPr>
              <a:t>九年级全册</a:t>
            </a:r>
            <a:endParaRPr lang="zh-CN" altLang="en-US" sz="2800" b="1" spc="-3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500249" y="2215489"/>
            <a:ext cx="8111490" cy="784860"/>
          </a:xfrm>
        </p:spPr>
        <p:txBody>
          <a:bodyPr wrap="none">
            <a:spAutoFit/>
          </a:bodyPr>
          <a:lstStyle/>
          <a:p>
            <a:pPr algn="ctr"/>
            <a:r>
              <a:rPr lang="zh-CN" altLang="en-US" sz="4800" b="1"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</a:rPr>
              <a:t>第五单元 化学与社会发展</a:t>
            </a:r>
            <a:endParaRPr lang="zh-CN" altLang="en-US" sz="4800" b="1">
              <a:latin typeface="汉仪大隶书简" panose="02010600000101010101" charset="-122"/>
              <a:ea typeface="汉仪大隶书简" panose="02010600000101010101" charset="-122"/>
              <a:cs typeface="汉仪大隶书简" panose="0201060000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18004" y="3328009"/>
            <a:ext cx="8181975" cy="1410970"/>
            <a:chOff x="1685" y="4917"/>
            <a:chExt cx="12885" cy="2222"/>
          </a:xfrm>
        </p:grpSpPr>
        <p:sp>
          <p:nvSpPr>
            <p:cNvPr id="2" name="文本框 1"/>
            <p:cNvSpPr txBox="1"/>
            <p:nvPr/>
          </p:nvSpPr>
          <p:spPr>
            <a:xfrm>
              <a:off x="6739" y="5207"/>
              <a:ext cx="2353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1685" y="4917"/>
              <a:ext cx="12885" cy="22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  <a:defRPr/>
              </a:pPr>
              <a:r>
                <a:rPr lang="zh-CN" sz="3400" b="1" spc="-1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Times New Roman" panose="02020603050405020304" pitchFamily="18" charset="0"/>
                  <a:ea typeface="方正粗黑宋简体" panose="02000000000000000000" pitchFamily="2" charset="-122"/>
                  <a:cs typeface="Times New Roman" panose="02020603050405020304" pitchFamily="18" charset="0"/>
                  <a:sym typeface="+mn-ea"/>
                </a:rPr>
                <a:t>二、化学物质与健康、常见的化学合成材料</a:t>
              </a:r>
              <a:endParaRPr lang="zh-CN" sz="3400" b="1" spc="-100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  <a:sym typeface="+mn-ea"/>
              </a:endParaRPr>
            </a:p>
            <a:p>
              <a:pPr algn="ctr">
                <a:lnSpc>
                  <a:spcPct val="130000"/>
                </a:lnSpc>
                <a:defRPr/>
              </a:pPr>
              <a:r>
                <a:rPr lang="zh-CN" altLang="en-US" sz="3200" b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gradFill>
                    <a:gsLst>
                      <a:gs pos="50000">
                        <a:srgbClr val="ECCFCB"/>
                      </a:gs>
                      <a:gs pos="0">
                        <a:srgbClr val="F2DFDC"/>
                      </a:gs>
                      <a:gs pos="100000">
                        <a:srgbClr val="E5BEB9"/>
                      </a:gs>
                    </a:gsLst>
                    <a:lin scaled="1"/>
                  </a:gradFill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sym typeface="+mn-ea"/>
                </a:rPr>
                <a:t>—复习导航、例题</a:t>
              </a:r>
              <a:endParaRPr lang="en-US" altLang="zh-CN" sz="3200" b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50000">
                      <a:srgbClr val="ECCFCB"/>
                    </a:gs>
                    <a:gs pos="0">
                      <a:srgbClr val="F2DFDC"/>
                    </a:gs>
                    <a:gs pos="100000">
                      <a:srgbClr val="E5BEB9"/>
                    </a:gs>
                  </a:gsLst>
                  <a:lin scaled="1"/>
                </a:gradFill>
                <a:uFillTx/>
                <a:latin typeface="Times New Roman" panose="02020603050405020304" pitchFamily="18" charset="0"/>
                <a:ea typeface="汉仪铁山隶书繁" panose="00020600040101010101" charset="-122"/>
                <a:cs typeface="汉仪铁山隶书繁" panose="00020600040101010101" charset="-122"/>
                <a:sym typeface="+mn-ea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63245" y="1621790"/>
            <a:ext cx="11281410" cy="323977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noAutofit/>
          </a:bodyPr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1.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化合物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的分类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63245" y="972868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→考点精解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76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4330700" y="3525824"/>
            <a:ext cx="7475500" cy="510185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none" lIns="0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 kern="0" spc="-100" dirty="0" smtClean="0">
                <a:solidFill>
                  <a:srgbClr val="C00000"/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天然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有机高分子材料，如棉、麻、毛、丝绸和天然橡胶等</a:t>
            </a:r>
            <a:endParaRPr lang="zh-CN" altLang="en-US" sz="24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4330700" y="4157013"/>
            <a:ext cx="6888764" cy="510189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none" lIns="0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 kern="0" spc="-100" dirty="0" smtClean="0">
                <a:solidFill>
                  <a:srgbClr val="C00000"/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合成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有机高分子材料，如塑料、合成纤维和合成橡胶</a:t>
            </a:r>
            <a:endParaRPr lang="zh-CN" altLang="en-US" sz="24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5"/>
            </p:custDataLst>
          </p:nvPr>
        </p:nvSpPr>
        <p:spPr>
          <a:xfrm>
            <a:off x="2990215" y="3849852"/>
            <a:ext cx="1116662" cy="510185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高分子：</a:t>
            </a:r>
            <a:endParaRPr lang="zh-CN" altLang="en-US" sz="24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6"/>
            </p:custDataLst>
          </p:nvPr>
        </p:nvSpPr>
        <p:spPr>
          <a:xfrm>
            <a:off x="2990215" y="2897492"/>
            <a:ext cx="1456968" cy="510185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marL="0" marR="0" indent="0" algn="l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小分子</a:t>
            </a:r>
            <a:r>
              <a:rPr lang="zh-CN"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endParaRPr lang="zh-CN" altLang="en-US" sz="2400" b="1" kern="0" spc="-1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7" name="圆角矩形 6"/>
          <p:cNvSpPr/>
          <p:nvPr>
            <p:custDataLst>
              <p:tags r:id="rId7"/>
            </p:custDataLst>
          </p:nvPr>
        </p:nvSpPr>
        <p:spPr>
          <a:xfrm>
            <a:off x="1682116" y="3418052"/>
            <a:ext cx="1456970" cy="510185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none" rtlCol="0" anchor="ctr" anchorCtr="0">
            <a:spAutoFit/>
          </a:bodyPr>
          <a:p>
            <a:pPr marL="0" marR="0" indent="0" algn="ctr" defTabSz="914400" rtl="0" fontAlgn="auto" latinLnBrk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有机物</a:t>
            </a:r>
            <a:r>
              <a:rPr lang="zh-CN"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endParaRPr lang="zh-CN" altLang="en-US" sz="2400" b="1" kern="0" spc="-1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8" name="圆角矩形 7"/>
          <p:cNvSpPr/>
          <p:nvPr>
            <p:custDataLst>
              <p:tags r:id="rId8"/>
            </p:custDataLst>
          </p:nvPr>
        </p:nvSpPr>
        <p:spPr>
          <a:xfrm>
            <a:off x="517525" y="2842377"/>
            <a:ext cx="1116666" cy="510221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squar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化合物</a:t>
            </a:r>
            <a:endParaRPr lang="zh-CN" altLang="en-US" sz="24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9"/>
            </p:custDataLst>
          </p:nvPr>
        </p:nvSpPr>
        <p:spPr>
          <a:xfrm>
            <a:off x="1682115" y="2269337"/>
            <a:ext cx="1406170" cy="510185"/>
          </a:xfrm>
          <a:prstGeom prst="round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268A5"/>
                </a:solidFill>
              </a14:hiddenFill>
            </a:ext>
          </a:extLst>
        </p:spPr>
        <p:txBody>
          <a:bodyPr wrap="none" rtlCol="0" anchor="ctr" anchorCtr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无机物：</a:t>
            </a:r>
            <a:endParaRPr lang="zh-CN" altLang="en-US" sz="2400" b="1" kern="0" spc="-100" dirty="0" smtClean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pitchFamily="34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87" name="组合 86"/>
          <p:cNvGrpSpPr/>
          <p:nvPr/>
        </p:nvGrpSpPr>
        <p:grpSpPr>
          <a:xfrm rot="5400000" flipH="1">
            <a:off x="1081403" y="2989487"/>
            <a:ext cx="1188000" cy="216000"/>
            <a:chOff x="3456532" y="3351494"/>
            <a:chExt cx="4962526" cy="1211247"/>
          </a:xfrm>
        </p:grpSpPr>
        <p:cxnSp>
          <p:nvCxnSpPr>
            <p:cNvPr id="88" name="肘形连接符 87"/>
            <p:cNvCxnSpPr/>
            <p:nvPr>
              <p:custDataLst>
                <p:tags r:id="rId10"/>
              </p:custDataLst>
            </p:nvPr>
          </p:nvCxnSpPr>
          <p:spPr>
            <a:xfrm rot="16200000" flipV="1">
              <a:off x="4020066" y="2787960"/>
              <a:ext cx="1205871" cy="2332939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  <p:cxnSp>
          <p:nvCxnSpPr>
            <p:cNvPr id="89" name="肘形连接符 88"/>
            <p:cNvCxnSpPr/>
            <p:nvPr>
              <p:custDataLst>
                <p:tags r:id="rId11"/>
              </p:custDataLst>
            </p:nvPr>
          </p:nvCxnSpPr>
          <p:spPr>
            <a:xfrm rot="5400000" flipH="1" flipV="1">
              <a:off x="6501671" y="2645354"/>
              <a:ext cx="1205871" cy="2628903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组合 18"/>
          <p:cNvGrpSpPr/>
          <p:nvPr/>
        </p:nvGrpSpPr>
        <p:grpSpPr>
          <a:xfrm rot="5400000" flipH="1">
            <a:off x="2529888" y="3536172"/>
            <a:ext cx="972000" cy="216000"/>
            <a:chOff x="3456532" y="3351494"/>
            <a:chExt cx="4962526" cy="1211247"/>
          </a:xfrm>
        </p:grpSpPr>
        <p:cxnSp>
          <p:nvCxnSpPr>
            <p:cNvPr id="20" name="肘形连接符 19"/>
            <p:cNvCxnSpPr/>
            <p:nvPr>
              <p:custDataLst>
                <p:tags r:id="rId12"/>
              </p:custDataLst>
            </p:nvPr>
          </p:nvCxnSpPr>
          <p:spPr>
            <a:xfrm rot="16200000" flipV="1">
              <a:off x="4020066" y="2787960"/>
              <a:ext cx="1205871" cy="2332939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  <p:cxnSp>
          <p:nvCxnSpPr>
            <p:cNvPr id="21" name="肘形连接符 20"/>
            <p:cNvCxnSpPr/>
            <p:nvPr>
              <p:custDataLst>
                <p:tags r:id="rId13"/>
              </p:custDataLst>
            </p:nvPr>
          </p:nvCxnSpPr>
          <p:spPr>
            <a:xfrm rot="5400000" flipH="1" flipV="1">
              <a:off x="6501671" y="2645354"/>
              <a:ext cx="1205871" cy="2628903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</p:grpSp>
      <p:sp>
        <p:nvSpPr>
          <p:cNvPr id="22" name="文本框 21"/>
          <p:cNvSpPr txBox="1"/>
          <p:nvPr/>
        </p:nvSpPr>
        <p:spPr>
          <a:xfrm>
            <a:off x="2811145" y="2294242"/>
            <a:ext cx="65690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 kern="0" spc="-100" dirty="0" smtClean="0">
                <a:solidFill>
                  <a:srgbClr val="0E0EE4"/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不含碳元素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CO、CO、、</a:t>
            </a:r>
            <a:r>
              <a:rPr lang="en-US" altLang="zh-CN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 sz="2400" b="1" kern="0" spc="-100" baseline="-250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CO</a:t>
            </a:r>
            <a:r>
              <a:rPr lang="en-US" altLang="zh-CN" sz="2400" b="1" kern="0" spc="-100" baseline="-250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、碳</a:t>
            </a:r>
            <a:r>
              <a:rPr lang="zh-CN" altLang="en-US" sz="2400" b="1" kern="0" spc="-100" dirty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酸盐等除外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497330" y="3865245"/>
            <a:ext cx="140716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b="1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含碳元素</a:t>
            </a:r>
            <a:endParaRPr lang="zh-CN" altLang="en-US" sz="2400" b="1">
              <a:ln>
                <a:noFill/>
              </a:ln>
              <a:solidFill>
                <a:srgbClr val="0E0EE4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30700" y="2922397"/>
            <a:ext cx="5884545" cy="460375"/>
          </a:xfrm>
          <a:prstGeom prst="rect">
            <a:avLst/>
          </a:prstGeom>
          <a:noFill/>
        </p:spPr>
        <p:txBody>
          <a:bodyPr wrap="none" lIns="0" rtlCol="0" anchor="t">
            <a:spAutoFit/>
          </a:bodyPr>
          <a:p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如CH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、C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5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OH、CH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lang="en-US"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CO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</a:t>
            </a:r>
            <a:r>
              <a:rPr lang="en-US"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zh-CN" altLang="en-US"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、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6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12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</a:t>
            </a:r>
            <a:r>
              <a:rPr lang="en-US" sz="2400" b="1" baseline="-250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6</a:t>
            </a:r>
            <a:r>
              <a:rPr sz="2400" b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等</a:t>
            </a:r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 rot="5400000" flipH="1">
            <a:off x="3895946" y="3992253"/>
            <a:ext cx="684000" cy="217258"/>
            <a:chOff x="3456532" y="3424526"/>
            <a:chExt cx="4962526" cy="1218299"/>
          </a:xfrm>
        </p:grpSpPr>
        <p:cxnSp>
          <p:nvCxnSpPr>
            <p:cNvPr id="29" name="肘形连接符 28"/>
            <p:cNvCxnSpPr/>
            <p:nvPr>
              <p:custDataLst>
                <p:tags r:id="rId14"/>
              </p:custDataLst>
            </p:nvPr>
          </p:nvCxnSpPr>
          <p:spPr>
            <a:xfrm rot="16200000" flipV="1">
              <a:off x="4020066" y="2873420"/>
              <a:ext cx="1205871" cy="2332939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  <p:cxnSp>
          <p:nvCxnSpPr>
            <p:cNvPr id="30" name="肘形连接符 29"/>
            <p:cNvCxnSpPr/>
            <p:nvPr>
              <p:custDataLst>
                <p:tags r:id="rId15"/>
              </p:custDataLst>
            </p:nvPr>
          </p:nvCxnSpPr>
          <p:spPr>
            <a:xfrm rot="5400000" flipH="1" flipV="1">
              <a:off x="6501671" y="2713010"/>
              <a:ext cx="1205871" cy="2628903"/>
            </a:xfrm>
            <a:prstGeom prst="bentConnector3">
              <a:avLst/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</p:grp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bldLvl="0" animBg="1"/>
      <p:bldP spid="7" grpId="0" bldLvl="0" animBg="1"/>
      <p:bldP spid="9" grpId="1" animBg="1"/>
      <p:bldP spid="7" grpId="1" animBg="1"/>
      <p:bldP spid="23" grpId="0"/>
      <p:bldP spid="23" grpId="1"/>
      <p:bldP spid="22" grpId="0"/>
      <p:bldP spid="22" grpId="1"/>
      <p:bldP spid="6" grpId="0" bldLvl="0" animBg="1"/>
      <p:bldP spid="4" grpId="0" bldLvl="0" animBg="1"/>
      <p:bldP spid="6" grpId="1" animBg="1"/>
      <p:bldP spid="4" grpId="1" animBg="1"/>
      <p:bldP spid="24" grpId="0"/>
      <p:bldP spid="16" grpId="0" bldLvl="0" animBg="1"/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16890" y="492173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→考点精解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79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16573" y="1143000"/>
          <a:ext cx="11158855" cy="381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655"/>
                <a:gridCol w="2388870"/>
                <a:gridCol w="1760855"/>
                <a:gridCol w="1516380"/>
                <a:gridCol w="1675765"/>
                <a:gridCol w="1878330"/>
              </a:tblGrid>
              <a:tr h="720090">
                <a:tc gridSpan="6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2.塑料、橡胶、纤维的分类和比较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720090"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塑料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橡胶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纤维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720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热</a:t>
                      </a:r>
                      <a:r>
                        <a:rPr lang="zh-CN" altLang="en-US" sz="2400" b="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塑</a:t>
                      </a: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性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热固性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天然橡胶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合成橡胶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天然纤维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合成纤维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656080">
                <a:tc>
                  <a:txBody>
                    <a:bodyPr/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受热软化成型，可循环利用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固化后，受热不能被软化，不可再生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合成橡胶的弹性、耐磨性、绝缘性等性能比天然橡胶优越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gridSpan="2">
                  <a:txBody>
                    <a:bodyPr/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合成纤维的优点是耐磨，耐腐蚀、不缩水；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缺点是吸湿性和透气性差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78205" y="338455"/>
          <a:ext cx="10435590" cy="6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430"/>
                <a:gridCol w="950595"/>
                <a:gridCol w="4420870"/>
                <a:gridCol w="4036695"/>
              </a:tblGrid>
              <a:tr h="648000"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rgbClr val="584E6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3.使用塑料的利弊</a:t>
                      </a:r>
                      <a:endParaRPr lang="zh-CN" altLang="en-US" sz="2400">
                        <a:solidFill>
                          <a:srgbClr val="584E6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64800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塑料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优点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便宜、质轻、柔软、绝缘、耐腐蚀、易加工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647700">
                <a:tc vMerge="1">
                  <a:tcPr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缺点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造成</a:t>
                      </a:r>
                      <a:r>
                        <a:rPr lang="en-US" altLang="zh-CN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白色污染</a:t>
                      </a:r>
                      <a:r>
                        <a:rPr lang="en-US" altLang="zh-CN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”</a:t>
                      </a:r>
                      <a:endParaRPr lang="en-US" altLang="zh-CN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1080000">
                <a:tc vMerge="1">
                  <a:tcPr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改善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措施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①减少使用；②回收再生、循环利用；③多用可降解塑料；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④使用替代品，如无纺布袋等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</a:tr>
              <a:tr h="64800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燃烧法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584E61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区别</a:t>
                      </a:r>
                      <a:endParaRPr lang="zh-CN" altLang="en-US" sz="2200">
                        <a:solidFill>
                          <a:srgbClr val="584E61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塑料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无毒塑料(如聚乙烯)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有毒塑料(如聚氯乙烯)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vMerge="1">
                  <a:tcPr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现象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不冒烟，无气味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冒烟，有臭味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48000">
                <a:tc vMerge="1">
                  <a:tcPr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纤维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天然纤维(如棉、羊毛)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合成纤维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080000">
                <a:tc vMerge="1">
                  <a:tcPr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B w="9525">
                      <a:solidFill>
                        <a:srgbClr val="584E61"/>
                      </a:solidFill>
                      <a:prstDash val="sysDash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现象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棉：烧纸气味，灰烬细而软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 fontAlgn="auto" latinLnBrk="1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羊毛：烧毛发气味，灰烬易碎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特殊刺激性气味，灰</a:t>
                      </a: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sym typeface="+mn-ea"/>
                        </a:rPr>
                        <a:t>烬</a:t>
                      </a:r>
                      <a:r>
                        <a:rPr lang="zh-CN" altLang="en-US" sz="2200">
                          <a:solidFill>
                            <a:srgbClr val="404040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黑且硬</a:t>
                      </a:r>
                      <a:endParaRPr lang="zh-CN" altLang="en-US" sz="2200">
                        <a:solidFill>
                          <a:srgbClr val="404040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9525">
                      <a:solidFill>
                        <a:srgbClr val="584E61"/>
                      </a:solidFill>
                      <a:prstDash val="sysDash"/>
                    </a:lnL>
                    <a:lnR w="9525">
                      <a:solidFill>
                        <a:srgbClr val="584E61"/>
                      </a:solidFill>
                      <a:prstDash val="sysDash"/>
                    </a:lnR>
                    <a:lnT w="9525">
                      <a:solidFill>
                        <a:srgbClr val="584E61"/>
                      </a:solidFill>
                      <a:prstDash val="sysDash"/>
                    </a:lnT>
                    <a:lnB w="9525">
                      <a:solidFill>
                        <a:srgbClr val="584E61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429578" y="314153"/>
          <a:ext cx="11333150" cy="608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250"/>
                <a:gridCol w="1116000"/>
                <a:gridCol w="4834255"/>
                <a:gridCol w="4398645"/>
              </a:tblGrid>
              <a:tr h="612000">
                <a:tc gridSpan="4"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4.食品中的六大营养素</a:t>
                      </a:r>
                      <a:endParaRPr lang="zh-CN" altLang="en-US"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cP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</a:tcPr>
                </a:tc>
                <a:tc hMerge="1">
                  <a:tcPr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</a:tcPr>
                </a:tc>
              </a:tr>
              <a:tr h="612000">
                <a:tc gridSpan="2"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营养素</a:t>
                      </a:r>
                      <a:endParaRPr lang="zh-CN" altLang="en-US"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作用</a:t>
                      </a:r>
                      <a:endParaRPr lang="zh-CN" altLang="en-US"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4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主要来源</a:t>
                      </a:r>
                      <a:endParaRPr lang="zh-CN" altLang="en-US" sz="24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576000">
                <a:tc rowSpan="4"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有机</a:t>
                      </a:r>
                      <a:endParaRPr lang="zh-CN" altLang="en-US" sz="22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营养素</a:t>
                      </a:r>
                      <a:endParaRPr lang="zh-CN" altLang="en-US" sz="22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糖</a:t>
                      </a:r>
                      <a:endParaRPr lang="zh-CN" altLang="en-US" sz="22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人体所需能量的主要来源</a:t>
                      </a:r>
                      <a:endParaRPr lang="zh-CN" altLang="en-US" sz="22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1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谷物、面食、糖类、水果等</a:t>
                      </a:r>
                      <a:endParaRPr lang="zh-CN" altLang="en-US" sz="2200" b="1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000">
                <a:tc vMerge="1">
                  <a:tcPr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脂肪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人体的后备能源，供给能量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动植物性油、豆类、花生、葵花籽等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576000">
                <a:tc vMerge="1">
                  <a:tcPr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蛋白质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维持人体的生长发育和组织更新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肉、鱼、蛋、豆类、奶类等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117600">
                <a:tc vMerge="1">
                  <a:tcPr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B w="28575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维生素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缺维 A→夜盲症，缺维 B→贫血或脚气病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缺维 C→坏血病，缺维 D→佝偻病，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缺维 K→皮下出血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蔬菜、水果、豆类、动物肝脏等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1117600">
                <a:tc rowSpan="2"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无机</a:t>
                      </a:r>
                      <a:endParaRPr lang="zh-CN" altLang="en-US" sz="22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>
                          <a:solidFill>
                            <a:srgbClr val="646464"/>
                          </a:solidFill>
                          <a:uFillTx/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营养素</a:t>
                      </a:r>
                      <a:endParaRPr lang="zh-CN" altLang="en-US" sz="2200" b="0">
                        <a:solidFill>
                          <a:srgbClr val="646464"/>
                        </a:solidFill>
                        <a:uFillTx/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 anchorCtr="1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28575">
                      <a:solidFill>
                        <a:srgbClr val="646464"/>
                      </a:solidFill>
                      <a:prstDash val="solid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无机盐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缺碘→甲状腺肿大，缺铁→贫血病，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缺钙→佝偻病、骨质疏松、易骨折等，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缺氟→龋齿病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海产品中含碘丰富的：海带、紫菜、海鲜(海鱼)等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9525">
                      <a:solidFill>
                        <a:srgbClr val="646464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576000">
                <a:tc vMerge="1">
                  <a:tcPr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B w="28575">
                      <a:solidFill>
                        <a:srgbClr val="646464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水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3619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溶解营养素，参与体内各种反应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200" b="0" spc="-20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各类食品中都含有</a:t>
                      </a:r>
                      <a:endParaRPr lang="zh-CN" altLang="en-US" sz="2200" b="0" spc="-20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L="144145" marR="36195" marT="36195" marB="36195" anchor="ctr">
                    <a:lnL w="9525">
                      <a:solidFill>
                        <a:srgbClr val="646464"/>
                      </a:solidFill>
                      <a:prstDash val="sysDash"/>
                    </a:lnL>
                    <a:lnR w="9525">
                      <a:solidFill>
                        <a:srgbClr val="646464"/>
                      </a:solidFill>
                      <a:prstDash val="sysDash"/>
                    </a:lnR>
                    <a:lnT w="9525">
                      <a:solidFill>
                        <a:srgbClr val="646464"/>
                      </a:solidFill>
                      <a:prstDash val="sysDash"/>
                    </a:lnT>
                    <a:lnB w="28575">
                      <a:solidFill>
                        <a:srgbClr val="64646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7784" y="1094388"/>
            <a:ext cx="10872000" cy="4712970"/>
          </a:xfrm>
          <a:noFill/>
          <a:ln w="25400" cmpd="tri">
            <a:solidFill>
              <a:schemeClr val="tx1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indent="0" latinLnBrk="1">
              <a:lnSpc>
                <a:spcPct val="175000"/>
              </a:lnSpc>
              <a:spcAft>
                <a:spcPts val="0"/>
              </a:spcAft>
              <a:buNone/>
            </a:pP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10.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90204"/>
              </a:rPr>
              <a:t>“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化学链燃烧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技术是目前能源领域研究的热点之一。氧化镍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500" b="1" kern="0" spc="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NiO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作载氧体的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90204"/>
              </a:rPr>
              <a:t>“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化学链燃烧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过程如图所示。相比直接燃烧甲烷，对该技术的评价</a:t>
            </a:r>
            <a:r>
              <a:rPr lang="zh-CN" altLang="en-US" sz="2500" b="1" kern="0" spc="0" dirty="0" smtClean="0">
                <a:solidFill>
                  <a:srgbClr val="0E0EE4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错误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的是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   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500" b="1" kern="0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75000"/>
              </a:lnSpc>
              <a:spcAft>
                <a:spcPts val="0"/>
              </a:spcAft>
              <a:buNone/>
            </a:pP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A.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能量损耗少、利用率高</a:t>
            </a:r>
            <a:endParaRPr lang="en-US" altLang="zh-CN" sz="2500" b="1" kern="0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75000"/>
              </a:lnSpc>
              <a:spcAft>
                <a:spcPts val="0"/>
              </a:spcAft>
              <a:buNone/>
            </a:pP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B.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较安全，减少爆炸风险</a:t>
            </a:r>
            <a:endParaRPr lang="en-US" altLang="zh-CN" sz="2500" b="1" kern="0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75000"/>
              </a:lnSpc>
              <a:spcAft>
                <a:spcPts val="0"/>
              </a:spcAft>
              <a:buNone/>
            </a:pP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C.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消耗等质量甲烷，参加反应氧气较少</a:t>
            </a:r>
            <a:endParaRPr lang="en-US" altLang="zh-CN" sz="2500" b="1" kern="0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75000"/>
              </a:lnSpc>
              <a:spcAft>
                <a:spcPts val="0"/>
              </a:spcAft>
              <a:buNone/>
            </a:pPr>
            <a:r>
              <a:rPr lang="en-US" altLang="zh-CN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D.</a:t>
            </a:r>
            <a:r>
              <a:rPr lang="zh-CN" altLang="en-US" sz="2500" b="1" kern="0" spc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有利于分离和回收较纯净的二氧化碳</a:t>
            </a:r>
            <a:endParaRPr lang="zh-CN" altLang="en-US" sz="2500" b="1" kern="0" spc="0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4"/>
          <p:cNvGrpSpPr/>
          <p:nvPr/>
        </p:nvGrpSpPr>
        <p:grpSpPr>
          <a:xfrm>
            <a:off x="5913148" y="2419282"/>
            <a:ext cx="5148000" cy="2124000"/>
            <a:chOff x="4880210" y="3657375"/>
            <a:chExt cx="5148000" cy="2124000"/>
          </a:xfrm>
        </p:grpSpPr>
        <p:sp>
          <p:nvSpPr>
            <p:cNvPr id="6" name="矩形 5"/>
            <p:cNvSpPr/>
            <p:nvPr/>
          </p:nvSpPr>
          <p:spPr>
            <a:xfrm>
              <a:off x="4880210" y="3657375"/>
              <a:ext cx="5148000" cy="2124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normAutofit/>
            </a:bodyPr>
            <a:lstStyle/>
            <a:p>
              <a:endParaRPr lang="zh-CN" altLang="en-US" sz="2200" b="1" dirty="0"/>
            </a:p>
          </p:txBody>
        </p:sp>
        <p:grpSp>
          <p:nvGrpSpPr>
            <p:cNvPr id="4" name="组合 51"/>
            <p:cNvGrpSpPr/>
            <p:nvPr/>
          </p:nvGrpSpPr>
          <p:grpSpPr>
            <a:xfrm>
              <a:off x="4956489" y="3672422"/>
              <a:ext cx="4967762" cy="2092777"/>
              <a:chOff x="4956489" y="3672422"/>
              <a:chExt cx="4967762" cy="2092777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5415540" y="3672422"/>
                <a:ext cx="73238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spc="-1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200" b="1" spc="-10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200" b="1" spc="-100" dirty="0" smtClea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等</a:t>
                </a:r>
                <a:endParaRPr lang="zh-CN" altLang="en-US" dirty="0"/>
              </a:p>
            </p:txBody>
          </p:sp>
          <p:grpSp>
            <p:nvGrpSpPr>
              <p:cNvPr id="5" name="组合 8"/>
              <p:cNvGrpSpPr/>
              <p:nvPr/>
            </p:nvGrpSpPr>
            <p:grpSpPr>
              <a:xfrm>
                <a:off x="4956489" y="4443441"/>
                <a:ext cx="1635378" cy="540000"/>
                <a:chOff x="2183721" y="2926264"/>
                <a:chExt cx="1635378" cy="540000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2183721" y="2926264"/>
                  <a:ext cx="1635378" cy="5400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txBody>
                <a:bodyPr wrap="none">
                  <a:normAutofit/>
                </a:bodyPr>
                <a:lstStyle/>
                <a:p>
                  <a:endParaRPr lang="zh-CN" altLang="en-US" sz="2200" dirty="0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2195088" y="2987310"/>
                  <a:ext cx="159671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2200" b="1" dirty="0" smtClean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空气反应器</a:t>
                  </a:r>
                  <a:endParaRPr lang="zh-CN" altLang="en-US" sz="22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" name="组合 24"/>
              <p:cNvGrpSpPr/>
              <p:nvPr/>
            </p:nvGrpSpPr>
            <p:grpSpPr>
              <a:xfrm>
                <a:off x="8286592" y="4443441"/>
                <a:ext cx="1637659" cy="540000"/>
                <a:chOff x="1799296" y="2923992"/>
                <a:chExt cx="1637659" cy="540000"/>
              </a:xfrm>
            </p:grpSpPr>
            <p:sp>
              <p:nvSpPr>
                <p:cNvPr id="26" name="矩形 25"/>
                <p:cNvSpPr/>
                <p:nvPr/>
              </p:nvSpPr>
              <p:spPr>
                <a:xfrm>
                  <a:off x="1801577" y="2923992"/>
                  <a:ext cx="1635378" cy="5400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txBody>
                <a:bodyPr wrap="none">
                  <a:normAutofit/>
                </a:bodyPr>
                <a:lstStyle/>
                <a:p>
                  <a:endParaRPr lang="zh-CN" altLang="en-US" sz="2200" dirty="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1799296" y="2985038"/>
                  <a:ext cx="159671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2200" b="1" dirty="0" smtClean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燃料反应器</a:t>
                  </a:r>
                  <a:endParaRPr lang="zh-CN" altLang="en-US" sz="22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" name="矩形 24"/>
              <p:cNvSpPr/>
              <p:nvPr/>
            </p:nvSpPr>
            <p:spPr>
              <a:xfrm>
                <a:off x="6662452" y="4204244"/>
                <a:ext cx="1596716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200" b="1" dirty="0" err="1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NiO</a:t>
                </a:r>
                <a:r>
                  <a:rPr lang="en-US" altLang="zh-CN" sz="2200" b="1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固体</a:t>
                </a:r>
                <a:r>
                  <a:rPr lang="en-US" altLang="zh-CN" sz="2200" b="1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2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55796" y="4738788"/>
                <a:ext cx="1264615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200" b="1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Ni(</a:t>
                </a:r>
                <a:r>
                  <a:rPr lang="zh-CN" altLang="en-US" sz="22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固体</a:t>
                </a:r>
                <a:r>
                  <a:rPr lang="en-US" altLang="zh-CN" sz="2200" b="1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sz="22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直接箭头连接符 12"/>
              <p:cNvCxnSpPr/>
              <p:nvPr/>
            </p:nvCxnSpPr>
            <p:spPr>
              <a:xfrm flipV="1">
                <a:off x="6646461" y="4667534"/>
                <a:ext cx="1584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 flipH="1" flipV="1">
                <a:off x="6621437" y="4738046"/>
                <a:ext cx="1584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rot="5400000" flipH="1" flipV="1">
                <a:off x="8904609" y="5182409"/>
                <a:ext cx="396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 rot="5400000" flipH="1" flipV="1">
                <a:off x="8879585" y="4233865"/>
                <a:ext cx="396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 rot="5400000" flipH="1" flipV="1">
                <a:off x="5592689" y="4239321"/>
                <a:ext cx="396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rot="5400000" flipH="1" flipV="1">
                <a:off x="5594961" y="5192409"/>
                <a:ext cx="396000" cy="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/>
            </p:nvSpPr>
            <p:spPr>
              <a:xfrm>
                <a:off x="5417813" y="5322012"/>
                <a:ext cx="72648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200" b="1" spc="-100" dirty="0" smtClean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空气</a:t>
                </a:r>
                <a:endParaRPr lang="zh-CN" altLang="en-US" dirty="0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8529494" y="3701348"/>
                <a:ext cx="1108573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spc="-1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200" b="1" spc="-10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200" b="1" spc="-1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O+N</a:t>
                </a:r>
                <a:r>
                  <a:rPr lang="en-US" altLang="zh-CN" sz="2200" b="1" spc="-10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761516" y="5334312"/>
                <a:ext cx="66826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200" b="1" spc="-1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CH</a:t>
                </a:r>
                <a:r>
                  <a:rPr lang="en-US" altLang="zh-CN" sz="2200" b="1" spc="-100" baseline="-25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endParaRPr lang="zh-CN" altLang="en-US" dirty="0"/>
              </a:p>
            </p:txBody>
          </p:sp>
        </p:grpSp>
      </p:grpSp>
      <p:sp>
        <p:nvSpPr>
          <p:cNvPr id="11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7705" y="438198"/>
            <a:ext cx="396420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→达标训练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75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1830" y="336550"/>
            <a:ext cx="10849610" cy="6160770"/>
          </a:xfrm>
          <a:prstGeom prst="rect">
            <a:avLst/>
          </a:prstGeom>
          <a:solidFill>
            <a:schemeClr val="bg1"/>
          </a:solidFill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12.【2020·长春】火的利用推动了人类文明的进程，观察下图回答同题。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已知燃烧需要的条件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①与氧气接触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②温度达到着火点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③有可燃物。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图1所示实验现象说明燃烧应具备的条件是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填序号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图2烧杯中蜡烛渐渐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熄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灭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说明燃烧应具备的条件是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填序号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lang="zh-CN" alt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图3铜片上白磷燃烧红磷不燃烧，说明燃烧应具备的条件是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填序号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lang="zh-CN" alt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(4)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图3实验中所用药品的保存方法正确的是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填图4中的字母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75665" y="777875"/>
            <a:ext cx="10645140" cy="2663190"/>
            <a:chOff x="1379" y="1291"/>
            <a:chExt cx="16764" cy="4194"/>
          </a:xfrm>
        </p:grpSpPr>
        <p:pic>
          <p:nvPicPr>
            <p:cNvPr id="2" name="图片 1" descr="47ff8f4efb48f952dbd93cce500d565c"/>
            <p:cNvPicPr>
              <a:picLocks noChangeAspect="1"/>
            </p:cNvPicPr>
            <p:nvPr/>
          </p:nvPicPr>
          <p:blipFill>
            <a:blip r:embed="rId2"/>
            <a:srcRect b="15204"/>
            <a:stretch>
              <a:fillRect/>
            </a:stretch>
          </p:blipFill>
          <p:spPr>
            <a:xfrm>
              <a:off x="1379" y="1291"/>
              <a:ext cx="16765" cy="3798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2628" y="4857"/>
              <a:ext cx="12296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l"/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1</a:t>
              </a: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                            图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2                                    </a:t>
              </a: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3                                </a:t>
              </a:r>
              <a:r>
                <a:rPr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</a:t>
              </a:r>
              <a:r>
                <a:rPr lang="en-US" sz="20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4</a:t>
              </a:r>
              <a:endParaRPr lang="en-US" sz="20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215505" y="4080510"/>
            <a:ext cx="4876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③</a:t>
            </a:r>
            <a:endParaRPr lang="zh-CN" altLang="en-US" sz="24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53120" y="4674870"/>
            <a:ext cx="5003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02750" y="5295265"/>
            <a:ext cx="5003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63715" y="5896610"/>
            <a:ext cx="62357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AB</a:t>
            </a:r>
            <a:endParaRPr 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671195" y="1058545"/>
            <a:ext cx="10849610" cy="504507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3.[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2020·常州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有科学家认为氢能将成为未来主要的能源。图1是利用太阳能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将水转化为氢能的两条理想途径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途径一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光电转换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过程中，光能转化为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能，可较好解决传统制氢过程中效率低、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等问题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1195" y="417878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→达标训练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76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 rot="0">
            <a:off x="3146425" y="2626995"/>
            <a:ext cx="2727325" cy="385445"/>
            <a:chOff x="1008" y="3511"/>
            <a:chExt cx="4295" cy="607"/>
          </a:xfrm>
        </p:grpSpPr>
        <p:cxnSp>
          <p:nvCxnSpPr>
            <p:cNvPr id="15" name="肘形连接符 14"/>
            <p:cNvCxnSpPr/>
            <p:nvPr>
              <p:custDataLst>
                <p:tags r:id="rId3"/>
              </p:custDataLst>
            </p:nvPr>
          </p:nvCxnSpPr>
          <p:spPr>
            <a:xfrm rot="10800000" flipH="1">
              <a:off x="1008" y="3520"/>
              <a:ext cx="1191" cy="598"/>
            </a:xfrm>
            <a:prstGeom prst="bentConnector3">
              <a:avLst>
                <a:gd name="adj1" fmla="val 1002"/>
              </a:avLst>
            </a:prstGeom>
            <a:noFill/>
            <a:ln w="25400" cap="flat" cmpd="sng" algn="ctr">
              <a:solidFill>
                <a:srgbClr val="3A4150"/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  <p:cxnSp>
          <p:nvCxnSpPr>
            <p:cNvPr id="17" name="肘形连接符 16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4283" y="3511"/>
              <a:ext cx="1020" cy="2"/>
            </a:xfrm>
            <a:prstGeom prst="bentConnector3">
              <a:avLst>
                <a:gd name="adj1" fmla="val 980"/>
              </a:avLst>
            </a:prstGeom>
            <a:noFill/>
            <a:ln w="2540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 type="none" w="lg" len="lg"/>
              <a:tailEnd type="none" w="lg" len="lg"/>
            </a:ln>
            <a:effectLst/>
          </p:spPr>
        </p:cxnSp>
      </p:grpSp>
      <p:grpSp>
        <p:nvGrpSpPr>
          <p:cNvPr id="21" name="组合 20"/>
          <p:cNvGrpSpPr/>
          <p:nvPr/>
        </p:nvGrpSpPr>
        <p:grpSpPr>
          <a:xfrm>
            <a:off x="2576195" y="3012440"/>
            <a:ext cx="1043940" cy="935990"/>
            <a:chOff x="6537" y="4331"/>
            <a:chExt cx="1644" cy="1474"/>
          </a:xfrm>
        </p:grpSpPr>
        <p:sp>
          <p:nvSpPr>
            <p:cNvPr id="11" name="矩形 10"/>
            <p:cNvSpPr/>
            <p:nvPr>
              <p:custDataLst>
                <p:tags r:id="rId5"/>
              </p:custDataLst>
            </p:nvPr>
          </p:nvSpPr>
          <p:spPr>
            <a:xfrm>
              <a:off x="6606" y="4766"/>
              <a:ext cx="1506" cy="605"/>
            </a:xfrm>
            <a:prstGeom prst="rect">
              <a:avLst/>
            </a:prstGeom>
            <a:solidFill>
              <a:schemeClr val="bg1"/>
            </a:solidFill>
            <a:ln w="22225" cap="flat" cmpd="sng" algn="ctr">
              <a:noFill/>
              <a:prstDash val="solid"/>
              <a:miter lim="800000"/>
            </a:ln>
            <a:effectLst/>
          </p:spPr>
          <p:txBody>
            <a:bodyPr wrap="square" lIns="0" tIns="0" rIns="0" bIns="0" rtlCol="0" anchor="ctr" anchorCtr="1">
              <a:spAutoFit/>
            </a:bodyPr>
            <a:p>
              <a:pPr algn="l">
                <a:lnSpc>
                  <a:spcPct val="100000"/>
                </a:lnSpc>
              </a:pPr>
              <a:r>
                <a:rPr sz="25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太阳能</a:t>
              </a:r>
              <a:endPara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6"/>
              </p:custDataLst>
            </p:nvPr>
          </p:nvSpPr>
          <p:spPr>
            <a:xfrm>
              <a:off x="6537" y="4331"/>
              <a:ext cx="1644" cy="1474"/>
            </a:xfrm>
            <a:prstGeom prst="ellipse">
              <a:avLst/>
            </a:prstGeom>
            <a:noFill/>
            <a:ln w="22225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5268A5"/>
                  </a:solidFill>
                </a14:hiddenFill>
              </a:ext>
            </a:extLst>
          </p:spPr>
          <p:txBody>
            <a:bodyPr wrap="square" lIns="0" tIns="0" rIns="0" bIns="0" rtlCol="0" anchor="ctr" anchorCtr="1">
              <a:spAutoFit/>
            </a:bodyPr>
            <a:p>
              <a:pPr algn="l">
                <a:lnSpc>
                  <a:spcPct val="100000"/>
                </a:lnSpc>
              </a:pPr>
              <a:endParaRPr lang="zh-CN" altLang="en-US" sz="25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endParaRPr>
            </a:p>
          </p:txBody>
        </p:sp>
      </p:grpSp>
      <p:cxnSp>
        <p:nvCxnSpPr>
          <p:cNvPr id="22" name="肘形连接符 21"/>
          <p:cNvCxnSpPr/>
          <p:nvPr>
            <p:custDataLst>
              <p:tags r:id="rId7"/>
            </p:custDataLst>
          </p:nvPr>
        </p:nvCxnSpPr>
        <p:spPr>
          <a:xfrm rot="10800000" flipH="1" flipV="1">
            <a:off x="3146410" y="3943985"/>
            <a:ext cx="1404000" cy="379730"/>
          </a:xfrm>
          <a:prstGeom prst="bentConnector3">
            <a:avLst>
              <a:gd name="adj1" fmla="val 1002"/>
            </a:avLst>
          </a:prstGeom>
          <a:noFill/>
          <a:ln w="25400" cap="flat" cmpd="sng" algn="ctr">
            <a:solidFill>
              <a:srgbClr val="3A4150"/>
            </a:solidFill>
            <a:prstDash val="solid"/>
            <a:miter lim="800000"/>
            <a:headEnd type="none" w="lg" len="lg"/>
            <a:tailEnd type="none" w="lg" len="lg"/>
          </a:ln>
          <a:effectLst/>
        </p:spPr>
      </p:cxn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3898900" y="2435860"/>
            <a:ext cx="136800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光电转换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5" name="矩形 24"/>
          <p:cNvSpPr/>
          <p:nvPr>
            <p:custDataLst>
              <p:tags r:id="rId9"/>
            </p:custDataLst>
          </p:nvPr>
        </p:nvSpPr>
        <p:spPr>
          <a:xfrm>
            <a:off x="5860415" y="2435225"/>
            <a:ext cx="95631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电解水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>
            <a:off x="4532630" y="4084320"/>
            <a:ext cx="127508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光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分解水</a:t>
            </a:r>
            <a:endParaRPr lang="zh-CN"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3477260" y="3948430"/>
            <a:ext cx="95631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催化剂</a:t>
            </a:r>
            <a:endParaRPr lang="zh-CN"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1208405" y="2632710"/>
            <a:ext cx="127508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途径一：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9" name="矩形 28"/>
          <p:cNvSpPr/>
          <p:nvPr>
            <p:custDataLst>
              <p:tags r:id="rId13"/>
            </p:custDataLst>
          </p:nvPr>
        </p:nvSpPr>
        <p:spPr>
          <a:xfrm>
            <a:off x="1208405" y="3943985"/>
            <a:ext cx="1275080" cy="38417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途径二：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0" name="矩形 29"/>
          <p:cNvSpPr/>
          <p:nvPr>
            <p:custDataLst>
              <p:tags r:id="rId14"/>
            </p:custDataLst>
          </p:nvPr>
        </p:nvSpPr>
        <p:spPr>
          <a:xfrm>
            <a:off x="2668905" y="4340225"/>
            <a:ext cx="477520" cy="368935"/>
          </a:xfrm>
          <a:prstGeom prst="rect">
            <a:avLst/>
          </a:prstGeom>
          <a:noFill/>
          <a:ln w="2222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lIns="0" tIns="0" rIns="0" bIns="0" rtlCol="0" anchor="ctr" anchorCtr="1">
            <a:spAutoFit/>
          </a:bodyPr>
          <a:p>
            <a:pPr algn="l">
              <a:lnSpc>
                <a:spcPct val="100000"/>
              </a:lnSpc>
            </a:pPr>
            <a:r>
              <a:rPr sz="2400" b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Arial" panose="020B0604020202090204"/>
              </a:rPr>
              <a:t>图1</a:t>
            </a:r>
            <a:endParaRPr sz="2400" b="1">
              <a:ln>
                <a:noFill/>
              </a:ln>
              <a:solidFill>
                <a:schemeClr val="tx1"/>
              </a:solidFill>
              <a:effectLst/>
              <a:uFillTx/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57035" y="4865370"/>
            <a:ext cx="5003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电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919095" y="5481320"/>
            <a:ext cx="11353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耗能大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2" grpId="0"/>
      <p:bldP spid="3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71258" y="898525"/>
            <a:ext cx="9849485" cy="519874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3.[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2020·常州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有科学家认为氢能将成为未来主要的能源。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途径二中反应过程的微观示意图如图2所示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①请将图2 中方框内微粒补充完整。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②该反应前后催化剂的化学性质和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均不发生改变。</a:t>
            </a:r>
            <a:endParaRPr sz="25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③该反应过程中不发生变化的微粒是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填化学符号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71575" y="224838"/>
            <a:ext cx="3974369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→达标训练</a:t>
            </a:r>
            <a:r>
              <a:rPr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汉仪铁山隶书繁" panose="00020600040101010101" charset="-122"/>
                <a:cs typeface="Times New Roman" panose="02020603050405020304" pitchFamily="18" charset="0"/>
                <a:sym typeface="+mn-ea"/>
              </a:rPr>
              <a:t>76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368675" y="2289175"/>
            <a:ext cx="5454650" cy="1797685"/>
            <a:chOff x="1803" y="3605"/>
            <a:chExt cx="8590" cy="2831"/>
          </a:xfrm>
        </p:grpSpPr>
        <p:grpSp>
          <p:nvGrpSpPr>
            <p:cNvPr id="31" name="组合 30"/>
            <p:cNvGrpSpPr/>
            <p:nvPr/>
          </p:nvGrpSpPr>
          <p:grpSpPr>
            <a:xfrm>
              <a:off x="1803" y="3605"/>
              <a:ext cx="8591" cy="2370"/>
              <a:chOff x="1828" y="3789"/>
              <a:chExt cx="8591" cy="2370"/>
            </a:xfrm>
          </p:grpSpPr>
          <p:sp>
            <p:nvSpPr>
              <p:cNvPr id="16" name="等腰三角形 15"/>
              <p:cNvSpPr/>
              <p:nvPr>
                <p:custDataLst>
                  <p:tags r:id="rId3"/>
                </p:custDataLst>
              </p:nvPr>
            </p:nvSpPr>
            <p:spPr>
              <a:xfrm>
                <a:off x="5493" y="4321"/>
                <a:ext cx="567" cy="454"/>
              </a:xfrm>
              <a:prstGeom prst="triangl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2222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spAutoFit/>
              </a:bodyPr>
              <a:p>
                <a:pPr algn="l">
                  <a:lnSpc>
                    <a:spcPct val="100000"/>
                  </a:lnSpc>
                </a:pPr>
                <a:endParaRPr lang="zh-CN" altLang="en-US" sz="2200" b="1" kern="0" spc="-1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uFillTx/>
                  <a:latin typeface="Calibri" panose="020F0502020204030204" pitchFamily="34" charset="0"/>
                  <a:ea typeface="宋体" panose="02010600030101010101" pitchFamily="2" charset="-122"/>
                  <a:sym typeface="+mn-ea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828" y="3789"/>
                <a:ext cx="8591" cy="2370"/>
                <a:chOff x="1828" y="3813"/>
                <a:chExt cx="8591" cy="2370"/>
              </a:xfrm>
            </p:grpSpPr>
            <p:pic>
              <p:nvPicPr>
                <p:cNvPr id="2" name="图片 1" descr="image001"/>
                <p:cNvPicPr>
                  <a:picLocks noChangeAspect="1"/>
                </p:cNvPicPr>
                <p:nvPr/>
              </p:nvPicPr>
              <p:blipFill>
                <a:blip r:embed="rId4"/>
                <a:srcRect l="88767" t="16230" b="41012"/>
                <a:stretch>
                  <a:fillRect/>
                </a:stretch>
              </p:blipFill>
              <p:spPr>
                <a:xfrm>
                  <a:off x="8503" y="3813"/>
                  <a:ext cx="1917" cy="2371"/>
                </a:xfrm>
                <a:prstGeom prst="rect">
                  <a:avLst/>
                </a:prstGeom>
              </p:spPr>
            </p:pic>
            <p:pic>
              <p:nvPicPr>
                <p:cNvPr id="23" name="图片 22" descr="image001"/>
                <p:cNvPicPr>
                  <a:picLocks noChangeAspect="1"/>
                </p:cNvPicPr>
                <p:nvPr/>
              </p:nvPicPr>
              <p:blipFill>
                <a:blip r:embed="rId4"/>
                <a:srcRect l="48484" t="16230" r="44977" b="41012"/>
                <a:stretch>
                  <a:fillRect/>
                </a:stretch>
              </p:blipFill>
              <p:spPr>
                <a:xfrm>
                  <a:off x="1828" y="3813"/>
                  <a:ext cx="1116" cy="2371"/>
                </a:xfrm>
                <a:prstGeom prst="rect">
                  <a:avLst/>
                </a:prstGeom>
              </p:spPr>
            </p:pic>
            <p:grpSp>
              <p:nvGrpSpPr>
                <p:cNvPr id="25" name="组合 24"/>
                <p:cNvGrpSpPr/>
                <p:nvPr/>
              </p:nvGrpSpPr>
              <p:grpSpPr>
                <a:xfrm>
                  <a:off x="3180" y="4006"/>
                  <a:ext cx="5177" cy="1984"/>
                  <a:chOff x="3180" y="4006"/>
                  <a:chExt cx="5177" cy="1984"/>
                </a:xfrm>
              </p:grpSpPr>
              <p:grpSp>
                <p:nvGrpSpPr>
                  <p:cNvPr id="22" name="组合 21"/>
                  <p:cNvGrpSpPr/>
                  <p:nvPr/>
                </p:nvGrpSpPr>
                <p:grpSpPr>
                  <a:xfrm>
                    <a:off x="3180" y="4006"/>
                    <a:ext cx="5177" cy="1984"/>
                    <a:chOff x="11232" y="4732"/>
                    <a:chExt cx="5177" cy="1984"/>
                  </a:xfrm>
                </p:grpSpPr>
                <p:sp>
                  <p:nvSpPr>
                    <p:cNvPr id="19" name="圆角矩形 18"/>
                    <p:cNvSpPr/>
                    <p:nvPr>
                      <p:custDataLst>
                        <p:tags r:id="rId5"/>
                      </p:custDataLst>
                    </p:nvPr>
                  </p:nvSpPr>
                  <p:spPr>
                    <a:xfrm>
                      <a:off x="11311" y="4999"/>
                      <a:ext cx="1260" cy="750"/>
                    </a:xfrm>
                    <a:prstGeom prst="roundRect">
                      <a:avLst/>
                    </a:prstGeom>
                    <a:noFill/>
                    <a:ln w="22225" cap="flat" cmpd="sng" algn="ctr">
                      <a:noFill/>
                      <a:prstDash val="solid"/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5268A5"/>
                          </a:solidFill>
                        </a14:hiddenFill>
                      </a:ext>
                    </a:extLst>
                  </p:spPr>
                  <p:txBody>
                    <a:bodyPr wrap="square" rtlCol="0" anchor="ctr" anchorCtr="0">
                      <a:spAutoFit/>
                    </a:bodyPr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2200" b="1" kern="0" spc="-1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sym typeface="+mn-ea"/>
                        </a:rPr>
                        <a:t>分解</a:t>
                      </a:r>
                      <a:endParaRPr lang="zh-CN" altLang="en-US" sz="2200" b="1" kern="0" spc="-1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p:txBody>
                </p:sp>
                <p:grpSp>
                  <p:nvGrpSpPr>
                    <p:cNvPr id="10" name="组合 9"/>
                    <p:cNvGrpSpPr/>
                    <p:nvPr/>
                  </p:nvGrpSpPr>
                  <p:grpSpPr>
                    <a:xfrm>
                      <a:off x="11232" y="4732"/>
                      <a:ext cx="5177" cy="1984"/>
                      <a:chOff x="2464" y="1881"/>
                      <a:chExt cx="5177" cy="1984"/>
                    </a:xfrm>
                  </p:grpSpPr>
                  <p:grpSp>
                    <p:nvGrpSpPr>
                      <p:cNvPr id="11" name="组合 10"/>
                      <p:cNvGrpSpPr/>
                      <p:nvPr/>
                    </p:nvGrpSpPr>
                    <p:grpSpPr>
                      <a:xfrm>
                        <a:off x="2464" y="2792"/>
                        <a:ext cx="5177" cy="4"/>
                        <a:chOff x="2656" y="2906"/>
                        <a:chExt cx="5177" cy="4"/>
                      </a:xfrm>
                    </p:grpSpPr>
                    <p:cxnSp>
                      <p:nvCxnSpPr>
                        <p:cNvPr id="15" name="肘形连接符 14"/>
                        <p:cNvCxnSpPr/>
                        <p:nvPr>
                          <p:custDataLst>
                            <p:tags r:id="rId6"/>
                          </p:custDataLst>
                        </p:nvPr>
                      </p:nvCxnSpPr>
                      <p:spPr>
                        <a:xfrm flipH="1" flipV="1">
                          <a:off x="2656" y="2906"/>
                          <a:ext cx="1531" cy="2"/>
                        </a:xfrm>
                        <a:prstGeom prst="bentConnector3">
                          <a:avLst/>
                        </a:prstGeom>
                        <a:noFill/>
                        <a:ln w="254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miter lim="800000"/>
                          <a:headEnd type="triangle" w="lg" len="lg"/>
                          <a:tailEnd type="none" w="lg" len="lg"/>
                        </a:ln>
                        <a:effectLst/>
                      </p:spPr>
                    </p:cxnSp>
                    <p:cxnSp>
                      <p:nvCxnSpPr>
                        <p:cNvPr id="17" name="肘形连接符 16"/>
                        <p:cNvCxnSpPr/>
                        <p:nvPr>
                          <p:custDataLst>
                            <p:tags r:id="rId7"/>
                          </p:custDataLst>
                        </p:nvPr>
                      </p:nvCxnSpPr>
                      <p:spPr>
                        <a:xfrm flipH="1" flipV="1">
                          <a:off x="6302" y="2908"/>
                          <a:ext cx="1531" cy="2"/>
                        </a:xfrm>
                        <a:prstGeom prst="bentConnector3">
                          <a:avLst/>
                        </a:prstGeom>
                        <a:noFill/>
                        <a:ln w="25400" cap="flat" cmpd="sng" algn="ctr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prstDash val="solid"/>
                          <a:miter lim="800000"/>
                          <a:headEnd type="triangle" w="lg" len="lg"/>
                          <a:tailEnd type="none" w="lg" len="lg"/>
                        </a:ln>
                        <a:effectLst/>
                      </p:spPr>
                    </p:cxnSp>
                  </p:grpSp>
                  <p:sp>
                    <p:nvSpPr>
                      <p:cNvPr id="18" name="圆角矩形 17"/>
                      <p:cNvSpPr/>
                      <p:nvPr>
                        <p:custDataLst>
                          <p:tags r:id="rId8"/>
                        </p:custDataLst>
                      </p:nvPr>
                    </p:nvSpPr>
                    <p:spPr>
                      <a:xfrm>
                        <a:off x="4108" y="1881"/>
                        <a:ext cx="1834" cy="1984"/>
                      </a:xfrm>
                      <a:prstGeom prst="roundRect">
                        <a:avLst/>
                      </a:prstGeom>
                      <a:noFill/>
                      <a:ln w="22225" cap="flat" cmpd="sng" algn="ctr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prstDash val="solid"/>
                        <a:miter lim="800000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5268A5"/>
                            </a:solidFill>
                          </a14:hiddenFill>
                        </a:ext>
                      </a:extLst>
                    </p:spPr>
                    <p:txBody>
                      <a:bodyPr wrap="square" rtlCol="0" anchor="ctr" anchorCtr="0">
                        <a:noAutofit/>
                      </a:bodyPr>
                      <a:p>
                        <a:pPr algn="l">
                          <a:lnSpc>
                            <a:spcPct val="100000"/>
                          </a:lnSpc>
                        </a:pPr>
                        <a:endParaRPr lang="zh-CN" altLang="en-US" sz="2500" b="1" kern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20" name="圆角矩形 19"/>
                    <p:cNvSpPr/>
                    <p:nvPr>
                      <p:custDataLst>
                        <p:tags r:id="rId9"/>
                      </p:custDataLst>
                    </p:nvPr>
                  </p:nvSpPr>
                  <p:spPr>
                    <a:xfrm>
                      <a:off x="15061" y="4999"/>
                      <a:ext cx="1260" cy="750"/>
                    </a:xfrm>
                    <a:prstGeom prst="roundRect">
                      <a:avLst/>
                    </a:prstGeom>
                    <a:noFill/>
                    <a:ln w="22225" cap="flat" cmpd="sng" algn="ctr">
                      <a:noFill/>
                      <a:prstDash val="solid"/>
                      <a:miter lim="800000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5268A5"/>
                          </a:solidFill>
                        </a14:hiddenFill>
                      </a:ext>
                    </a:extLst>
                  </p:spPr>
                  <p:txBody>
                    <a:bodyPr wrap="square" rtlCol="0" anchor="ctr" anchorCtr="0">
                      <a:spAutoFit/>
                    </a:bodyPr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2200" b="1" kern="0" spc="-1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sym typeface="+mn-ea"/>
                        </a:rPr>
                        <a:t>结合</a:t>
                      </a:r>
                      <a:endParaRPr lang="zh-CN" altLang="en-US" sz="2200" b="1" kern="0" spc="-1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p:txBody>
                </p:sp>
              </p:grpSp>
              <p:cxnSp>
                <p:nvCxnSpPr>
                  <p:cNvPr id="24" name="肘形连接符 23"/>
                  <p:cNvCxnSpPr/>
                  <p:nvPr>
                    <p:custDataLst>
                      <p:tags r:id="rId10"/>
                    </p:custDataLst>
                  </p:nvPr>
                </p:nvCxnSpPr>
                <p:spPr>
                  <a:xfrm flipH="1" flipV="1">
                    <a:off x="5089" y="4917"/>
                    <a:ext cx="1304" cy="2"/>
                  </a:xfrm>
                  <a:prstGeom prst="bentConnector3">
                    <a:avLst/>
                  </a:prstGeom>
                  <a:noFill/>
                  <a:ln w="25400" cap="flat" cmpd="sng" algn="ctr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  <a:miter lim="800000"/>
                    <a:headEnd type="none" w="lg" len="lg"/>
                    <a:tailEnd type="none" w="lg" len="lg"/>
                  </a:ln>
                  <a:effectLst/>
                </p:spPr>
              </p:cxnSp>
            </p:grpSp>
          </p:grpSp>
        </p:grpSp>
        <p:sp>
          <p:nvSpPr>
            <p:cNvPr id="32" name="矩形 31"/>
            <p:cNvSpPr/>
            <p:nvPr>
              <p:custDataLst>
                <p:tags r:id="rId11"/>
              </p:custDataLst>
            </p:nvPr>
          </p:nvSpPr>
          <p:spPr>
            <a:xfrm>
              <a:off x="5283" y="5832"/>
              <a:ext cx="752" cy="605"/>
            </a:xfrm>
            <a:prstGeom prst="rect">
              <a:avLst/>
            </a:prstGeom>
            <a:noFill/>
            <a:ln w="222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lIns="0" tIns="0" rIns="0" bIns="0" rtlCol="0" anchor="ctr" anchorCtr="1">
              <a:spAutoFit/>
            </a:bodyPr>
            <a:p>
              <a:pPr algn="l">
                <a:lnSpc>
                  <a:spcPct val="100000"/>
                </a:lnSpc>
              </a:pPr>
              <a:r>
                <a:rPr sz="25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图</a:t>
              </a:r>
              <a:r>
                <a:rPr lang="en-US" sz="2500" b="1">
                  <a:ln>
                    <a:noFill/>
                  </a:ln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2</a:t>
              </a:r>
              <a:endPara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397500" y="2581275"/>
            <a:ext cx="904875" cy="1006135"/>
            <a:chOff x="13481" y="4798"/>
            <a:chExt cx="1425" cy="1584"/>
          </a:xfrm>
        </p:grpSpPr>
        <p:sp>
          <p:nvSpPr>
            <p:cNvPr id="33" name="椭圆 32"/>
            <p:cNvSpPr/>
            <p:nvPr/>
          </p:nvSpPr>
          <p:spPr>
            <a:xfrm>
              <a:off x="13929" y="5573"/>
              <a:ext cx="425" cy="42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4481" y="4798"/>
              <a:ext cx="425" cy="42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3481" y="4815"/>
              <a:ext cx="283" cy="2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3481" y="5367"/>
              <a:ext cx="283" cy="2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3668" y="6099"/>
              <a:ext cx="283" cy="2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552" y="5816"/>
              <a:ext cx="283" cy="2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6272530" y="4802505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质量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01485" y="5501005"/>
            <a:ext cx="95885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zh-CN" alt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、</a:t>
            </a:r>
            <a:r>
              <a:rPr 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</a:t>
            </a:r>
            <a:endParaRPr 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89268" y="315595"/>
            <a:ext cx="11213465" cy="608393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15. 化学使人类能够较充分地利用能源，如图是石油综合利用的示意图。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将石油加热炼制，利用石油中各成分的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不同，将它们分离可得到不同产品。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城镇家庭经常用罐装液化石油气做燃料，烹调食物时观察到燃气灶的火焰呈现黄色，锅底出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现黑色，需要将灶具的进风口调大，目的是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</a:t>
            </a:r>
            <a:r>
              <a:rPr lang="en-US" sz="2500" b="1" u="sng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.</a:t>
            </a:r>
            <a:endParaRPr lang="en-US" sz="2500" b="1" u="sng">
              <a:ln>
                <a:noFill/>
              </a:ln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烹调结束，关闭燃气灶阀门利用的灭火原理是</a:t>
            </a:r>
            <a:r>
              <a:rPr sz="2500" b="1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</a:t>
            </a:r>
            <a:r>
              <a:rPr lang="zh-CN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在汽油中加入适量乙醇作为汽车燃料，可适当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节省石油资源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，并在一定程度上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减少汽车尾气的污染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。写出乙醇充分燃烧的化学方程式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lang="zh-CN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lang="zh-CN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61515" y="889000"/>
            <a:ext cx="8318500" cy="1587500"/>
            <a:chOff x="3161" y="2144"/>
            <a:chExt cx="13100" cy="2500"/>
          </a:xfrm>
        </p:grpSpPr>
        <p:grpSp>
          <p:nvGrpSpPr>
            <p:cNvPr id="21" name="组合 20"/>
            <p:cNvGrpSpPr/>
            <p:nvPr/>
          </p:nvGrpSpPr>
          <p:grpSpPr>
            <a:xfrm>
              <a:off x="9584" y="2144"/>
              <a:ext cx="1587" cy="907"/>
              <a:chOff x="6490" y="4656"/>
              <a:chExt cx="1587" cy="907"/>
            </a:xfrm>
          </p:grpSpPr>
          <p:sp>
            <p:nvSpPr>
              <p:cNvPr id="11" name="矩形 10"/>
              <p:cNvSpPr/>
              <p:nvPr>
                <p:custDataLst>
                  <p:tags r:id="rId2"/>
                </p:custDataLst>
              </p:nvPr>
            </p:nvSpPr>
            <p:spPr>
              <a:xfrm>
                <a:off x="6782" y="4807"/>
                <a:ext cx="1004" cy="605"/>
              </a:xfrm>
              <a:prstGeom prst="rect">
                <a:avLst/>
              </a:prstGeom>
              <a:noFill/>
              <a:ln w="22225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lIns="0" tIns="0" rIns="0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lang="zh-CN" altLang="en-US" sz="2500" b="1" kern="0" dirty="0" smtClean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石油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19" name="椭圆 18"/>
              <p:cNvSpPr/>
              <p:nvPr>
                <p:custDataLst>
                  <p:tags r:id="rId3"/>
                </p:custDataLst>
              </p:nvPr>
            </p:nvSpPr>
            <p:spPr>
              <a:xfrm>
                <a:off x="6490" y="4656"/>
                <a:ext cx="1587" cy="907"/>
              </a:xfrm>
              <a:prstGeom prst="ellipse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5268A5"/>
                    </a:solidFill>
                  </a14:hiddenFill>
                </a:ext>
              </a:extLst>
            </p:spPr>
            <p:txBody>
              <a:bodyPr wrap="square" lIns="0" tIns="0" rIns="0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endParaRPr lang="zh-CN" altLang="en-US" sz="2500" b="1" kern="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endParaRP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 rot="10800000">
              <a:off x="4456" y="3036"/>
              <a:ext cx="11112" cy="907"/>
              <a:chOff x="3456532" y="3351494"/>
              <a:chExt cx="4962526" cy="1211247"/>
            </a:xfrm>
          </p:grpSpPr>
          <p:cxnSp>
            <p:nvCxnSpPr>
              <p:cNvPr id="88" name="肘形连接符 87"/>
              <p:cNvCxnSpPr/>
              <p:nvPr>
                <p:custDataLst>
                  <p:tags r:id="rId4"/>
                </p:custDataLst>
              </p:nvPr>
            </p:nvCxnSpPr>
            <p:spPr>
              <a:xfrm rot="16200000" flipV="1">
                <a:off x="4020066" y="2787960"/>
                <a:ext cx="1205871" cy="2332939"/>
              </a:xfrm>
              <a:prstGeom prst="bentConnector3">
                <a:avLst/>
              </a:prstGeom>
              <a:noFill/>
              <a:ln w="25400" cap="flat" cmpd="sng" algn="ctr">
                <a:solidFill>
                  <a:srgbClr val="3A4150"/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  <p:cxnSp>
            <p:nvCxnSpPr>
              <p:cNvPr id="89" name="肘形连接符 88"/>
              <p:cNvCxnSpPr/>
              <p:nvPr>
                <p:custDataLst>
                  <p:tags r:id="rId5"/>
                </p:custDataLst>
              </p:nvPr>
            </p:nvCxnSpPr>
            <p:spPr>
              <a:xfrm rot="5400000" flipH="1" flipV="1">
                <a:off x="6501671" y="2645354"/>
                <a:ext cx="1205871" cy="2628903"/>
              </a:xfrm>
              <a:prstGeom prst="bentConnector3">
                <a:avLst/>
              </a:prstGeom>
              <a:noFill/>
              <a:ln w="25400" cap="flat" cmpd="sng" algn="ctr">
                <a:solidFill>
                  <a:srgbClr val="3A4150"/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</p:grpSp>
        <p:grpSp>
          <p:nvGrpSpPr>
            <p:cNvPr id="13" name="组合 12"/>
            <p:cNvGrpSpPr/>
            <p:nvPr/>
          </p:nvGrpSpPr>
          <p:grpSpPr>
            <a:xfrm>
              <a:off x="3161" y="4035"/>
              <a:ext cx="13100" cy="609"/>
              <a:chOff x="1312" y="4064"/>
              <a:chExt cx="13100" cy="609"/>
            </a:xfrm>
          </p:grpSpPr>
          <p:sp>
            <p:nvSpPr>
              <p:cNvPr id="3" name="矩形 2"/>
              <p:cNvSpPr/>
              <p:nvPr>
                <p:custDataLst>
                  <p:tags r:id="rId6"/>
                </p:custDataLst>
              </p:nvPr>
            </p:nvSpPr>
            <p:spPr>
              <a:xfrm>
                <a:off x="1312" y="4064"/>
                <a:ext cx="2624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lIns="36195" tIns="0" rIns="36195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lang="zh-CN" altLang="en-US" sz="2500" b="1" kern="0" dirty="0" smtClean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液化石油气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6" name="矩形 5"/>
              <p:cNvSpPr/>
              <p:nvPr>
                <p:custDataLst>
                  <p:tags r:id="rId7"/>
                </p:custDataLst>
              </p:nvPr>
            </p:nvSpPr>
            <p:spPr>
              <a:xfrm>
                <a:off x="4914" y="4064"/>
                <a:ext cx="1118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lIns="36195" tIns="0" rIns="36195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sz="25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汽油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7" name="矩形 6"/>
              <p:cNvSpPr/>
              <p:nvPr>
                <p:custDataLst>
                  <p:tags r:id="rId8"/>
                </p:custDataLst>
              </p:nvPr>
            </p:nvSpPr>
            <p:spPr>
              <a:xfrm>
                <a:off x="7010" y="4064"/>
                <a:ext cx="1118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lIns="36195" tIns="0" rIns="36195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sz="25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柴油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9" name="矩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9041" y="4068"/>
                <a:ext cx="1118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lIns="36195" tIns="0" rIns="36195" bIns="0" rtlCol="0" anchor="ctr" anchorCtr="1">
                <a:spAutoFit/>
              </a:bodyPr>
              <a:p>
                <a:pPr marL="0" marR="0" indent="0" algn="l" defTabSz="914400" rtl="0" fontAlgn="auto" latinLnBrk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sz="25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石蜡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10" name="矩形 9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202" y="4064"/>
                <a:ext cx="1118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lIns="36195" tIns="0" rIns="36195" bIns="0" rtlCol="0" anchor="ctr" anchorCtr="1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sz="2500" b="1">
                    <a:ln>
                      <a:noFill/>
                    </a:ln>
                    <a:effectLst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Arial" panose="020B0604020202090204"/>
                  </a:rPr>
                  <a:t>沥青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endParaRPr>
              </a:p>
            </p:txBody>
          </p:sp>
          <p:sp>
            <p:nvSpPr>
              <p:cNvPr id="12" name="矩形 1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3298" y="4064"/>
                <a:ext cx="1114" cy="605"/>
              </a:xfrm>
              <a:prstGeom prst="rect">
                <a:avLst/>
              </a:prstGeom>
              <a:noFill/>
              <a:ln w="22225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none" lIns="36195" tIns="0" rIns="36195" bIns="0" rtlCol="0" anchor="t" anchorCtr="0">
                <a:spAutoFit/>
              </a:bodyPr>
              <a:p>
                <a:pPr algn="l">
                  <a:lnSpc>
                    <a:spcPct val="100000"/>
                  </a:lnSpc>
                </a:pPr>
                <a:r>
                  <a:rPr lang="zh-CN" altLang="en-US" sz="2500" b="1" kern="0" dirty="0" smtClean="0">
                    <a:ln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uFillTx/>
                    <a:latin typeface="Arial" panose="020B0604020202090204" pitchFamily="34" charset="0"/>
                    <a:ea typeface="宋体" panose="02010600030101010101" pitchFamily="2" charset="-122"/>
                    <a:cs typeface="Arial" panose="020B0604020202090204" pitchFamily="34" charset="0"/>
                    <a:sym typeface="Arial" panose="020B0604020202090204"/>
                  </a:rPr>
                  <a:t>……</a:t>
                </a:r>
                <a:endParaRPr lang="zh-CN" altLang="en-US" sz="2500" b="1" kern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FillTx/>
                  <a:latin typeface="Arial" panose="020B0604020202090204" pitchFamily="34" charset="0"/>
                  <a:ea typeface="宋体" panose="02010600030101010101" pitchFamily="2" charset="-122"/>
                  <a:cs typeface="Arial" panose="020B0604020202090204" pitchFamily="34" charset="0"/>
                  <a:sym typeface="Arial" panose="020B0604020202090204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7263" y="3485"/>
              <a:ext cx="6264" cy="454"/>
              <a:chOff x="5414" y="3160"/>
              <a:chExt cx="6264" cy="1134"/>
            </a:xfrm>
          </p:grpSpPr>
          <p:cxnSp>
            <p:nvCxnSpPr>
              <p:cNvPr id="8" name="肘形连接符 7"/>
              <p:cNvCxnSpPr/>
              <p:nvPr>
                <p:custDataLst>
                  <p:tags r:id="rId12"/>
                </p:custDataLst>
              </p:nvPr>
            </p:nvCxnSpPr>
            <p:spPr>
              <a:xfrm rot="5400000">
                <a:off x="4849" y="3725"/>
                <a:ext cx="1134" cy="5"/>
              </a:xfrm>
              <a:prstGeom prst="bentConnector3">
                <a:avLst>
                  <a:gd name="adj1" fmla="val 80874"/>
                </a:avLst>
              </a:prstGeom>
              <a:noFill/>
              <a:ln w="254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  <p:cxnSp>
            <p:nvCxnSpPr>
              <p:cNvPr id="4" name="肘形连接符 3"/>
              <p:cNvCxnSpPr/>
              <p:nvPr>
                <p:custDataLst>
                  <p:tags r:id="rId13"/>
                </p:custDataLst>
              </p:nvPr>
            </p:nvCxnSpPr>
            <p:spPr>
              <a:xfrm rot="16200000" flipH="1" flipV="1">
                <a:off x="9033" y="3726"/>
                <a:ext cx="1134" cy="2"/>
              </a:xfrm>
              <a:prstGeom prst="bentConnector3">
                <a:avLst>
                  <a:gd name="adj1" fmla="val 89769"/>
                </a:avLst>
              </a:prstGeom>
              <a:noFill/>
              <a:ln w="254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  <p:cxnSp>
            <p:nvCxnSpPr>
              <p:cNvPr id="14" name="肘形连接符 13"/>
              <p:cNvCxnSpPr/>
              <p:nvPr>
                <p:custDataLst>
                  <p:tags r:id="rId14"/>
                </p:custDataLst>
              </p:nvPr>
            </p:nvCxnSpPr>
            <p:spPr>
              <a:xfrm rot="16200000" flipH="1" flipV="1">
                <a:off x="6945" y="3726"/>
                <a:ext cx="1134" cy="2"/>
              </a:xfrm>
              <a:prstGeom prst="bentConnector3">
                <a:avLst>
                  <a:gd name="adj1" fmla="val 80950"/>
                </a:avLst>
              </a:prstGeom>
              <a:noFill/>
              <a:ln w="254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  <p:cxnSp>
            <p:nvCxnSpPr>
              <p:cNvPr id="15" name="肘形连接符 14"/>
              <p:cNvCxnSpPr/>
              <p:nvPr>
                <p:custDataLst>
                  <p:tags r:id="rId15"/>
                </p:custDataLst>
              </p:nvPr>
            </p:nvCxnSpPr>
            <p:spPr>
              <a:xfrm rot="16200000" flipH="1" flipV="1">
                <a:off x="11110" y="3726"/>
                <a:ext cx="1134" cy="2"/>
              </a:xfrm>
              <a:prstGeom prst="bentConnector3">
                <a:avLst>
                  <a:gd name="adj1" fmla="val 74247"/>
                </a:avLst>
              </a:prstGeom>
              <a:noFill/>
              <a:ln w="25400" cap="flat" cmpd="sng" algn="ctr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800000"/>
                <a:headEnd type="none" w="lg" len="lg"/>
                <a:tailEnd type="triangle" w="lg" len="lg"/>
              </a:ln>
              <a:effectLst/>
            </p:spPr>
          </p:cxnSp>
        </p:grpSp>
      </p:grpSp>
      <p:sp>
        <p:nvSpPr>
          <p:cNvPr id="31" name="文本框 30"/>
          <p:cNvSpPr txBox="1"/>
          <p:nvPr/>
        </p:nvSpPr>
        <p:spPr>
          <a:xfrm>
            <a:off x="6675755" y="2640330"/>
            <a:ext cx="792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沸点</a:t>
            </a:r>
            <a:endParaRPr lang="zh-CN" sz="24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97365" y="4735195"/>
            <a:ext cx="1706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清除可燃物</a:t>
            </a:r>
            <a:endParaRPr lang="zh-CN" sz="24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951595" y="5939155"/>
            <a:ext cx="10972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天然气</a:t>
            </a:r>
            <a:endParaRPr lang="zh-CN" sz="24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59105" y="4244340"/>
            <a:ext cx="11275695" cy="950595"/>
            <a:chOff x="723" y="6684"/>
            <a:chExt cx="17757" cy="1497"/>
          </a:xfrm>
        </p:grpSpPr>
        <p:sp>
          <p:nvSpPr>
            <p:cNvPr id="18" name="文本框 17"/>
            <p:cNvSpPr txBox="1"/>
            <p:nvPr/>
          </p:nvSpPr>
          <p:spPr>
            <a:xfrm>
              <a:off x="13872" y="6684"/>
              <a:ext cx="4608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zh-CN" sz="24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提供充足的空气，使</a:t>
              </a:r>
              <a:endParaRPr lang="zh-CN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23" y="7457"/>
              <a:ext cx="3648" cy="72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zh-CN" sz="24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可燃物充分燃烧</a:t>
              </a:r>
              <a:endParaRPr lang="zh-CN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</p:grp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20" grpId="0"/>
      <p:bldP spid="20" grpId="1"/>
      <p:bldP spid="22" grpId="0"/>
      <p:bldP spid="2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78485" y="386715"/>
            <a:ext cx="11088081" cy="608393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16.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[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2020·扬州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空气质量影响着生活质量。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下表为某同学测量的呼吸前后气体组成的实验数据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通常状况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氮气的化学性质比较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稳定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活泼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，在呼吸前后没有发生变化。实验中呼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出气体的总体积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&gt;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=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&lt;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吸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入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空气的总体积。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②呼吸时消耗O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产生CO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，该过程_____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吸收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释放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能量。呼吸前后气体中水蒸气含量变化较大，实验中其体积分数b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a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&gt;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=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&lt;</a:t>
            </a: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757998" y="1432560"/>
          <a:ext cx="8676005" cy="280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/>
                <a:gridCol w="3456000"/>
                <a:gridCol w="3456000"/>
              </a:tblGrid>
              <a:tr h="6477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物质</a:t>
                      </a:r>
                      <a:endParaRPr lang="zh-CN" altLang="en-US" sz="24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吸入空气</a:t>
                      </a:r>
                      <a:r>
                        <a:rPr lang="en-US" altLang="zh-CN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体积分数/%</a:t>
                      </a:r>
                      <a:r>
                        <a:rPr lang="en-US" altLang="zh-CN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)</a:t>
                      </a:r>
                      <a:endParaRPr lang="en-US" altLang="zh-CN" sz="24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呼出气体</a:t>
                      </a:r>
                      <a:r>
                        <a:rPr lang="en-US" altLang="zh-CN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体积分数/%</a:t>
                      </a:r>
                      <a:r>
                        <a:rPr lang="en-US" altLang="zh-CN" sz="2400">
                          <a:solidFill>
                            <a:schemeClr val="bg2"/>
                          </a:solidFill>
                          <a:uFillTx/>
                          <a:latin typeface="Times New Roman" panose="02020603050405020304" pitchFamily="18" charset="0"/>
                        </a:rPr>
                        <a:t>)</a:t>
                      </a:r>
                      <a:endParaRPr lang="en-US" altLang="zh-CN" sz="2400">
                        <a:solidFill>
                          <a:schemeClr val="bg2"/>
                        </a:solidFill>
                        <a:uFillTx/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300">
                          <a:latin typeface="Times New Roman" panose="02020603050405020304" pitchFamily="18" charset="0"/>
                        </a:rPr>
                        <a:t>氮气</a:t>
                      </a:r>
                      <a:endParaRPr lang="zh-CN" altLang="en-US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78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75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r>
                        <a:rPr sz="2300" b="1">
                          <a:ln>
                            <a:noFill/>
                          </a:ln>
                          <a:effectLst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Arial" panose="020B0604020202090204"/>
                        </a:rPr>
                        <a:t>氧</a:t>
                      </a:r>
                      <a:r>
                        <a:rPr lang="zh-CN" altLang="en-US" sz="2300">
                          <a:latin typeface="Times New Roman" panose="02020603050405020304" pitchFamily="18" charset="0"/>
                        </a:rPr>
                        <a:t>气</a:t>
                      </a:r>
                      <a:endParaRPr lang="zh-CN" altLang="en-US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21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300">
                          <a:latin typeface="Times New Roman" panose="02020603050405020304" pitchFamily="18" charset="0"/>
                        </a:rPr>
                        <a:t>二氧化碳</a:t>
                      </a:r>
                      <a:endParaRPr lang="zh-CN" altLang="en-US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0.03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300">
                          <a:latin typeface="Times New Roman" panose="02020603050405020304" pitchFamily="18" charset="0"/>
                        </a:rPr>
                        <a:t>水蒸气</a:t>
                      </a:r>
                      <a:endParaRPr lang="zh-CN" altLang="en-US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3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300">
                        <a:latin typeface="Times New Roman" panose="02020603050405020304" pitchFamily="18" charset="0"/>
                      </a:endParaRPr>
                    </a:p>
                  </a:txBody>
                  <a:tcPr marL="36195" marR="36195" marT="36195" marB="36195" anchor="ctr" anchorCtr="1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0335" y="4265930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稳定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4360" y="4879975"/>
            <a:ext cx="363855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 b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&gt;</a:t>
            </a:r>
            <a:endParaRPr lang="zh-CN" altLang="en-US" sz="2500" b="1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455285" y="5371465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释放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64425" y="5938520"/>
            <a:ext cx="363855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500" b="1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&gt;</a:t>
            </a:r>
            <a:endParaRPr lang="zh-CN" altLang="en-US" sz="2500" b="1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49935" y="898525"/>
            <a:ext cx="10692130" cy="4813935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16.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[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2020·扬州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空气质量影响着生活质量。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(2)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汽车多以汽油为燃料，辛烷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8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18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是汽油中的一种成分。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①每114g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</a:t>
            </a:r>
            <a:r>
              <a:rPr lang="en-US" sz="2500" b="1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8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en-US" sz="2500" b="1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18</a:t>
            </a:r>
            <a:r>
              <a:rPr kumimoji="0" sz="25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完全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燃烧，需要消耗400gO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，生成mgCO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和162gH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O，则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m=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_                                     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g</a:t>
            </a:r>
            <a:r>
              <a:rPr kumimoji="0" 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②与完全燃烧相比，等质量的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</a:t>
            </a:r>
            <a:r>
              <a:rPr lang="en-US" sz="2500" b="1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8</a:t>
            </a:r>
            <a:r>
              <a:rPr sz="25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H</a:t>
            </a:r>
            <a:r>
              <a:rPr lang="en-US" sz="2500" b="1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18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不完全燃烧时会产生CO，消耗O</a:t>
            </a:r>
            <a:r>
              <a:rPr kumimoji="0" lang="en-US" sz="25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的质量</a:t>
            </a:r>
            <a:r>
              <a:rPr kumimoji="0" lang="en-US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altLang="zh-CN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lang="zh-CN" alt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偏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大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相等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偏小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，除污染环境外，燃料不完全燃烧还会产生的问题是</a:t>
            </a:r>
            <a:r>
              <a:rPr kumimoji="0" sz="25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                   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写出一种</a:t>
            </a:r>
            <a:r>
              <a:rPr kumimoji="0" lang="en-US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5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5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9935" y="226108"/>
            <a:ext cx="3319684" cy="54536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5875">
            <a:solidFill>
              <a:schemeClr val="accent1"/>
            </a:solidFill>
          </a:ln>
        </p:spPr>
        <p:txBody>
          <a:bodyPr vert="horz" wrap="none" lIns="0" tIns="0" rIns="0" bIns="0" rtlCol="0" anchor="ctr">
            <a:spAutoFit/>
            <a:scene3d>
              <a:camera prst="orthographicFront"/>
              <a:lightRig rig="threePt" dir="t"/>
            </a:scene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indent="0" algn="l" fontAlgn="base">
              <a:buFont typeface="Wingdings" panose="05000000000000000000" charset="0"/>
            </a:pPr>
            <a:r>
              <a:rPr lang="zh-CN" sz="3200" b="1" strike="noStrike" noProof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Times New Roman" panose="02020603050405020304" pitchFamily="18" charset="0"/>
                <a:sym typeface="+mn-ea"/>
              </a:rPr>
              <a:t>全攻略</a:t>
            </a:r>
            <a:r>
              <a:rPr lang="zh-CN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汉仪大隶书简" panose="02010600000101010101" charset="-122"/>
                <a:ea typeface="汉仪大隶书简" panose="02010600000101010101" charset="-122"/>
                <a:cs typeface="汉仪大隶书简" panose="02010600000101010101" charset="-122"/>
                <a:sym typeface="+mn-ea"/>
              </a:rPr>
              <a:t>→达标训练</a:t>
            </a:r>
            <a:endParaRPr lang="en-US" sz="3200" b="1" strike="noStrike" noProof="1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汉仪铁山隶书繁" panose="0002060004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97000" y="3021965"/>
            <a:ext cx="301625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400g+114g-162g=352</a:t>
            </a:r>
            <a:endParaRPr 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4915" y="4425315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偏小</a:t>
            </a:r>
            <a:endParaRPr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39720" y="5121910"/>
            <a:ext cx="43103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浪费能源、生成物污染环境等</a:t>
            </a:r>
            <a:endParaRPr lang="zh-CN" altLang="en-US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77850" y="628650"/>
            <a:ext cx="11036300" cy="513969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16.</a:t>
            </a:r>
            <a:r>
              <a:rPr lang="en-US"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(3)“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远在高空是地球卫士，近在身边是健康杀手。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臭氧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O</a:t>
            </a:r>
            <a:r>
              <a:rPr kumimoji="0" lang="en-US" sz="24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对环境的作用需辩证地认识。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①高空中臭氧层能吸收紫外线。有学者认为，制冷剂氟利昂进入高空大气后会产生氯原子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Cl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，引发以下反应</a:t>
            </a:r>
            <a:r>
              <a:rPr kumimoji="0" lang="zh-CN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：</a:t>
            </a:r>
            <a:r>
              <a:rPr kumimoji="0" lang="en-US" altLang="zh-CN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l+O</a:t>
            </a:r>
            <a:r>
              <a:rPr kumimoji="0" lang="en-US" sz="24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=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ClO+O</a:t>
            </a:r>
            <a:r>
              <a:rPr kumimoji="0" lang="en-US" sz="24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lang="zh-CN" alt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；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2ClO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=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2Cl+O</a:t>
            </a:r>
            <a:r>
              <a:rPr kumimoji="0" sz="24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。Cl加快了上述转化过程总反应的速率，但自身的</a:t>
            </a:r>
            <a:r>
              <a:rPr kumimoji="0" sz="24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质量和化学性质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在总反应前后没有发生变化，其作用是</a:t>
            </a:r>
            <a:r>
              <a:rPr kumimoji="0" sz="24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，该转化过程总反应的化学方程式为</a:t>
            </a:r>
            <a:r>
              <a:rPr kumimoji="0" sz="24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                       </a:t>
            </a:r>
            <a:r>
              <a:rPr kumimoji="0" lang="zh-CN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②地面附近的臭氧是一种空气污染物，臭氧属于</a:t>
            </a:r>
            <a:r>
              <a:rPr kumimoji="0" sz="24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 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单质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化合物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”)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，O</a:t>
            </a:r>
            <a:r>
              <a:rPr kumimoji="0" lang="en-US" sz="2400" b="1" i="0" baseline="-2500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3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可表示一个</a:t>
            </a:r>
            <a:r>
              <a:rPr kumimoji="0" sz="24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原子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分子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或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“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离子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”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lang="zh-CN" alt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57350" y="3837940"/>
            <a:ext cx="1452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催化作用</a:t>
            </a:r>
            <a:endParaRPr lang="zh-CN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93915" y="4507865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单质</a:t>
            </a:r>
            <a:endParaRPr lang="zh-CN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2870" y="5142230"/>
            <a:ext cx="817880" cy="4756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sz="25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分子</a:t>
            </a:r>
            <a:endParaRPr lang="zh-CN" sz="25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52790" y="3645535"/>
            <a:ext cx="1511935" cy="684530"/>
            <a:chOff x="13154" y="5885"/>
            <a:chExt cx="2381" cy="1078"/>
          </a:xfrm>
        </p:grpSpPr>
        <p:sp>
          <p:nvSpPr>
            <p:cNvPr id="7" name="文本框 6"/>
            <p:cNvSpPr txBox="1"/>
            <p:nvPr/>
          </p:nvSpPr>
          <p:spPr>
            <a:xfrm>
              <a:off x="13989" y="5885"/>
              <a:ext cx="666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sz="20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Cl</a:t>
              </a:r>
              <a:endParaRPr lang="zh-CN" altLang="en-US" sz="20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3154" y="6044"/>
              <a:ext cx="2381" cy="91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pPr algn="l"/>
              <a:r>
                <a:rPr lang="en-US" sz="28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2</a:t>
              </a:r>
              <a:r>
                <a:rPr sz="28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O</a:t>
              </a:r>
              <a:r>
                <a:rPr lang="en-US" sz="2800" baseline="-250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3</a:t>
              </a:r>
              <a:r>
                <a:rPr lang="en-US" sz="32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=</a:t>
              </a:r>
              <a:r>
                <a:rPr lang="en-US" sz="28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3</a:t>
              </a:r>
              <a:r>
                <a:rPr sz="28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O</a:t>
              </a:r>
              <a:r>
                <a:rPr lang="en-US" sz="2800" baseline="-25000">
                  <a:ln>
                    <a:noFill/>
                  </a:ln>
                  <a:solidFill>
                    <a:srgbClr val="C00000"/>
                  </a:solidFill>
                  <a:effectLst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Arial" panose="020B0604020202090204"/>
                </a:rPr>
                <a:t>2</a:t>
              </a:r>
              <a:endParaRPr lang="en-US" sz="2800" baseline="-250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endParaRPr>
            </a:p>
          </p:txBody>
        </p:sp>
      </p:grp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09028" y="1057275"/>
            <a:ext cx="9972675" cy="4330700"/>
          </a:xfrm>
          <a:prstGeom prst="rect">
            <a:avLst/>
          </a:prstGeom>
          <a:noFill/>
          <a:ln w="19050" cap="flat" cmpd="tri">
            <a:solidFill>
              <a:schemeClr val="tx1"/>
            </a:solidFill>
            <a:prstDash val="dashDot"/>
            <a:miter lim="400000"/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100000">
                      <a:srgbClr val="B3CED5"/>
                    </a:gs>
                    <a:gs pos="0">
                      <a:srgbClr val="DDE3D8"/>
                    </a:gs>
                  </a:gsLst>
                  <a:lin scaled="1"/>
                </a:gra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44145" tIns="60958" rIns="60958" bIns="60958" numCol="1" spcCol="38100" rtlCol="0" anchor="t" forceAA="0">
            <a:spAutoFit/>
          </a:bodyPr>
          <a:p>
            <a:pPr marL="0" marR="0" indent="0" algn="l" defTabSz="914400" rtl="0" fontAlgn="auto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16.</a:t>
            </a:r>
            <a:r>
              <a:rPr lang="en-US"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[</a:t>
            </a:r>
            <a:r>
              <a:rPr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2020·扬州</a:t>
            </a:r>
            <a:r>
              <a:rPr lang="en-US"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]</a:t>
            </a:r>
            <a:r>
              <a:rPr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空气质量影响着生活质量。</a:t>
            </a:r>
            <a:endParaRPr sz="2400" b="1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400" b="1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(4)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有人提出，我们吸入的空气中的某个氧原子可能来自于若干年前恐龙的身体。</a:t>
            </a:r>
            <a:r>
              <a:rPr kumimoji="0" sz="2400" b="1" i="0">
                <a:ln>
                  <a:noFill/>
                </a:ln>
                <a:solidFill>
                  <a:srgbClr val="0E0EE4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该说法表达的观点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是</a:t>
            </a:r>
            <a:r>
              <a:rPr kumimoji="0" sz="2400" b="1" i="0" u="sng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       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(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填标号</a:t>
            </a:r>
            <a:r>
              <a:rPr kumimoji="0" lang="en-US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)</a:t>
            </a: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。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A.分子聚集形成物质，分子在不停地运动 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B.在化学变化中原子既不会产生，也不会消失 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  <a:p>
            <a:pPr marL="0" marR="0" indent="0" algn="l" defTabSz="914400" rtl="0" fontAlgn="auto" latinLnBrk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400" b="1" i="0">
                <a:ln>
                  <a:noFill/>
                </a:ln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    C.原子内部结构复杂，原子不是构成物质的最小微粒</a:t>
            </a:r>
            <a:endParaRPr kumimoji="0" sz="2400" b="1" i="0">
              <a:ln>
                <a:noFill/>
              </a:ln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22570" y="2595245"/>
            <a:ext cx="7035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40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90204"/>
              </a:rPr>
              <a:t>B</a:t>
            </a:r>
            <a:endParaRPr lang="en-US" sz="240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90204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24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824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TAG_VERSION" val="1.0"/>
  <p:tag name="KSO_WM_BEAUTIFY_FLAG" val="#wm#"/>
  <p:tag name="KSO_WM_TEMPLATE_CATEGORY" val="custom"/>
  <p:tag name="KSO_WM_TEMPLATE_INDEX" val="20202824"/>
  <p:tag name="KSO_WM_TEMPLATE_THUMBS_INDEX" val="1、4、5、6、7、8、9、10、11、12、13"/>
</p:tagLst>
</file>

<file path=ppt/tags/tag1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1609_1*i*4"/>
  <p:tag name="KSO_WM_TEMPLATE_CATEGORY" val="custom"/>
  <p:tag name="KSO_WM_TEMPLATE_INDEX" val="20181609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SCONTENTSTITLE" val="0"/>
  <p:tag name="KSO_WM_UNIT_PRESET_TEXT" val="教育教学说课公开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1609_1*a*1"/>
  <p:tag name="KSO_WM_TEMPLATE_CATEGORY" val="custom"/>
  <p:tag name="KSO_WM_TEMPLATE_INDEX" val="20181609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TEMPLATE_CATEGORY" val="custom"/>
  <p:tag name="KSO_WM_TEMPLATE_INDEX" val="20181609"/>
  <p:tag name="KSO_WM_UNIT_TYPE" val="b"/>
  <p:tag name="KSO_WM_UNIT_INDEX" val="1"/>
  <p:tag name="KSO_WM_UNIT_ID" val="custom20181609_1*b*1"/>
  <p:tag name="KSO_WM_UNIT_LAYERLEVEL" val="1"/>
  <p:tag name="KSO_WM_UNIT_VALUE" val="28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信息话教学      公开课        示范课        说课微课"/>
  <p:tag name="KSO_WM_UNIT_NOCLEAR" val="0"/>
  <p:tag name="KSO_WM_UNIT_DIAGRAM_ISNUMVISUAL" val="0"/>
  <p:tag name="KSO_WM_UNIT_DIAGRAM_ISREFERUNIT" val="0"/>
</p:tagLst>
</file>

<file path=ppt/tags/tag128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3"/>
  <p:tag name="KSO_WM_SLIDE_TYPE" val="title"/>
  <p:tag name="KSO_WM_BEAUTIFY_FLAG" val="#wm#"/>
  <p:tag name="KSO_WM_COMBINE_RELATE_SLIDE_ID" val="background20180991_1"/>
  <p:tag name="KSO_WM_TEMPLATE_CATEGORY" val="custom"/>
  <p:tag name="KSO_WM_TEMPLATE_INDEX" val="20202824"/>
  <p:tag name="KSO_WM_SLIDE_ID" val="custom20181609_1"/>
  <p:tag name="KSO_WM_SLIDE_INDEX" val="1"/>
  <p:tag name="KSO_WM_TEMPLATE_SUBCATEGORY" val="0"/>
  <p:tag name="KSO_WM_TEMPLATE_THUMBS_INDEX" val="1、4、5、6、12、13、18、19"/>
  <p:tag name="KSO_WM_SLIDE_SUBTYPE" val="pureTxt"/>
  <p:tag name="KSO_WM_SPECIAL_SOURCE" val="bdnull"/>
  <p:tag name="KSO_WM_SLIDE_MODEL_TYPE" val="cover"/>
</p:tagLst>
</file>

<file path=ppt/tags/tag129.xml><?xml version="1.0" encoding="utf-8"?>
<p:tagLst xmlns:p="http://schemas.openxmlformats.org/presentationml/2006/main">
  <p:tag name="KSO_WM_UNIT_TABLE_BEAUTIFY" val="smartTable{7d6469fc-7b07-4925-b875-40e69340adba}"/>
  <p:tag name="TABLE_EMPHASIZE_COLOR" val="7768220"/>
  <p:tag name="TABLE_SKINIDX" val="2"/>
  <p:tag name="TABLE_COLORIDX" val="17"/>
  <p:tag name="TABLE_COLOR_RGB" val="0x000000*0xFFFFFF*0x212121*0xFFFFFF*0x76889C*0x9DB1CA*0x8C9DBB*0x7A9DB3*0xB5CFCE*0xD7ECF1"/>
</p:tagLst>
</file>

<file path=ppt/tags/tag130.xml><?xml version="1.0" encoding="utf-8"?>
<p:tagLst xmlns:p="http://schemas.openxmlformats.org/presentationml/2006/main">
  <p:tag name="KSO_WM_FULL_TEXT_BEAUTIFY_COPY_ID" val="2"/>
</p:tagLst>
</file>

<file path=ppt/tags/tag131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32.xml><?xml version="1.0" encoding="utf-8"?>
<p:tagLst xmlns:p="http://schemas.openxmlformats.org/presentationml/2006/main">
  <p:tag name="KSO_WM_UNIT_TABLE_BEAUTIFY" val="smartTable{7d6469fc-7b07-4925-b875-40e69340adba}"/>
  <p:tag name="TABLE_EMPHASIZE_COLOR" val="7768220"/>
  <p:tag name="TABLE_SKINIDX" val="2"/>
  <p:tag name="TABLE_COLORIDX" val="17"/>
  <p:tag name="TABLE_COLOR_RGB" val="0x000000*0xFFFFFF*0x212121*0xFFFFFF*0x76889C*0x9DB1CA*0x8C9DBB*0x7A9DB3*0xB5CFCE*0xD7ECF1"/>
  <p:tag name="TABLE_ENDDRAG_ORIGIN_RECT" val="873*396"/>
  <p:tag name="TABLE_ENDDRAG_RECT" val="43*74*873*396"/>
</p:tagLst>
</file>

<file path=ppt/tags/tag133.xml><?xml version="1.0" encoding="utf-8"?>
<p:tagLst xmlns:p="http://schemas.openxmlformats.org/presentationml/2006/main">
  <p:tag name="KSO_WM_FULL_TEXT_BEAUTIFY_COPY_ID" val="2"/>
</p:tagLst>
</file>

<file path=ppt/tags/tag134.xml><?xml version="1.0" encoding="utf-8"?>
<p:tagLst xmlns:p="http://schemas.openxmlformats.org/presentationml/2006/main">
  <p:tag name="KSO_WM_FULL_TEXT_BEAUTIFY_COPY_ID" val="107"/>
</p:tagLst>
</file>

<file path=ppt/tags/tag135.xml><?xml version="1.0" encoding="utf-8"?>
<p:tagLst xmlns:p="http://schemas.openxmlformats.org/presentationml/2006/main">
  <p:tag name="KSO_WM_FULL_TEXT_BEAUTIFY_COPY_ID" val="108"/>
</p:tagLst>
</file>

<file path=ppt/tags/tag136.xml><?xml version="1.0" encoding="utf-8"?>
<p:tagLst xmlns:p="http://schemas.openxmlformats.org/presentationml/2006/main">
  <p:tag name="KSO_WM_FULL_TEXT_BEAUTIFY_COPY_ID" val="109"/>
</p:tagLst>
</file>

<file path=ppt/tags/tag137.xml><?xml version="1.0" encoding="utf-8"?>
<p:tagLst xmlns:p="http://schemas.openxmlformats.org/presentationml/2006/main">
  <p:tag name="KSO_WM_FULL_TEXT_BEAUTIFY_COPY_ID" val="107"/>
</p:tagLst>
</file>

<file path=ppt/tags/tag138.xml><?xml version="1.0" encoding="utf-8"?>
<p:tagLst xmlns:p="http://schemas.openxmlformats.org/presentationml/2006/main">
  <p:tag name="KSO_WM_FULL_TEXT_BEAUTIFY_COPY_ID" val="108"/>
</p:tagLst>
</file>

<file path=ppt/tags/tag139.xml><?xml version="1.0" encoding="utf-8"?>
<p:tagLst xmlns:p="http://schemas.openxmlformats.org/presentationml/2006/main">
  <p:tag name="KSO_WM_FULL_TEXT_BEAUTIFY_COPY_ID" val="109"/>
</p:tagLst>
</file>

<file path=ppt/tags/tag140.xml><?xml version="1.0" encoding="utf-8"?>
<p:tagLst xmlns:p="http://schemas.openxmlformats.org/presentationml/2006/main">
  <p:tag name="KSO_WM_FULL_TEXT_BEAUTIFY_COPY_ID" val="107"/>
</p:tagLst>
</file>

<file path=ppt/tags/tag141.xml><?xml version="1.0" encoding="utf-8"?>
<p:tagLst xmlns:p="http://schemas.openxmlformats.org/presentationml/2006/main">
  <p:tag name="KSO_WM_FULL_TEXT_BEAUTIFY_COPY_ID" val="108"/>
</p:tagLst>
</file>

<file path=ppt/tags/tag142.xml><?xml version="1.0" encoding="utf-8"?>
<p:tagLst xmlns:p="http://schemas.openxmlformats.org/presentationml/2006/main">
  <p:tag name="KSO_WM_FULL_TEXT_BEAUTIFY_COPY_ID" val="109"/>
</p:tagLst>
</file>

<file path=ppt/tags/tag143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44.xml><?xml version="1.0" encoding="utf-8"?>
<p:tagLst xmlns:p="http://schemas.openxmlformats.org/presentationml/2006/main">
  <p:tag name="KSO_WM_UNIT_TABLE_BEAUTIFY" val="smartTable{7d6469fc-7b07-4925-b875-40e69340adba}"/>
  <p:tag name="TABLE_EMPHASIZE_COLOR" val="7768220"/>
  <p:tag name="TABLE_SKINIDX" val="2"/>
  <p:tag name="TABLE_COLORIDX" val="17"/>
  <p:tag name="TABLE_COLOR_RGB" val="0x000000*0xFFFFFF*0x212121*0xFFFFFF*0x76889C*0x9DB1CA*0x8C9DBB*0x7A9DB3*0xB5CFCE*0xD7ECF1"/>
  <p:tag name="TABLE_ENDDRAG_ORIGIN_RECT" val="873*396"/>
  <p:tag name="TABLE_ENDDRAG_RECT" val="43*74*873*396"/>
</p:tagLst>
</file>

<file path=ppt/tags/tag145.xml><?xml version="1.0" encoding="utf-8"?>
<p:tagLst xmlns:p="http://schemas.openxmlformats.org/presentationml/2006/main">
  <p:tag name="KSO_WM_FULL_TEXT_BEAUTIFY_COPY_ID" val="2"/>
</p:tagLst>
</file>

<file path=ppt/tags/tag146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47.xml><?xml version="1.0" encoding="utf-8"?>
<p:tagLst xmlns:p="http://schemas.openxmlformats.org/presentationml/2006/main">
  <p:tag name="KSO_WM_FULL_TEXT_BEAUTIFY_COPY_ID" val="5"/>
</p:tagLst>
</file>

<file path=ppt/tags/tag148.xml><?xml version="1.0" encoding="utf-8"?>
<p:tagLst xmlns:p="http://schemas.openxmlformats.org/presentationml/2006/main">
  <p:tag name="KSO_WM_FULL_TEXT_BEAUTIFY_COPY_ID" val="2"/>
</p:tagLst>
</file>

<file path=ppt/tags/tag14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0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1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5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3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54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5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56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57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8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5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60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61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162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3"/>
  <p:tag name="KSO_WM_UNIT_ID" val="diagram160819_2*n_i*1_3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9"/>
</p:tagLst>
</file>

<file path=ppt/tags/tag163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64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65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66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67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68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6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70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71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17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73.xml><?xml version="1.0" encoding="utf-8"?>
<p:tagLst xmlns:p="http://schemas.openxmlformats.org/presentationml/2006/main">
  <p:tag name="KSO_WM_SPECIAL_SOURCE" val="bdnull"/>
</p:tagLst>
</file>

<file path=ppt/tags/tag17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20181609_1*i*4"/>
  <p:tag name="KSO_WM_TEMPLATE_CATEGORY" val="custom"/>
  <p:tag name="KSO_WM_TEMPLATE_INDEX" val="20181609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SCONTENTSTITLE" val="0"/>
  <p:tag name="KSO_WM_UNIT_PRESET_TEXT" val="教育教学说课公开课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1609_1*a*1"/>
  <p:tag name="KSO_WM_TEMPLATE_CATEGORY" val="custom"/>
  <p:tag name="KSO_WM_TEMPLATE_INDEX" val="20181609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TEMPLATE_CATEGORY" val="custom"/>
  <p:tag name="KSO_WM_TEMPLATE_INDEX" val="20181609"/>
  <p:tag name="KSO_WM_UNIT_TYPE" val="b"/>
  <p:tag name="KSO_WM_UNIT_INDEX" val="1"/>
  <p:tag name="KSO_WM_UNIT_ID" val="custom20181609_1*b*1"/>
  <p:tag name="KSO_WM_UNIT_LAYERLEVEL" val="1"/>
  <p:tag name="KSO_WM_UNIT_VALUE" val="28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信息话教学      公开课        示范课        说课微课"/>
  <p:tag name="KSO_WM_UNIT_NOCLEAR" val="0"/>
  <p:tag name="KSO_WM_UNIT_DIAGRAM_ISNUMVISUAL" val="0"/>
  <p:tag name="KSO_WM_UNIT_DIAGRAM_ISREFERUNIT" val="0"/>
</p:tagLst>
</file>

<file path=ppt/tags/tag177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3"/>
  <p:tag name="KSO_WM_SLIDE_TYPE" val="title"/>
  <p:tag name="KSO_WM_BEAUTIFY_FLAG" val="#wm#"/>
  <p:tag name="KSO_WM_COMBINE_RELATE_SLIDE_ID" val="background20180991_1"/>
  <p:tag name="KSO_WM_TEMPLATE_CATEGORY" val="custom"/>
  <p:tag name="KSO_WM_TEMPLATE_INDEX" val="20202824"/>
  <p:tag name="KSO_WM_SLIDE_ID" val="custom20181609_1"/>
  <p:tag name="KSO_WM_SLIDE_INDEX" val="1"/>
  <p:tag name="KSO_WM_TEMPLATE_SUBCATEGORY" val="0"/>
  <p:tag name="KSO_WM_TEMPLATE_THUMBS_INDEX" val="1、4、5、6、12、13、18、19"/>
  <p:tag name="KSO_WM_SLIDE_SUBTYPE" val="pureTxt"/>
  <p:tag name="KSO_WM_SPECIAL_SOURCE" val="bdnull"/>
  <p:tag name="KSO_WM_SLIDE_MODEL_TYPE" val="cover"/>
</p:tagLst>
</file>

<file path=ppt/tags/tag178.xml><?xml version="1.0" encoding="utf-8"?>
<p:tagLst xmlns:p="http://schemas.openxmlformats.org/presentationml/2006/main">
  <p:tag name="KSO_WM_FULL_TEXT_BEAUTIFY_COPY_ID" val="5"/>
</p:tagLst>
</file>

<file path=ppt/tags/tag179.xml><?xml version="1.0" encoding="utf-8"?>
<p:tagLst xmlns:p="http://schemas.openxmlformats.org/presentationml/2006/main">
  <p:tag name="KSO_WM_FULL_TEXT_BEAUTIFY_COPY_ID" val="2"/>
</p:tagLst>
</file>

<file path=ppt/tags/tag180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1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3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4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5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6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187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188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3"/>
  <p:tag name="KSO_WM_UNIT_ID" val="diagram160819_2*n_i*1_3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9"/>
</p:tagLst>
</file>

<file path=ppt/tags/tag189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190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3"/>
  <p:tag name="KSO_WM_UNIT_ID" val="diagram160819_2*n_i*1_3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9"/>
</p:tagLst>
</file>

<file path=ppt/tags/tag191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192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3"/>
  <p:tag name="KSO_WM_UNIT_ID" val="diagram160819_2*n_i*1_3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9"/>
</p:tagLst>
</file>

<file path=ppt/tags/tag193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94.xml><?xml version="1.0" encoding="utf-8"?>
<p:tagLst xmlns:p="http://schemas.openxmlformats.org/presentationml/2006/main">
  <p:tag name="KSO_WM_FULL_TEXT_BEAUTIFY_COPY_ID" val="2"/>
</p:tagLst>
</file>

<file path=ppt/tags/tag195.xml><?xml version="1.0" encoding="utf-8"?>
<p:tagLst xmlns:p="http://schemas.openxmlformats.org/presentationml/2006/main">
  <p:tag name="KSO_WM_UNIT_TABLE_BEAUTIFY" val="smartTable{b9dbe0cb-8e59-457f-be61-0e22075507e9}"/>
  <p:tag name="TABLE_EMPHASIZE_COLOR" val="5787233"/>
  <p:tag name="TABLE_SKINIDX" val="2"/>
  <p:tag name="TABLE_COLORIDX" val="19"/>
  <p:tag name="TABLE_COLOR_RGB" val="0x000000*0xFFFFFF*0x212121*0xFFFFFF*0x584E61*0x786577*0xA593A4*0xB3ADC2*0xC8C6CF*0xE6E6E8"/>
  <p:tag name="TABLE_ENDDRAG_ORIGIN_RECT" val="878*300"/>
  <p:tag name="TABLE_ENDDRAG_RECT" val="22*90*878*300"/>
</p:tagLst>
</file>

<file path=ppt/tags/tag196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97.xml><?xml version="1.0" encoding="utf-8"?>
<p:tagLst xmlns:p="http://schemas.openxmlformats.org/presentationml/2006/main">
  <p:tag name="KSO_WM_UNIT_TABLE_BEAUTIFY" val="smartTable{a6616c34-cb21-4466-8d63-70847d5ce42a}"/>
  <p:tag name="TABLE_EMPHASIZE_COLOR" val="5787233"/>
  <p:tag name="TABLE_SKINIDX" val="2"/>
  <p:tag name="TABLE_COLORIDX" val="19"/>
  <p:tag name="TABLE_COLOR_RGB" val="0x000000*0xFFFFFF*0x212121*0xFFFFFF*0x584E61*0x786577*0xA593A4*0xB3ADC2*0xC8C6CF*0xE6E6E8"/>
</p:tagLst>
</file>

<file path=ppt/tags/tag198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199.xml><?xml version="1.0" encoding="utf-8"?>
<p:tagLst xmlns:p="http://schemas.openxmlformats.org/presentationml/2006/main">
  <p:tag name="KSO_WM_UNIT_TABLE_BEAUTIFY" val="smartTable{81d47a1c-f063-4a13-a7cc-ab49e9716232}"/>
  <p:tag name="TABLE_RECT" val="17*73.1865*926*434.45"/>
  <p:tag name="TABLE_EMPHASIZE_COLOR" val="6579300"/>
  <p:tag name="TABLE_ONEKEY_SKIN_IDX" val="0"/>
  <p:tag name="TABLE_SKINIDX" val="-1"/>
  <p:tag name="TABLE_COLORIDX" val="l"/>
</p:tagLst>
</file>

<file path=ppt/tags/tag20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01.xml><?xml version="1.0" encoding="utf-8"?>
<p:tagLst xmlns:p="http://schemas.openxmlformats.org/presentationml/2006/main">
  <p:tag name="KSO_WM_FULL_TEXT_BEAUTIFY_COPY_ID" val="2"/>
</p:tagLst>
</file>

<file path=ppt/tags/tag202.xml><?xml version="1.0" encoding="utf-8"?>
<p:tagLst xmlns:p="http://schemas.openxmlformats.org/presentationml/2006/main">
  <p:tag name="KSO_WM_SPECIAL_SOURCE" val="bdnull"/>
</p:tagLst>
</file>

<file path=ppt/tags/tag203.xml><?xml version="1.0" encoding="utf-8"?>
<p:tagLst xmlns:p="http://schemas.openxmlformats.org/presentationml/2006/main">
  <p:tag name="KSO_WM_FULL_TEXT_BEAUTIFY_COPY_ID" val="5"/>
</p:tagLst>
</file>

<file path=ppt/tags/tag204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05.xml><?xml version="1.0" encoding="utf-8"?>
<p:tagLst xmlns:p="http://schemas.openxmlformats.org/presentationml/2006/main">
  <p:tag name="KSO_WM_FULL_TEXT_BEAUTIFY_COPY_ID" val="5"/>
</p:tagLst>
</file>

<file path=ppt/tags/tag206.xml><?xml version="1.0" encoding="utf-8"?>
<p:tagLst xmlns:p="http://schemas.openxmlformats.org/presentationml/2006/main">
  <p:tag name="KSO_WM_FULL_TEXT_BEAUTIFY_COPY_ID" val="2"/>
</p:tagLst>
</file>

<file path=ppt/tags/tag207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208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0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0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1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21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3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4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5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6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7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8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19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20.xml><?xml version="1.0" encoding="utf-8"?>
<p:tagLst xmlns:p="http://schemas.openxmlformats.org/presentationml/2006/main">
  <p:tag name="KSO_WM_FULL_TEXT_BEAUTIFY_COPY_ID" val="5"/>
</p:tagLst>
</file>

<file path=ppt/tags/tag221.xml><?xml version="1.0" encoding="utf-8"?>
<p:tagLst xmlns:p="http://schemas.openxmlformats.org/presentationml/2006/main">
  <p:tag name="KSO_WM_FULL_TEXT_BEAUTIFY_COPY_ID" val="2"/>
</p:tagLst>
</file>

<file path=ppt/tags/tag22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23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24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25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26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27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28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2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0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31.xml><?xml version="1.0" encoding="utf-8"?>
<p:tagLst xmlns:p="http://schemas.openxmlformats.org/presentationml/2006/main">
  <p:tag name="KSO_WM_FULL_TEXT_BEAUTIFY_COPY_ID" val="5"/>
</p:tagLst>
</file>

<file path=ppt/tags/tag232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3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4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1"/>
  <p:tag name="KSO_WM_UNIT_ID" val="diagram160819_2*n_i*1_1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8"/>
</p:tagLst>
</file>

<file path=ppt/tags/tag235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3"/>
  <p:tag name="KSO_WM_UNIT_ID" val="diagram160819_2*n_i*1_3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89"/>
</p:tagLst>
</file>

<file path=ppt/tags/tag236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7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8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39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40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41.xml><?xml version="1.0" encoding="utf-8"?>
<p:tagLst xmlns:p="http://schemas.openxmlformats.org/presentationml/2006/main">
  <p:tag name="KSO_WM_TEMPLATE_CATEGORY" val="diagram"/>
  <p:tag name="KSO_WM_TEMPLATE_INDEX" val="160819"/>
  <p:tag name="KSO_WM_UNIT_TYPE" val="n_h_h_i"/>
  <p:tag name="KSO_WM_UNIT_INDEX" val="1_2_2_2"/>
  <p:tag name="KSO_WM_UNIT_ID" val="diagram160819_2*n_h_h_i*1_2_2_2"/>
  <p:tag name="KSO_WM_UNIT_LAYERLEVEL" val="1_1_1_1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NOCLEAR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4"/>
  <p:tag name="KSO_WM_UNIT_TEXT_FILL_TYPE" val="1"/>
  <p:tag name="KSO_WM_UNIT_DIAGRAM_SCHEMECOLOR_ID" val="1"/>
  <p:tag name="KSO_WM_UNIT_USESOURCEFORMAT_APPLY" val="1"/>
  <p:tag name="KSO_WM_FULL_TEXT_BEAUTIFY_COPY_ID" val="84"/>
</p:tagLst>
</file>

<file path=ppt/tags/tag242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43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44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45.xml><?xml version="1.0" encoding="utf-8"?>
<p:tagLst xmlns:p="http://schemas.openxmlformats.org/presentationml/2006/main">
  <p:tag name="KSO_WM_TEMPLATE_CATEGORY" val="diagram"/>
  <p:tag name="KSO_WM_TEMPLATE_INDEX" val="160819"/>
  <p:tag name="KSO_WM_UNIT_TYPE" val="n_i"/>
  <p:tag name="KSO_WM_UNIT_INDEX" val="1_2"/>
  <p:tag name="KSO_WM_UNIT_ID" val="diagram160819_2*n_i*1_2"/>
  <p:tag name="KSO_WM_UNIT_LAYERLEVEL" val="1_1"/>
  <p:tag name="KSO_WM_BEAUTIFY_FLAG" val="#wm#"/>
  <p:tag name="KSO_WM_TAG_VERSION" val="1.0"/>
  <p:tag name="KSO_WM_DIAGRAM_GROUP_CODE" val="n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14"/>
  <p:tag name="KSO_WM_UNIT_LINE_FILL_TYPE" val="2"/>
  <p:tag name="KSO_WM_UNIT_DIAGRAM_SCHEMECOLOR_ID" val="1"/>
  <p:tag name="KSO_WM_UNIT_USESOURCEFORMAT_APPLY" val="1"/>
  <p:tag name="KSO_WM_FULL_TEXT_BEAUTIFY_COPY_ID" val="90"/>
</p:tagLst>
</file>

<file path=ppt/tags/tag246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47.xml><?xml version="1.0" encoding="utf-8"?>
<p:tagLst xmlns:p="http://schemas.openxmlformats.org/presentationml/2006/main">
  <p:tag name="KSO_WM_FULL_TEXT_BEAUTIFY_COPY_ID" val="5"/>
</p:tagLst>
</file>

<file path=ppt/tags/tag248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49.xml><?xml version="1.0" encoding="utf-8"?>
<p:tagLst xmlns:p="http://schemas.openxmlformats.org/presentationml/2006/main">
  <p:tag name="KSO_WM_FULL_TEXT_BEAUTIFY_COPY_ID" val="5"/>
</p:tagLst>
</file>

<file path=ppt/tags/tag250.xml><?xml version="1.0" encoding="utf-8"?>
<p:tagLst xmlns:p="http://schemas.openxmlformats.org/presentationml/2006/main">
  <p:tag name="KSO_WM_FULL_TEXT_BEAUTIFY_COPY_ID" val="2"/>
</p:tagLst>
</file>

<file path=ppt/tags/tag251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52.xml><?xml version="1.0" encoding="utf-8"?>
<p:tagLst xmlns:p="http://schemas.openxmlformats.org/presentationml/2006/main">
  <p:tag name="KSO_WM_FULL_TEXT_BEAUTIFY_COPY_ID" val="5"/>
</p:tagLst>
</file>

<file path=ppt/tags/tag253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ags/tag254.xml><?xml version="1.0" encoding="utf-8"?>
<p:tagLst xmlns:p="http://schemas.openxmlformats.org/presentationml/2006/main">
  <p:tag name="KSO_WM_FULL_TEXT_BEAUTIFY_COPY_ID" val="5"/>
</p:tagLst>
</file>

<file path=ppt/tags/tag255.xml><?xml version="1.0" encoding="utf-8"?>
<p:tagLst xmlns:p="http://schemas.openxmlformats.org/presentationml/2006/main">
  <p:tag name="KSO_WM_TEMPLATE_CATEGORY" val="custom"/>
  <p:tag name="KSO_WM_TEMPLATE_INDEX" val="20202824"/>
  <p:tag name="KSO_WM_FULL_TEXT_BEAUTIFY_COPY_ID" val="150995627"/>
  <p:tag name="KSO_WM_SPECIAL_SOURCE" val="bdnull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细等线繁"/>
        <a:ea typeface=""/>
        <a:cs typeface=""/>
        <a:font script="Jpan" typeface="游ゴシック"/>
        <a:font script="Hang" typeface="맑은 고딕"/>
        <a:font script="Hans" typeface="汉仪细等线繁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WPS主题色">
      <a:dk1>
        <a:srgbClr val="000000"/>
      </a:dk1>
      <a:lt1>
        <a:srgbClr val="FFFFFF"/>
      </a:lt1>
      <a:dk2>
        <a:srgbClr val="E5EAF2"/>
      </a:dk2>
      <a:lt2>
        <a:srgbClr val="FFFFFF"/>
      </a:lt2>
      <a:accent1>
        <a:srgbClr val="5F769F"/>
      </a:accent1>
      <a:accent2>
        <a:srgbClr val="71729B"/>
      </a:accent2>
      <a:accent3>
        <a:srgbClr val="7E6B95"/>
      </a:accent3>
      <a:accent4>
        <a:srgbClr val="8A668D"/>
      </a:accent4>
      <a:accent5>
        <a:srgbClr val="955F82"/>
      </a:accent5>
      <a:accent6>
        <a:srgbClr val="9B5B75"/>
      </a:accent6>
      <a:hlink>
        <a:srgbClr val="292BBB"/>
      </a:hlink>
      <a:folHlink>
        <a:srgbClr val="580C6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细等线繁"/>
        <a:ea typeface=""/>
        <a:cs typeface=""/>
        <a:font script="Jpan" typeface="游ゴシック"/>
        <a:font script="Hang" typeface="맑은 고딕"/>
        <a:font script="Hans" typeface="汉仪细等线繁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5147</Words>
  <Application>WPS 演示</Application>
  <PresentationFormat>自定义</PresentationFormat>
  <Paragraphs>667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汉仪旗黑Y4-85简</vt:lpstr>
      <vt:lpstr>方正粗黑宋简体</vt:lpstr>
      <vt:lpstr>楷体</vt:lpstr>
      <vt:lpstr>汉仪大隶书简</vt:lpstr>
      <vt:lpstr>Times New Roman</vt:lpstr>
      <vt:lpstr>汉仪铁山隶书繁</vt:lpstr>
      <vt:lpstr>Wingdings</vt:lpstr>
      <vt:lpstr>幼圆</vt:lpstr>
      <vt:lpstr>Arial</vt:lpstr>
      <vt:lpstr>Calibri</vt:lpstr>
      <vt:lpstr>Arial Unicode MS</vt:lpstr>
      <vt:lpstr>黑体</vt:lpstr>
      <vt:lpstr>自定义设计方案</vt:lpstr>
      <vt:lpstr>2_Office 主题​​</vt:lpstr>
      <vt:lpstr>第五单元 化学与社会发展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第五单元 化学与社会发展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霖</cp:lastModifiedBy>
  <cp:revision>1900</cp:revision>
  <dcterms:created xsi:type="dcterms:W3CDTF">2019-06-19T02:08:00Z</dcterms:created>
  <dcterms:modified xsi:type="dcterms:W3CDTF">2022-04-20T11:56:47Z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  <property fmtid="{D5CDD505-2E9C-101B-9397-08002B2CF9AE}" pid="3" name="KSOSaveFontToCloudKey">
    <vt:lpwstr>454426875_cloud</vt:lpwstr>
  </property>
  <property fmtid="{D5CDD505-2E9C-101B-9397-08002B2CF9AE}" pid="4" name="ICV">
    <vt:lpwstr>B9A4CEBAEED945FBBD7A4B61D26B5076</vt:lpwstr>
  </property>
</Properties>
</file>