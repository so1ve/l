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7">
  <p:sldMasterIdLst>
    <p:sldMasterId id="2147483648" r:id="rId1"/>
    <p:sldMasterId id="2147483656" r:id="rId3"/>
  </p:sldMasterIdLst>
  <p:notesMasterIdLst>
    <p:notesMasterId r:id="rId5"/>
  </p:notesMasterIdLst>
  <p:handoutMasterIdLst>
    <p:handoutMasterId r:id="rId32"/>
  </p:handoutMasterIdLst>
  <p:sldIdLst>
    <p:sldId id="2821" r:id="rId4"/>
    <p:sldId id="3281" r:id="rId6"/>
    <p:sldId id="3335" r:id="rId7"/>
    <p:sldId id="3338" r:id="rId8"/>
    <p:sldId id="3339" r:id="rId9"/>
    <p:sldId id="3342" r:id="rId10"/>
    <p:sldId id="3343" r:id="rId11"/>
    <p:sldId id="3337" r:id="rId12"/>
    <p:sldId id="3345" r:id="rId13"/>
    <p:sldId id="3346" r:id="rId14"/>
    <p:sldId id="3322" r:id="rId15"/>
    <p:sldId id="3321" r:id="rId16"/>
    <p:sldId id="3349" r:id="rId17"/>
    <p:sldId id="3348" r:id="rId18"/>
    <p:sldId id="3328" r:id="rId19"/>
    <p:sldId id="3377" r:id="rId20"/>
    <p:sldId id="3329" r:id="rId21"/>
    <p:sldId id="3354" r:id="rId22"/>
    <p:sldId id="3353" r:id="rId23"/>
    <p:sldId id="3332" r:id="rId24"/>
    <p:sldId id="3356" r:id="rId25"/>
    <p:sldId id="3355" r:id="rId26"/>
    <p:sldId id="3357" r:id="rId27"/>
    <p:sldId id="3318" r:id="rId28"/>
    <p:sldId id="3413" r:id="rId29"/>
    <p:sldId id="3359" r:id="rId30"/>
    <p:sldId id="3333"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新课标第一网" initials="xkb1.com" lastIdx="1" clrIdx="0"/>
  <p:cmAuthor id="1" name="Administrator" initials="A" lastIdx="1" clrIdx="0"/>
  <p:cmAuthor id="2" name="xkb1.com" initials="x" lastIdx="0" clrIdx="1"/>
  <p:cmAuthor id="4" name="陈锐华" initials="CRH" lastIdx="2"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2FDB2607-1784-4EEB-B798-7EB5836EED8A}">
        <p14:showMediaCtrls xmlns:p14="http://schemas.microsoft.com/office/powerpoint/2010/main" val="1"/>
      </p:ext>
    </p:extLst>
  </p:showPr>
  <p:clrMru>
    <a:srgbClr val="0E0EE4"/>
    <a:srgbClr val="FFFFFF"/>
    <a:srgbClr val="FFFDE9"/>
    <a:srgbClr val="D4F0FB"/>
    <a:srgbClr val="E1F5FC"/>
    <a:srgbClr val="86A3A1"/>
    <a:srgbClr val="38473A"/>
    <a:srgbClr val="178AA1"/>
    <a:srgbClr val="FCFCFC"/>
    <a:srgbClr val="9E94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772" autoAdjust="0"/>
    <p:restoredTop sz="95362" autoAdjust="0"/>
  </p:normalViewPr>
  <p:slideViewPr>
    <p:cSldViewPr snapToGrid="0">
      <p:cViewPr varScale="1">
        <p:scale>
          <a:sx n="67" d="100"/>
          <a:sy n="67" d="100"/>
        </p:scale>
        <p:origin x="-342" y="-102"/>
      </p:cViewPr>
      <p:guideLst>
        <p:guide orient="horz" pos="2105"/>
        <p:guide pos="3668"/>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ea typeface="微软雅黑" panose="020B0503020204020204" pitchFamily="34" charset="-122"/>
              </a:rPr>
            </a:fld>
            <a:endParaRPr lang="zh-CN" altLang="en-US">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27E8FEA-3AC9-4DE1-B0CA-FA2A2FC791B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image" Target="../media/image2.png"/><Relationship Id="rId10" Type="http://schemas.openxmlformats.org/officeDocument/2006/relationships/tags" Target="../tags/tag3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2.png"/><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image" Target="../media/image1.jpeg"/><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image" Target="../media/image2.png"/><Relationship Id="rId2" Type="http://schemas.openxmlformats.org/officeDocument/2006/relationships/tags" Target="../tags/tag7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10.xml"/><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image" Target="../media/image2.png"/><Relationship Id="rId11" Type="http://schemas.openxmlformats.org/officeDocument/2006/relationships/tags" Target="../tags/tag112.xml"/><Relationship Id="rId10" Type="http://schemas.openxmlformats.org/officeDocument/2006/relationships/tags" Target="../tags/tag111.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118.xml"/><Relationship Id="rId7" Type="http://schemas.openxmlformats.org/officeDocument/2006/relationships/tags" Target="../tags/tag117.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文本与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文本与内容">
    <p:spTree>
      <p:nvGrpSpPr>
        <p:cNvPr id="1" name=""/>
        <p:cNvGrpSpPr/>
        <p:nvPr/>
      </p:nvGrpSpPr>
      <p:grpSpPr>
        <a:xfrm>
          <a:off x="0" y="0"/>
          <a:ext cx="0" cy="0"/>
          <a:chOff x="0" y="0"/>
          <a:chExt cx="0" cy="0"/>
        </a:xfrm>
      </p:grpSpPr>
    </p:spTree>
  </p:cSld>
  <p:clrMapOvr>
    <a:masterClrMapping/>
  </p:clrMapOvr>
  <p:transition spd="slow">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幻灯片">
    <p:spTree>
      <p:nvGrpSpPr>
        <p:cNvPr id="1" name=""/>
        <p:cNvGrpSpPr/>
        <p:nvPr/>
      </p:nvGrpSpPr>
      <p:grpSpPr>
        <a:xfrm>
          <a:off x="0" y="0"/>
          <a:ext cx="0" cy="0"/>
          <a:chOff x="0" y="0"/>
          <a:chExt cx="0" cy="0"/>
        </a:xfrm>
      </p:grpSpPr>
      <p:sp>
        <p:nvSpPr>
          <p:cNvPr id="5" name="Shape 5"/>
          <p:cNvSpPr>
            <a:spLocks noGrp="1"/>
          </p:cNvSpPr>
          <p:nvPr>
            <p:ph type="title" hasCustomPrompt="1"/>
          </p:nvPr>
        </p:nvSpPr>
        <p:spPr>
          <a:xfrm>
            <a:off x="1524000" y="0"/>
            <a:ext cx="9144000" cy="3518120"/>
          </a:xfrm>
          <a:prstGeom prst="rect">
            <a:avLst/>
          </a:prstGeom>
        </p:spPr>
        <p:txBody>
          <a:bodyPr anchor="b"/>
          <a:lstStyle>
            <a:lvl1pPr>
              <a:defRPr sz="8000"/>
            </a:lvl1pPr>
          </a:lstStyle>
          <a:p>
            <a:pPr lvl="0">
              <a:defRPr sz="1800"/>
            </a:pPr>
            <a:r>
              <a:rPr sz="6000"/>
              <a:t>标题文本</a:t>
            </a:r>
            <a:endParaRPr sz="6000"/>
          </a:p>
        </p:txBody>
      </p:sp>
      <p:sp>
        <p:nvSpPr>
          <p:cNvPr id="6" name="Shape 6"/>
          <p:cNvSpPr>
            <a:spLocks noGrp="1"/>
          </p:cNvSpPr>
          <p:nvPr>
            <p:ph type="body" idx="1" hasCustomPrompt="1"/>
          </p:nvPr>
        </p:nvSpPr>
        <p:spPr>
          <a:xfrm>
            <a:off x="1524000" y="3609363"/>
            <a:ext cx="9144000" cy="3248637"/>
          </a:xfrm>
          <a:prstGeom prst="rect">
            <a:avLst/>
          </a:prstGeom>
        </p:spPr>
        <p:txBody>
          <a:bodyPr/>
          <a:lstStyle>
            <a:lvl1pPr marL="0" indent="0" algn="ctr">
              <a:spcBef>
                <a:spcPct val="134000"/>
              </a:spcBef>
              <a:buSzTx/>
              <a:buNone/>
              <a:defRPr sz="3200"/>
            </a:lvl1pPr>
            <a:lvl2pPr marL="0" indent="609600" algn="ctr">
              <a:spcBef>
                <a:spcPct val="134000"/>
              </a:spcBef>
              <a:buSzTx/>
              <a:buNone/>
              <a:defRPr sz="3200"/>
            </a:lvl2pPr>
            <a:lvl3pPr marL="0" indent="1219200" algn="ctr">
              <a:spcBef>
                <a:spcPct val="134000"/>
              </a:spcBef>
              <a:buSzTx/>
              <a:buNone/>
              <a:defRPr sz="3200"/>
            </a:lvl3pPr>
            <a:lvl4pPr marL="0" indent="1828800" algn="ctr">
              <a:spcBef>
                <a:spcPct val="134000"/>
              </a:spcBef>
              <a:buSzTx/>
              <a:buNone/>
              <a:defRPr sz="3200"/>
            </a:lvl4pPr>
            <a:lvl5pPr marL="0" indent="2438400" algn="ctr">
              <a:spcBef>
                <a:spcPct val="134000"/>
              </a:spcBef>
              <a:buSzTx/>
              <a:buNone/>
              <a:defRPr sz="3200"/>
            </a:lvl5pPr>
          </a:lstStyle>
          <a:p>
            <a:pPr lvl="0">
              <a:defRPr sz="1800"/>
            </a:pPr>
            <a:r>
              <a:rPr sz="2400"/>
              <a:t>正文级别 1</a:t>
            </a:r>
            <a:endParaRPr sz="2400"/>
          </a:p>
          <a:p>
            <a:pPr lvl="1">
              <a:defRPr sz="1800"/>
            </a:pPr>
            <a:r>
              <a:rPr sz="2400"/>
              <a:t>正文级别 2</a:t>
            </a:r>
            <a:endParaRPr sz="2400"/>
          </a:p>
          <a:p>
            <a:pPr lvl="2">
              <a:defRPr sz="1800"/>
            </a:pPr>
            <a:r>
              <a:rPr sz="2400"/>
              <a:t>正文级别 3</a:t>
            </a:r>
            <a:endParaRPr sz="2400"/>
          </a:p>
          <a:p>
            <a:pPr lvl="3">
              <a:defRPr sz="1800"/>
            </a:pPr>
            <a:r>
              <a:rPr sz="2400"/>
              <a:t>正文级别 4</a:t>
            </a:r>
            <a:endParaRPr sz="2400"/>
          </a:p>
          <a:p>
            <a:pPr lvl="4">
              <a:defRPr sz="1800"/>
            </a:pPr>
            <a:r>
              <a:rPr sz="2400"/>
              <a:t>正文级别 5</a:t>
            </a:r>
            <a:endParaRPr sz="240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矩形 12"/>
          <p:cNvSpPr/>
          <p:nvPr>
            <p:custDataLst>
              <p:tags r:id="rId3"/>
            </p:custDataLst>
          </p:nvPr>
        </p:nvSpPr>
        <p:spPr>
          <a:xfrm rot="245821">
            <a:off x="1744345" y="1880870"/>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custDataLst>
              <p:tags r:id="rId4"/>
            </p:custDataLst>
          </p:nvPr>
        </p:nvSpPr>
        <p:spPr>
          <a:xfrm rot="21380745">
            <a:off x="1756410" y="1901190"/>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custDataLst>
              <p:tags r:id="rId5"/>
            </p:custDataLst>
          </p:nvPr>
        </p:nvSpPr>
        <p:spPr>
          <a:xfrm>
            <a:off x="1756410" y="1900057"/>
            <a:ext cx="9324340"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p:cNvCxnSpPr/>
          <p:nvPr>
            <p:custDataLst>
              <p:tags r:id="rId6"/>
            </p:custDataLst>
          </p:nvPr>
        </p:nvCxnSpPr>
        <p:spPr>
          <a:xfrm>
            <a:off x="5779167" y="3748839"/>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0"/>
            </p:custDataLst>
          </p:nvPr>
        </p:nvSpPr>
        <p:spPr>
          <a:xfrm>
            <a:off x="2426367" y="2438402"/>
            <a:ext cx="7704222" cy="1176155"/>
          </a:xfrm>
        </p:spPr>
        <p:txBody>
          <a:bodyPr lIns="90000" tIns="46800" rIns="90000" bIns="0" anchor="b" anchorCtr="0">
            <a:normAutofit/>
          </a:bodyPr>
          <a:lstStyle>
            <a:lvl1pPr algn="ctr">
              <a:defRPr sz="5400" spc="600" baseline="0">
                <a:solidFill>
                  <a:schemeClr val="tx1">
                    <a:lumMod val="85000"/>
                    <a:lumOff val="15000"/>
                  </a:schemeClr>
                </a:solidFill>
                <a:ea typeface="汉仪旗黑Y4-85简" panose="00020600040101010101" charset="-122"/>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1"/>
            </p:custDataLst>
          </p:nvPr>
        </p:nvSpPr>
        <p:spPr>
          <a:xfrm>
            <a:off x="2426367" y="3870121"/>
            <a:ext cx="7704222" cy="801114"/>
          </a:xfrm>
        </p:spPr>
        <p:txBody>
          <a:bodyPr lIns="90000" tIns="0" rIns="90000" bIns="46800">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3508184" y="4084721"/>
            <a:ext cx="4567816" cy="793459"/>
          </a:xfrm>
        </p:spPr>
        <p:txBody>
          <a:bodyPr lIns="90000" tIns="46800" rIns="90000" bIns="0" anchor="b" anchorCtr="0">
            <a:normAutofit/>
          </a:bodyPr>
          <a:lstStyle>
            <a:lvl1pPr algn="ctr">
              <a:defRPr sz="3600" u="none" strike="noStrike" kern="1200" cap="none" spc="300" normalizeH="0" baseline="0">
                <a:solidFill>
                  <a:schemeClr val="tx1">
                    <a:lumMod val="85000"/>
                    <a:lumOff val="15000"/>
                  </a:schemeClr>
                </a:solidFill>
                <a:uFillTx/>
                <a:latin typeface="Arial" panose="020B0604020202090204" pitchFamily="34" charset="0"/>
                <a:ea typeface="汉仪旗黑Y4-85简" panose="00020600040101010101"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4"/>
            </p:custDataLst>
          </p:nvPr>
        </p:nvSpPr>
        <p:spPr>
          <a:xfrm>
            <a:off x="3508179" y="4956280"/>
            <a:ext cx="4567816" cy="1077985"/>
          </a:xfrm>
        </p:spPr>
        <p:txBody>
          <a:bodyPr lIns="90000" tIns="0" rIns="90000" bIns="46800">
            <a:normAutofit/>
          </a:bodyPr>
          <a:lstStyle>
            <a:lvl1pPr marL="0" indent="0" algn="ctr" eaLnBrk="1" fontAlgn="auto" latinLnBrk="0" hangingPunct="1">
              <a:buNone/>
              <a:defRPr kumimoji="0" lang="zh-CN" altLang="en-US" sz="2000" b="0" i="0" u="none" strike="noStrike" kern="1200" cap="none" spc="150" normalizeH="0" baseline="0" noProof="1">
                <a:solidFill>
                  <a:schemeClr val="bg1">
                    <a:lumMod val="50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cxnSp>
        <p:nvCxnSpPr>
          <p:cNvPr id="8" name="直接连接符 7"/>
          <p:cNvCxnSpPr/>
          <p:nvPr>
            <p:custDataLst>
              <p:tags r:id="rId8"/>
            </p:custDataLst>
          </p:nvPr>
        </p:nvCxnSpPr>
        <p:spPr>
          <a:xfrm>
            <a:off x="5237746" y="3998543"/>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4"/>
            </p:custDataLst>
          </p:nvPr>
        </p:nvSpPr>
        <p:spPr>
          <a:xfrm>
            <a:off x="669930"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5"/>
            </p:custDataLst>
          </p:nvPr>
        </p:nvSpPr>
        <p:spPr>
          <a:xfrm>
            <a:off x="6238877" y="952508"/>
            <a:ext cx="5283242" cy="5388907"/>
          </a:xfrm>
        </p:spPr>
        <p:txBody>
          <a:bodyPr lIns="90000" tIns="46800" rIns="90000" bIns="46800">
            <a:normAutofit/>
          </a:bodyPr>
          <a:lstStyle>
            <a:lvl1pPr>
              <a:defRPr sz="16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6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6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6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6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6"/>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p:txBody>
          <a:bodyPr lIns="90000" tIns="46800" rIns="90000" bIns="46800">
            <a:normAutofit/>
          </a:bodyPr>
          <a:lstStyle/>
          <a:p>
            <a:endParaRPr lang="zh-CN" altLang="en-US"/>
          </a:p>
        </p:txBody>
      </p:sp>
      <p:sp>
        <p:nvSpPr>
          <p:cNvPr id="7" name="灯片编号占位符 6"/>
          <p:cNvSpPr>
            <a:spLocks noGrp="1"/>
          </p:cNvSpPr>
          <p:nvPr>
            <p:ph type="sldNum" sz="quarter" idx="12"/>
            <p:custDataLst>
              <p:tags r:id="rId8"/>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882"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4"/>
            </p:custDataLst>
          </p:nvPr>
        </p:nvSpPr>
        <p:spPr>
          <a:xfrm>
            <a:off x="669930" y="952508"/>
            <a:ext cx="5283242" cy="381003"/>
          </a:xfrm>
        </p:spPr>
        <p:txBody>
          <a:bodyPr lIns="90000" tIns="46800" rIns="90000" bIns="4680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9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5"/>
            </p:custDataLst>
          </p:nvPr>
        </p:nvSpPr>
        <p:spPr>
          <a:xfrm>
            <a:off x="669925" y="1406525"/>
            <a:ext cx="5283200"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lIns="90000" tIns="46800" rIns="90000" bIns="468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9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sym typeface="+mn-ea"/>
              </a:rPr>
              <a:t>单击此处编辑文本</a:t>
            </a:r>
            <a:endParaRPr dirty="0">
              <a:sym typeface="+mn-ea"/>
            </a:endParaRPr>
          </a:p>
        </p:txBody>
      </p:sp>
      <p:sp>
        <p:nvSpPr>
          <p:cNvPr id="6" name="内容占位符 5"/>
          <p:cNvSpPr>
            <a:spLocks noGrp="1"/>
          </p:cNvSpPr>
          <p:nvPr>
            <p:ph sz="quarter" idx="4"/>
            <p:custDataLst>
              <p:tags r:id="rId7"/>
            </p:custDataLst>
          </p:nvPr>
        </p:nvSpPr>
        <p:spPr>
          <a:xfrm>
            <a:off x="6235750" y="1406525"/>
            <a:ext cx="5283242" cy="4934752"/>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8"/>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p:txBody>
          <a:bodyPr lIns="90000" tIns="46800" rIns="90000" bIns="46800">
            <a:normAutofit/>
          </a:bodyPr>
          <a:lstStyle/>
          <a:p>
            <a:endParaRPr lang="zh-CN" altLang="en-US"/>
          </a:p>
        </p:txBody>
      </p:sp>
      <p:sp>
        <p:nvSpPr>
          <p:cNvPr id="9" name="灯片编号占位符 8"/>
          <p:cNvSpPr>
            <a:spLocks noGrp="1"/>
          </p:cNvSpPr>
          <p:nvPr>
            <p:ph type="sldNum" sz="quarter" idx="12"/>
            <p:custDataLst>
              <p:tags r:id="rId10"/>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p:custDataLst>
              <p:tags r:id="rId3"/>
            </p:custDataLst>
          </p:nvPr>
        </p:nvSpPr>
        <p:spPr>
          <a:xfrm>
            <a:off x="324678" y="294859"/>
            <a:ext cx="11542644" cy="6268279"/>
          </a:xfrm>
          <a:prstGeom prst="rect">
            <a:avLst/>
          </a:prstGeom>
          <a:solidFill>
            <a:schemeClr val="bg1"/>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normAutofit/>
          </a:bodyPr>
          <a:lstStyle/>
          <a:p>
            <a:pPr algn="ctr"/>
            <a:endParaRPr lang="zh-CN" altLang="en-US"/>
          </a:p>
        </p:txBody>
      </p:sp>
      <p:sp>
        <p:nvSpPr>
          <p:cNvPr id="2" name="标题 1"/>
          <p:cNvSpPr>
            <a:spLocks noGrp="1"/>
          </p:cNvSpPr>
          <p:nvPr>
            <p:ph type="title"/>
            <p:custDataLst>
              <p:tags r:id="rId4"/>
            </p:custDataLst>
          </p:nvPr>
        </p:nvSpPr>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5"/>
            </p:custDataLst>
          </p:nvPr>
        </p:nvSpPr>
        <p:spPr/>
        <p:txBody>
          <a:bodyPr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lIns="90000" tIns="46800" rIns="90000" bIns="46800">
            <a:normAutofit/>
          </a:bodyPr>
          <a:lstStyle/>
          <a:p>
            <a:endParaRPr lang="zh-CN" altLang="en-US"/>
          </a:p>
        </p:txBody>
      </p:sp>
      <p:sp>
        <p:nvSpPr>
          <p:cNvPr id="5" name="灯片编号占位符 4"/>
          <p:cNvSpPr>
            <a:spLocks noGrp="1"/>
          </p:cNvSpPr>
          <p:nvPr>
            <p:ph type="sldNum" sz="quarter" idx="12"/>
            <p:custDataLst>
              <p:tags r:id="rId7"/>
            </p:custDataLst>
          </p:nvPr>
        </p:nvSpPr>
        <p:spPr/>
        <p:txBody>
          <a:bodyPr lIns="90000" tIns="46800" rIns="90000" bIns="4680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4"/>
            </p:custDataLst>
          </p:nvPr>
        </p:nvSpPr>
        <p:spPr/>
        <p:txBody>
          <a:bodyPr/>
          <a:lstStyle/>
          <a:p>
            <a:endParaRPr lang="zh-CN" altLang="en-US"/>
          </a:p>
        </p:txBody>
      </p:sp>
      <p:sp>
        <p:nvSpPr>
          <p:cNvPr id="4" name="灯片编号占位符 3"/>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3"/>
            </p:custDataLst>
          </p:nvPr>
        </p:nvSpPr>
        <p:spPr>
          <a:xfrm>
            <a:off x="669930" y="443234"/>
            <a:ext cx="10852237" cy="441964"/>
          </a:xfrm>
        </p:spPr>
        <p:txBody>
          <a:bodyPr vert="horz" lIns="90000" tIns="46800" rIns="90000" bIns="4680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4"/>
            </p:custDataLst>
          </p:nvPr>
        </p:nvSpPr>
        <p:spPr>
          <a:xfrm>
            <a:off x="669930" y="952508"/>
            <a:ext cx="5283242" cy="5388907"/>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9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n-cs"/>
                <a:sym typeface="+mn-ea"/>
              </a:defRPr>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6"/>
            </p:custDataLst>
          </p:nvPr>
        </p:nvSpPr>
        <p:spPr/>
        <p:txBody>
          <a:bodyPr lIns="90000" tIns="46800" rIns="90000" bIns="46800">
            <a:normAutofit/>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lIns="90000" tIns="46800" rIns="90000" bIns="46800">
            <a:normAutofit/>
          </a:bodyPr>
          <a:lstStyle/>
          <a:p>
            <a:endParaRPr lang="zh-CN" altLang="en-US" dirty="0"/>
          </a:p>
        </p:txBody>
      </p:sp>
      <p:sp>
        <p:nvSpPr>
          <p:cNvPr id="7" name="灯片编号占位符 6"/>
          <p:cNvSpPr>
            <a:spLocks noGrp="1"/>
          </p:cNvSpPr>
          <p:nvPr>
            <p:ph type="sldNum" sz="quarter" idx="12"/>
            <p:custDataLst>
              <p:tags r:id="rId8"/>
            </p:custDataLst>
          </p:nvPr>
        </p:nvSpPr>
        <p:spPr/>
        <p:txBody>
          <a:bodyPr lIns="90000" tIns="46800" rIns="90000" bIns="46800">
            <a:normAutofit/>
          </a:bodyPr>
          <a:lstStyle/>
          <a:p>
            <a:fld id="{FABC47A4-756D-490B-A52F-7D9E2C9FC05F}"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组合 11"/>
          <p:cNvGrpSpPr/>
          <p:nvPr>
            <p:custDataLst>
              <p:tags r:id="rId3"/>
            </p:custDataLst>
          </p:nvPr>
        </p:nvGrpSpPr>
        <p:grpSpPr>
          <a:xfrm>
            <a:off x="11583670" y="5733415"/>
            <a:ext cx="498475" cy="1082675"/>
            <a:chOff x="17775" y="8015"/>
            <a:chExt cx="1252" cy="2719"/>
          </a:xfrm>
        </p:grpSpPr>
        <p:sp>
          <p:nvSpPr>
            <p:cNvPr id="13" name="椭圆 12"/>
            <p:cNvSpPr/>
            <p:nvPr userDrawn="1">
              <p:custDataLst>
                <p:tags r:id="rId4"/>
              </p:custDataLst>
            </p:nvPr>
          </p:nvSpPr>
          <p:spPr>
            <a:xfrm>
              <a:off x="18152" y="9860"/>
              <a:ext cx="875" cy="87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custDataLst>
                <p:tags r:id="rId5"/>
              </p:custDataLst>
            </p:nvPr>
          </p:nvSpPr>
          <p:spPr>
            <a:xfrm>
              <a:off x="17775" y="9140"/>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userDrawn="1">
              <p:custDataLst>
                <p:tags r:id="rId6"/>
              </p:custDataLst>
            </p:nvPr>
          </p:nvSpPr>
          <p:spPr>
            <a:xfrm>
              <a:off x="18401" y="8687"/>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userDrawn="1">
              <p:custDataLst>
                <p:tags r:id="rId7"/>
              </p:custDataLst>
            </p:nvPr>
          </p:nvSpPr>
          <p:spPr>
            <a:xfrm>
              <a:off x="17883" y="8015"/>
              <a:ext cx="626" cy="62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竖排标题 1"/>
          <p:cNvSpPr>
            <a:spLocks noGrp="1"/>
          </p:cNvSpPr>
          <p:nvPr>
            <p:ph type="title" orient="vert"/>
            <p:custDataLst>
              <p:tags r:id="rId8"/>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9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竖排文字占位符 2"/>
          <p:cNvSpPr>
            <a:spLocks noGrp="1"/>
          </p:cNvSpPr>
          <p:nvPr>
            <p:ph type="body" orient="vert" idx="1"/>
            <p:custDataLst>
              <p:tags r:id="rId9"/>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1pPr>
            <a:lvl2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2pPr>
            <a:lvl3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3pPr>
            <a:lvl4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4pPr>
            <a:lvl5pPr indent="0" eaLnBrk="1" fontAlgn="auto" latinLnBrk="0" hangingPunct="1">
              <a:defRPr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p>
            <a:endParaRPr lang="zh-CN" altLang="en-US"/>
          </a:p>
        </p:txBody>
      </p:sp>
      <p:sp>
        <p:nvSpPr>
          <p:cNvPr id="6" name="灯片编号占位符 5"/>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a:lstStyle>
            <a:lvl1pPr>
              <a:defRPr baseline="0"/>
            </a:lvl1pPr>
            <a:lvl2pPr>
              <a:defRPr baseline="0"/>
            </a:lvl2pPr>
            <a:lvl3pPr>
              <a:defRPr baseline="0"/>
            </a:lvl3pPr>
            <a:lvl4pPr>
              <a:defRPr baseline="0"/>
            </a:lvl4pPr>
            <a:lvl5pPr>
              <a:defRPr baseline="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6" name="组合 5"/>
          <p:cNvGrpSpPr/>
          <p:nvPr>
            <p:custDataLst>
              <p:tags r:id="rId3"/>
            </p:custDataLst>
          </p:nvPr>
        </p:nvGrpSpPr>
        <p:grpSpPr>
          <a:xfrm>
            <a:off x="1744578" y="1880787"/>
            <a:ext cx="9336506" cy="3449203"/>
            <a:chOff x="1744578" y="1880787"/>
            <a:chExt cx="9336506" cy="3449203"/>
          </a:xfrm>
        </p:grpSpPr>
        <p:sp>
          <p:nvSpPr>
            <p:cNvPr id="7" name="矩形 6"/>
            <p:cNvSpPr/>
            <p:nvPr>
              <p:custDataLst>
                <p:tags r:id="rId4"/>
              </p:custDataLst>
            </p:nvPr>
          </p:nvSpPr>
          <p:spPr>
            <a:xfrm rot="245821">
              <a:off x="1744578" y="1880787"/>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5"/>
              </p:custDataLst>
            </p:nvPr>
          </p:nvSpPr>
          <p:spPr>
            <a:xfrm rot="21380745">
              <a:off x="1756611" y="1900990"/>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6"/>
              </p:custDataLst>
            </p:nvPr>
          </p:nvSpPr>
          <p:spPr>
            <a:xfrm>
              <a:off x="1744578" y="1900990"/>
              <a:ext cx="9324473" cy="3429000"/>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10"/>
            </p:custDataLst>
          </p:nvPr>
        </p:nvSpPr>
        <p:spPr>
          <a:xfrm>
            <a:off x="3266167" y="2599827"/>
            <a:ext cx="6371319" cy="1179574"/>
          </a:xfrm>
        </p:spPr>
        <p:txBody>
          <a:bodyPr vert="horz" lIns="90000" tIns="46800" rIns="90000" bIns="0" rtlCol="0" anchor="b"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90204" pitchFamily="34" charset="0"/>
                <a:ea typeface="汉仪旗黑Y4-85简" panose="00020600040101010101" charset="-122"/>
                <a:cs typeface="+mj-cs"/>
                <a:sym typeface="+mn-ea"/>
              </a:defRPr>
            </a:lvl1pPr>
          </a:lstStyle>
          <a:p>
            <a:pPr lvl="0"/>
            <a:r>
              <a:rPr dirty="0">
                <a:sym typeface="+mn-ea"/>
              </a:rPr>
              <a:t>编辑标题</a:t>
            </a:r>
            <a:endParaRPr dirty="0">
              <a:sym typeface="+mn-ea"/>
            </a:endParaRPr>
          </a:p>
        </p:txBody>
      </p:sp>
      <p:sp>
        <p:nvSpPr>
          <p:cNvPr id="13" name="文本占位符 12"/>
          <p:cNvSpPr>
            <a:spLocks noGrp="1"/>
          </p:cNvSpPr>
          <p:nvPr>
            <p:ph type="body" sz="quarter" idx="13" hasCustomPrompt="1"/>
            <p:custDataLst>
              <p:tags r:id="rId11"/>
            </p:custDataLst>
          </p:nvPr>
        </p:nvSpPr>
        <p:spPr>
          <a:xfrm>
            <a:off x="3266168" y="3991669"/>
            <a:ext cx="6371318" cy="973138"/>
          </a:xfrm>
        </p:spPr>
        <p:txBody>
          <a:bodyPr lIns="90000" rIns="90000" bIns="46800"/>
          <a:lstStyle>
            <a:lvl1pPr marL="0" indent="0" algn="ctr">
              <a:buNone/>
              <a:defRPr sz="2000" baseline="0">
                <a:solidFill>
                  <a:schemeClr val="tx1">
                    <a:lumMod val="85000"/>
                    <a:lumOff val="15000"/>
                  </a:schemeClr>
                </a:solidFill>
                <a:latin typeface="Arial" panose="020B0604020202090204" pitchFamily="34" charset="0"/>
              </a:defRPr>
            </a:lvl1pPr>
          </a:lstStyle>
          <a:p>
            <a:pPr lvl="0"/>
            <a:r>
              <a:rPr lang="zh-CN" altLang="en-US" dirty="0"/>
              <a:t>单击此处编辑文本</a:t>
            </a:r>
            <a:endParaRPr lang="zh-CN" altLang="en-US" dirty="0"/>
          </a:p>
        </p:txBody>
      </p:sp>
      <p:cxnSp>
        <p:nvCxnSpPr>
          <p:cNvPr id="14" name="直接连接符 13"/>
          <p:cNvCxnSpPr/>
          <p:nvPr>
            <p:custDataLst>
              <p:tags r:id="rId12"/>
            </p:custDataLst>
          </p:nvPr>
        </p:nvCxnSpPr>
        <p:spPr>
          <a:xfrm>
            <a:off x="5779167" y="3863139"/>
            <a:ext cx="998621"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通用">
    <p:bg>
      <p:bgPr>
        <a:blipFill>
          <a:blip r:embed="rId2"/>
          <a:stretch>
            <a:fillRect/>
          </a:stretch>
        </a:blipFill>
        <a:effectLst/>
      </p:bgPr>
    </p:bg>
    <p:spTree>
      <p:nvGrpSpPr>
        <p:cNvPr id="1" name=""/>
        <p:cNvGrpSpPr/>
        <p:nvPr/>
      </p:nvGrpSpPr>
      <p:grpSpPr>
        <a:xfrm>
          <a:off x="0" y="0"/>
          <a:ext cx="0" cy="0"/>
          <a:chOff x="0" y="0"/>
          <a:chExt cx="0" cy="0"/>
        </a:xfrm>
      </p:grpSpPr>
      <p:sp>
        <p:nvSpPr>
          <p:cNvPr id="4" name="页脚占位符 3"/>
          <p:cNvSpPr>
            <a:spLocks noGrp="1"/>
          </p:cNvSpPr>
          <p:nvPr>
            <p:ph type="ftr" sz="quarter" idx="11"/>
            <p:custDataLst>
              <p:tags r:id="rId3"/>
            </p:custDataLst>
          </p:nvPr>
        </p:nvSpPr>
        <p:spPr/>
        <p:txBody>
          <a:bodyPr/>
          <a:lstStyle/>
          <a:p>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
        <p:nvSpPr>
          <p:cNvPr id="10" name="标题 9"/>
          <p:cNvSpPr>
            <a:spLocks noGrp="1"/>
          </p:cNvSpPr>
          <p:nvPr>
            <p:ph type="title"/>
            <p:custDataLst>
              <p:tags r:id="rId6"/>
            </p:custDataLst>
          </p:nvPr>
        </p:nvSpPr>
        <p:spPr/>
        <p:txBody>
          <a:bodyPr>
            <a:normAutofit/>
          </a:bodyPr>
          <a:lstStyle>
            <a:lvl1pPr>
              <a:defRPr baseline="0"/>
            </a:lvl1pPr>
          </a:lstStyle>
          <a:p>
            <a:r>
              <a:rPr lang="zh-CN" altLang="en-US" dirty="0"/>
              <a:t>单击此处编辑母版标题样式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48285" y="273050"/>
            <a:ext cx="11692255" cy="6311900"/>
          </a:xfrm>
          <a:prstGeom prst="rect">
            <a:avLst/>
          </a:prstGeom>
          <a:blipFill>
            <a:blip r:embed="rId3"/>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1281600" y="1249200"/>
            <a:ext cx="9626400" cy="723600"/>
          </a:xfrm>
        </p:spPr>
        <p:txBody>
          <a:bodyPr wrap="square" lIns="90000" tIns="46800" rIns="90000" bIns="46800" anchor="ctr">
            <a:normAutofit/>
          </a:bodyPr>
          <a:lstStyle>
            <a:lvl1pP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8"/>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左右">
    <p:bg>
      <p:bgPr>
        <a:blipFill>
          <a:blip r:embed="rId2"/>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wrap="square" lIns="90000" tIns="46800" rIns="90000" bIns="46800" anchor="ctr">
            <a:normAutofit/>
          </a:bodyPr>
          <a:lstStyle>
            <a:lvl1pPr>
              <a:defRPr sz="36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单击编辑标题</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5101200" y="769939"/>
            <a:ext cx="6480000" cy="5087937"/>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9"/>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上下">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1147334"/>
            <a:ext cx="12192000" cy="369332"/>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12000" y="770144"/>
            <a:ext cx="10976400" cy="648512"/>
          </a:xfrm>
        </p:spPr>
        <p:txBody>
          <a:bodyPr wrap="square" lIns="90000" tIns="46800" rIns="90000" bIns="46800" anchor="ctr">
            <a:normAutofit/>
          </a:bodyPr>
          <a:lstStyle>
            <a:lvl1pPr algn="ctr">
              <a:defRPr sz="36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879742" y="6368643"/>
            <a:ext cx="2700000" cy="279180"/>
          </a:xfrm>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4116000" y="6368643"/>
            <a:ext cx="3960000" cy="279180"/>
          </a:xfrm>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7"/>
            </p:custDataLst>
          </p:nvPr>
        </p:nvSpPr>
        <p:spPr>
          <a:xfrm>
            <a:off x="8610600" y="6368643"/>
            <a:ext cx="2700000" cy="279180"/>
          </a:xfrm>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382991"/>
          </a:xfrm>
        </p:spPr>
        <p:txBody>
          <a:bodyPr wrap="square" lIns="90000" tIns="46800" rIns="90000" bIns="46800">
            <a:normAutofit/>
          </a:bodyPr>
          <a:lstStyle>
            <a:lvl1pPr algn="ctr">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9"/>
            </p:custDataLst>
          </p:nvPr>
        </p:nvSpPr>
        <p:spPr>
          <a:xfrm>
            <a:off x="612775" y="2808000"/>
            <a:ext cx="10965600" cy="1980158"/>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下上">
    <p:bg>
      <p:bgPr>
        <a:blipFill>
          <a:blip r:embed="rId2"/>
          <a:stretch>
            <a:fillRect/>
          </a:stretch>
        </a:blipFill>
        <a:effectLst/>
      </p:bgPr>
    </p:bg>
    <p:spTree>
      <p:nvGrpSpPr>
        <p:cNvPr id="1" name=""/>
        <p:cNvGrpSpPr/>
        <p:nvPr/>
      </p:nvGrpSpPr>
      <p:grpSpPr>
        <a:xfrm>
          <a:off x="0" y="0"/>
          <a:ext cx="0" cy="0"/>
          <a:chOff x="0" y="0"/>
          <a:chExt cx="0" cy="0"/>
        </a:xfrm>
      </p:grpSpPr>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wrap="square" lIns="90000" tIns="46800" rIns="90000" bIns="46800" anchor="ctr">
            <a:normAutofit/>
          </a:bodyPr>
          <a:lstStyle>
            <a:lvl1pPr algn="ct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7" name="内容占位符 6"/>
          <p:cNvSpPr>
            <a:spLocks noGrp="1"/>
          </p:cNvSpPr>
          <p:nvPr>
            <p:ph sz="quarter" idx="13"/>
            <p:custDataLst>
              <p:tags r:id="rId6"/>
            </p:custDataLst>
          </p:nvPr>
        </p:nvSpPr>
        <p:spPr>
          <a:xfrm>
            <a:off x="604837" y="1681200"/>
            <a:ext cx="10990800" cy="321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7"/>
            </p:custDataLst>
          </p:nvPr>
        </p:nvSpPr>
        <p:spPr>
          <a:xfrm>
            <a:off x="594000" y="5180400"/>
            <a:ext cx="11001600" cy="1011600"/>
          </a:xfrm>
        </p:spPr>
        <p:txBody>
          <a:bodyPr wrap="square" lIns="90000" tIns="46800" rIns="90000" bIns="46800">
            <a:normAutofit/>
          </a:bodyPr>
          <a:lstStyle>
            <a:lvl1pPr marL="0" indent="0">
              <a:buNone/>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8"/>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9"/>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导航">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11046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579755" y="237490"/>
            <a:ext cx="11037570" cy="565150"/>
          </a:xfrm>
        </p:spPr>
        <p:txBody>
          <a:bodyPr wrap="square" lIns="90000" tIns="46800" rIns="90000" bIns="46800">
            <a:normAutofit/>
          </a:bodyPr>
          <a:lstStyle>
            <a:lvl1pPr>
              <a:defRPr sz="32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vl2pPr>
              <a:defRPr sz="1400" baseline="0">
                <a:solidFill>
                  <a:schemeClr val="tx1">
                    <a:lumMod val="85000"/>
                    <a:lumOff val="15000"/>
                  </a:schemeClr>
                </a:solidFill>
                <a:latin typeface="Arial" panose="020B0604020202090204" pitchFamily="34" charset="0"/>
                <a:ea typeface="微软雅黑" panose="020B0503020204020204" pitchFamily="34" charset="-122"/>
              </a:defRPr>
            </a:lvl2pPr>
            <a:lvl3pPr>
              <a:defRPr sz="1400" baseline="0">
                <a:solidFill>
                  <a:schemeClr val="tx1">
                    <a:lumMod val="85000"/>
                    <a:lumOff val="15000"/>
                  </a:schemeClr>
                </a:solidFill>
                <a:latin typeface="Arial" panose="020B0604020202090204" pitchFamily="34" charset="0"/>
                <a:ea typeface="微软雅黑" panose="020B0503020204020204" pitchFamily="34" charset="-122"/>
              </a:defRPr>
            </a:lvl3pPr>
            <a:lvl4pPr>
              <a:defRPr sz="1400" baseline="0">
                <a:solidFill>
                  <a:schemeClr val="tx1">
                    <a:lumMod val="85000"/>
                    <a:lumOff val="15000"/>
                  </a:schemeClr>
                </a:solidFill>
                <a:latin typeface="Arial" panose="020B0604020202090204" pitchFamily="34" charset="0"/>
                <a:ea typeface="微软雅黑" panose="020B0503020204020204" pitchFamily="34" charset="-122"/>
              </a:defRPr>
            </a:lvl4pPr>
            <a:lvl5pPr>
              <a:defRPr sz="1400" baseline="0">
                <a:solidFill>
                  <a:schemeClr val="tx1">
                    <a:lumMod val="85000"/>
                    <a:lumOff val="15000"/>
                  </a:schemeClr>
                </a:solidFill>
                <a:latin typeface="Arial" panose="020B060402020209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wrap="square" lIns="90000" tIns="46800" rIns="90000" bIns="46800">
            <a:normAutofit/>
          </a:bodyPr>
          <a:lstStyle>
            <a:lvl1pPr>
              <a:defRPr sz="1400"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11"/>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腰带">
    <p:bg>
      <p:bgPr>
        <a:blipFill>
          <a:blip r:embed="rId2"/>
          <a:stretch>
            <a:fillRect/>
          </a:stretch>
        </a:blipFill>
        <a:effectLst/>
      </p:bgPr>
    </p:bg>
    <p:spTree>
      <p:nvGrpSpPr>
        <p:cNvPr id="1" name=""/>
        <p:cNvGrpSpPr/>
        <p:nvPr/>
      </p:nvGrpSpPr>
      <p:grpSpPr>
        <a:xfrm>
          <a:off x="0" y="0"/>
          <a:ext cx="0" cy="0"/>
          <a:chOff x="0" y="0"/>
          <a:chExt cx="0" cy="0"/>
        </a:xfrm>
      </p:grpSpPr>
      <p:sp>
        <p:nvSpPr>
          <p:cNvPr id="10" name="矩形 9"/>
          <p:cNvSpPr/>
          <p:nvPr>
            <p:custDataLst>
              <p:tags r:id="rId3"/>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ctr">
            <a:normAutofit/>
          </a:bodyPr>
          <a:lstStyle/>
          <a:p>
            <a:pPr lvl="0" algn="ctr"/>
            <a:endParaRPr lang="en-US" altLang="zh-CN">
              <a:sym typeface="+mn-ea"/>
            </a:endParaRPr>
          </a:p>
        </p:txBody>
      </p:sp>
      <p:sp>
        <p:nvSpPr>
          <p:cNvPr id="2" name="标题 1"/>
          <p:cNvSpPr>
            <a:spLocks noGrp="1"/>
          </p:cNvSpPr>
          <p:nvPr>
            <p:ph type="title" hasCustomPrompt="1"/>
            <p:custDataLst>
              <p:tags r:id="rId4"/>
            </p:custDataLst>
          </p:nvPr>
        </p:nvSpPr>
        <p:spPr>
          <a:xfrm>
            <a:off x="1522800" y="1339200"/>
            <a:ext cx="9144000" cy="2386800"/>
          </a:xfrm>
        </p:spPr>
        <p:txBody>
          <a:bodyPr wrap="square" lIns="90000" tIns="46800" rIns="90000" bIns="46800" anchor="b">
            <a:normAutofit/>
          </a:bodyPr>
          <a:lstStyle>
            <a:lvl1pPr algn="ctr">
              <a:defRPr sz="6000" baseline="0">
                <a:solidFill>
                  <a:schemeClr val="tx1">
                    <a:lumMod val="85000"/>
                    <a:lumOff val="15000"/>
                  </a:schemeClr>
                </a:solidFill>
                <a:latin typeface="Arial" panose="020B0604020202090204" pitchFamily="34" charset="0"/>
                <a:ea typeface="微软雅黑" panose="020B0503020204020204" pitchFamily="34" charset="-122"/>
              </a:defRPr>
            </a:lvl1pPr>
          </a:lstStyle>
          <a:p>
            <a:r>
              <a:rPr lang="zh-CN" altLang="en-US" dirty="0"/>
              <a:t>单击此处编辑标题</a:t>
            </a:r>
            <a:endParaRPr lang="zh-CN" altLang="en-US" dirty="0"/>
          </a:p>
        </p:txBody>
      </p:sp>
      <p:sp>
        <p:nvSpPr>
          <p:cNvPr id="4" name="页脚占位符 3"/>
          <p:cNvSpPr>
            <a:spLocks noGrp="1"/>
          </p:cNvSpPr>
          <p:nvPr>
            <p:ph type="ftr" sz="quarter" idx="11"/>
            <p:custDataLst>
              <p:tags r:id="rId5"/>
            </p:custDataLst>
          </p:nvPr>
        </p:nvSpPr>
        <p:spPr/>
        <p:txBody>
          <a:bodyPr wrap="square" lIns="90000" tIns="46800" rIns="90000" bIns="46800">
            <a:normAutofit/>
          </a:bodyPr>
          <a:lstStyle/>
          <a:p>
            <a:endParaRPr lang="zh-CN" altLang="en-US" dirty="0"/>
          </a:p>
        </p:txBody>
      </p:sp>
      <p:sp>
        <p:nvSpPr>
          <p:cNvPr id="5" name="灯片编号占位符 4"/>
          <p:cNvSpPr>
            <a:spLocks noGrp="1"/>
          </p:cNvSpPr>
          <p:nvPr>
            <p:ph type="sldNum" sz="quarter" idx="12"/>
            <p:custDataLst>
              <p:tags r:id="rId6"/>
            </p:custDataLst>
          </p:nvPr>
        </p:nvSpPr>
        <p:spPr/>
        <p:txBody>
          <a:bodyPr wrap="square" lIns="90000" tIns="46800" rIns="90000" bIns="46800">
            <a:normAutofit/>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wrap="square" lIns="90000" tIns="46800" rIns="90000" bIns="46800">
            <a:normAutofit/>
          </a:bodyPr>
          <a:lstStyle>
            <a:lvl1pPr algn="ctr">
              <a:defRPr baseline="0">
                <a:solidFill>
                  <a:schemeClr val="tx1">
                    <a:lumMod val="85000"/>
                    <a:lumOff val="15000"/>
                  </a:schemeClr>
                </a:solidFill>
                <a:latin typeface="Arial" panose="020B060402020209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3" name="日期占位符 2"/>
          <p:cNvSpPr>
            <a:spLocks noGrp="1"/>
          </p:cNvSpPr>
          <p:nvPr>
            <p:ph type="dt" sz="half" idx="10"/>
            <p:custDataLst>
              <p:tags r:id="rId8"/>
            </p:custDataLst>
          </p:nvPr>
        </p:nvSpPr>
        <p:spPr/>
        <p:txBody>
          <a:bodyPr wrap="square" lIns="90000" tIns="46800" rIns="90000" bIns="46800">
            <a:normAutofit/>
          </a:bodyPr>
          <a:lstStyle/>
          <a:p>
            <a:fld id="{760FBDFE-C587-4B4C-A407-44438C67B59E}" type="datetimeFigureOut">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5" Type="http://schemas.openxmlformats.org/officeDocument/2006/relationships/theme" Target="../theme/theme2.xml"/><Relationship Id="rId24" Type="http://schemas.openxmlformats.org/officeDocument/2006/relationships/tags" Target="../tags/tag124.xml"/><Relationship Id="rId23" Type="http://schemas.openxmlformats.org/officeDocument/2006/relationships/tags" Target="../tags/tag123.xml"/><Relationship Id="rId22" Type="http://schemas.openxmlformats.org/officeDocument/2006/relationships/tags" Target="../tags/tag122.xml"/><Relationship Id="rId21" Type="http://schemas.openxmlformats.org/officeDocument/2006/relationships/tags" Target="../tags/tag121.xml"/><Relationship Id="rId20" Type="http://schemas.openxmlformats.org/officeDocument/2006/relationships/tags" Target="../tags/tag120.xml"/><Relationship Id="rId2" Type="http://schemas.openxmlformats.org/officeDocument/2006/relationships/slideLayout" Target="../slideLayouts/slideLayout9.xml"/><Relationship Id="rId19" Type="http://schemas.openxmlformats.org/officeDocument/2006/relationships/tags" Target="../tags/tag119.xml"/><Relationship Id="rId18" Type="http://schemas.openxmlformats.org/officeDocument/2006/relationships/slideLayout" Target="../slideLayouts/slideLayout25.xml"/><Relationship Id="rId17" Type="http://schemas.openxmlformats.org/officeDocument/2006/relationships/slideLayout" Target="../slideLayouts/slideLayout24.xml"/><Relationship Id="rId16" Type="http://schemas.openxmlformats.org/officeDocument/2006/relationships/slideLayout" Target="../slideLayouts/slideLayout23.xml"/><Relationship Id="rId15" Type="http://schemas.openxmlformats.org/officeDocument/2006/relationships/slideLayout" Target="../slideLayouts/slideLayout22.xml"/><Relationship Id="rId14" Type="http://schemas.openxmlformats.org/officeDocument/2006/relationships/slideLayout" Target="../slideLayouts/slideLayout21.xml"/><Relationship Id="rId13" Type="http://schemas.openxmlformats.org/officeDocument/2006/relationships/slideLayout" Target="../slideLayouts/slideLayout20.xml"/><Relationship Id="rId12" Type="http://schemas.openxmlformats.org/officeDocument/2006/relationships/slideLayout" Target="../slideLayouts/slideLayout19.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slow">
    <p:strips dir="rd"/>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90000" tIns="46800" rIns="90000" bIns="468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0000" tIns="46800" rIns="90000" bIns="4680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0000" tIns="46800" rIns="90000" bIns="4680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0000" tIns="46800" rIns="90000" bIns="4680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 id="2147483672" r:id="rId16"/>
    <p:sldLayoutId id="2147483673" r:id="rId17"/>
    <p:sldLayoutId id="2147483674"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9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lumMod val="85000"/>
              <a:lumOff val="15000"/>
            </a:schemeClr>
          </a:solidFill>
          <a:uFillTx/>
          <a:latin typeface="Arial" panose="020B060402020209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8.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9.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9.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9.xml"/><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9.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9.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9.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9.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9.xml"/><Relationship Id="rId4" Type="http://schemas.openxmlformats.org/officeDocument/2006/relationships/tags" Target="../tags/tag152.xml"/><Relationship Id="rId3" Type="http://schemas.openxmlformats.org/officeDocument/2006/relationships/image" Target="../media/image3.png"/><Relationship Id="rId2" Type="http://schemas.openxmlformats.org/officeDocument/2006/relationships/tags" Target="../tags/tag151.xml"/><Relationship Id="rId1" Type="http://schemas.openxmlformats.org/officeDocument/2006/relationships/tags" Target="../tags/tag150.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9.xml"/><Relationship Id="rId4" Type="http://schemas.openxmlformats.org/officeDocument/2006/relationships/tags" Target="../tags/tag155.xml"/><Relationship Id="rId3" Type="http://schemas.openxmlformats.org/officeDocument/2006/relationships/image" Target="../media/image3.png"/><Relationship Id="rId2" Type="http://schemas.openxmlformats.org/officeDocument/2006/relationships/tags" Target="../tags/tag154.xml"/><Relationship Id="rId1" Type="http://schemas.openxmlformats.org/officeDocument/2006/relationships/tags" Target="../tags/tag153.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9.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9.xml"/><Relationship Id="rId4" Type="http://schemas.openxmlformats.org/officeDocument/2006/relationships/tags" Target="../tags/tag161.xml"/><Relationship Id="rId3" Type="http://schemas.openxmlformats.org/officeDocument/2006/relationships/image" Target="../media/image4.png"/><Relationship Id="rId2" Type="http://schemas.openxmlformats.org/officeDocument/2006/relationships/tags" Target="../tags/tag160.xml"/><Relationship Id="rId1" Type="http://schemas.openxmlformats.org/officeDocument/2006/relationships/tags" Target="../tags/tag159.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9.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9.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tags" Target="../tags/tag16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68.xml"/></Relationships>
</file>

<file path=ppt/slides/_rels/slide16.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5" Type="http://schemas.openxmlformats.org/officeDocument/2006/relationships/slideLayout" Target="../slideLayouts/slideLayout9.xml"/><Relationship Id="rId24" Type="http://schemas.openxmlformats.org/officeDocument/2006/relationships/tags" Target="../tags/tag192.xml"/><Relationship Id="rId23" Type="http://schemas.openxmlformats.org/officeDocument/2006/relationships/tags" Target="../tags/tag191.xml"/><Relationship Id="rId22" Type="http://schemas.openxmlformats.org/officeDocument/2006/relationships/tags" Target="../tags/tag190.xml"/><Relationship Id="rId21" Type="http://schemas.openxmlformats.org/officeDocument/2006/relationships/tags" Target="../tags/tag189.xml"/><Relationship Id="rId20" Type="http://schemas.openxmlformats.org/officeDocument/2006/relationships/tags" Target="../tags/tag188.xml"/><Relationship Id="rId2" Type="http://schemas.openxmlformats.org/officeDocument/2006/relationships/tags" Target="../tags/tag170.xml"/><Relationship Id="rId19" Type="http://schemas.openxmlformats.org/officeDocument/2006/relationships/tags" Target="../tags/tag187.xml"/><Relationship Id="rId18" Type="http://schemas.openxmlformats.org/officeDocument/2006/relationships/tags" Target="../tags/tag186.xml"/><Relationship Id="rId17" Type="http://schemas.openxmlformats.org/officeDocument/2006/relationships/tags" Target="../tags/tag185.xml"/><Relationship Id="rId16" Type="http://schemas.openxmlformats.org/officeDocument/2006/relationships/tags" Target="../tags/tag184.xml"/><Relationship Id="rId15" Type="http://schemas.openxmlformats.org/officeDocument/2006/relationships/tags" Target="../tags/tag183.xml"/><Relationship Id="rId14" Type="http://schemas.openxmlformats.org/officeDocument/2006/relationships/tags" Target="../tags/tag182.xml"/><Relationship Id="rId13" Type="http://schemas.openxmlformats.org/officeDocument/2006/relationships/tags" Target="../tags/tag181.xml"/><Relationship Id="rId12" Type="http://schemas.openxmlformats.org/officeDocument/2006/relationships/tags" Target="../tags/tag180.xml"/><Relationship Id="rId11" Type="http://schemas.openxmlformats.org/officeDocument/2006/relationships/tags" Target="../tags/tag179.xml"/><Relationship Id="rId10" Type="http://schemas.openxmlformats.org/officeDocument/2006/relationships/tags" Target="../tags/tag178.xml"/><Relationship Id="rId1" Type="http://schemas.openxmlformats.org/officeDocument/2006/relationships/tags" Target="../tags/tag169.xml"/></Relationships>
</file>

<file path=ppt/slides/_rels/slide17.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5" Type="http://schemas.openxmlformats.org/officeDocument/2006/relationships/slideLayout" Target="../slideLayouts/slideLayout9.xml"/><Relationship Id="rId24" Type="http://schemas.openxmlformats.org/officeDocument/2006/relationships/tags" Target="../tags/tag216.xml"/><Relationship Id="rId23" Type="http://schemas.openxmlformats.org/officeDocument/2006/relationships/tags" Target="../tags/tag215.xml"/><Relationship Id="rId22" Type="http://schemas.openxmlformats.org/officeDocument/2006/relationships/tags" Target="../tags/tag214.xml"/><Relationship Id="rId21" Type="http://schemas.openxmlformats.org/officeDocument/2006/relationships/tags" Target="../tags/tag213.xml"/><Relationship Id="rId20" Type="http://schemas.openxmlformats.org/officeDocument/2006/relationships/tags" Target="../tags/tag212.xml"/><Relationship Id="rId2" Type="http://schemas.openxmlformats.org/officeDocument/2006/relationships/tags" Target="../tags/tag194.xml"/><Relationship Id="rId19" Type="http://schemas.openxmlformats.org/officeDocument/2006/relationships/tags" Target="../tags/tag211.xml"/><Relationship Id="rId18" Type="http://schemas.openxmlformats.org/officeDocument/2006/relationships/tags" Target="../tags/tag210.xml"/><Relationship Id="rId17" Type="http://schemas.openxmlformats.org/officeDocument/2006/relationships/tags" Target="../tags/tag209.xml"/><Relationship Id="rId16" Type="http://schemas.openxmlformats.org/officeDocument/2006/relationships/tags" Target="../tags/tag208.xml"/><Relationship Id="rId15" Type="http://schemas.openxmlformats.org/officeDocument/2006/relationships/tags" Target="../tags/tag207.xml"/><Relationship Id="rId14" Type="http://schemas.openxmlformats.org/officeDocument/2006/relationships/tags" Target="../tags/tag206.xml"/><Relationship Id="rId13" Type="http://schemas.openxmlformats.org/officeDocument/2006/relationships/tags" Target="../tags/tag205.xml"/><Relationship Id="rId12" Type="http://schemas.openxmlformats.org/officeDocument/2006/relationships/tags" Target="../tags/tag204.xml"/><Relationship Id="rId11" Type="http://schemas.openxmlformats.org/officeDocument/2006/relationships/tags" Target="../tags/tag203.xml"/><Relationship Id="rId10" Type="http://schemas.openxmlformats.org/officeDocument/2006/relationships/tags" Target="../tags/tag202.xml"/><Relationship Id="rId1" Type="http://schemas.openxmlformats.org/officeDocument/2006/relationships/tags" Target="../tags/tag19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217.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218.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tags" Target="../tags/tag220.xml"/><Relationship Id="rId2" Type="http://schemas.openxmlformats.org/officeDocument/2006/relationships/image" Target="../media/image5.png"/><Relationship Id="rId1" Type="http://schemas.openxmlformats.org/officeDocument/2006/relationships/tags" Target="../tags/tag219.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9.xml"/><Relationship Id="rId3" Type="http://schemas.openxmlformats.org/officeDocument/2006/relationships/tags" Target="../tags/tag223.xml"/><Relationship Id="rId2" Type="http://schemas.openxmlformats.org/officeDocument/2006/relationships/tags" Target="../tags/tag222.xml"/><Relationship Id="rId1" Type="http://schemas.openxmlformats.org/officeDocument/2006/relationships/tags" Target="../tags/tag221.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9.xml"/><Relationship Id="rId2" Type="http://schemas.openxmlformats.org/officeDocument/2006/relationships/tags" Target="../tags/tag225.xml"/><Relationship Id="rId1" Type="http://schemas.openxmlformats.org/officeDocument/2006/relationships/tags" Target="../tags/tag224.xml"/></Relationships>
</file>

<file path=ppt/slides/_rels/slide23.xml.rels><?xml version="1.0" encoding="UTF-8" standalone="yes"?>
<Relationships xmlns="http://schemas.openxmlformats.org/package/2006/relationships"><Relationship Id="rId9" Type="http://schemas.openxmlformats.org/officeDocument/2006/relationships/tags" Target="../tags/tag233.xml"/><Relationship Id="rId8" Type="http://schemas.openxmlformats.org/officeDocument/2006/relationships/tags" Target="../tags/tag232.xml"/><Relationship Id="rId7" Type="http://schemas.openxmlformats.org/officeDocument/2006/relationships/tags" Target="../tags/tag231.xml"/><Relationship Id="rId6" Type="http://schemas.openxmlformats.org/officeDocument/2006/relationships/tags" Target="../tags/tag230.xml"/><Relationship Id="rId5" Type="http://schemas.openxmlformats.org/officeDocument/2006/relationships/tags" Target="../tags/tag229.xml"/><Relationship Id="rId4" Type="http://schemas.openxmlformats.org/officeDocument/2006/relationships/tags" Target="../tags/tag228.xml"/><Relationship Id="rId3" Type="http://schemas.openxmlformats.org/officeDocument/2006/relationships/image" Target="../media/image6.png"/><Relationship Id="rId2" Type="http://schemas.openxmlformats.org/officeDocument/2006/relationships/tags" Target="../tags/tag227.xml"/><Relationship Id="rId15" Type="http://schemas.openxmlformats.org/officeDocument/2006/relationships/notesSlide" Target="../notesSlides/notesSlide17.xml"/><Relationship Id="rId14" Type="http://schemas.openxmlformats.org/officeDocument/2006/relationships/slideLayout" Target="../slideLayouts/slideLayout9.xml"/><Relationship Id="rId13" Type="http://schemas.openxmlformats.org/officeDocument/2006/relationships/tags" Target="../tags/tag237.xml"/><Relationship Id="rId12" Type="http://schemas.openxmlformats.org/officeDocument/2006/relationships/tags" Target="../tags/tag236.xml"/><Relationship Id="rId11" Type="http://schemas.openxmlformats.org/officeDocument/2006/relationships/tags" Target="../tags/tag235.xml"/><Relationship Id="rId10" Type="http://schemas.openxmlformats.org/officeDocument/2006/relationships/tags" Target="../tags/tag234.xml"/><Relationship Id="rId1" Type="http://schemas.openxmlformats.org/officeDocument/2006/relationships/tags" Target="../tags/tag226.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9.xml"/><Relationship Id="rId2" Type="http://schemas.openxmlformats.org/officeDocument/2006/relationships/tags" Target="../tags/tag239.xml"/><Relationship Id="rId1" Type="http://schemas.openxmlformats.org/officeDocument/2006/relationships/tags" Target="../tags/tag238.xml"/></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9.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9.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9.xml"/><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custDataLst>
              <p:tags r:id="rId1"/>
            </p:custDataLst>
          </p:nvPr>
        </p:nvSpPr>
        <p:spPr>
          <a:xfrm>
            <a:off x="109538" y="143510"/>
            <a:ext cx="5705475" cy="13220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zh-CN" altLang="en-US" sz="2800" b="1">
                <a:gradFill>
                  <a:gsLst>
                    <a:gs pos="50000">
                      <a:srgbClr val="ECCFCB"/>
                    </a:gs>
                    <a:gs pos="0">
                      <a:srgbClr val="F2DFDC"/>
                    </a:gs>
                    <a:gs pos="100000">
                      <a:srgbClr val="E5BEB9"/>
                    </a:gs>
                  </a:gsLst>
                  <a:lin scaled="1"/>
                </a:gradFill>
                <a:effectLst/>
                <a:sym typeface="+mn-ea"/>
              </a:rPr>
              <a:t>最</a:t>
            </a:r>
            <a:r>
              <a:rPr lang="zh-CN" altLang="en-US" sz="2800" b="1">
                <a:gradFill>
                  <a:gsLst>
                    <a:gs pos="50000">
                      <a:srgbClr val="ECCFCB"/>
                    </a:gs>
                    <a:gs pos="0">
                      <a:srgbClr val="F2DFDC"/>
                    </a:gs>
                    <a:gs pos="100000">
                      <a:srgbClr val="E5BEB9"/>
                    </a:gs>
                  </a:gsLst>
                  <a:lin scaled="1"/>
                </a:gradFill>
                <a:effectLst/>
                <a:latin typeface="方正粗黑宋简体" panose="02000000000000000000" pitchFamily="2" charset="-122"/>
                <a:ea typeface="方正粗黑宋简体" panose="02000000000000000000" pitchFamily="2" charset="-122"/>
                <a:sym typeface="+mn-ea"/>
              </a:rPr>
              <a:t>新</a:t>
            </a:r>
            <a:r>
              <a:rPr lang="zh-CN" altLang="en-US" sz="2800" b="1">
                <a:gradFill>
                  <a:gsLst>
                    <a:gs pos="50000">
                      <a:srgbClr val="ECCFCB"/>
                    </a:gs>
                    <a:gs pos="0">
                      <a:srgbClr val="F2DFDC"/>
                    </a:gs>
                    <a:gs pos="100000">
                      <a:srgbClr val="E5BEB9"/>
                    </a:gs>
                  </a:gsLst>
                  <a:lin scaled="1"/>
                </a:gradFill>
                <a:effectLst/>
                <a:sym typeface="+mn-ea"/>
              </a:rPr>
              <a:t>修订版</a:t>
            </a:r>
            <a:r>
              <a:rPr lang="zh-CN" altLang="en-US" sz="8000" b="1" spc="-300" dirty="0">
                <a:solidFill>
                  <a:srgbClr val="FFC000"/>
                </a:solidFill>
                <a:effectLst>
                  <a:outerShdw blurRad="38100" dist="38100" dir="2700000" algn="tl">
                    <a:srgbClr val="000000">
                      <a:alpha val="43137"/>
                    </a:srgbClr>
                  </a:outerShdw>
                </a:effectLst>
                <a:latin typeface="方正粗黑宋简体" panose="02000000000000000000" pitchFamily="2" charset="-122"/>
                <a:ea typeface="方正粗黑宋简体" panose="02000000000000000000" pitchFamily="2" charset="-122"/>
                <a:sym typeface="+mn-ea"/>
              </a:rPr>
              <a:t>化学</a:t>
            </a:r>
            <a:r>
              <a:rPr lang="zh-CN" altLang="en-US" sz="2800" b="1">
                <a:solidFill>
                  <a:schemeClr val="accent5">
                    <a:lumMod val="40000"/>
                    <a:lumOff val="60000"/>
                  </a:schemeClr>
                </a:solidFill>
                <a:effectLst/>
                <a:sym typeface="+mn-ea"/>
              </a:rPr>
              <a:t>九年级全册</a:t>
            </a:r>
            <a:endParaRPr lang="zh-CN" altLang="en-US" sz="2800" b="1" spc="-300" dirty="0">
              <a:solidFill>
                <a:schemeClr val="bg1"/>
              </a:solidFill>
              <a:latin typeface="楷体" panose="02010609060101010101" charset="-122"/>
              <a:ea typeface="楷体" panose="02010609060101010101" charset="-122"/>
              <a:sym typeface="+mn-ea"/>
            </a:endParaRPr>
          </a:p>
        </p:txBody>
      </p:sp>
      <p:sp>
        <p:nvSpPr>
          <p:cNvPr id="5" name="标题 4"/>
          <p:cNvSpPr>
            <a:spLocks noGrp="1"/>
          </p:cNvSpPr>
          <p:nvPr>
            <p:ph type="ctrTitle"/>
            <p:custDataLst>
              <p:tags r:id="rId2"/>
            </p:custDataLst>
          </p:nvPr>
        </p:nvSpPr>
        <p:spPr>
          <a:xfrm>
            <a:off x="2957449" y="2215489"/>
            <a:ext cx="7197090" cy="784860"/>
          </a:xfrm>
        </p:spPr>
        <p:txBody>
          <a:bodyPr wrap="none">
            <a:spAutoFit/>
          </a:bodyPr>
          <a:lstStyle/>
          <a:p>
            <a:pPr algn="ctr"/>
            <a:r>
              <a:rPr lang="zh-CN" altLang="en-US" sz="4800" b="1">
                <a:latin typeface="汉仪大隶书简" panose="02010600000101010101" charset="-122"/>
                <a:ea typeface="汉仪大隶书简" panose="02010600000101010101" charset="-122"/>
                <a:cs typeface="汉仪大隶书简" panose="02010600000101010101" charset="-122"/>
              </a:rPr>
              <a:t>第四单元 科 学 探 究</a:t>
            </a:r>
            <a:endParaRPr lang="zh-CN" altLang="en-US" sz="4800" b="1">
              <a:latin typeface="汉仪大隶书简" panose="02010600000101010101" charset="-122"/>
              <a:ea typeface="汉仪大隶书简" panose="02010600000101010101" charset="-122"/>
              <a:cs typeface="汉仪大隶书简" panose="02010600000101010101" charset="-122"/>
            </a:endParaRPr>
          </a:p>
        </p:txBody>
      </p:sp>
      <p:grpSp>
        <p:nvGrpSpPr>
          <p:cNvPr id="4" name="组合 3"/>
          <p:cNvGrpSpPr/>
          <p:nvPr/>
        </p:nvGrpSpPr>
        <p:grpSpPr>
          <a:xfrm>
            <a:off x="3520694" y="3340074"/>
            <a:ext cx="6070600" cy="1691005"/>
            <a:chOff x="3795" y="4917"/>
            <a:chExt cx="9560" cy="2663"/>
          </a:xfrm>
        </p:grpSpPr>
        <p:sp>
          <p:nvSpPr>
            <p:cNvPr id="2" name="文本框 1"/>
            <p:cNvSpPr txBox="1"/>
            <p:nvPr/>
          </p:nvSpPr>
          <p:spPr>
            <a:xfrm>
              <a:off x="6739" y="5375"/>
              <a:ext cx="2353" cy="580"/>
            </a:xfrm>
            <a:prstGeom prst="rect">
              <a:avLst/>
            </a:prstGeom>
            <a:solidFill>
              <a:schemeClr val="bg1"/>
            </a:solidFill>
          </p:spPr>
          <p:txBody>
            <a:bodyPr wrap="square" rtlCol="0">
              <a:spAutoFit/>
            </a:bodyPr>
            <a:p>
              <a:endParaRPr lang="zh-CN" altLang="en-US"/>
            </a:p>
          </p:txBody>
        </p:sp>
        <p:sp>
          <p:nvSpPr>
            <p:cNvPr id="3" name="文本框 2"/>
            <p:cNvSpPr txBox="1"/>
            <p:nvPr>
              <p:custDataLst>
                <p:tags r:id="rId3"/>
              </p:custDataLst>
            </p:nvPr>
          </p:nvSpPr>
          <p:spPr>
            <a:xfrm>
              <a:off x="3795" y="4917"/>
              <a:ext cx="9560" cy="2663"/>
            </a:xfrm>
            <a:prstGeom prst="rect">
              <a:avLst/>
            </a:prstGeom>
            <a:noFill/>
          </p:spPr>
          <p:txBody>
            <a:bodyPr wrap="none" rtlCol="0">
              <a:spAutoFit/>
            </a:bodyPr>
            <a:lstStyle/>
            <a:p>
              <a:pPr algn="ctr">
                <a:lnSpc>
                  <a:spcPct val="130000"/>
                </a:lnSpc>
                <a:defRPr/>
              </a:pPr>
              <a:r>
                <a:rPr lang="zh-CN" sz="44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方正粗黑宋简体" panose="02000000000000000000" pitchFamily="2" charset="-122"/>
                  <a:cs typeface="Times New Roman" panose="02020603050405020304" pitchFamily="18" charset="0"/>
                  <a:sym typeface="+mn-ea"/>
                </a:rPr>
                <a:t>三、科  学  探  究  能  力</a:t>
              </a:r>
              <a:endParaRPr lang="zh-CN" sz="44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方正粗黑宋简体" panose="02000000000000000000" pitchFamily="2" charset="-122"/>
                <a:cs typeface="Times New Roman" panose="02020603050405020304" pitchFamily="18" charset="0"/>
                <a:sym typeface="+mn-ea"/>
              </a:endParaRPr>
            </a:p>
            <a:p>
              <a:pPr algn="ctr">
                <a:lnSpc>
                  <a:spcPct val="130000"/>
                </a:lnSpc>
                <a:defRPr/>
              </a:pPr>
              <a:r>
                <a:rPr lang="zh-CN" altLang="en-US" sz="36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方正粗黑宋简体" panose="02000000000000000000" pitchFamily="2" charset="-122"/>
                  <a:ea typeface="方正粗黑宋简体" panose="02000000000000000000" pitchFamily="2" charset="-122"/>
                  <a:sym typeface="+mn-ea"/>
                </a:rPr>
                <a:t>—复习导航、例题</a:t>
              </a:r>
              <a:endParaRPr lang="en-US" altLang="zh-CN" sz="3600" b="1">
                <a:ln w="9525" cap="flat" cmpd="sng">
                  <a:solidFill>
                    <a:schemeClr val="tx1"/>
                  </a:solidFill>
                  <a:prstDash val="solid"/>
                  <a:round/>
                  <a:headEnd type="none" w="med" len="med"/>
                  <a:tailEnd type="none" w="med" len="med"/>
                </a:ln>
                <a:gradFill>
                  <a:gsLst>
                    <a:gs pos="50000">
                      <a:srgbClr val="ECCFCB"/>
                    </a:gs>
                    <a:gs pos="0">
                      <a:srgbClr val="F2DFDC"/>
                    </a:gs>
                    <a:gs pos="100000">
                      <a:srgbClr val="E5BEB9"/>
                    </a:gs>
                  </a:gsLst>
                  <a:lin scaled="1"/>
                </a:gradFill>
                <a:uFillTx/>
                <a:latin typeface="Times New Roman" panose="02020603050405020304" pitchFamily="18" charset="0"/>
                <a:ea typeface="汉仪铁山隶书繁" panose="00020600040101010101" charset="-122"/>
                <a:cs typeface="汉仪铁山隶书繁" panose="00020600040101010101" charset="-122"/>
                <a:sym typeface="+mn-ea"/>
              </a:endParaRPr>
            </a:p>
          </p:txBody>
        </p:sp>
      </p:gr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653415" y="1139825"/>
            <a:ext cx="11035030" cy="466026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8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1.增进对科学探究的理解</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科学探究是化学学习的重要方式和内容，是学好化学的</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必由之路</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科学探究试题着重考查</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实验能力</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试题主要取材于实验情景、日常生活情景和社会问题情景等，主要由</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情景设置</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问题</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探究过程</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三个部分组成。</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其中</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问题</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部分贯穿于探究过程的几个要素之中。解答科学探究题</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要抓住实验目的或探究目的</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，围绕目的设计方案、评价方案。</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3" name="标题 4"/>
          <p:cNvSpPr>
            <a:spLocks noGrp="1"/>
          </p:cNvSpPr>
          <p:nvPr>
            <p:custDataLst>
              <p:tags r:id="rId2"/>
            </p:custDataLst>
          </p:nvPr>
        </p:nvSpPr>
        <p:spPr>
          <a:xfrm>
            <a:off x="653415" y="485823"/>
            <a:ext cx="4177569"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r>
              <a:rPr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rPr>
              <a:t>P</a:t>
            </a:r>
            <a:r>
              <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rPr>
              <a:t>101</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653415" y="835025"/>
            <a:ext cx="10909300" cy="566039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2.发展科学探究能力</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科学探究的一般步骤为</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提出问题</a:t>
            </a:r>
            <a:r>
              <a:rPr kumimoji="0" sz="2500" b="1" i="0">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猜想与假设</a:t>
            </a:r>
            <a:r>
              <a:rPr kumimoji="0" sz="2500" b="1" i="0">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制订计划</a:t>
            </a:r>
            <a:r>
              <a:rPr kumimoji="0" sz="2500" b="1" i="0">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进行实验</a:t>
            </a:r>
            <a:r>
              <a:rPr kumimoji="0" sz="2500" b="1" i="0">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搜集证据</a:t>
            </a:r>
            <a:r>
              <a:rPr kumimoji="0" sz="2500" b="1" i="0">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解释与结论</a:t>
            </a:r>
            <a:r>
              <a:rPr kumimoji="0" sz="2500" b="1" i="0">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反思与评价</a:t>
            </a:r>
            <a:r>
              <a:rPr kumimoji="0" sz="2500" b="1" i="0">
                <a:ln>
                  <a:noFill/>
                </a:ln>
                <a:effectLst/>
                <a:uFillTx/>
                <a:latin typeface="宋体" panose="02010600030101010101" pitchFamily="2" charset="-122"/>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表达与交流。</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要在</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已学知识和经验的基础</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上，敢于大胆地作出合理的猜想和假设。</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根据试题的要求，结合已有的化学知识和生活经验</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设计简单的化学探究性实验。</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要善于对实验所得出的</a:t>
            </a:r>
            <a:r>
              <a:rPr sz="2500" b="1">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事实证据</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通过</a:t>
            </a:r>
            <a:r>
              <a:rPr sz="2500" b="1">
                <a:ln>
                  <a:noFill/>
                </a:ln>
                <a:gradFill>
                  <a:gsLst>
                    <a:gs pos="0">
                      <a:srgbClr val="E30000"/>
                    </a:gs>
                    <a:gs pos="100000">
                      <a:srgbClr val="760303"/>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比较、归纳、概括、总结</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等方式进行处理，从而得出科学的</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结</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论，并</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由</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此解释化学现象，说明问题。</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要会对简单的化学实验探究方案的</a:t>
            </a:r>
            <a:r>
              <a:rPr sz="2500" b="1">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优劣进行评价</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，并提出自己的建议。</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3" name="标题 4"/>
          <p:cNvSpPr>
            <a:spLocks noGrp="1"/>
          </p:cNvSpPr>
          <p:nvPr>
            <p:custDataLst>
              <p:tags r:id="rId2"/>
            </p:custDataLst>
          </p:nvPr>
        </p:nvSpPr>
        <p:spPr>
          <a:xfrm>
            <a:off x="653415" y="18102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931545"/>
            <a:ext cx="11051540" cy="516064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3.科学探究题的特点</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在</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真实情景中</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考查。</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        将实验知识与技能的考</a:t>
            </a:r>
            <a:r>
              <a:rPr kumimoji="0" lang="zh-CN"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查</a:t>
            </a: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置于具体实验活动中，考查在真实的情景中</a:t>
            </a:r>
            <a:r>
              <a:rPr kumimoji="0" sz="2500" b="1" i="0">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应用实验知识与方法</a:t>
            </a:r>
            <a:r>
              <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解决问题的能力。</a:t>
            </a:r>
            <a:endParaRPr kumimoji="0" sz="2500" b="1" i="0">
              <a:ln>
                <a:noFill/>
              </a:ln>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适度开放。</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      开放性是近年化学实验试题的一个新特点，体现</a:t>
            </a:r>
            <a:r>
              <a:rPr kumimoji="0" sz="2500" b="1" i="0">
                <a:ln>
                  <a:noFill/>
                </a:ln>
                <a:solidFill>
                  <a:srgbClr val="0E0EE4"/>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注重能力和素质</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考查的方向。试题对实验仪器、实验操作、实验原理等没有过多的限制，从而保证实验试题具有开放性。</a:t>
            </a:r>
            <a:endPar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915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linds(horizontal)">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931545"/>
            <a:ext cx="11051540" cy="550672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3.科学探究题的特点</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关注探究。</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 要求根据探究性学习的要求，以实验为研究手段，模拟科学研究构成，自己提出问题，制订探究活动计划，拟订实验方案，处理实验数据，写出相应的实验报告等。</a:t>
            </a:r>
            <a:endPar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体现综合。</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rPr>
              <a:t>化学实验作为化学研究的一种手段，承载着化学概念、原理、元素化合物等知识研究和探索的任务，因此实验常考查化学学科的综合知识，甚至结合其他学科的知识进行综合考查。</a:t>
            </a:r>
            <a:endParaRPr kumimoji="0" sz="2500" b="1" i="0">
              <a:ln>
                <a:noFill/>
              </a:ln>
              <a:solidFill>
                <a:schemeClr val="tx1"/>
              </a:solidFill>
              <a:effectLst/>
              <a:uFillTx/>
              <a:latin typeface="Times New Roman" panose="02020603050405020304" pitchFamily="18" charset="0"/>
              <a:ea typeface="楷体" panose="02010609060101010101"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915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linds(horizontal)">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linds(horizontal)">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931545"/>
            <a:ext cx="11051540" cy="473710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 科学探究题</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解题策略</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认真审题，明确试题的</a:t>
            </a:r>
            <a:r>
              <a:rPr kumimoji="0" sz="2500" b="1" i="0">
                <a:ln>
                  <a:noFill/>
                </a:ln>
                <a:gradFill>
                  <a:gsLst>
                    <a:gs pos="0">
                      <a:srgbClr val="E30000"/>
                    </a:gs>
                    <a:gs pos="100000">
                      <a:srgbClr val="760303"/>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核心</a:t>
            </a:r>
            <a:r>
              <a:rPr kumimoji="0" sz="2500" b="1" i="0">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实验目的或探究目的。</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抓住试题的主干，</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围绕实验或探究目的</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，寻找探究思路和原理，</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找准解题的突破口。</a:t>
            </a:r>
            <a:endPar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再现实验，建立模型，根据探究思路，理解探究考查的问题。</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要善于</a:t>
            </a:r>
            <a:r>
              <a:rPr kumimoji="0" sz="2500" b="1" i="0">
                <a:ln>
                  <a:noFill/>
                </a:ln>
                <a:gradFill>
                  <a:gsLst>
                    <a:gs pos="0">
                      <a:srgbClr val="E30000"/>
                    </a:gs>
                    <a:gs pos="100000">
                      <a:srgbClr val="760303"/>
                    </a:gs>
                  </a:gsLst>
                  <a:lin scaled="0"/>
                </a:gra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把握信息</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，从大量的信息中筛选出</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有用信息</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，将信息与自己掌握的知识进行整合，需灵活运用比较、归纳、猜想、论证、类比、迁移等方法。</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915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931545"/>
            <a:ext cx="11051540" cy="556831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 科学探究</a:t>
            </a:r>
            <a:r>
              <a:rPr kumimoji="0"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题解题策略</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(5)</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掌握实验设计与实验</a:t>
            </a:r>
            <a:r>
              <a:rPr kumimoji="0"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评价的原则</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，优化实验设计。</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(6)</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读题时以科学探究的要素为线索，以</a:t>
            </a:r>
            <a:r>
              <a:rPr kumimoji="0" sz="2400" b="1" i="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整体的思想</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浏览试题，明确题意后，再进行作答。审题时，</a:t>
            </a:r>
            <a:r>
              <a:rPr kumimoji="0"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不能只着眼于小题，应把小题放在大题的整体背景中进行思考，否则不能正确把握答题方向</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化学中的探究活动一般都是从问题开始，围绕一定的目的展开的，因此</a:t>
            </a:r>
            <a:r>
              <a:rPr kumimoji="0" sz="2400" b="1" i="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实验探究的目的</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是实验探究方案设计与评价的重要依据。</a:t>
            </a:r>
            <a:r>
              <a:rPr kumimoji="0" sz="2400" b="1" i="0">
                <a:ln>
                  <a:noFill/>
                </a:ln>
                <a:solidFill>
                  <a:srgbClr val="C00000"/>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问题是实验探究的灵魂</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，因此解题过程中要</a:t>
            </a:r>
            <a:r>
              <a:rPr kumimoji="0"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抓住实验或探究过程中的问题，把握实验或探究目的</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，根据目的确定探究思路，根据目的设计或选择探究方案，根据方案选择仪器、装置和药品，根据目的对实验方案进行评价。</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915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931545"/>
            <a:ext cx="11158220" cy="550672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实验探究题是福建中考的必考题</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型</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，分值约为15分。试题综合性较强，难</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度中等偏上，有较好的区分度。</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解答实验探究题一般分为三个步骤。</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审题</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审题要做到</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三看</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，即看</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实验探究的目的</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、看</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题设条件</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、看</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要解决的问题</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分析</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分析试题要做到</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三想</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，即想化学过程所涉及的化学概念或化学原</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理、</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想</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所给条件与所求问题的关系、想有无隐含条件</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解答</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解答试题要做到</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五要</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，即设计实验进行探究时，</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原理要正确、试剂要易得、操作要简单、现象要明显、过程要环保</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915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考点精解</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
        <p:nvSpPr>
          <p:cNvPr id="3" name="文本框 2"/>
          <p:cNvSpPr txBox="1"/>
          <p:nvPr/>
        </p:nvSpPr>
        <p:spPr>
          <a:xfrm>
            <a:off x="7668260" y="5840730"/>
            <a:ext cx="3312220" cy="471865"/>
          </a:xfrm>
          <a:prstGeom prst="roundRect">
            <a:avLst/>
          </a:prstGeom>
          <a:solidFill>
            <a:schemeClr val="tx2">
              <a:lumMod val="50000"/>
            </a:schemeClr>
          </a:solidFill>
        </p:spPr>
        <p:txBody>
          <a:bodyPr wrap="none" rtlCol="0" anchor="t">
            <a:spAutoFit/>
          </a:bodyPr>
          <a:p>
            <a:r>
              <a:rPr lang="zh-CN" sz="2200" b="1">
                <a:solidFill>
                  <a:schemeClr val="bg1"/>
                </a:solidFill>
                <a:uFillTx/>
                <a:latin typeface="Times New Roman" panose="02020603050405020304" pitchFamily="18" charset="0"/>
                <a:ea typeface="宋体" panose="02010600030101010101" pitchFamily="2" charset="-122"/>
                <a:sym typeface="+mn-ea"/>
              </a:rPr>
              <a:t>实验方案优劣的评价</a:t>
            </a:r>
            <a:r>
              <a:rPr lang="zh-CN" sz="2200" b="1">
                <a:solidFill>
                  <a:srgbClr val="FFC000"/>
                </a:solidFill>
                <a:uFillTx/>
                <a:latin typeface="Times New Roman" panose="02020603050405020304" pitchFamily="18" charset="0"/>
                <a:ea typeface="宋体" panose="02010600030101010101" pitchFamily="2" charset="-122"/>
                <a:sym typeface="+mn-ea"/>
              </a:rPr>
              <a:t>原则</a:t>
            </a:r>
            <a:endParaRPr lang="zh-CN" altLang="en-US"/>
          </a:p>
        </p:txBody>
      </p:sp>
    </p:spTree>
    <p:custDataLst>
      <p:tags r:id="rId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blinds(horizontal)">
                                      <p:cBhvr>
                                        <p:cTn id="20" dur="500"/>
                                        <p:tgtEl>
                                          <p:spTgt spid="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blinds(horizontal)">
                                      <p:cBhvr>
                                        <p:cTn id="25" dur="500"/>
                                        <p:tgtEl>
                                          <p:spTgt spid="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blinds(horizontal)">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733425"/>
            <a:ext cx="11051540" cy="566039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例</a:t>
            </a:r>
            <a:r>
              <a:rPr kumimoji="0" lang="en-US" alt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zh-CN" sz="18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 3</a:t>
            </a:r>
            <a:r>
              <a:rPr kumimoji="0" lang="zh-CN"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】按图2所示装置进行实验。</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查阅资料得知，CaCl</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溶液呈中性，CaC</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l</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NaOH</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OH</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lang="en-US" sz="2500" b="1" i="0">
                <a:ln>
                  <a:noFill/>
                </a:ln>
                <a:effectLst/>
                <a:uFillTx/>
                <a:latin typeface="宋体" panose="02010600030101010101" pitchFamily="2" charset="-122"/>
                <a:ea typeface="宋体" panose="02010600030101010101" pitchFamily="2" charset="-122"/>
                <a:cs typeface="Arial" panose="020B0604020202090204" pitchFamily="34"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+2NaCl。实验步骤如下</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①检查装置的气密性，往装置中加入药品</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②关闭 K</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，将注射器中的NaOH溶液缓</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缓推入A中;</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③A中物质充分作用后，打开K</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，B中无色溶液倒吸入A中，A中产生沉淀且溶液显红色</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5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④关闭K</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，打开K</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，将注射器活塞向上拉，C中溶液倒吸入A中。</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93393"/>
            <a:ext cx="3934999"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→范例剖析</a:t>
            </a:r>
            <a:r>
              <a:rPr lang="en-US" alt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103</a:t>
            </a:r>
            <a:endParaRPr lang="en-US" alt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endParaRPr>
          </a:p>
        </p:txBody>
      </p:sp>
      <p:grpSp>
        <p:nvGrpSpPr>
          <p:cNvPr id="6" name="组合 5"/>
          <p:cNvGrpSpPr/>
          <p:nvPr/>
        </p:nvGrpSpPr>
        <p:grpSpPr>
          <a:xfrm>
            <a:off x="7145655" y="888365"/>
            <a:ext cx="4263390" cy="3599180"/>
            <a:chOff x="11253" y="1399"/>
            <a:chExt cx="6714" cy="5668"/>
          </a:xfrm>
        </p:grpSpPr>
        <p:grpSp>
          <p:nvGrpSpPr>
            <p:cNvPr id="18" name="组合 17"/>
            <p:cNvGrpSpPr/>
            <p:nvPr/>
          </p:nvGrpSpPr>
          <p:grpSpPr>
            <a:xfrm>
              <a:off x="11253" y="1399"/>
              <a:ext cx="6715" cy="5668"/>
              <a:chOff x="10576" y="3665"/>
              <a:chExt cx="6715" cy="5668"/>
            </a:xfrm>
          </p:grpSpPr>
          <p:pic>
            <p:nvPicPr>
              <p:cNvPr id="4" name="图片 3"/>
              <p:cNvPicPr>
                <a:picLocks noChangeAspect="1"/>
              </p:cNvPicPr>
              <p:nvPr/>
            </p:nvPicPr>
            <p:blipFill>
              <a:blip r:embed="rId3"/>
              <a:stretch>
                <a:fillRect/>
              </a:stretch>
            </p:blipFill>
            <p:spPr>
              <a:xfrm>
                <a:off x="10789" y="3665"/>
                <a:ext cx="6503" cy="5669"/>
              </a:xfrm>
              <a:prstGeom prst="rect">
                <a:avLst/>
              </a:prstGeom>
            </p:spPr>
          </p:pic>
          <p:sp>
            <p:nvSpPr>
              <p:cNvPr id="10" name="文本框 9"/>
              <p:cNvSpPr txBox="1"/>
              <p:nvPr/>
            </p:nvSpPr>
            <p:spPr>
              <a:xfrm>
                <a:off x="10576" y="4029"/>
                <a:ext cx="1168" cy="1260"/>
              </a:xfrm>
              <a:prstGeom prst="rect">
                <a:avLst/>
              </a:prstGeom>
              <a:solidFill>
                <a:schemeClr val="bg1"/>
              </a:solidFill>
            </p:spPr>
            <p:txBody>
              <a:bodyPr wrap="none" lIns="36195" tIns="0" rIns="0" bIns="0" rtlCol="0" anchor="t">
                <a:spAutoFit/>
              </a:bodyPr>
              <a:p>
                <a:pPr algn="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80000"/>
                  </a:lnSpc>
                  <a:spcBef>
                    <a:spcPts val="0"/>
                  </a:spcBef>
                  <a:spcAft>
                    <a:spcPts val="0"/>
                  </a:spcAft>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NaOH</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r">
                  <a:lnSpc>
                    <a:spcPct val="80000"/>
                  </a:lnSpc>
                  <a:spcBef>
                    <a:spcPts val="0"/>
                  </a:spcBef>
                  <a:spcAft>
                    <a:spcPts val="0"/>
                  </a:spcAft>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1" name="文本框 10"/>
              <p:cNvSpPr txBox="1"/>
              <p:nvPr/>
            </p:nvSpPr>
            <p:spPr>
              <a:xfrm>
                <a:off x="10873" y="6218"/>
                <a:ext cx="730" cy="541"/>
              </a:xfrm>
              <a:prstGeom prst="rect">
                <a:avLst/>
              </a:prstGeom>
              <a:solidFill>
                <a:schemeClr val="bg1"/>
              </a:solidFill>
            </p:spPr>
            <p:txBody>
              <a:bodyPr wrap="none" lIns="0" tIns="0" rIns="0" bIns="36195"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2" name="文本框 11"/>
              <p:cNvSpPr txBox="1"/>
              <p:nvPr/>
            </p:nvSpPr>
            <p:spPr>
              <a:xfrm>
                <a:off x="11328" y="8118"/>
                <a:ext cx="1953" cy="929"/>
              </a:xfrm>
              <a:prstGeom prst="rect">
                <a:avLst/>
              </a:prstGeom>
              <a:solidFill>
                <a:schemeClr val="bg1"/>
              </a:solidFill>
            </p:spPr>
            <p:txBody>
              <a:bodyPr wrap="none" lIns="0" tIns="0" rIns="0" bIns="36195" rtlCol="0" anchor="t">
                <a:spAutoFit/>
              </a:bodyPr>
              <a:p>
                <a:pPr algn="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含酚酞的</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8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CaCl</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3" name="文本框 12"/>
              <p:cNvSpPr txBox="1"/>
              <p:nvPr/>
            </p:nvSpPr>
            <p:spPr>
              <a:xfrm>
                <a:off x="13227" y="6281"/>
                <a:ext cx="441" cy="541"/>
              </a:xfrm>
              <a:prstGeom prst="rect">
                <a:avLst/>
              </a:prstGeom>
              <a:solidFill>
                <a:schemeClr val="bg1"/>
              </a:solidFill>
            </p:spPr>
            <p:txBody>
              <a:bodyPr wrap="none" lIns="0" tIns="0" rIns="0" bIns="36195"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4" name="文本框 13"/>
              <p:cNvSpPr txBox="1"/>
              <p:nvPr/>
            </p:nvSpPr>
            <p:spPr>
              <a:xfrm>
                <a:off x="15109" y="6281"/>
                <a:ext cx="441" cy="541"/>
              </a:xfrm>
              <a:prstGeom prst="rect">
                <a:avLst/>
              </a:prstGeom>
              <a:solidFill>
                <a:schemeClr val="bg1"/>
              </a:solidFill>
            </p:spPr>
            <p:txBody>
              <a:bodyPr wrap="none" lIns="0" tIns="0" rIns="0" bIns="36195"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5" name="文本框 14"/>
              <p:cNvSpPr txBox="1"/>
              <p:nvPr/>
            </p:nvSpPr>
            <p:spPr>
              <a:xfrm>
                <a:off x="16656" y="8103"/>
                <a:ext cx="402" cy="929"/>
              </a:xfrm>
              <a:prstGeom prst="rect">
                <a:avLst/>
              </a:prstGeom>
              <a:solidFill>
                <a:schemeClr val="bg1"/>
              </a:solidFill>
            </p:spPr>
            <p:txBody>
              <a:bodyPr wrap="none" lIns="0" tIns="0" rIns="0" bIns="36195" rtlCol="0" anchor="t">
                <a:spAutoFit/>
              </a:bodyPr>
              <a:p>
                <a:r>
                  <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盐</a:t>
                </a:r>
                <a:endPar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nSpc>
                    <a:spcPct val="80000"/>
                  </a:lnSpc>
                  <a:spcBef>
                    <a:spcPts val="0"/>
                  </a:spcBef>
                  <a:spcAft>
                    <a:spcPts val="0"/>
                  </a:spcAft>
                </a:pPr>
                <a:r>
                  <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酸</a:t>
                </a:r>
                <a:endParaRPr lang="zh-CN"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文本框 16"/>
              <p:cNvSpPr txBox="1"/>
              <p:nvPr/>
            </p:nvSpPr>
            <p:spPr>
              <a:xfrm>
                <a:off x="13832" y="8793"/>
                <a:ext cx="2256" cy="484"/>
              </a:xfrm>
              <a:prstGeom prst="rect">
                <a:avLst/>
              </a:prstGeom>
              <a:solidFill>
                <a:schemeClr val="bg1"/>
              </a:solidFill>
            </p:spPr>
            <p:txBody>
              <a:bodyPr wrap="none" lIns="0" tIns="0" rIns="0" bIns="0"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                 C</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
          <p:nvSpPr>
            <p:cNvPr id="3" name="文本框 2"/>
            <p:cNvSpPr txBox="1"/>
            <p:nvPr/>
          </p:nvSpPr>
          <p:spPr>
            <a:xfrm>
              <a:off x="12707" y="4851"/>
              <a:ext cx="289" cy="484"/>
            </a:xfrm>
            <a:prstGeom prst="rect">
              <a:avLst/>
            </a:prstGeom>
            <a:solidFill>
              <a:schemeClr val="bg1"/>
            </a:solidFill>
          </p:spPr>
          <p:txBody>
            <a:bodyPr wrap="none" lIns="0" tIns="0" rIns="0" bIns="0"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Tree>
    <p:custDataLst>
      <p:tags r:id="rId4"/>
    </p:custData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931545"/>
            <a:ext cx="11051540" cy="473710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 3】按图2所示装置进行实验。</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步骤③</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产生沉淀</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的现象仍不足以证明</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与NaOH 发生了化学反应，理由是</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lang="zh-CN"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(5)</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步骤④中，若观察到</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填</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现象</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，证明CO</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与NaOH 发生了化学反应。</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8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与 NaOH 反应的化学方程式为</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alt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alt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915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→范例剖析</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18" name="组合 17"/>
          <p:cNvGrpSpPr/>
          <p:nvPr/>
        </p:nvGrpSpPr>
        <p:grpSpPr>
          <a:xfrm>
            <a:off x="7129145" y="1136015"/>
            <a:ext cx="4264025" cy="3599180"/>
            <a:chOff x="10576" y="3665"/>
            <a:chExt cx="6715" cy="5668"/>
          </a:xfrm>
        </p:grpSpPr>
        <p:pic>
          <p:nvPicPr>
            <p:cNvPr id="4" name="图片 3"/>
            <p:cNvPicPr>
              <a:picLocks noChangeAspect="1"/>
            </p:cNvPicPr>
            <p:nvPr/>
          </p:nvPicPr>
          <p:blipFill>
            <a:blip r:embed="rId3"/>
            <a:stretch>
              <a:fillRect/>
            </a:stretch>
          </p:blipFill>
          <p:spPr>
            <a:xfrm>
              <a:off x="10789" y="3665"/>
              <a:ext cx="6503" cy="5669"/>
            </a:xfrm>
            <a:prstGeom prst="rect">
              <a:avLst/>
            </a:prstGeom>
          </p:spPr>
        </p:pic>
        <p:sp>
          <p:nvSpPr>
            <p:cNvPr id="10" name="文本框 9"/>
            <p:cNvSpPr txBox="1"/>
            <p:nvPr/>
          </p:nvSpPr>
          <p:spPr>
            <a:xfrm>
              <a:off x="10576" y="4029"/>
              <a:ext cx="1168" cy="1260"/>
            </a:xfrm>
            <a:prstGeom prst="rect">
              <a:avLst/>
            </a:prstGeom>
            <a:solidFill>
              <a:schemeClr val="bg1"/>
            </a:solidFill>
          </p:spPr>
          <p:txBody>
            <a:bodyPr wrap="none" lIns="36195" tIns="0" rIns="0" bIns="0" rtlCol="0" anchor="t">
              <a:spAutoFit/>
            </a:bodyPr>
            <a:p>
              <a:pPr algn="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80000"/>
                </a:lnSpc>
                <a:spcBef>
                  <a:spcPts val="0"/>
                </a:spcBef>
                <a:spcAft>
                  <a:spcPts val="0"/>
                </a:spcAft>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NaOH</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r">
                <a:lnSpc>
                  <a:spcPct val="80000"/>
                </a:lnSpc>
                <a:spcBef>
                  <a:spcPts val="0"/>
                </a:spcBef>
                <a:spcAft>
                  <a:spcPts val="0"/>
                </a:spcAft>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1" name="文本框 10"/>
            <p:cNvSpPr txBox="1"/>
            <p:nvPr/>
          </p:nvSpPr>
          <p:spPr>
            <a:xfrm>
              <a:off x="10873" y="6218"/>
              <a:ext cx="730" cy="541"/>
            </a:xfrm>
            <a:prstGeom prst="rect">
              <a:avLst/>
            </a:prstGeom>
            <a:solidFill>
              <a:schemeClr val="bg1"/>
            </a:solidFill>
          </p:spPr>
          <p:txBody>
            <a:bodyPr wrap="none" lIns="0" tIns="0" rIns="0" bIns="36195"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2" name="文本框 11"/>
            <p:cNvSpPr txBox="1"/>
            <p:nvPr/>
          </p:nvSpPr>
          <p:spPr>
            <a:xfrm>
              <a:off x="11328" y="8118"/>
              <a:ext cx="1953" cy="929"/>
            </a:xfrm>
            <a:prstGeom prst="rect">
              <a:avLst/>
            </a:prstGeom>
            <a:solidFill>
              <a:schemeClr val="bg1"/>
            </a:solidFill>
          </p:spPr>
          <p:txBody>
            <a:bodyPr wrap="none" lIns="0" tIns="0" rIns="0" bIns="36195" rtlCol="0" anchor="t">
              <a:spAutoFit/>
            </a:bodyPr>
            <a:p>
              <a:pPr algn="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含酚酞的</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8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CaCl</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3" name="文本框 12"/>
            <p:cNvSpPr txBox="1"/>
            <p:nvPr/>
          </p:nvSpPr>
          <p:spPr>
            <a:xfrm>
              <a:off x="13227" y="6281"/>
              <a:ext cx="441" cy="541"/>
            </a:xfrm>
            <a:prstGeom prst="rect">
              <a:avLst/>
            </a:prstGeom>
            <a:solidFill>
              <a:schemeClr val="bg1"/>
            </a:solidFill>
          </p:spPr>
          <p:txBody>
            <a:bodyPr wrap="none" lIns="0" tIns="0" rIns="0" bIns="36195"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4" name="文本框 13"/>
            <p:cNvSpPr txBox="1"/>
            <p:nvPr/>
          </p:nvSpPr>
          <p:spPr>
            <a:xfrm>
              <a:off x="15109" y="6281"/>
              <a:ext cx="441" cy="541"/>
            </a:xfrm>
            <a:prstGeom prst="rect">
              <a:avLst/>
            </a:prstGeom>
            <a:solidFill>
              <a:schemeClr val="bg1"/>
            </a:solidFill>
          </p:spPr>
          <p:txBody>
            <a:bodyPr wrap="none" lIns="0" tIns="0" rIns="0" bIns="36195"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5" name="文本框 14"/>
            <p:cNvSpPr txBox="1"/>
            <p:nvPr/>
          </p:nvSpPr>
          <p:spPr>
            <a:xfrm>
              <a:off x="16656" y="8103"/>
              <a:ext cx="402" cy="929"/>
            </a:xfrm>
            <a:prstGeom prst="rect">
              <a:avLst/>
            </a:prstGeom>
            <a:solidFill>
              <a:schemeClr val="bg1"/>
            </a:solidFill>
          </p:spPr>
          <p:txBody>
            <a:bodyPr wrap="none" lIns="0" tIns="0" rIns="0" bIns="36195" rtlCol="0" anchor="t">
              <a:spAutoFit/>
            </a:bodyPr>
            <a:p>
              <a:r>
                <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盐</a:t>
              </a:r>
              <a:endPar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nSpc>
                  <a:spcPct val="80000"/>
                </a:lnSpc>
                <a:spcBef>
                  <a:spcPts val="0"/>
                </a:spcBef>
                <a:spcAft>
                  <a:spcPts val="0"/>
                </a:spcAft>
              </a:pPr>
              <a:r>
                <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酸</a:t>
              </a:r>
              <a:endParaRPr lang="zh-CN"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文本框 16"/>
            <p:cNvSpPr txBox="1"/>
            <p:nvPr/>
          </p:nvSpPr>
          <p:spPr>
            <a:xfrm>
              <a:off x="13832" y="8793"/>
              <a:ext cx="2256" cy="484"/>
            </a:xfrm>
            <a:prstGeom prst="rect">
              <a:avLst/>
            </a:prstGeom>
            <a:solidFill>
              <a:schemeClr val="bg1"/>
            </a:solidFill>
          </p:spPr>
          <p:txBody>
            <a:bodyPr wrap="none" lIns="0" tIns="0" rIns="0" bIns="0"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                 C</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Tree>
    <p:custDataLst>
      <p:tags r:id="rId4"/>
    </p:custData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931545"/>
            <a:ext cx="11051540" cy="516064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lang="zh-CN" sz="2500" b="1">
                <a:ln>
                  <a:noFill/>
                </a:ln>
                <a:solidFill>
                  <a:srgbClr val="0E0EE4"/>
                </a:solidFill>
                <a:effectLst/>
                <a:uFillTx/>
                <a:latin typeface="幼圆" panose="02010509060101010101" charset="-122"/>
                <a:ea typeface="幼圆" panose="02010509060101010101" charset="-122"/>
                <a:cs typeface="Times New Roman" panose="02020603050405020304" pitchFamily="18" charset="0"/>
                <a:sym typeface="Arial" panose="020B0604020202090204"/>
              </a:rPr>
              <a:t>例</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【2020·孝感】线上化学课堂中，老师演示了</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吹气生</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火</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实验，他向包有</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过氧化钠</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kumimoji="0"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粉末的脱脂棉上用导管吹气，脱脂棉燃烧了起来。同学们对该实验产生了浓厚兴趣，进行了如下探究。</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探究一</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脱脂棉燃烧的原因。</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【作出猜想】根据燃烧条件分析</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①脱脂棉是可燃物</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②吹出的气体可能与过氧化钠反应生成了氧气</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③反应放出热量，满足了温度达</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到脱脂棉的</a:t>
            </a:r>
            <a:r>
              <a:rPr sz="2500" b="1"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915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→范例剖析</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931545"/>
            <a:ext cx="11051540" cy="516064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【进行实验】在如图所示装置中，向过氧化</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钠</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粉末中不断</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吹</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气，观察到过氧化</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钠粉末由淡</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黄</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色逐渐变为</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白</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色，在导管口P处放置</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，本条复燃，说明试管内生成了</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氧气。同时还观察到</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说</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明反应还</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放出了热量</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【得出结论】吹出的气体与过氧化钠反应生成了</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氧气，同时放出热量，满足了脱脂棉燃烧的条件</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探究二</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试管内残留白色固体的成分。</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91510"/>
            <a:ext cx="3319690" cy="545375"/>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范例剖析</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12" name="组合 11"/>
          <p:cNvGrpSpPr/>
          <p:nvPr/>
        </p:nvGrpSpPr>
        <p:grpSpPr>
          <a:xfrm>
            <a:off x="8032750" y="1571625"/>
            <a:ext cx="3312160" cy="3714750"/>
            <a:chOff x="12286" y="2785"/>
            <a:chExt cx="5216" cy="5850"/>
          </a:xfrm>
        </p:grpSpPr>
        <p:pic>
          <p:nvPicPr>
            <p:cNvPr id="4" name="图片 3" descr="360截图1782110710111685"/>
            <p:cNvPicPr>
              <a:picLocks noChangeAspect="1"/>
            </p:cNvPicPr>
            <p:nvPr/>
          </p:nvPicPr>
          <p:blipFill>
            <a:blip r:embed="rId3"/>
            <a:stretch>
              <a:fillRect/>
            </a:stretch>
          </p:blipFill>
          <p:spPr>
            <a:xfrm>
              <a:off x="12286" y="2785"/>
              <a:ext cx="5216" cy="5851"/>
            </a:xfrm>
            <a:prstGeom prst="rect">
              <a:avLst/>
            </a:prstGeom>
          </p:spPr>
        </p:pic>
        <p:sp>
          <p:nvSpPr>
            <p:cNvPr id="7" name="文本框 6"/>
            <p:cNvSpPr txBox="1"/>
            <p:nvPr/>
          </p:nvSpPr>
          <p:spPr>
            <a:xfrm>
              <a:off x="14972" y="4425"/>
              <a:ext cx="244" cy="541"/>
            </a:xfrm>
            <a:prstGeom prst="rect">
              <a:avLst/>
            </a:prstGeom>
            <a:solidFill>
              <a:schemeClr val="bg1"/>
            </a:solidFill>
          </p:spPr>
          <p:txBody>
            <a:bodyPr wrap="none" lIns="0" tIns="0" rIns="0" bIns="36195"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P</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nvGrpSpPr>
            <p:cNvPr id="11" name="组合 10"/>
            <p:cNvGrpSpPr/>
            <p:nvPr/>
          </p:nvGrpSpPr>
          <p:grpSpPr>
            <a:xfrm>
              <a:off x="12531" y="2837"/>
              <a:ext cx="4793" cy="5197"/>
              <a:chOff x="12531" y="2837"/>
              <a:chExt cx="4793" cy="5197"/>
            </a:xfrm>
          </p:grpSpPr>
          <p:sp>
            <p:nvSpPr>
              <p:cNvPr id="13" name="文本框 12"/>
              <p:cNvSpPr txBox="1"/>
              <p:nvPr/>
            </p:nvSpPr>
            <p:spPr>
              <a:xfrm>
                <a:off x="14034" y="2837"/>
                <a:ext cx="1206" cy="484"/>
              </a:xfrm>
              <a:prstGeom prst="rect">
                <a:avLst/>
              </a:prstGeom>
              <a:solidFill>
                <a:schemeClr val="bg1"/>
              </a:solidFill>
            </p:spPr>
            <p:txBody>
              <a:bodyPr wrap="none" lIns="0" tIns="0" rIns="0" bIns="0" rtlCol="0" anchor="t">
                <a:spAutoFit/>
              </a:bodyPr>
              <a:p>
                <a:pPr algn="l"/>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呼吸口</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6" name="文本框 5"/>
              <p:cNvSpPr txBox="1"/>
              <p:nvPr/>
            </p:nvSpPr>
            <p:spPr>
              <a:xfrm>
                <a:off x="13383" y="3962"/>
                <a:ext cx="311" cy="541"/>
              </a:xfrm>
              <a:prstGeom prst="rect">
                <a:avLst/>
              </a:prstGeom>
              <a:solidFill>
                <a:schemeClr val="bg1"/>
              </a:solidFill>
            </p:spPr>
            <p:txBody>
              <a:bodyPr wrap="none" lIns="0" tIns="0" rIns="0" bIns="36195" rtlCol="0" anchor="t">
                <a:spAutoFit/>
              </a:bodyPr>
              <a:p>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8" name="文本框 7"/>
              <p:cNvSpPr txBox="1"/>
              <p:nvPr/>
            </p:nvSpPr>
            <p:spPr>
              <a:xfrm>
                <a:off x="12531" y="6594"/>
                <a:ext cx="1060" cy="484"/>
              </a:xfrm>
              <a:prstGeom prst="rect">
                <a:avLst/>
              </a:prstGeom>
              <a:solidFill>
                <a:schemeClr val="bg1"/>
              </a:solidFill>
            </p:spPr>
            <p:txBody>
              <a:bodyPr wrap="none" lIns="0" tIns="0" rIns="0" bIns="0" rtlCol="0" anchor="t">
                <a:spAutoFit/>
              </a:bodyPr>
              <a:p>
                <a:pPr algn="l"/>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9" name="文本框 8"/>
              <p:cNvSpPr txBox="1"/>
              <p:nvPr/>
            </p:nvSpPr>
            <p:spPr>
              <a:xfrm>
                <a:off x="14668" y="5416"/>
                <a:ext cx="1206" cy="484"/>
              </a:xfrm>
              <a:prstGeom prst="rect">
                <a:avLst/>
              </a:prstGeom>
              <a:solidFill>
                <a:schemeClr val="bg1"/>
              </a:solidFill>
            </p:spPr>
            <p:txBody>
              <a:bodyPr wrap="none" lIns="0" tIns="0" rIns="0" bIns="0" rtlCol="0" anchor="t">
                <a:spAutoFit/>
              </a:bodyPr>
              <a:p>
                <a:pPr algn="l"/>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吸滤瓶</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0" name="文本框 9"/>
              <p:cNvSpPr txBox="1"/>
              <p:nvPr/>
            </p:nvSpPr>
            <p:spPr>
              <a:xfrm>
                <a:off x="16572" y="7550"/>
                <a:ext cx="752" cy="484"/>
              </a:xfrm>
              <a:prstGeom prst="rect">
                <a:avLst/>
              </a:prstGeom>
              <a:solidFill>
                <a:schemeClr val="bg1"/>
              </a:solidFill>
            </p:spPr>
            <p:txBody>
              <a:bodyPr wrap="none" lIns="0" tIns="0" rIns="0" bIns="0" rtlCol="0" anchor="t">
                <a:spAutoFit/>
              </a:bodyPr>
              <a:p>
                <a:pPr algn="l"/>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H</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grpSp>
    </p:spTree>
    <p:custDataLst>
      <p:tags r:id="rId4"/>
    </p:custData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4"/>
          <p:cNvSpPr>
            <a:spLocks noGrp="1"/>
          </p:cNvSpPr>
          <p:nvPr>
            <p:custDataLst>
              <p:tags r:id="rId1"/>
            </p:custDataLst>
          </p:nvPr>
        </p:nvSpPr>
        <p:spPr>
          <a:xfrm>
            <a:off x="523240" y="126412"/>
            <a:ext cx="3319686" cy="545371"/>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范例剖析</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aphicFrame>
        <p:nvGraphicFramePr>
          <p:cNvPr id="3" name="表格 2"/>
          <p:cNvGraphicFramePr/>
          <p:nvPr>
            <p:custDataLst>
              <p:tags r:id="rId2"/>
            </p:custDataLst>
          </p:nvPr>
        </p:nvGraphicFramePr>
        <p:xfrm>
          <a:off x="523240" y="759147"/>
          <a:ext cx="11277600" cy="5532420"/>
        </p:xfrm>
        <a:graphic>
          <a:graphicData uri="http://schemas.openxmlformats.org/drawingml/2006/table">
            <a:tbl>
              <a:tblPr firstRow="1" bandRow="1">
                <a:tableStyleId>{5C22544A-7EE6-4342-B048-85BDC9FD1C3A}</a:tableStyleId>
              </a:tblPr>
              <a:tblGrid>
                <a:gridCol w="5882640"/>
                <a:gridCol w="2207260"/>
                <a:gridCol w="3187700"/>
              </a:tblGrid>
              <a:tr h="2705100">
                <a:tc gridSpan="3">
                  <a:txBody>
                    <a:bodyPr/>
                    <a:p>
                      <a:pPr indent="0" algn="l">
                        <a:lnSpc>
                          <a:spcPct val="120000"/>
                        </a:lnSpc>
                        <a:spcBef>
                          <a:spcPts val="0"/>
                        </a:spcBef>
                        <a:spcAft>
                          <a:spcPts val="0"/>
                        </a:spcAft>
                        <a:buNone/>
                      </a:pPr>
                      <a:r>
                        <a:rPr lang="zh-CN" altLang="en-US" sz="2400" b="0">
                          <a:solidFill>
                            <a:srgbClr val="646464"/>
                          </a:solidFill>
                          <a:uFillTx/>
                          <a:latin typeface="Times New Roman" panose="02020603050405020304" pitchFamily="18" charset="0"/>
                          <a:ea typeface="方正粗黑宋简体" panose="02000000000000000000" pitchFamily="2" charset="-122"/>
                        </a:rPr>
                        <a:t>【查阅资料】①吹出的气体主要成分有氮气、二氧化碳和水蒸气；</a:t>
                      </a:r>
                      <a:endParaRPr lang="zh-CN" altLang="en-US" sz="2400" b="0">
                        <a:solidFill>
                          <a:srgbClr val="646464"/>
                        </a:solidFill>
                        <a:uFillTx/>
                        <a:latin typeface="Times New Roman" panose="02020603050405020304" pitchFamily="18" charset="0"/>
                        <a:ea typeface="方正粗黑宋简体" panose="02000000000000000000" pitchFamily="2" charset="-122"/>
                      </a:endParaRPr>
                    </a:p>
                    <a:p>
                      <a:pPr indent="0" algn="l">
                        <a:lnSpc>
                          <a:spcPct val="120000"/>
                        </a:lnSpc>
                        <a:spcBef>
                          <a:spcPts val="0"/>
                        </a:spcBef>
                        <a:spcAft>
                          <a:spcPts val="0"/>
                        </a:spcAft>
                        <a:buNone/>
                      </a:pPr>
                      <a:r>
                        <a:rPr lang="zh-CN" altLang="en-US" sz="2400" b="0">
                          <a:solidFill>
                            <a:srgbClr val="646464"/>
                          </a:solidFill>
                          <a:uFillTx/>
                          <a:latin typeface="Times New Roman" panose="02020603050405020304" pitchFamily="18" charset="0"/>
                          <a:ea typeface="方正粗黑宋简体" panose="02000000000000000000" pitchFamily="2" charset="-122"/>
                        </a:rPr>
                        <a:t>                        ②过氧化钠与氮气不反应</a:t>
                      </a:r>
                      <a:endParaRPr lang="zh-CN" altLang="en-US" sz="2400" b="0">
                        <a:solidFill>
                          <a:srgbClr val="646464"/>
                        </a:solidFill>
                        <a:uFillTx/>
                        <a:latin typeface="Times New Roman" panose="02020603050405020304" pitchFamily="18" charset="0"/>
                        <a:ea typeface="方正粗黑宋简体" panose="02000000000000000000" pitchFamily="2" charset="-122"/>
                      </a:endParaRPr>
                    </a:p>
                    <a:p>
                      <a:pPr indent="0" algn="l">
                        <a:lnSpc>
                          <a:spcPct val="120000"/>
                        </a:lnSpc>
                        <a:spcBef>
                          <a:spcPts val="0"/>
                        </a:spcBef>
                        <a:spcAft>
                          <a:spcPts val="0"/>
                        </a:spcAft>
                        <a:buNone/>
                      </a:pPr>
                      <a:r>
                        <a:rPr lang="zh-CN" altLang="en-US" sz="2400" b="0">
                          <a:solidFill>
                            <a:srgbClr val="646464"/>
                          </a:solidFill>
                          <a:uFillTx/>
                          <a:latin typeface="Times New Roman" panose="02020603050405020304" pitchFamily="18" charset="0"/>
                          <a:ea typeface="方正粗黑宋简体" panose="02000000000000000000" pitchFamily="2" charset="-122"/>
                        </a:rPr>
                        <a:t>【作出猜想】猜想1：CO</a:t>
                      </a:r>
                      <a:r>
                        <a:rPr lang="zh-CN" altLang="en-US" sz="2400" b="0" baseline="-25000">
                          <a:solidFill>
                            <a:srgbClr val="646464"/>
                          </a:solidFill>
                          <a:uFillTx/>
                          <a:latin typeface="Times New Roman" panose="02020603050405020304" pitchFamily="18" charset="0"/>
                          <a:ea typeface="方正粗黑宋简体" panose="02000000000000000000" pitchFamily="2" charset="-122"/>
                        </a:rPr>
                        <a:t>2</a:t>
                      </a:r>
                      <a:r>
                        <a:rPr lang="zh-CN" altLang="en-US" sz="2400" b="0">
                          <a:solidFill>
                            <a:srgbClr val="646464"/>
                          </a:solidFill>
                          <a:uFillTx/>
                          <a:latin typeface="Times New Roman" panose="02020603050405020304" pitchFamily="18" charset="0"/>
                          <a:ea typeface="方正粗黑宋简体" panose="02000000000000000000" pitchFamily="2" charset="-122"/>
                        </a:rPr>
                        <a:t>参加反应，固体成分是Na</a:t>
                      </a:r>
                      <a:r>
                        <a:rPr lang="zh-CN" altLang="en-US" sz="2400" b="0" baseline="-25000">
                          <a:solidFill>
                            <a:srgbClr val="646464"/>
                          </a:solidFill>
                          <a:uFillTx/>
                          <a:latin typeface="Times New Roman" panose="02020603050405020304" pitchFamily="18" charset="0"/>
                          <a:ea typeface="方正粗黑宋简体" panose="02000000000000000000" pitchFamily="2" charset="-122"/>
                        </a:rPr>
                        <a:t>2</a:t>
                      </a:r>
                      <a:r>
                        <a:rPr lang="zh-CN" altLang="en-US" sz="2400" b="0">
                          <a:solidFill>
                            <a:srgbClr val="646464"/>
                          </a:solidFill>
                          <a:uFillTx/>
                          <a:latin typeface="Times New Roman" panose="02020603050405020304" pitchFamily="18" charset="0"/>
                          <a:ea typeface="方正粗黑宋简体" panose="02000000000000000000" pitchFamily="2" charset="-122"/>
                        </a:rPr>
                        <a:t>CO</a:t>
                      </a:r>
                      <a:r>
                        <a:rPr lang="zh-CN" altLang="en-US" sz="2400" b="0" baseline="-25000">
                          <a:solidFill>
                            <a:srgbClr val="646464"/>
                          </a:solidFill>
                          <a:uFillTx/>
                          <a:latin typeface="Times New Roman" panose="02020603050405020304" pitchFamily="18" charset="0"/>
                          <a:ea typeface="方正粗黑宋简体" panose="02000000000000000000" pitchFamily="2" charset="-122"/>
                        </a:rPr>
                        <a:t>3</a:t>
                      </a:r>
                      <a:r>
                        <a:rPr lang="zh-CN" altLang="en-US" sz="2400" b="0">
                          <a:solidFill>
                            <a:srgbClr val="646464"/>
                          </a:solidFill>
                          <a:uFillTx/>
                          <a:latin typeface="Times New Roman" panose="02020603050405020304" pitchFamily="18" charset="0"/>
                          <a:ea typeface="方正粗黑宋简体" panose="02000000000000000000" pitchFamily="2" charset="-122"/>
                        </a:rPr>
                        <a:t>；</a:t>
                      </a:r>
                      <a:endParaRPr lang="zh-CN" altLang="en-US" sz="2400" b="0">
                        <a:solidFill>
                          <a:srgbClr val="646464"/>
                        </a:solidFill>
                        <a:uFillTx/>
                        <a:latin typeface="Times New Roman" panose="02020603050405020304" pitchFamily="18" charset="0"/>
                        <a:ea typeface="方正粗黑宋简体" panose="02000000000000000000" pitchFamily="2" charset="-122"/>
                      </a:endParaRPr>
                    </a:p>
                    <a:p>
                      <a:pPr indent="0" algn="l">
                        <a:lnSpc>
                          <a:spcPct val="120000"/>
                        </a:lnSpc>
                        <a:spcBef>
                          <a:spcPts val="0"/>
                        </a:spcBef>
                        <a:spcAft>
                          <a:spcPts val="0"/>
                        </a:spcAft>
                        <a:buNone/>
                      </a:pPr>
                      <a:r>
                        <a:rPr lang="zh-CN" altLang="en-US" sz="2400" b="0">
                          <a:solidFill>
                            <a:srgbClr val="646464"/>
                          </a:solidFill>
                          <a:uFillTx/>
                          <a:latin typeface="Times New Roman" panose="02020603050405020304" pitchFamily="18" charset="0"/>
                          <a:ea typeface="方正粗黑宋简体" panose="02000000000000000000" pitchFamily="2" charset="-122"/>
                        </a:rPr>
                        <a:t>                        猜想2：H</a:t>
                      </a:r>
                      <a:r>
                        <a:rPr lang="zh-CN" altLang="en-US" sz="2400" b="0" baseline="-25000">
                          <a:solidFill>
                            <a:srgbClr val="646464"/>
                          </a:solidFill>
                          <a:uFillTx/>
                          <a:latin typeface="Times New Roman" panose="02020603050405020304" pitchFamily="18" charset="0"/>
                          <a:ea typeface="方正粗黑宋简体" panose="02000000000000000000" pitchFamily="2" charset="-122"/>
                        </a:rPr>
                        <a:t>2</a:t>
                      </a:r>
                      <a:r>
                        <a:rPr lang="zh-CN" altLang="en-US" sz="2400" b="0">
                          <a:solidFill>
                            <a:srgbClr val="646464"/>
                          </a:solidFill>
                          <a:uFillTx/>
                          <a:latin typeface="Times New Roman" panose="02020603050405020304" pitchFamily="18" charset="0"/>
                          <a:ea typeface="方正粗黑宋简体" panose="02000000000000000000" pitchFamily="2" charset="-122"/>
                        </a:rPr>
                        <a:t>O参加反应，固体成分是NaOH；</a:t>
                      </a:r>
                      <a:endParaRPr lang="zh-CN" altLang="en-US" sz="2400" b="0">
                        <a:solidFill>
                          <a:srgbClr val="646464"/>
                        </a:solidFill>
                        <a:uFillTx/>
                        <a:latin typeface="Times New Roman" panose="02020603050405020304" pitchFamily="18" charset="0"/>
                        <a:ea typeface="方正粗黑宋简体" panose="02000000000000000000" pitchFamily="2" charset="-122"/>
                      </a:endParaRPr>
                    </a:p>
                    <a:p>
                      <a:pPr indent="0" algn="l">
                        <a:lnSpc>
                          <a:spcPct val="120000"/>
                        </a:lnSpc>
                        <a:spcBef>
                          <a:spcPts val="0"/>
                        </a:spcBef>
                        <a:spcAft>
                          <a:spcPts val="0"/>
                        </a:spcAft>
                        <a:buNone/>
                      </a:pPr>
                      <a:r>
                        <a:rPr lang="zh-CN" altLang="en-US" sz="2400" b="0">
                          <a:solidFill>
                            <a:srgbClr val="646464"/>
                          </a:solidFill>
                          <a:uFillTx/>
                          <a:latin typeface="Times New Roman" panose="02020603050405020304" pitchFamily="18" charset="0"/>
                          <a:ea typeface="方正粗黑宋简体" panose="02000000000000000000" pitchFamily="2" charset="-122"/>
                        </a:rPr>
                        <a:t>                        猜想3：CO</a:t>
                      </a:r>
                      <a:r>
                        <a:rPr lang="zh-CN" altLang="en-US" sz="2400" b="0" baseline="-25000">
                          <a:solidFill>
                            <a:srgbClr val="646464"/>
                          </a:solidFill>
                          <a:uFillTx/>
                          <a:latin typeface="Times New Roman" panose="02020603050405020304" pitchFamily="18" charset="0"/>
                          <a:ea typeface="方正粗黑宋简体" panose="02000000000000000000" pitchFamily="2" charset="-122"/>
                        </a:rPr>
                        <a:t>2</a:t>
                      </a:r>
                      <a:r>
                        <a:rPr lang="zh-CN" altLang="en-US" sz="2400" b="0">
                          <a:solidFill>
                            <a:srgbClr val="646464"/>
                          </a:solidFill>
                          <a:uFillTx/>
                          <a:latin typeface="Times New Roman" panose="02020603050405020304" pitchFamily="18" charset="0"/>
                          <a:ea typeface="方正粗黑宋简体" panose="02000000000000000000" pitchFamily="2" charset="-122"/>
                        </a:rPr>
                        <a:t>和H</a:t>
                      </a:r>
                      <a:r>
                        <a:rPr lang="zh-CN" altLang="en-US" sz="2400" b="0" baseline="-25000">
                          <a:solidFill>
                            <a:srgbClr val="646464"/>
                          </a:solidFill>
                          <a:uFillTx/>
                          <a:latin typeface="Times New Roman" panose="02020603050405020304" pitchFamily="18" charset="0"/>
                          <a:ea typeface="方正粗黑宋简体" panose="02000000000000000000" pitchFamily="2" charset="-122"/>
                        </a:rPr>
                        <a:t>2</a:t>
                      </a:r>
                      <a:r>
                        <a:rPr lang="zh-CN" altLang="en-US" sz="2400" b="0">
                          <a:solidFill>
                            <a:srgbClr val="646464"/>
                          </a:solidFill>
                          <a:uFillTx/>
                          <a:latin typeface="Times New Roman" panose="02020603050405020304" pitchFamily="18" charset="0"/>
                          <a:ea typeface="方正粗黑宋简体" panose="02000000000000000000" pitchFamily="2" charset="-122"/>
                        </a:rPr>
                        <a:t>O均参加反应，固体成分是Na</a:t>
                      </a:r>
                      <a:r>
                        <a:rPr lang="zh-CN" altLang="en-US" sz="2400" b="0" baseline="-25000">
                          <a:solidFill>
                            <a:srgbClr val="646464"/>
                          </a:solidFill>
                          <a:uFillTx/>
                          <a:latin typeface="Times New Roman" panose="02020603050405020304" pitchFamily="18" charset="0"/>
                          <a:ea typeface="方正粗黑宋简体" panose="02000000000000000000" pitchFamily="2" charset="-122"/>
                        </a:rPr>
                        <a:t>2</a:t>
                      </a:r>
                      <a:r>
                        <a:rPr lang="zh-CN" altLang="en-US" sz="2400" b="0">
                          <a:solidFill>
                            <a:srgbClr val="646464"/>
                          </a:solidFill>
                          <a:uFillTx/>
                          <a:latin typeface="Times New Roman" panose="02020603050405020304" pitchFamily="18" charset="0"/>
                          <a:ea typeface="方正粗黑宋简体" panose="02000000000000000000" pitchFamily="2" charset="-122"/>
                        </a:rPr>
                        <a:t>CO</a:t>
                      </a:r>
                      <a:r>
                        <a:rPr lang="zh-CN" altLang="en-US" sz="2400" b="0" baseline="-25000">
                          <a:solidFill>
                            <a:srgbClr val="646464"/>
                          </a:solidFill>
                          <a:uFillTx/>
                          <a:latin typeface="Times New Roman" panose="02020603050405020304" pitchFamily="18" charset="0"/>
                          <a:ea typeface="方正粗黑宋简体" panose="02000000000000000000" pitchFamily="2" charset="-122"/>
                        </a:rPr>
                        <a:t>3</a:t>
                      </a:r>
                      <a:r>
                        <a:rPr lang="zh-CN" altLang="en-US" sz="2400" b="0">
                          <a:solidFill>
                            <a:srgbClr val="646464"/>
                          </a:solidFill>
                          <a:uFillTx/>
                          <a:latin typeface="Times New Roman" panose="02020603050405020304" pitchFamily="18" charset="0"/>
                          <a:ea typeface="方正粗黑宋简体" panose="02000000000000000000" pitchFamily="2" charset="-122"/>
                        </a:rPr>
                        <a:t>和NaOH。</a:t>
                      </a:r>
                      <a:endParaRPr lang="zh-CN" altLang="en-US" sz="2400" b="0">
                        <a:solidFill>
                          <a:srgbClr val="646464"/>
                        </a:solidFill>
                        <a:uFillTx/>
                        <a:latin typeface="Times New Roman" panose="02020603050405020304" pitchFamily="18" charset="0"/>
                        <a:ea typeface="方正粗黑宋简体" panose="02000000000000000000" pitchFamily="2" charset="-122"/>
                      </a:endParaRPr>
                    </a:p>
                    <a:p>
                      <a:pPr indent="0" algn="l">
                        <a:lnSpc>
                          <a:spcPct val="120000"/>
                        </a:lnSpc>
                        <a:spcBef>
                          <a:spcPts val="0"/>
                        </a:spcBef>
                        <a:spcAft>
                          <a:spcPts val="0"/>
                        </a:spcAft>
                        <a:buNone/>
                      </a:pPr>
                      <a:r>
                        <a:rPr lang="zh-CN" altLang="en-US" sz="2400" b="0">
                          <a:solidFill>
                            <a:srgbClr val="646464"/>
                          </a:solidFill>
                          <a:uFillTx/>
                          <a:latin typeface="Times New Roman" panose="02020603050405020304" pitchFamily="18" charset="0"/>
                          <a:ea typeface="方正粗黑宋简体" panose="02000000000000000000" pitchFamily="2" charset="-122"/>
                        </a:rPr>
                        <a:t>【实验验证】</a:t>
                      </a:r>
                      <a:endParaRPr lang="zh-CN" altLang="en-US" sz="2400" b="0">
                        <a:solidFill>
                          <a:srgbClr val="646464"/>
                        </a:solidFill>
                        <a:uFillTx/>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hMerge="1">
                  <a:tcPr marL="317500" marR="317500" marT="215900" marB="21590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hMerge="1">
                  <a:tcPr marL="317500" marR="317500" marT="215900" marB="21590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648000">
                <a:tc>
                  <a:txBody>
                    <a:bodyPr/>
                    <a:p>
                      <a:pPr indent="0" algn="ctr">
                        <a:lnSpc>
                          <a:spcPct val="120000"/>
                        </a:lnSpc>
                        <a:spcBef>
                          <a:spcPts val="0"/>
                        </a:spcBef>
                        <a:spcAft>
                          <a:spcPts val="0"/>
                        </a:spcAft>
                        <a:buNone/>
                      </a:pPr>
                      <a:r>
                        <a:rPr lang="zh-CN" altLang="en-US" sz="2400" b="1">
                          <a:solidFill>
                            <a:srgbClr val="646464"/>
                          </a:solidFill>
                          <a:latin typeface="Times New Roman" panose="02020603050405020304" pitchFamily="18" charset="0"/>
                          <a:ea typeface="方正粗黑宋简体" panose="02000000000000000000" pitchFamily="2" charset="-122"/>
                        </a:rPr>
                        <a:t>实验步骤</a:t>
                      </a:r>
                      <a:endParaRPr lang="zh-CN" altLang="en-US" sz="2400" b="1">
                        <a:solidFill>
                          <a:srgbClr val="646464"/>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zh-CN" altLang="en-US" sz="2400" b="1">
                          <a:solidFill>
                            <a:srgbClr val="646464"/>
                          </a:solidFill>
                          <a:latin typeface="Times New Roman" panose="02020603050405020304" pitchFamily="18" charset="0"/>
                          <a:ea typeface="方正粗黑宋简体" panose="02000000000000000000" pitchFamily="2" charset="-122"/>
                        </a:rPr>
                        <a:t>实验现象</a:t>
                      </a:r>
                      <a:endParaRPr lang="zh-CN" altLang="en-US" sz="2400" b="1">
                        <a:solidFill>
                          <a:srgbClr val="646464"/>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buNone/>
                      </a:pPr>
                      <a:r>
                        <a:rPr lang="zh-CN" altLang="en-US" sz="2400" b="1">
                          <a:solidFill>
                            <a:srgbClr val="646464"/>
                          </a:solidFill>
                          <a:latin typeface="Times New Roman" panose="02020603050405020304" pitchFamily="18" charset="0"/>
                          <a:ea typeface="方正粗黑宋简体" panose="02000000000000000000" pitchFamily="2" charset="-122"/>
                        </a:rPr>
                        <a:t>实验结论</a:t>
                      </a:r>
                      <a:endParaRPr lang="zh-CN" altLang="en-US" sz="2400" b="1">
                        <a:solidFill>
                          <a:srgbClr val="646464"/>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1089660">
                <a:tc>
                  <a:txBody>
                    <a:bodyPr/>
                    <a:p>
                      <a:pPr indent="0" algn="l">
                        <a:lnSpc>
                          <a:spcPct val="120000"/>
                        </a:lnSpc>
                        <a:spcBef>
                          <a:spcPts val="0"/>
                        </a:spcBef>
                        <a:spcAft>
                          <a:spcPts val="0"/>
                        </a:spcAft>
                        <a:buNone/>
                      </a:pPr>
                      <a:r>
                        <a:rPr lang="zh-CN" altLang="en-US" sz="2400" b="0">
                          <a:solidFill>
                            <a:srgbClr val="646464"/>
                          </a:solidFill>
                          <a:latin typeface="Times New Roman" panose="02020603050405020304" pitchFamily="18" charset="0"/>
                          <a:ea typeface="方正粗黑宋简体" panose="02000000000000000000" pitchFamily="2" charset="-122"/>
                        </a:rPr>
                        <a:t>①取残留白色固体于试管中配成溶液，向其中加入足量的氯化钡溶液，静置</a:t>
                      </a:r>
                      <a:endParaRPr lang="zh-CN" altLang="en-US" sz="2400" b="0">
                        <a:solidFill>
                          <a:srgbClr val="646464"/>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p>
                      <a:pPr indent="0" algn="ctr">
                        <a:lnSpc>
                          <a:spcPct val="120000"/>
                        </a:lnSpc>
                        <a:spcBef>
                          <a:spcPts val="0"/>
                        </a:spcBef>
                        <a:spcAft>
                          <a:spcPts val="0"/>
                        </a:spcAft>
                        <a:buNone/>
                      </a:pPr>
                      <a:r>
                        <a:rPr lang="zh-CN" altLang="en-US" sz="2400" b="0">
                          <a:solidFill>
                            <a:srgbClr val="404040"/>
                          </a:solidFill>
                          <a:latin typeface="Times New Roman" panose="02020603050405020304" pitchFamily="18" charset="0"/>
                          <a:ea typeface="方正粗黑宋简体" panose="02000000000000000000" pitchFamily="2" charset="-122"/>
                        </a:rPr>
                        <a:t>产生白色沉淀</a:t>
                      </a:r>
                      <a:endParaRPr lang="zh-CN" altLang="en-US" sz="2400" b="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p>
                      <a:pPr indent="0" algn="l">
                        <a:lnSpc>
                          <a:spcPct val="120000"/>
                        </a:lnSpc>
                        <a:spcBef>
                          <a:spcPts val="0"/>
                        </a:spcBef>
                        <a:spcAft>
                          <a:spcPts val="0"/>
                        </a:spcAft>
                        <a:buNone/>
                      </a:pPr>
                      <a:r>
                        <a:rPr lang="zh-CN" altLang="en-US" sz="2400" b="0">
                          <a:solidFill>
                            <a:srgbClr val="404040"/>
                          </a:solidFill>
                          <a:latin typeface="Times New Roman" panose="02020603050405020304" pitchFamily="18" charset="0"/>
                          <a:ea typeface="方正粗黑宋简体" panose="02000000000000000000" pitchFamily="2" charset="-122"/>
                        </a:rPr>
                        <a:t>固体</a:t>
                      </a:r>
                      <a:r>
                        <a:rPr lang="zh-CN" altLang="en-US" sz="2400" b="0">
                          <a:solidFill>
                            <a:srgbClr val="404040"/>
                          </a:solidFill>
                          <a:uFillTx/>
                          <a:latin typeface="Times New Roman" panose="02020603050405020304" pitchFamily="18" charset="0"/>
                          <a:ea typeface="方正粗黑宋简体" panose="02000000000000000000" pitchFamily="2" charset="-122"/>
                        </a:rPr>
                        <a:t>成分含有</a:t>
                      </a:r>
                      <a:r>
                        <a:rPr lang="zh-CN" altLang="en-US" sz="2400" b="0">
                          <a:solidFill>
                            <a:srgbClr val="404040"/>
                          </a:solidFill>
                          <a:latin typeface="Times New Roman" panose="02020603050405020304" pitchFamily="18" charset="0"/>
                          <a:ea typeface="方正粗黑宋简体" panose="02000000000000000000" pitchFamily="2" charset="-122"/>
                        </a:rPr>
                        <a:t>碳酸钠</a:t>
                      </a:r>
                      <a:endParaRPr lang="zh-CN" altLang="en-US" sz="2400" b="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r>
              <a:tr h="1089660">
                <a:tc>
                  <a:txBody>
                    <a:bodyPr/>
                    <a:p>
                      <a:pPr indent="0" algn="l">
                        <a:lnSpc>
                          <a:spcPct val="120000"/>
                        </a:lnSpc>
                        <a:spcBef>
                          <a:spcPts val="0"/>
                        </a:spcBef>
                        <a:spcAft>
                          <a:spcPts val="0"/>
                        </a:spcAft>
                        <a:buNone/>
                      </a:pPr>
                      <a:r>
                        <a:rPr lang="zh-CN" altLang="en-US" sz="2400" b="0">
                          <a:solidFill>
                            <a:srgbClr val="646464"/>
                          </a:solidFill>
                          <a:latin typeface="Times New Roman" panose="02020603050405020304" pitchFamily="18" charset="0"/>
                          <a:ea typeface="方正粗黑宋简体" panose="02000000000000000000" pitchFamily="2" charset="-122"/>
                        </a:rPr>
                        <a:t>②取适量①的上层清液于试管中，向其中滴加</a:t>
                      </a:r>
                      <a:r>
                        <a:rPr lang="zh-CN" altLang="en-US" sz="2400" b="0">
                          <a:solidFill>
                            <a:srgbClr val="0E0EE4"/>
                          </a:solidFill>
                          <a:latin typeface="Times New Roman" panose="02020603050405020304" pitchFamily="18" charset="0"/>
                          <a:ea typeface="方正粗黑宋简体" panose="02000000000000000000" pitchFamily="2" charset="-122"/>
                        </a:rPr>
                        <a:t>少量氯化铜溶液</a:t>
                      </a:r>
                      <a:endParaRPr lang="zh-CN" altLang="en-US" sz="2400" b="0">
                        <a:solidFill>
                          <a:srgbClr val="0E0EE4"/>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2F2F2"/>
                    </a:solidFill>
                  </a:tcPr>
                </a:tc>
                <a:tc>
                  <a:txBody>
                    <a:bodyPr/>
                    <a:p>
                      <a:pPr indent="0" algn="ctr">
                        <a:lnSpc>
                          <a:spcPct val="120000"/>
                        </a:lnSpc>
                        <a:spcBef>
                          <a:spcPts val="0"/>
                        </a:spcBef>
                        <a:spcAft>
                          <a:spcPts val="0"/>
                        </a:spcAft>
                        <a:buNone/>
                      </a:pPr>
                      <a:r>
                        <a:rPr lang="zh-CN" altLang="en-US" sz="2400" b="0">
                          <a:solidFill>
                            <a:srgbClr val="404040"/>
                          </a:solidFill>
                          <a:latin typeface="Times New Roman" panose="02020603050405020304" pitchFamily="18" charset="0"/>
                          <a:ea typeface="方正粗黑宋简体" panose="02000000000000000000" pitchFamily="2" charset="-122"/>
                        </a:rPr>
                        <a:t>产生蓝色沉淀</a:t>
                      </a:r>
                      <a:endParaRPr lang="zh-CN" altLang="en-US" sz="2400" b="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2F2F2"/>
                    </a:solidFill>
                  </a:tcPr>
                </a:tc>
                <a:tc>
                  <a:txBody>
                    <a:bodyPr/>
                    <a:p>
                      <a:pPr indent="0" algn="l">
                        <a:lnSpc>
                          <a:spcPct val="120000"/>
                        </a:lnSpc>
                        <a:spcBef>
                          <a:spcPts val="0"/>
                        </a:spcBef>
                        <a:spcAft>
                          <a:spcPts val="0"/>
                        </a:spcAft>
                        <a:buNone/>
                      </a:pPr>
                      <a:r>
                        <a:rPr lang="zh-CN" altLang="en-US"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固体成分含有</a:t>
                      </a:r>
                      <a:r>
                        <a:rPr lang="zh-CN" altLang="en-US" sz="2400" b="0" u="sng">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              </a:t>
                      </a:r>
                      <a:r>
                        <a:rPr lang="zh-CN" altLang="en-US"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a:t>
                      </a:r>
                      <a:endParaRPr lang="zh-CN" altLang="en-US"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endParaRPr>
                    </a:p>
                  </a:txBody>
                  <a:tcPr marL="36195" marR="36195" marT="36195" marB="36195"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2F2F2"/>
                    </a:solidFill>
                  </a:tcPr>
                </a:tc>
              </a:tr>
            </a:tbl>
          </a:graphicData>
        </a:graphic>
      </p:graphicFrame>
    </p:spTree>
    <p:custDataLst>
      <p:tags r:id="rId3"/>
    </p:custData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735330" y="1294765"/>
            <a:ext cx="10655300" cy="396748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【实验结论】过氧化钠与二氧化碳、水蒸气都能反应，猜想3正确。请写出过氧化钠与二氧化碳反应的化学方程式</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zh-CN"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【拓展延伸】化工厂存有过氧化钠时，一旦失火，不能选用</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填标号</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灭火。</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A.二氧化碳灭火器                    B.细沙                        </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水基型灭火器</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735330" y="654732"/>
            <a:ext cx="3319686" cy="545371"/>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范例剖析</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7546" y="234801"/>
            <a:ext cx="11586949" cy="2769870"/>
          </a:xfrm>
          <a:noFill/>
          <a:ln w="25400" cmpd="tri">
            <a:solidFill>
              <a:schemeClr val="tx1"/>
            </a:solidFill>
            <a:prstDash val="dashDot"/>
          </a:ln>
          <a:extLst>
            <a:ext uri="{909E8E84-426E-40DD-AFC4-6F175D3DCCD1}">
              <a14:hiddenFill xmlns:a14="http://schemas.microsoft.com/office/drawing/2010/main">
                <a:solidFill>
                  <a:schemeClr val="bg1">
                    <a:lumMod val="85000"/>
                  </a:schemeClr>
                </a:solidFill>
              </a14:hiddenFill>
            </a:ext>
          </a:extLst>
        </p:spPr>
        <p:txBody>
          <a:bodyPr wrap="square">
            <a:spAutoFit/>
          </a:bodyPr>
          <a:lstStyle/>
          <a:p>
            <a:pPr marL="0" indent="0" latinLnBrk="1">
              <a:lnSpc>
                <a:spcPct val="150000"/>
              </a:lnSpc>
              <a:spcAft>
                <a:spcPts val="0"/>
              </a:spcAft>
              <a:buNone/>
            </a:pPr>
            <a:r>
              <a:rPr lang="en-US" altLang="zh-CN" sz="2400" b="1" spc="0" dirty="0" smtClean="0">
                <a:solidFill>
                  <a:srgbClr val="0F1423"/>
                </a:solidFill>
                <a:uFillTx/>
                <a:latin typeface="Times New Roman" panose="02020603050405020304" pitchFamily="18" charset="0"/>
                <a:ea typeface="宋体" panose="02010600030101010101" pitchFamily="2" charset="-122"/>
              </a:rPr>
              <a:t>9.</a:t>
            </a:r>
            <a:r>
              <a:rPr lang="zh-CN" altLang="en-US" sz="2400" b="1" spc="0" dirty="0" smtClean="0">
                <a:solidFill>
                  <a:srgbClr val="0F1423"/>
                </a:solidFill>
                <a:uFillTx/>
                <a:latin typeface="Times New Roman" panose="02020603050405020304" pitchFamily="18" charset="0"/>
                <a:ea typeface="宋体" panose="02010600030101010101" pitchFamily="2" charset="-122"/>
              </a:rPr>
              <a:t>某同学设计了以下四个实验方案，理论上正确，操作上可行，经济上合理的是</a:t>
            </a:r>
            <a:r>
              <a:rPr lang="en-US" altLang="zh-CN" sz="2400" b="1" spc="0" dirty="0" smtClean="0">
                <a:solidFill>
                  <a:srgbClr val="0F1423"/>
                </a:solidFill>
                <a:uFillTx/>
                <a:latin typeface="Times New Roman" panose="02020603050405020304" pitchFamily="18" charset="0"/>
                <a:ea typeface="宋体" panose="02010600030101010101" pitchFamily="2" charset="-122"/>
              </a:rPr>
              <a:t>(</a:t>
            </a:r>
            <a:r>
              <a:rPr lang="zh-CN" altLang="en-US" sz="2400" b="1" spc="0" dirty="0" smtClean="0">
                <a:solidFill>
                  <a:srgbClr val="0F1423"/>
                </a:solidFill>
                <a:uFillTx/>
                <a:latin typeface="Times New Roman" panose="02020603050405020304" pitchFamily="18" charset="0"/>
                <a:ea typeface="宋体" panose="02010600030101010101" pitchFamily="2" charset="-122"/>
              </a:rPr>
              <a:t>　  </a:t>
            </a:r>
            <a:r>
              <a:rPr lang="en-US" altLang="zh-CN" sz="2400" b="1" spc="0" dirty="0" smtClean="0">
                <a:solidFill>
                  <a:srgbClr val="0F1423"/>
                </a:solidFill>
                <a:uFillTx/>
                <a:latin typeface="Times New Roman" panose="02020603050405020304" pitchFamily="18" charset="0"/>
                <a:ea typeface="宋体" panose="02010600030101010101" pitchFamily="2" charset="-122"/>
              </a:rPr>
              <a:t>)</a:t>
            </a:r>
            <a:endParaRPr lang="zh-CN" altLang="en-US" sz="24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50000"/>
              </a:lnSpc>
              <a:spcAft>
                <a:spcPts val="0"/>
              </a:spcAft>
              <a:buNone/>
            </a:pPr>
            <a:r>
              <a:rPr lang="en-US" altLang="zh-CN" sz="2400" b="1" spc="0" dirty="0" err="1" smtClean="0">
                <a:solidFill>
                  <a:srgbClr val="0F1423"/>
                </a:solidFill>
                <a:uFillTx/>
                <a:latin typeface="Times New Roman" panose="02020603050405020304" pitchFamily="18" charset="0"/>
                <a:ea typeface="宋体" panose="02010600030101010101" pitchFamily="2" charset="-122"/>
              </a:rPr>
              <a:t>    A.Cu</a:t>
            </a:r>
            <a:r>
              <a:rPr lang="en-US" altLang="zh-CN" sz="2400" b="1" spc="0" dirty="0" smtClean="0">
                <a:solidFill>
                  <a:srgbClr val="0F1423"/>
                </a:solidFill>
                <a:uFillTx/>
                <a:latin typeface="Times New Roman" panose="02020603050405020304" pitchFamily="18" charset="0"/>
                <a:ea typeface="宋体" panose="02010600030101010101" pitchFamily="2" charset="-122"/>
              </a:rPr>
              <a:t>              CuCl</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2                            </a:t>
            </a:r>
            <a:r>
              <a:rPr lang="en-US" altLang="zh-CN" sz="2400" b="1" spc="0" dirty="0" smtClean="0">
                <a:solidFill>
                  <a:srgbClr val="0F1423"/>
                </a:solidFill>
                <a:uFillTx/>
                <a:latin typeface="Times New Roman" panose="02020603050405020304" pitchFamily="18" charset="0"/>
                <a:ea typeface="宋体" panose="02010600030101010101" pitchFamily="2" charset="-122"/>
              </a:rPr>
              <a:t>Cu(OH)</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2</a:t>
            </a:r>
            <a:endParaRPr lang="en-US" altLang="zh-CN" sz="2400" b="1" spc="0" baseline="-2500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50000"/>
              </a:lnSpc>
              <a:spcAft>
                <a:spcPts val="0"/>
              </a:spcAft>
              <a:buNone/>
            </a:pPr>
            <a:r>
              <a:rPr lang="en-US" altLang="zh-CN" sz="2400" b="1" spc="0" dirty="0" smtClean="0">
                <a:solidFill>
                  <a:srgbClr val="0F1423"/>
                </a:solidFill>
                <a:uFillTx/>
                <a:latin typeface="Times New Roman" panose="02020603050405020304" pitchFamily="18" charset="0"/>
                <a:ea typeface="宋体" panose="02010600030101010101" pitchFamily="2" charset="-122"/>
              </a:rPr>
              <a:t>    B.H</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2</a:t>
            </a:r>
            <a:r>
              <a:rPr lang="en-US" altLang="zh-CN" sz="2400" b="1" spc="0" dirty="0" smtClean="0">
                <a:solidFill>
                  <a:srgbClr val="0F1423"/>
                </a:solidFill>
                <a:uFillTx/>
                <a:latin typeface="Times New Roman" panose="02020603050405020304" pitchFamily="18" charset="0"/>
                <a:ea typeface="宋体" panose="02010600030101010101" pitchFamily="2" charset="-122"/>
              </a:rPr>
              <a:t>O          O</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2            </a:t>
            </a:r>
            <a:r>
              <a:rPr lang="en-US" altLang="zh-CN" sz="2400" b="1" spc="0" dirty="0" err="1" smtClean="0">
                <a:solidFill>
                  <a:srgbClr val="0F1423"/>
                </a:solidFill>
                <a:uFillTx/>
                <a:latin typeface="Times New Roman" panose="02020603050405020304" pitchFamily="18" charset="0"/>
                <a:ea typeface="宋体" panose="02010600030101010101" pitchFamily="2" charset="-122"/>
              </a:rPr>
              <a:t>MgO</a:t>
            </a:r>
            <a:endParaRPr lang="en-US" altLang="zh-CN" sz="24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50000"/>
              </a:lnSpc>
              <a:spcAft>
                <a:spcPts val="0"/>
              </a:spcAft>
              <a:buNone/>
            </a:pPr>
            <a:r>
              <a:rPr lang="en-US" altLang="zh-CN" sz="2400" b="1" spc="0" dirty="0" smtClean="0">
                <a:solidFill>
                  <a:srgbClr val="0F1423"/>
                </a:solidFill>
                <a:uFillTx/>
                <a:latin typeface="Times New Roman" panose="02020603050405020304" pitchFamily="18" charset="0"/>
                <a:ea typeface="宋体" panose="02010600030101010101" pitchFamily="2" charset="-122"/>
              </a:rPr>
              <a:t>    C.CaCO</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3               </a:t>
            </a:r>
            <a:r>
              <a:rPr lang="en-US" altLang="zh-CN" sz="2400" b="1" spc="0" dirty="0" err="1" smtClean="0">
                <a:solidFill>
                  <a:srgbClr val="0F1423"/>
                </a:solidFill>
                <a:uFillTx/>
                <a:latin typeface="Times New Roman" panose="02020603050405020304" pitchFamily="18" charset="0"/>
                <a:ea typeface="宋体" panose="02010600030101010101" pitchFamily="2" charset="-122"/>
              </a:rPr>
              <a:t>CaO</a:t>
            </a:r>
            <a:r>
              <a:rPr lang="en-US" altLang="zh-CN" sz="2400" b="1" spc="0" dirty="0" smtClean="0">
                <a:solidFill>
                  <a:srgbClr val="0F1423"/>
                </a:solidFill>
                <a:uFillTx/>
                <a:latin typeface="Times New Roman" panose="02020603050405020304" pitchFamily="18" charset="0"/>
                <a:ea typeface="宋体" panose="02010600030101010101" pitchFamily="2" charset="-122"/>
              </a:rPr>
              <a:t>         Ca(OH)</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2    </a:t>
            </a:r>
            <a:r>
              <a:rPr lang="en-US" altLang="zh-CN" sz="2400" b="1" spc="0" dirty="0" smtClean="0">
                <a:solidFill>
                  <a:srgbClr val="0F1423"/>
                </a:solidFill>
                <a:uFillTx/>
                <a:latin typeface="Times New Roman" panose="02020603050405020304" pitchFamily="18" charset="0"/>
                <a:ea typeface="宋体" panose="02010600030101010101" pitchFamily="2" charset="-122"/>
              </a:rPr>
              <a:t>  </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               </a:t>
            </a:r>
            <a:r>
              <a:rPr lang="en-US" altLang="zh-CN" sz="2400" b="1" spc="0" dirty="0" err="1" smtClean="0">
                <a:solidFill>
                  <a:srgbClr val="0F1423"/>
                </a:solidFill>
                <a:uFillTx/>
                <a:latin typeface="Times New Roman" panose="02020603050405020304" pitchFamily="18" charset="0"/>
                <a:ea typeface="宋体" panose="02010600030101010101" pitchFamily="2" charset="-122"/>
              </a:rPr>
              <a:t>NaOH</a:t>
            </a:r>
            <a:r>
              <a:rPr lang="zh-CN" altLang="en-US" sz="2400" b="1" spc="0" dirty="0" smtClean="0">
                <a:solidFill>
                  <a:srgbClr val="0F1423"/>
                </a:solidFill>
                <a:uFillTx/>
                <a:latin typeface="Times New Roman" panose="02020603050405020304" pitchFamily="18" charset="0"/>
                <a:ea typeface="宋体" panose="02010600030101010101" pitchFamily="2" charset="-122"/>
              </a:rPr>
              <a:t>溶液</a:t>
            </a:r>
            <a:endParaRPr lang="zh-CN" altLang="en-US" sz="24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50000"/>
              </a:lnSpc>
              <a:spcAft>
                <a:spcPts val="0"/>
              </a:spcAft>
              <a:buNone/>
            </a:pPr>
            <a:r>
              <a:rPr lang="en-US" altLang="zh-CN" sz="2400" b="1" spc="0" dirty="0" smtClean="0">
                <a:solidFill>
                  <a:srgbClr val="0F1423"/>
                </a:solidFill>
                <a:uFillTx/>
                <a:latin typeface="Times New Roman" panose="02020603050405020304" pitchFamily="18" charset="0"/>
                <a:ea typeface="宋体" panose="02010600030101010101" pitchFamily="2" charset="-122"/>
              </a:rPr>
              <a:t>    D.MgCl</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2                             </a:t>
            </a:r>
            <a:r>
              <a:rPr lang="en-US" altLang="zh-CN" sz="2400" b="1" spc="0" dirty="0" smtClean="0">
                <a:solidFill>
                  <a:srgbClr val="0F1423"/>
                </a:solidFill>
                <a:uFillTx/>
                <a:latin typeface="Times New Roman" panose="02020603050405020304" pitchFamily="18" charset="0"/>
                <a:ea typeface="宋体" panose="02010600030101010101" pitchFamily="2" charset="-122"/>
              </a:rPr>
              <a:t>Mg(OH)</a:t>
            </a:r>
            <a:r>
              <a:rPr lang="en-US" altLang="zh-CN" sz="2400" b="1" spc="0" baseline="-25000" dirty="0" smtClean="0">
                <a:solidFill>
                  <a:srgbClr val="0F1423"/>
                </a:solidFill>
                <a:uFillTx/>
                <a:latin typeface="Times New Roman" panose="02020603050405020304" pitchFamily="18" charset="0"/>
                <a:ea typeface="宋体" panose="02010600030101010101" pitchFamily="2" charset="-122"/>
              </a:rPr>
              <a:t>2          </a:t>
            </a:r>
            <a:r>
              <a:rPr lang="en-US" altLang="zh-CN" sz="2400" b="1" spc="0" dirty="0" smtClean="0">
                <a:solidFill>
                  <a:srgbClr val="0F1423"/>
                </a:solidFill>
                <a:uFillTx/>
                <a:latin typeface="Times New Roman" panose="02020603050405020304" pitchFamily="18" charset="0"/>
                <a:ea typeface="宋体" panose="02010600030101010101" pitchFamily="2" charset="-122"/>
              </a:rPr>
              <a:t>Mg</a:t>
            </a:r>
            <a:endParaRPr lang="en-US" altLang="zh-CN" sz="2400" b="1" spc="0" dirty="0" smtClean="0">
              <a:solidFill>
                <a:srgbClr val="0F1423"/>
              </a:solidFill>
              <a:uFillTx/>
              <a:latin typeface="Times New Roman" panose="02020603050405020304" pitchFamily="18" charset="0"/>
              <a:ea typeface="宋体" panose="02010600030101010101" pitchFamily="2" charset="-122"/>
            </a:endParaRPr>
          </a:p>
        </p:txBody>
      </p:sp>
      <p:grpSp>
        <p:nvGrpSpPr>
          <p:cNvPr id="33" name="组合 32"/>
          <p:cNvGrpSpPr/>
          <p:nvPr/>
        </p:nvGrpSpPr>
        <p:grpSpPr>
          <a:xfrm>
            <a:off x="1386844" y="780949"/>
            <a:ext cx="4928698" cy="2058317"/>
            <a:chOff x="1519460" y="1672845"/>
            <a:chExt cx="4928698" cy="2058317"/>
          </a:xfrm>
        </p:grpSpPr>
        <p:grpSp>
          <p:nvGrpSpPr>
            <p:cNvPr id="6" name="组合 5"/>
            <p:cNvGrpSpPr/>
            <p:nvPr/>
          </p:nvGrpSpPr>
          <p:grpSpPr>
            <a:xfrm>
              <a:off x="1519460" y="1672845"/>
              <a:ext cx="1049008" cy="400110"/>
              <a:chOff x="6732897" y="5057468"/>
              <a:chExt cx="1049008" cy="400110"/>
            </a:xfrm>
          </p:grpSpPr>
          <p:sp>
            <p:nvSpPr>
              <p:cNvPr id="7" name="矩形 6"/>
              <p:cNvSpPr/>
              <p:nvPr/>
            </p:nvSpPr>
            <p:spPr>
              <a:xfrm>
                <a:off x="6732897" y="5057468"/>
                <a:ext cx="1019026" cy="400110"/>
              </a:xfrm>
              <a:prstGeom prst="rect">
                <a:avLst/>
              </a:prstGeom>
            </p:spPr>
            <p:txBody>
              <a:bodyPr wrap="square">
                <a:spAutoFit/>
              </a:bodyPr>
              <a:lstStyle/>
              <a:p>
                <a:pPr lvl="0"/>
                <a:r>
                  <a:rPr lang="zh-CN" altLang="en-US" sz="2000" b="1" kern="100" dirty="0" smtClean="0">
                    <a:latin typeface="Times New Roman" panose="02020603050405020304"/>
                    <a:ea typeface="宋体" panose="02010600030101010101" pitchFamily="2" charset="-122"/>
                  </a:rPr>
                  <a:t>稀盐酸</a:t>
                </a:r>
                <a:endParaRPr lang="zh-CN" altLang="en-US" sz="2000" dirty="0"/>
              </a:p>
            </p:txBody>
          </p:sp>
          <p:cxnSp>
            <p:nvCxnSpPr>
              <p:cNvPr id="8" name="直接箭头连接符 7"/>
              <p:cNvCxnSpPr/>
              <p:nvPr/>
            </p:nvCxnSpPr>
            <p:spPr>
              <a:xfrm flipV="1">
                <a:off x="6773905" y="5418161"/>
                <a:ext cx="1008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3348259" y="1672845"/>
              <a:ext cx="1523994" cy="400110"/>
              <a:chOff x="6691953" y="5071116"/>
              <a:chExt cx="1523994" cy="400110"/>
            </a:xfrm>
          </p:grpSpPr>
          <p:sp>
            <p:nvSpPr>
              <p:cNvPr id="10" name="矩形 9"/>
              <p:cNvSpPr/>
              <p:nvPr/>
            </p:nvSpPr>
            <p:spPr>
              <a:xfrm>
                <a:off x="6691953" y="5071116"/>
                <a:ext cx="1523994" cy="400110"/>
              </a:xfrm>
              <a:prstGeom prst="rect">
                <a:avLst/>
              </a:prstGeom>
            </p:spPr>
            <p:txBody>
              <a:bodyPr wrap="square">
                <a:spAutoFit/>
              </a:bodyPr>
              <a:lstStyle/>
              <a:p>
                <a:pPr lvl="0"/>
                <a:r>
                  <a:rPr lang="en-US" altLang="zh-CN" sz="2000" b="1" kern="100" dirty="0" err="1" smtClean="0">
                    <a:latin typeface="Times New Roman" panose="02020603050405020304"/>
                    <a:ea typeface="宋体" panose="02010600030101010101" pitchFamily="2" charset="-122"/>
                  </a:rPr>
                  <a:t>NaOH</a:t>
                </a:r>
                <a:r>
                  <a:rPr lang="zh-CN" altLang="en-US" sz="2000" b="1" kern="100" dirty="0" smtClean="0">
                    <a:latin typeface="Times New Roman" panose="02020603050405020304"/>
                    <a:ea typeface="宋体" panose="02010600030101010101" pitchFamily="2" charset="-122"/>
                  </a:rPr>
                  <a:t>溶液</a:t>
                </a:r>
                <a:endParaRPr lang="zh-CN" altLang="en-US" sz="2000" dirty="0"/>
              </a:p>
            </p:txBody>
          </p:sp>
          <p:cxnSp>
            <p:nvCxnSpPr>
              <p:cNvPr id="11" name="直接箭头连接符 10"/>
              <p:cNvCxnSpPr/>
              <p:nvPr/>
            </p:nvCxnSpPr>
            <p:spPr>
              <a:xfrm flipV="1">
                <a:off x="6760257" y="5431809"/>
                <a:ext cx="1404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a:off x="1712804" y="2207389"/>
              <a:ext cx="784737" cy="400110"/>
              <a:chOff x="6732897" y="5057468"/>
              <a:chExt cx="784737" cy="400110"/>
            </a:xfrm>
          </p:grpSpPr>
          <p:sp>
            <p:nvSpPr>
              <p:cNvPr id="13" name="矩形 12"/>
              <p:cNvSpPr/>
              <p:nvPr/>
            </p:nvSpPr>
            <p:spPr>
              <a:xfrm>
                <a:off x="6732897" y="5057468"/>
                <a:ext cx="784737" cy="400110"/>
              </a:xfrm>
              <a:prstGeom prst="rect">
                <a:avLst/>
              </a:prstGeom>
            </p:spPr>
            <p:txBody>
              <a:bodyPr wrap="square">
                <a:spAutoFit/>
              </a:bodyPr>
              <a:lstStyle/>
              <a:p>
                <a:pPr lvl="0"/>
                <a:r>
                  <a:rPr lang="zh-CN" altLang="en-US" sz="2000" b="1" kern="100" spc="-100" dirty="0" smtClean="0">
                    <a:latin typeface="Times New Roman" panose="02020603050405020304"/>
                    <a:ea typeface="宋体" panose="02010600030101010101" pitchFamily="2" charset="-122"/>
                  </a:rPr>
                  <a:t>通电</a:t>
                </a:r>
                <a:endParaRPr lang="zh-CN" altLang="en-US" sz="2000" spc="-100" dirty="0"/>
              </a:p>
            </p:txBody>
          </p:sp>
          <p:cxnSp>
            <p:nvCxnSpPr>
              <p:cNvPr id="14" name="直接箭头连接符 13"/>
              <p:cNvCxnSpPr/>
              <p:nvPr/>
            </p:nvCxnSpPr>
            <p:spPr>
              <a:xfrm flipV="1">
                <a:off x="6773905" y="5418161"/>
                <a:ext cx="684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2820564" y="2209661"/>
              <a:ext cx="591377" cy="400110"/>
              <a:chOff x="6760193" y="5057468"/>
              <a:chExt cx="591377" cy="400110"/>
            </a:xfrm>
          </p:grpSpPr>
          <p:sp>
            <p:nvSpPr>
              <p:cNvPr id="16" name="矩形 15"/>
              <p:cNvSpPr/>
              <p:nvPr/>
            </p:nvSpPr>
            <p:spPr>
              <a:xfrm>
                <a:off x="6760193" y="5057468"/>
                <a:ext cx="591377" cy="400110"/>
              </a:xfrm>
              <a:prstGeom prst="rect">
                <a:avLst/>
              </a:prstGeom>
            </p:spPr>
            <p:txBody>
              <a:bodyPr wrap="square">
                <a:spAutoFit/>
              </a:bodyPr>
              <a:lstStyle/>
              <a:p>
                <a:pPr lvl="0"/>
                <a:r>
                  <a:rPr lang="en-US" altLang="zh-CN" sz="2000" b="1" kern="100" spc="-100" dirty="0" smtClean="0">
                    <a:latin typeface="Times New Roman" panose="02020603050405020304"/>
                    <a:ea typeface="宋体" panose="02010600030101010101" pitchFamily="2" charset="-122"/>
                  </a:rPr>
                  <a:t>Mg</a:t>
                </a:r>
                <a:endParaRPr lang="zh-CN" altLang="en-US" sz="2000" spc="-100" dirty="0"/>
              </a:p>
            </p:txBody>
          </p:sp>
          <p:cxnSp>
            <p:nvCxnSpPr>
              <p:cNvPr id="17" name="直接箭头连接符 16"/>
              <p:cNvCxnSpPr/>
              <p:nvPr/>
            </p:nvCxnSpPr>
            <p:spPr>
              <a:xfrm flipV="1">
                <a:off x="6773905" y="5418161"/>
                <a:ext cx="576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2110868" y="2769229"/>
              <a:ext cx="784737" cy="400110"/>
              <a:chOff x="6732897" y="5057468"/>
              <a:chExt cx="784737" cy="400110"/>
            </a:xfrm>
          </p:grpSpPr>
          <p:sp>
            <p:nvSpPr>
              <p:cNvPr id="19" name="矩形 18"/>
              <p:cNvSpPr/>
              <p:nvPr/>
            </p:nvSpPr>
            <p:spPr>
              <a:xfrm>
                <a:off x="6732897" y="5057468"/>
                <a:ext cx="784737" cy="400110"/>
              </a:xfrm>
              <a:prstGeom prst="rect">
                <a:avLst/>
              </a:prstGeom>
            </p:spPr>
            <p:txBody>
              <a:bodyPr wrap="square">
                <a:spAutoFit/>
              </a:bodyPr>
              <a:lstStyle/>
              <a:p>
                <a:pPr lvl="0"/>
                <a:r>
                  <a:rPr lang="zh-CN" altLang="en-US" sz="2000" b="1" kern="100" spc="-100" dirty="0" smtClean="0">
                    <a:latin typeface="Times New Roman" panose="02020603050405020304"/>
                    <a:ea typeface="宋体" panose="02010600030101010101" pitchFamily="2" charset="-122"/>
                  </a:rPr>
                  <a:t>高温</a:t>
                </a:r>
                <a:endParaRPr lang="zh-CN" altLang="en-US" sz="2000" spc="-100" dirty="0"/>
              </a:p>
            </p:txBody>
          </p:sp>
          <p:cxnSp>
            <p:nvCxnSpPr>
              <p:cNvPr id="20" name="直接箭头连接符 19"/>
              <p:cNvCxnSpPr/>
              <p:nvPr/>
            </p:nvCxnSpPr>
            <p:spPr>
              <a:xfrm flipV="1">
                <a:off x="6773905" y="5418161"/>
                <a:ext cx="684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3423348" y="2757853"/>
              <a:ext cx="784737" cy="400110"/>
              <a:chOff x="6732897" y="5057468"/>
              <a:chExt cx="784737" cy="400110"/>
            </a:xfrm>
          </p:grpSpPr>
          <p:sp>
            <p:nvSpPr>
              <p:cNvPr id="22" name="矩形 21"/>
              <p:cNvSpPr/>
              <p:nvPr/>
            </p:nvSpPr>
            <p:spPr>
              <a:xfrm>
                <a:off x="6732897" y="5057468"/>
                <a:ext cx="784737" cy="400110"/>
              </a:xfrm>
              <a:prstGeom prst="rect">
                <a:avLst/>
              </a:prstGeom>
            </p:spPr>
            <p:txBody>
              <a:bodyPr wrap="square">
                <a:spAutoFit/>
              </a:bodyPr>
              <a:lstStyle/>
              <a:p>
                <a:pPr lvl="0"/>
                <a:r>
                  <a:rPr lang="en-US" altLang="zh-CN" sz="2000" b="1" dirty="0" smtClean="0">
                    <a:solidFill>
                      <a:srgbClr val="0F1423"/>
                    </a:solidFill>
                    <a:latin typeface="Times New Roman" panose="02020603050405020304" pitchFamily="18" charset="0"/>
                    <a:ea typeface="宋体" panose="02010600030101010101" pitchFamily="2" charset="-122"/>
                  </a:rPr>
                  <a:t>H</a:t>
                </a:r>
                <a:r>
                  <a:rPr lang="en-US" altLang="zh-CN" sz="2000" b="1" baseline="-25000" dirty="0" smtClean="0">
                    <a:solidFill>
                      <a:srgbClr val="0F1423"/>
                    </a:solidFill>
                    <a:latin typeface="Times New Roman" panose="02020603050405020304" pitchFamily="18" charset="0"/>
                    <a:ea typeface="宋体" panose="02010600030101010101" pitchFamily="2" charset="-122"/>
                  </a:rPr>
                  <a:t>2</a:t>
                </a:r>
                <a:r>
                  <a:rPr lang="en-US" altLang="zh-CN" sz="2000" b="1" dirty="0" smtClean="0">
                    <a:solidFill>
                      <a:srgbClr val="0F1423"/>
                    </a:solidFill>
                    <a:latin typeface="Times New Roman" panose="02020603050405020304" pitchFamily="18" charset="0"/>
                    <a:ea typeface="宋体" panose="02010600030101010101" pitchFamily="2" charset="-122"/>
                  </a:rPr>
                  <a:t>O</a:t>
                </a:r>
                <a:endParaRPr lang="zh-CN" altLang="en-US" sz="2000" spc="-100" dirty="0"/>
              </a:p>
            </p:txBody>
          </p:sp>
          <p:cxnSp>
            <p:nvCxnSpPr>
              <p:cNvPr id="23" name="直接箭头连接符 22"/>
              <p:cNvCxnSpPr/>
              <p:nvPr/>
            </p:nvCxnSpPr>
            <p:spPr>
              <a:xfrm flipV="1">
                <a:off x="6773905" y="5418161"/>
                <a:ext cx="684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5274862" y="2780589"/>
              <a:ext cx="1173296" cy="400110"/>
              <a:chOff x="6744769" y="5057468"/>
              <a:chExt cx="1019029" cy="400110"/>
            </a:xfrm>
          </p:grpSpPr>
          <p:sp>
            <p:nvSpPr>
              <p:cNvPr id="25" name="矩形 24"/>
              <p:cNvSpPr/>
              <p:nvPr/>
            </p:nvSpPr>
            <p:spPr>
              <a:xfrm>
                <a:off x="6744769" y="5057468"/>
                <a:ext cx="1019029" cy="400110"/>
              </a:xfrm>
              <a:prstGeom prst="rect">
                <a:avLst/>
              </a:prstGeom>
            </p:spPr>
            <p:txBody>
              <a:bodyPr wrap="square">
                <a:spAutoFit/>
              </a:bodyPr>
              <a:lstStyle/>
              <a:p>
                <a:pPr lvl="0"/>
                <a:r>
                  <a:rPr lang="en-US" altLang="zh-CN" sz="2000" b="1" dirty="0" smtClean="0">
                    <a:solidFill>
                      <a:srgbClr val="0F1423"/>
                    </a:solidFill>
                    <a:latin typeface="Times New Roman" panose="02020603050405020304" pitchFamily="18" charset="0"/>
                    <a:ea typeface="宋体" panose="02010600030101010101" pitchFamily="2" charset="-122"/>
                  </a:rPr>
                  <a:t>Na</a:t>
                </a:r>
                <a:r>
                  <a:rPr lang="en-US" altLang="zh-CN" sz="2000" b="1" baseline="-25000" dirty="0" smtClean="0">
                    <a:solidFill>
                      <a:srgbClr val="0F1423"/>
                    </a:solidFill>
                    <a:latin typeface="Times New Roman" panose="02020603050405020304" pitchFamily="18" charset="0"/>
                    <a:ea typeface="宋体" panose="02010600030101010101" pitchFamily="2" charset="-122"/>
                  </a:rPr>
                  <a:t>2</a:t>
                </a:r>
                <a:r>
                  <a:rPr lang="en-US" altLang="zh-CN" sz="2000" b="1" dirty="0" smtClean="0">
                    <a:solidFill>
                      <a:srgbClr val="0F1423"/>
                    </a:solidFill>
                    <a:latin typeface="Times New Roman" panose="02020603050405020304" pitchFamily="18" charset="0"/>
                    <a:ea typeface="宋体" panose="02010600030101010101" pitchFamily="2" charset="-122"/>
                  </a:rPr>
                  <a:t>CO</a:t>
                </a:r>
                <a:r>
                  <a:rPr lang="en-US" altLang="zh-CN" sz="2000" b="1" baseline="-25000" dirty="0" smtClean="0">
                    <a:solidFill>
                      <a:srgbClr val="0F1423"/>
                    </a:solidFill>
                    <a:latin typeface="Times New Roman" panose="02020603050405020304" pitchFamily="18" charset="0"/>
                    <a:ea typeface="宋体" panose="02010600030101010101" pitchFamily="2" charset="-122"/>
                  </a:rPr>
                  <a:t>3</a:t>
                </a:r>
                <a:endParaRPr lang="zh-CN" altLang="en-US" sz="2000" dirty="0"/>
              </a:p>
            </p:txBody>
          </p:sp>
          <p:cxnSp>
            <p:nvCxnSpPr>
              <p:cNvPr id="26" name="直接箭头连接符 25"/>
              <p:cNvCxnSpPr/>
              <p:nvPr/>
            </p:nvCxnSpPr>
            <p:spPr>
              <a:xfrm flipV="1">
                <a:off x="6773930" y="5418161"/>
                <a:ext cx="938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1958463" y="3312850"/>
              <a:ext cx="1523994" cy="400110"/>
              <a:chOff x="6705601" y="5057468"/>
              <a:chExt cx="1523994" cy="400110"/>
            </a:xfrm>
          </p:grpSpPr>
          <p:sp>
            <p:nvSpPr>
              <p:cNvPr id="28" name="矩形 27"/>
              <p:cNvSpPr/>
              <p:nvPr/>
            </p:nvSpPr>
            <p:spPr>
              <a:xfrm>
                <a:off x="6705601" y="5057468"/>
                <a:ext cx="1523994" cy="400110"/>
              </a:xfrm>
              <a:prstGeom prst="rect">
                <a:avLst/>
              </a:prstGeom>
            </p:spPr>
            <p:txBody>
              <a:bodyPr wrap="square">
                <a:spAutoFit/>
              </a:bodyPr>
              <a:lstStyle/>
              <a:p>
                <a:pPr lvl="0"/>
                <a:r>
                  <a:rPr lang="en-US" altLang="zh-CN" sz="2000" b="1" kern="100" dirty="0" err="1" smtClean="0">
                    <a:latin typeface="Times New Roman" panose="02020603050405020304"/>
                    <a:ea typeface="宋体" panose="02010600030101010101" pitchFamily="2" charset="-122"/>
                  </a:rPr>
                  <a:t>NaOH</a:t>
                </a:r>
                <a:r>
                  <a:rPr lang="zh-CN" altLang="en-US" sz="2000" b="1" kern="100" dirty="0" smtClean="0">
                    <a:latin typeface="Times New Roman" panose="02020603050405020304"/>
                    <a:ea typeface="宋体" panose="02010600030101010101" pitchFamily="2" charset="-122"/>
                  </a:rPr>
                  <a:t>溶液</a:t>
                </a:r>
                <a:endParaRPr lang="zh-CN" altLang="en-US" sz="2000" dirty="0"/>
              </a:p>
            </p:txBody>
          </p:sp>
          <p:cxnSp>
            <p:nvCxnSpPr>
              <p:cNvPr id="29" name="直接箭头连接符 28"/>
              <p:cNvCxnSpPr/>
              <p:nvPr/>
            </p:nvCxnSpPr>
            <p:spPr>
              <a:xfrm flipV="1">
                <a:off x="6773905" y="5418161"/>
                <a:ext cx="1404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4624344" y="3331052"/>
              <a:ext cx="591377" cy="400110"/>
              <a:chOff x="6746545" y="5098412"/>
              <a:chExt cx="591377" cy="400110"/>
            </a:xfrm>
          </p:grpSpPr>
          <p:sp>
            <p:nvSpPr>
              <p:cNvPr id="31" name="矩形 30"/>
              <p:cNvSpPr/>
              <p:nvPr/>
            </p:nvSpPr>
            <p:spPr>
              <a:xfrm>
                <a:off x="6746545" y="5098412"/>
                <a:ext cx="591377" cy="400110"/>
              </a:xfrm>
              <a:prstGeom prst="rect">
                <a:avLst/>
              </a:prstGeom>
            </p:spPr>
            <p:txBody>
              <a:bodyPr wrap="square">
                <a:spAutoFit/>
              </a:bodyPr>
              <a:lstStyle/>
              <a:p>
                <a:pPr lvl="0"/>
                <a:r>
                  <a:rPr lang="en-US" altLang="zh-CN" sz="2000" b="1" kern="100" spc="-100" dirty="0" smtClean="0">
                    <a:latin typeface="Times New Roman" panose="02020603050405020304"/>
                    <a:ea typeface="宋体" panose="02010600030101010101" pitchFamily="2" charset="-122"/>
                  </a:rPr>
                  <a:t>Na</a:t>
                </a:r>
                <a:endParaRPr lang="zh-CN" altLang="en-US" sz="2000" spc="-100" dirty="0"/>
              </a:p>
            </p:txBody>
          </p:sp>
          <p:cxnSp>
            <p:nvCxnSpPr>
              <p:cNvPr id="32" name="直接箭头连接符 31"/>
              <p:cNvCxnSpPr/>
              <p:nvPr/>
            </p:nvCxnSpPr>
            <p:spPr>
              <a:xfrm flipV="1">
                <a:off x="6773905" y="5418161"/>
                <a:ext cx="504000" cy="4555"/>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sp>
        <p:nvSpPr>
          <p:cNvPr id="34" name="Rectangle 5"/>
          <p:cNvSpPr txBox="1">
            <a:spLocks noRot="1" noChangeArrowheads="1"/>
          </p:cNvSpPr>
          <p:nvPr/>
        </p:nvSpPr>
        <p:spPr bwMode="auto">
          <a:xfrm>
            <a:off x="327870" y="3116429"/>
            <a:ext cx="11627891" cy="3486785"/>
          </a:xfrm>
          <a:prstGeom prst="rect">
            <a:avLst/>
          </a:prstGeom>
          <a:solidFill>
            <a:schemeClr val="tx2">
              <a:lumMod val="25000"/>
            </a:schemeClr>
          </a:solidFill>
          <a:ln w="19050">
            <a:solidFill>
              <a:schemeClr val="tx2">
                <a:lumMod val="25000"/>
                <a:lumOff val="75000"/>
              </a:schemeClr>
            </a:solidFill>
            <a:miter lim="800000"/>
          </a:ln>
          <a:effectLst/>
        </p:spPr>
        <p:txBody>
          <a:bodyPr vert="horz" wrap="square" lIns="91440" tIns="45720" rIns="91440" bIns="45720" numCol="1" anchor="t" anchorCtr="0" compatLnSpc="1">
            <a:spAutoFit/>
          </a:bodyPr>
          <a:lstStyle/>
          <a:p>
            <a:pPr lvl="0" latinLnBrk="1">
              <a:lnSpc>
                <a:spcPct val="120000"/>
              </a:lnSpc>
              <a:defRPr/>
            </a:pPr>
            <a:r>
              <a:rPr lang="en-US" altLang="zh-CN" sz="2300" b="1" noProof="1" smtClean="0">
                <a:solidFill>
                  <a:schemeClr val="bg1"/>
                </a:solidFill>
                <a:latin typeface="Times New Roman" panose="02020603050405020304" pitchFamily="18" charset="0"/>
                <a:ea typeface="宋体" panose="02010600030101010101" pitchFamily="2" charset="-122"/>
                <a:sym typeface="+mn-ea"/>
              </a:rPr>
              <a:t>A.</a:t>
            </a:r>
            <a:r>
              <a:rPr lang="zh-CN" altLang="en-US" sz="2300" b="1" noProof="1" smtClean="0">
                <a:solidFill>
                  <a:schemeClr val="bg1"/>
                </a:solidFill>
                <a:latin typeface="Times New Roman" panose="02020603050405020304" pitchFamily="18" charset="0"/>
                <a:ea typeface="宋体" panose="02010600030101010101" pitchFamily="2" charset="-122"/>
                <a:sym typeface="+mn-ea"/>
              </a:rPr>
              <a:t>铜不与稀盐酸反应，该方案在</a:t>
            </a:r>
            <a:r>
              <a:rPr lang="zh-CN" altLang="en-US" sz="2300" b="1" noProof="1" smtClean="0">
                <a:solidFill>
                  <a:srgbClr val="FFC000"/>
                </a:solidFill>
                <a:latin typeface="Times New Roman" panose="02020603050405020304" pitchFamily="18" charset="0"/>
                <a:ea typeface="宋体" panose="02010600030101010101" pitchFamily="2" charset="-122"/>
                <a:sym typeface="+mn-ea"/>
              </a:rPr>
              <a:t>理论上是错误</a:t>
            </a:r>
            <a:r>
              <a:rPr lang="zh-CN" altLang="en-US" sz="2300" b="1" noProof="1" smtClean="0">
                <a:solidFill>
                  <a:schemeClr val="bg1"/>
                </a:solidFill>
                <a:latin typeface="Times New Roman" panose="02020603050405020304" pitchFamily="18" charset="0"/>
                <a:ea typeface="宋体" panose="02010600030101010101" pitchFamily="2" charset="-122"/>
                <a:sym typeface="+mn-ea"/>
              </a:rPr>
              <a:t>的；</a:t>
            </a:r>
            <a:endParaRPr lang="zh-CN" altLang="en-US" sz="2300" b="1" noProof="1" smtClean="0">
              <a:solidFill>
                <a:schemeClr val="bg1"/>
              </a:solidFill>
              <a:latin typeface="Times New Roman" panose="02020603050405020304" pitchFamily="18" charset="0"/>
              <a:ea typeface="宋体" panose="02010600030101010101" pitchFamily="2" charset="-122"/>
              <a:sym typeface="+mn-ea"/>
            </a:endParaRPr>
          </a:p>
          <a:p>
            <a:pPr lvl="0" latinLnBrk="1">
              <a:lnSpc>
                <a:spcPct val="120000"/>
              </a:lnSpc>
              <a:defRPr/>
            </a:pPr>
            <a:r>
              <a:rPr lang="en-US" altLang="zh-CN" sz="2300" b="1" noProof="1" smtClean="0">
                <a:solidFill>
                  <a:schemeClr val="bg1"/>
                </a:solidFill>
                <a:latin typeface="Times New Roman" panose="02020603050405020304" pitchFamily="18" charset="0"/>
                <a:ea typeface="宋体" panose="02010600030101010101" pitchFamily="2" charset="-122"/>
                <a:sym typeface="+mn-ea"/>
              </a:rPr>
              <a:t>B.</a:t>
            </a:r>
            <a:r>
              <a:rPr lang="zh-CN" altLang="en-US" sz="2300" b="1" noProof="1" smtClean="0">
                <a:solidFill>
                  <a:schemeClr val="bg1"/>
                </a:solidFill>
                <a:latin typeface="Times New Roman" panose="02020603050405020304" pitchFamily="18" charset="0"/>
                <a:ea typeface="宋体" panose="02010600030101010101" pitchFamily="2" charset="-122"/>
                <a:sym typeface="+mn-ea"/>
              </a:rPr>
              <a:t>水通电分解生成氢气和氧气，镁与氧气反应生成氧化镁，该方案理论上正确，但</a:t>
            </a:r>
            <a:r>
              <a:rPr lang="zh-CN" altLang="en-US" sz="2300" b="1" noProof="1" smtClean="0">
                <a:solidFill>
                  <a:srgbClr val="FFC000"/>
                </a:solidFill>
                <a:latin typeface="Times New Roman" panose="02020603050405020304" pitchFamily="18" charset="0"/>
                <a:ea typeface="宋体" panose="02010600030101010101" pitchFamily="2" charset="-122"/>
                <a:sym typeface="+mn-ea"/>
              </a:rPr>
              <a:t>成本较高，经济上不合理；</a:t>
            </a:r>
            <a:endParaRPr lang="zh-CN" altLang="en-US" sz="2300" b="1" noProof="1" smtClean="0">
              <a:solidFill>
                <a:srgbClr val="FFC000"/>
              </a:solidFill>
              <a:latin typeface="Times New Roman" panose="02020603050405020304" pitchFamily="18" charset="0"/>
              <a:ea typeface="宋体" panose="02010600030101010101" pitchFamily="2" charset="-122"/>
              <a:sym typeface="+mn-ea"/>
            </a:endParaRPr>
          </a:p>
          <a:p>
            <a:pPr lvl="0" latinLnBrk="1">
              <a:lnSpc>
                <a:spcPct val="120000"/>
              </a:lnSpc>
              <a:defRPr/>
            </a:pPr>
            <a:r>
              <a:rPr lang="en-US" altLang="zh-CN" sz="2300" b="1" noProof="1" smtClean="0">
                <a:solidFill>
                  <a:schemeClr val="bg1"/>
                </a:solidFill>
                <a:latin typeface="Times New Roman" panose="02020603050405020304" pitchFamily="18" charset="0"/>
                <a:ea typeface="宋体" panose="02010600030101010101" pitchFamily="2" charset="-122"/>
                <a:sym typeface="+mn-ea"/>
              </a:rPr>
              <a:t>C.</a:t>
            </a:r>
            <a:r>
              <a:rPr lang="zh-CN" altLang="en-US" sz="2300" b="1" noProof="1" smtClean="0">
                <a:solidFill>
                  <a:schemeClr val="bg1"/>
                </a:solidFill>
                <a:latin typeface="Times New Roman" panose="02020603050405020304" pitchFamily="18" charset="0"/>
                <a:ea typeface="宋体" panose="02010600030101010101" pitchFamily="2" charset="-122"/>
                <a:sym typeface="+mn-ea"/>
              </a:rPr>
              <a:t>碳酸钙高温下分解生成氧化钙和二氧化碳，氧化钙与水反应可生成氢氧化钙，氢氧化钙与碳酸钠反应生成氢氧化钠和碳酸钙沉淀；该</a:t>
            </a:r>
            <a:r>
              <a:rPr lang="zh-CN" altLang="en-US" sz="2300" b="1" noProof="1" smtClean="0">
                <a:solidFill>
                  <a:srgbClr val="FF0000"/>
                </a:solidFill>
                <a:latin typeface="Times New Roman" panose="02020603050405020304" pitchFamily="18" charset="0"/>
                <a:ea typeface="宋体" panose="02010600030101010101" pitchFamily="2" charset="-122"/>
                <a:sym typeface="+mn-ea"/>
              </a:rPr>
              <a:t>方案理论上正确，操作较为简便，经济上也合理；</a:t>
            </a:r>
            <a:endParaRPr lang="zh-CN" altLang="en-US" sz="2300" b="1" noProof="1" smtClean="0">
              <a:solidFill>
                <a:srgbClr val="FF0000"/>
              </a:solidFill>
              <a:latin typeface="Times New Roman" panose="02020603050405020304" pitchFamily="18" charset="0"/>
              <a:ea typeface="宋体" panose="02010600030101010101" pitchFamily="2" charset="-122"/>
              <a:sym typeface="+mn-ea"/>
            </a:endParaRPr>
          </a:p>
          <a:p>
            <a:pPr lvl="0" latinLnBrk="1">
              <a:lnSpc>
                <a:spcPct val="120000"/>
              </a:lnSpc>
              <a:defRPr/>
            </a:pPr>
            <a:r>
              <a:rPr lang="en-US" altLang="zh-CN" sz="2300" b="1" noProof="1" smtClean="0">
                <a:solidFill>
                  <a:schemeClr val="bg1"/>
                </a:solidFill>
                <a:latin typeface="Times New Roman" panose="02020603050405020304" pitchFamily="18" charset="0"/>
                <a:ea typeface="宋体" panose="02010600030101010101" pitchFamily="2" charset="-122"/>
                <a:sym typeface="+mn-ea"/>
              </a:rPr>
              <a:t>D.</a:t>
            </a:r>
            <a:r>
              <a:rPr lang="zh-CN" altLang="en-US" sz="2300" b="1" noProof="1" smtClean="0">
                <a:solidFill>
                  <a:schemeClr val="bg1"/>
                </a:solidFill>
                <a:latin typeface="Times New Roman" panose="02020603050405020304" pitchFamily="18" charset="0"/>
                <a:ea typeface="宋体" panose="02010600030101010101" pitchFamily="2" charset="-122"/>
                <a:sym typeface="+mn-ea"/>
              </a:rPr>
              <a:t>氯化镁与氢氧化钠溶液反应生成氢氧化镁沉淀和氯化钠，钠不与氢氧化镁反应，该方案在</a:t>
            </a:r>
            <a:r>
              <a:rPr lang="zh-CN" altLang="en-US" sz="2300" b="1" noProof="1" smtClean="0">
                <a:solidFill>
                  <a:srgbClr val="FFC000"/>
                </a:solidFill>
                <a:latin typeface="Times New Roman" panose="02020603050405020304" pitchFamily="18" charset="0"/>
                <a:ea typeface="宋体" panose="02010600030101010101" pitchFamily="2" charset="-122"/>
                <a:sym typeface="+mn-ea"/>
              </a:rPr>
              <a:t>理论上是错误</a:t>
            </a:r>
            <a:r>
              <a:rPr lang="zh-CN" altLang="en-US" sz="2300" b="1" noProof="1" smtClean="0">
                <a:solidFill>
                  <a:schemeClr val="bg1"/>
                </a:solidFill>
                <a:latin typeface="Times New Roman" panose="02020603050405020304" pitchFamily="18" charset="0"/>
                <a:ea typeface="宋体" panose="02010600030101010101" pitchFamily="2" charset="-122"/>
                <a:sym typeface="+mn-ea"/>
              </a:rPr>
              <a:t>的。</a:t>
            </a:r>
            <a:endParaRPr lang="zh-CN" altLang="en-US" sz="2300" b="1" noProof="1" smtClean="0">
              <a:solidFill>
                <a:schemeClr val="bg1"/>
              </a:solidFill>
              <a:latin typeface="Times New Roman" panose="02020603050405020304" pitchFamily="18" charset="0"/>
              <a:ea typeface="宋体" panose="02010600030101010101" pitchFamily="2" charset="-122"/>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bg/>
                                          </p:spTgt>
                                        </p:tgtEl>
                                        <p:attrNameLst>
                                          <p:attrName>style.visibility</p:attrName>
                                        </p:attrNameLst>
                                      </p:cBhvr>
                                      <p:to>
                                        <p:strVal val="visible"/>
                                      </p:to>
                                    </p:set>
                                    <p:animEffect transition="in" filter="blinds(horizontal)">
                                      <p:cBhvr>
                                        <p:cTn id="7" dur="500"/>
                                        <p:tgtEl>
                                          <p:spTgt spid="34">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4">
                                            <p:txEl>
                                              <p:pRg st="0" end="0"/>
                                            </p:txEl>
                                          </p:spTgt>
                                        </p:tgtEl>
                                        <p:attrNameLst>
                                          <p:attrName>style.visibility</p:attrName>
                                        </p:attrNameLst>
                                      </p:cBhvr>
                                      <p:to>
                                        <p:strVal val="visible"/>
                                      </p:to>
                                    </p:set>
                                    <p:animEffect transition="in" filter="blinds(horizontal)">
                                      <p:cBhvr>
                                        <p:cTn id="12" dur="500"/>
                                        <p:tgtEl>
                                          <p:spTgt spid="3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4">
                                            <p:txEl>
                                              <p:pRg st="1" end="1"/>
                                            </p:txEl>
                                          </p:spTgt>
                                        </p:tgtEl>
                                        <p:attrNameLst>
                                          <p:attrName>style.visibility</p:attrName>
                                        </p:attrNameLst>
                                      </p:cBhvr>
                                      <p:to>
                                        <p:strVal val="visible"/>
                                      </p:to>
                                    </p:set>
                                    <p:animEffect transition="in" filter="blinds(horizontal)">
                                      <p:cBhvr>
                                        <p:cTn id="17" dur="500"/>
                                        <p:tgtEl>
                                          <p:spTgt spid="3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4">
                                            <p:txEl>
                                              <p:pRg st="2" end="2"/>
                                            </p:txEl>
                                          </p:spTgt>
                                        </p:tgtEl>
                                        <p:attrNameLst>
                                          <p:attrName>style.visibility</p:attrName>
                                        </p:attrNameLst>
                                      </p:cBhvr>
                                      <p:to>
                                        <p:strVal val="visible"/>
                                      </p:to>
                                    </p:set>
                                    <p:animEffect transition="in" filter="blinds(horizontal)">
                                      <p:cBhvr>
                                        <p:cTn id="22" dur="500"/>
                                        <p:tgtEl>
                                          <p:spTgt spid="3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4">
                                            <p:txEl>
                                              <p:pRg st="3" end="3"/>
                                            </p:txEl>
                                          </p:spTgt>
                                        </p:tgtEl>
                                        <p:attrNameLst>
                                          <p:attrName>style.visibility</p:attrName>
                                        </p:attrNameLst>
                                      </p:cBhvr>
                                      <p:to>
                                        <p:strVal val="visible"/>
                                      </p:to>
                                    </p:set>
                                    <p:animEffect transition="in" filter="blinds(horizontal)">
                                      <p:cBhvr>
                                        <p:cTn id="27" dur="500"/>
                                        <p:tgtEl>
                                          <p:spTgt spid="3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5635" y="219710"/>
            <a:ext cx="11100435" cy="6270625"/>
          </a:xfrm>
          <a:noFill/>
          <a:ln w="25400" cmpd="tri">
            <a:solidFill>
              <a:schemeClr val="tx1"/>
            </a:solidFill>
            <a:prstDash val="dashDot"/>
          </a:ln>
          <a:extLst>
            <a:ext uri="{909E8E84-426E-40DD-AFC4-6F175D3DCCD1}">
              <a14:hiddenFill xmlns:a14="http://schemas.microsoft.com/office/drawing/2010/main">
                <a:solidFill>
                  <a:schemeClr val="bg1">
                    <a:lumMod val="85000"/>
                  </a:schemeClr>
                </a:solidFill>
              </a14:hiddenFill>
            </a:ext>
          </a:extLst>
        </p:spPr>
        <p:txBody>
          <a:bodyPr wrap="square">
            <a:spAutoFit/>
          </a:bodyPr>
          <a:lstStyle/>
          <a:p>
            <a:pPr marL="0" indent="0" latinLnBrk="1">
              <a:lnSpc>
                <a:spcPct val="120000"/>
              </a:lnSpc>
              <a:spcAft>
                <a:spcPts val="0"/>
              </a:spcAft>
              <a:buNone/>
            </a:pPr>
            <a:r>
              <a:rPr lang="en-US" altLang="zh-CN" sz="2500" b="1" spc="0" dirty="0" smtClean="0">
                <a:solidFill>
                  <a:srgbClr val="C00000"/>
                </a:solidFill>
                <a:latin typeface="Times New Roman" panose="02020603050405020304" pitchFamily="18" charset="0"/>
                <a:ea typeface="宋体" panose="02010600030101010101" pitchFamily="2" charset="-122"/>
              </a:rPr>
              <a:t>10.</a:t>
            </a:r>
            <a:r>
              <a:rPr lang="zh-CN" altLang="en-US" sz="2500" b="1" spc="0" dirty="0" smtClean="0">
                <a:solidFill>
                  <a:srgbClr val="0F1423"/>
                </a:solidFill>
                <a:latin typeface="Times New Roman" panose="02020603050405020304" pitchFamily="18" charset="0"/>
                <a:ea typeface="宋体" panose="02010600030101010101" pitchFamily="2" charset="-122"/>
              </a:rPr>
              <a:t>一包固体粉末可能含有</a:t>
            </a:r>
            <a:r>
              <a:rPr lang="en-US" altLang="zh-CN" sz="2500" b="1" spc="0" dirty="0" smtClean="0">
                <a:solidFill>
                  <a:srgbClr val="0F1423"/>
                </a:solidFill>
                <a:latin typeface="Times New Roman" panose="02020603050405020304" pitchFamily="18" charset="0"/>
                <a:ea typeface="宋体" panose="02010600030101010101" pitchFamily="2" charset="-122"/>
              </a:rPr>
              <a:t>NaNO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smtClean="0">
                <a:solidFill>
                  <a:srgbClr val="0F1423"/>
                </a:solidFill>
                <a:latin typeface="Times New Roman" panose="02020603050405020304" pitchFamily="18" charset="0"/>
                <a:ea typeface="宋体" panose="02010600030101010101" pitchFamily="2" charset="-122"/>
              </a:rPr>
              <a:t>CaCO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err="1" smtClean="0">
                <a:solidFill>
                  <a:srgbClr val="0F1423"/>
                </a:solidFill>
                <a:latin typeface="Times New Roman" panose="02020603050405020304" pitchFamily="18" charset="0"/>
                <a:ea typeface="宋体" panose="02010600030101010101" pitchFamily="2" charset="-122"/>
              </a:rPr>
              <a:t>NaOH</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smtClean="0">
                <a:solidFill>
                  <a:srgbClr val="0F1423"/>
                </a:solidFill>
                <a:latin typeface="Times New Roman" panose="02020603050405020304" pitchFamily="18" charset="0"/>
                <a:ea typeface="宋体" panose="02010600030101010101" pitchFamily="2" charset="-122"/>
              </a:rPr>
              <a:t>CuCl</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2</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err="1" smtClean="0">
                <a:solidFill>
                  <a:srgbClr val="0F1423"/>
                </a:solidFill>
                <a:latin typeface="Times New Roman" panose="02020603050405020304" pitchFamily="18" charset="0"/>
                <a:ea typeface="宋体" panose="02010600030101010101" pitchFamily="2" charset="-122"/>
              </a:rPr>
              <a:t>NaCl</a:t>
            </a:r>
            <a:r>
              <a:rPr lang="zh-CN" altLang="en-US" sz="2500" b="1" spc="0" dirty="0" smtClean="0">
                <a:solidFill>
                  <a:srgbClr val="0F1423"/>
                </a:solidFill>
                <a:latin typeface="Times New Roman" panose="02020603050405020304" pitchFamily="18" charset="0"/>
                <a:ea typeface="宋体" panose="02010600030101010101" pitchFamily="2" charset="-122"/>
              </a:rPr>
              <a:t>和</a:t>
            </a:r>
            <a:r>
              <a:rPr lang="en-US" altLang="zh-CN" sz="2500" b="1" spc="0" dirty="0" smtClean="0">
                <a:solidFill>
                  <a:srgbClr val="0F1423"/>
                </a:solidFill>
                <a:latin typeface="Times New Roman" panose="02020603050405020304" pitchFamily="18" charset="0"/>
                <a:ea typeface="宋体" panose="02010600030101010101" pitchFamily="2" charset="-122"/>
              </a:rPr>
              <a:t>Ca(NO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en-US" altLang="zh-CN"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2</a:t>
            </a:r>
            <a:r>
              <a:rPr lang="zh-CN" altLang="en-US" sz="2500" b="1" spc="0" dirty="0" smtClean="0">
                <a:solidFill>
                  <a:srgbClr val="0F1423"/>
                </a:solidFill>
                <a:latin typeface="Times New Roman" panose="02020603050405020304" pitchFamily="18" charset="0"/>
                <a:ea typeface="宋体" panose="02010600030101010101" pitchFamily="2" charset="-122"/>
              </a:rPr>
              <a:t>中的一种或几种，为确定其组成，某同学设计了如下实验方案</a:t>
            </a:r>
            <a:r>
              <a:rPr sz="2500" b="1" spc="0" dirty="0" smtClean="0">
                <a:solidFill>
                  <a:srgbClr val="0F1423"/>
                </a:solidFill>
                <a:latin typeface="Times New Roman" panose="02020603050405020304" pitchFamily="18" charset="0"/>
                <a:ea typeface="宋体" panose="02010600030101010101" pitchFamily="2" charset="-122"/>
              </a:rPr>
              <a:t>：</a:t>
            </a: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r>
              <a:rPr lang="zh-CN" altLang="en-US" sz="2500" b="1" spc="0" dirty="0" smtClean="0">
                <a:solidFill>
                  <a:srgbClr val="0F1423"/>
                </a:solidFill>
                <a:latin typeface="Times New Roman" panose="02020603050405020304" pitchFamily="18" charset="0"/>
                <a:ea typeface="宋体" panose="02010600030101010101" pitchFamily="2" charset="-122"/>
              </a:rPr>
              <a:t>下列判断正确的是</a:t>
            </a:r>
            <a:r>
              <a:rPr lang="en-US" altLang="zh-CN" sz="2500" b="1" spc="0" dirty="0" smtClean="0">
                <a:solidFill>
                  <a:srgbClr val="0F1423"/>
                </a:solidFill>
                <a:latin typeface="Times New Roman" panose="02020603050405020304" pitchFamily="18" charset="0"/>
                <a:ea typeface="宋体" panose="02010600030101010101" pitchFamily="2" charset="-122"/>
              </a:rPr>
              <a:t>(</a:t>
            </a:r>
            <a:r>
              <a:rPr lang="zh-CN" altLang="en-US" sz="2500" b="1" spc="0" dirty="0" smtClean="0">
                <a:solidFill>
                  <a:srgbClr val="0F1423"/>
                </a:solidFill>
                <a:latin typeface="Times New Roman" panose="02020603050405020304" pitchFamily="18" charset="0"/>
                <a:ea typeface="宋体" panose="02010600030101010101" pitchFamily="2" charset="-122"/>
              </a:rPr>
              <a:t>　  </a:t>
            </a:r>
            <a:r>
              <a:rPr lang="en-US" altLang="zh-CN" sz="2500" b="1" spc="0" dirty="0" smtClean="0">
                <a:solidFill>
                  <a:srgbClr val="0F1423"/>
                </a:solidFill>
                <a:latin typeface="Times New Roman" panose="02020603050405020304" pitchFamily="18" charset="0"/>
                <a:ea typeface="宋体" panose="02010600030101010101" pitchFamily="2" charset="-122"/>
              </a:rPr>
              <a:t>)</a:t>
            </a:r>
            <a:endParaRPr lang="en-US" altLang="zh-CN"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40000"/>
              </a:lnSpc>
              <a:spcAft>
                <a:spcPts val="0"/>
              </a:spcAft>
              <a:buNone/>
            </a:pPr>
            <a:r>
              <a:rPr lang="en-US" altLang="zh-CN" sz="2500" b="1" spc="0" dirty="0" smtClean="0">
                <a:solidFill>
                  <a:srgbClr val="0F1423"/>
                </a:solidFill>
                <a:latin typeface="Times New Roman" panose="02020603050405020304" pitchFamily="18" charset="0"/>
                <a:ea typeface="宋体" panose="02010600030101010101" pitchFamily="2" charset="-122"/>
              </a:rPr>
              <a:t>    A.</a:t>
            </a:r>
            <a:r>
              <a:rPr lang="zh-CN" altLang="en-US" sz="2500" b="1" spc="0" dirty="0" smtClean="0">
                <a:solidFill>
                  <a:srgbClr val="0F1423"/>
                </a:solidFill>
                <a:latin typeface="Times New Roman" panose="02020603050405020304" pitchFamily="18" charset="0"/>
                <a:ea typeface="宋体" panose="02010600030101010101" pitchFamily="2" charset="-122"/>
              </a:rPr>
              <a:t>蓝色溶液</a:t>
            </a:r>
            <a:r>
              <a:rPr lang="en-US" altLang="zh-CN" sz="2500" b="1" spc="0" dirty="0" smtClean="0">
                <a:solidFill>
                  <a:srgbClr val="0F1423"/>
                </a:solidFill>
                <a:latin typeface="Times New Roman" panose="02020603050405020304" pitchFamily="18" charset="0"/>
                <a:ea typeface="宋体" panose="02010600030101010101" pitchFamily="2" charset="-122"/>
              </a:rPr>
              <a:t>B</a:t>
            </a:r>
            <a:r>
              <a:rPr lang="zh-CN" altLang="en-US" sz="2500" b="1" spc="0" dirty="0" smtClean="0">
                <a:solidFill>
                  <a:srgbClr val="0F1423"/>
                </a:solidFill>
                <a:latin typeface="Times New Roman" panose="02020603050405020304" pitchFamily="18" charset="0"/>
                <a:ea typeface="宋体" panose="02010600030101010101" pitchFamily="2" charset="-122"/>
              </a:rPr>
              <a:t>中阳离子只有</a:t>
            </a:r>
            <a:r>
              <a:rPr lang="en-US" altLang="zh-CN" sz="2500" b="1" spc="0" dirty="0" smtClean="0">
                <a:solidFill>
                  <a:srgbClr val="0F1423"/>
                </a:solidFill>
                <a:latin typeface="Times New Roman" panose="02020603050405020304" pitchFamily="18" charset="0"/>
                <a:ea typeface="宋体" panose="02010600030101010101" pitchFamily="2" charset="-122"/>
              </a:rPr>
              <a:t>Cu</a:t>
            </a:r>
            <a:r>
              <a:rPr lang="en-US" altLang="zh-CN" sz="2500" b="1" spc="0" baseline="30000" dirty="0" smtClean="0">
                <a:solidFill>
                  <a:srgbClr val="0F1423"/>
                </a:solidFill>
                <a:latin typeface="Times New Roman" panose="02020603050405020304" pitchFamily="18" charset="0"/>
                <a:ea typeface="宋体" panose="02010600030101010101" pitchFamily="2" charset="-122"/>
              </a:rPr>
              <a:t>2+</a:t>
            </a:r>
            <a:r>
              <a:rPr lang="en-US" altLang="zh-CN" sz="2500" b="1" spc="0" dirty="0" smtClean="0">
                <a:solidFill>
                  <a:srgbClr val="0F1423"/>
                </a:solidFill>
                <a:latin typeface="Times New Roman" panose="02020603050405020304" pitchFamily="18" charset="0"/>
                <a:ea typeface="宋体" panose="02010600030101010101" pitchFamily="2" charset="-122"/>
              </a:rPr>
              <a:t>         </a:t>
            </a:r>
            <a:endParaRPr lang="en-US" altLang="zh-CN"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40000"/>
              </a:lnSpc>
              <a:spcAft>
                <a:spcPts val="0"/>
              </a:spcAft>
              <a:buNone/>
            </a:pPr>
            <a:r>
              <a:rPr lang="en-US" altLang="zh-CN" sz="2500" b="1" spc="0" dirty="0" smtClean="0">
                <a:solidFill>
                  <a:srgbClr val="0F1423"/>
                </a:solidFill>
                <a:latin typeface="Times New Roman" panose="02020603050405020304" pitchFamily="18" charset="0"/>
                <a:ea typeface="宋体" panose="02010600030101010101" pitchFamily="2" charset="-122"/>
              </a:rPr>
              <a:t>    B.</a:t>
            </a:r>
            <a:r>
              <a:rPr lang="zh-CN" altLang="en-US" sz="2500" b="1" spc="0" dirty="0" smtClean="0">
                <a:solidFill>
                  <a:srgbClr val="0F1423"/>
                </a:solidFill>
                <a:latin typeface="Times New Roman" panose="02020603050405020304" pitchFamily="18" charset="0"/>
                <a:ea typeface="宋体" panose="02010600030101010101" pitchFamily="2" charset="-122"/>
              </a:rPr>
              <a:t>无色溶液</a:t>
            </a:r>
            <a:r>
              <a:rPr lang="en-US" altLang="zh-CN" sz="2500" b="1" spc="0" dirty="0" smtClean="0">
                <a:solidFill>
                  <a:srgbClr val="0F1423"/>
                </a:solidFill>
                <a:latin typeface="Times New Roman" panose="02020603050405020304" pitchFamily="18" charset="0"/>
                <a:ea typeface="宋体" panose="02010600030101010101" pitchFamily="2" charset="-122"/>
              </a:rPr>
              <a:t>A</a:t>
            </a:r>
            <a:r>
              <a:rPr lang="zh-CN" altLang="en-US" sz="2500" b="1" spc="0" dirty="0" smtClean="0">
                <a:solidFill>
                  <a:srgbClr val="0F1423"/>
                </a:solidFill>
                <a:latin typeface="Times New Roman" panose="02020603050405020304" pitchFamily="18" charset="0"/>
                <a:ea typeface="宋体" panose="02010600030101010101" pitchFamily="2" charset="-122"/>
              </a:rPr>
              <a:t>中一定有</a:t>
            </a:r>
            <a:r>
              <a:rPr lang="en-US" altLang="zh-CN" sz="2500" b="1" spc="0" dirty="0" err="1" smtClean="0">
                <a:solidFill>
                  <a:srgbClr val="0F1423"/>
                </a:solidFill>
                <a:latin typeface="Times New Roman" panose="02020603050405020304" pitchFamily="18" charset="0"/>
                <a:ea typeface="宋体" panose="02010600030101010101" pitchFamily="2" charset="-122"/>
              </a:rPr>
              <a:t>NaOH</a:t>
            </a:r>
            <a:endParaRPr lang="en-US" altLang="zh-CN"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40000"/>
              </a:lnSpc>
              <a:spcAft>
                <a:spcPts val="0"/>
              </a:spcAft>
              <a:buNone/>
            </a:pPr>
            <a:r>
              <a:rPr lang="en-US" altLang="zh-CN" sz="2500" b="1" spc="0" dirty="0" smtClean="0">
                <a:solidFill>
                  <a:srgbClr val="0F1423"/>
                </a:solidFill>
                <a:latin typeface="Times New Roman" panose="02020603050405020304" pitchFamily="18" charset="0"/>
                <a:ea typeface="宋体" panose="02010600030101010101" pitchFamily="2" charset="-122"/>
              </a:rPr>
              <a:t>    C.</a:t>
            </a:r>
            <a:r>
              <a:rPr lang="zh-CN" altLang="en-US" sz="2500" b="1" spc="0" dirty="0" smtClean="0">
                <a:solidFill>
                  <a:srgbClr val="0F1423"/>
                </a:solidFill>
                <a:latin typeface="Times New Roman" panose="02020603050405020304" pitchFamily="18" charset="0"/>
                <a:ea typeface="宋体" panose="02010600030101010101" pitchFamily="2" charset="-122"/>
              </a:rPr>
              <a:t>原固体粉末一定有</a:t>
            </a:r>
            <a:r>
              <a:rPr lang="en-US" altLang="zh-CN" sz="2500" b="1" spc="0" dirty="0" err="1" smtClean="0">
                <a:solidFill>
                  <a:srgbClr val="0F1423"/>
                </a:solidFill>
                <a:latin typeface="Times New Roman" panose="02020603050405020304" pitchFamily="18" charset="0"/>
                <a:ea typeface="宋体" panose="02010600030101010101" pitchFamily="2" charset="-122"/>
              </a:rPr>
              <a:t>NaCl</a:t>
            </a:r>
            <a:endParaRPr lang="en-US" altLang="zh-CN" sz="2500" b="1" spc="0" dirty="0" smtClean="0">
              <a:solidFill>
                <a:srgbClr val="0F1423"/>
              </a:solidFill>
              <a:latin typeface="Times New Roman" panose="02020603050405020304" pitchFamily="18" charset="0"/>
              <a:ea typeface="宋体" panose="02010600030101010101" pitchFamily="2" charset="-122"/>
            </a:endParaRPr>
          </a:p>
          <a:p>
            <a:pPr marL="0" indent="0" latinLnBrk="1">
              <a:spcAft>
                <a:spcPts val="0"/>
              </a:spcAft>
              <a:buNone/>
            </a:pPr>
            <a:r>
              <a:rPr lang="en-US" altLang="zh-CN" sz="2500" b="1" spc="0" dirty="0" smtClean="0">
                <a:solidFill>
                  <a:srgbClr val="0F1423"/>
                </a:solidFill>
                <a:latin typeface="Times New Roman" panose="02020603050405020304" pitchFamily="18" charset="0"/>
                <a:ea typeface="宋体" panose="02010600030101010101" pitchFamily="2" charset="-122"/>
              </a:rPr>
              <a:t>    D.</a:t>
            </a:r>
            <a:r>
              <a:rPr lang="zh-CN" altLang="en-US" sz="2500" b="1" spc="0" dirty="0" smtClean="0">
                <a:solidFill>
                  <a:srgbClr val="0F1423"/>
                </a:solidFill>
                <a:latin typeface="Times New Roman" panose="02020603050405020304" pitchFamily="18" charset="0"/>
                <a:ea typeface="宋体" panose="02010600030101010101" pitchFamily="2" charset="-122"/>
              </a:rPr>
              <a:t>原固体粉末一定有</a:t>
            </a:r>
            <a:r>
              <a:rPr lang="en-US" altLang="zh-CN" sz="2500" b="1" spc="0" dirty="0" smtClean="0">
                <a:solidFill>
                  <a:srgbClr val="0F1423"/>
                </a:solidFill>
                <a:latin typeface="Times New Roman" panose="02020603050405020304" pitchFamily="18" charset="0"/>
                <a:ea typeface="宋体" panose="02010600030101010101" pitchFamily="2" charset="-122"/>
              </a:rPr>
              <a:t>CaCO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err="1" smtClean="0">
                <a:solidFill>
                  <a:srgbClr val="0F1423"/>
                </a:solidFill>
                <a:latin typeface="Times New Roman" panose="02020603050405020304" pitchFamily="18" charset="0"/>
                <a:ea typeface="宋体" panose="02010600030101010101" pitchFamily="2" charset="-122"/>
              </a:rPr>
              <a:t>NaOH</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smtClean="0">
                <a:solidFill>
                  <a:srgbClr val="0F1423"/>
                </a:solidFill>
                <a:latin typeface="Times New Roman" panose="02020603050405020304" pitchFamily="18" charset="0"/>
                <a:ea typeface="宋体" panose="02010600030101010101" pitchFamily="2" charset="-122"/>
              </a:rPr>
              <a:t>NaNO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smtClean="0">
                <a:solidFill>
                  <a:srgbClr val="0F1423"/>
                </a:solidFill>
                <a:latin typeface="Times New Roman" panose="02020603050405020304" pitchFamily="18" charset="0"/>
                <a:ea typeface="宋体" panose="02010600030101010101" pitchFamily="2" charset="-122"/>
              </a:rPr>
              <a:t>CuCl</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2</a:t>
            </a:r>
            <a:r>
              <a:rPr lang="zh-CN" altLang="en-US" sz="2500" b="1" spc="0" dirty="0" smtClean="0">
                <a:solidFill>
                  <a:srgbClr val="0F1423"/>
                </a:solidFill>
                <a:latin typeface="Times New Roman" panose="02020603050405020304" pitchFamily="18" charset="0"/>
                <a:ea typeface="宋体" panose="02010600030101010101" pitchFamily="2" charset="-122"/>
              </a:rPr>
              <a:t>和</a:t>
            </a:r>
            <a:r>
              <a:rPr lang="en-US" altLang="zh-CN" sz="2500" b="1" spc="0" dirty="0" smtClean="0">
                <a:solidFill>
                  <a:srgbClr val="0F1423"/>
                </a:solidFill>
                <a:latin typeface="Times New Roman" panose="02020603050405020304" pitchFamily="18" charset="0"/>
                <a:ea typeface="宋体" panose="02010600030101010101" pitchFamily="2" charset="-122"/>
              </a:rPr>
              <a:t>Ca(NO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en-US" altLang="zh-CN"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2</a:t>
            </a:r>
            <a:endParaRPr lang="en-US" altLang="zh-CN" sz="2500" b="1" spc="0" dirty="0" smtClean="0">
              <a:solidFill>
                <a:srgbClr val="0F1423"/>
              </a:solidFill>
              <a:latin typeface="Times New Roman" panose="02020603050405020304" pitchFamily="18" charset="0"/>
              <a:ea typeface="宋体" panose="02010600030101010101" pitchFamily="2" charset="-122"/>
            </a:endParaRPr>
          </a:p>
        </p:txBody>
      </p:sp>
      <p:sp>
        <p:nvSpPr>
          <p:cNvPr id="45" name="圆角矩形 44"/>
          <p:cNvSpPr/>
          <p:nvPr>
            <p:custDataLst>
              <p:tags r:id="rId1"/>
            </p:custDataLst>
          </p:nvPr>
        </p:nvSpPr>
        <p:spPr>
          <a:xfrm>
            <a:off x="8589010" y="3481136"/>
            <a:ext cx="1692000" cy="476407"/>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en-US"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Ag</a:t>
            </a:r>
            <a:r>
              <a:rPr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NO</a:t>
            </a:r>
            <a:r>
              <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溶液</a:t>
            </a:r>
            <a:endParaRPr lang="zh-CN"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8" name="圆角矩形 7"/>
          <p:cNvSpPr/>
          <p:nvPr>
            <p:custDataLst>
              <p:tags r:id="rId2"/>
            </p:custDataLst>
          </p:nvPr>
        </p:nvSpPr>
        <p:spPr>
          <a:xfrm>
            <a:off x="2010410" y="2358100"/>
            <a:ext cx="1656000" cy="513025"/>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85000"/>
                    <a:lumOff val="15000"/>
                  </a:schemeClr>
                </a:solidFill>
                <a:latin typeface="Calibri" panose="020F0502020204030204" pitchFamily="34" charset="0"/>
                <a:ea typeface="宋体" panose="02010600030101010101" pitchFamily="2" charset="-122"/>
                <a:sym typeface="+mn-ea"/>
              </a:rPr>
              <a:t>足量水</a:t>
            </a:r>
            <a:r>
              <a:rPr lang="en-US" altLang="zh-CN" sz="2200" b="1" kern="0" dirty="0" smtClean="0">
                <a:solidFill>
                  <a:srgbClr val="0F1423"/>
                </a:solidFill>
                <a:latin typeface="Times New Roman" panose="02020603050405020304" pitchFamily="18" charset="0"/>
                <a:ea typeface="宋体" panose="02010600030101010101" pitchFamily="2" charset="-122"/>
                <a:sym typeface="+mn-ea"/>
              </a:rPr>
              <a:t>搅拌</a:t>
            </a:r>
            <a:endParaRPr lang="zh-CN" altLang="en-US" sz="2200" b="1" kern="0" dirty="0" smtClean="0">
              <a:solidFill>
                <a:schemeClr val="tx1">
                  <a:lumMod val="85000"/>
                  <a:lumOff val="15000"/>
                </a:schemeClr>
              </a:solidFill>
              <a:latin typeface="Calibri" panose="020F0502020204030204" pitchFamily="34" charset="0"/>
              <a:ea typeface="宋体" panose="02010600030101010101" pitchFamily="2" charset="-122"/>
              <a:sym typeface="+mn-ea"/>
            </a:endParaRPr>
          </a:p>
        </p:txBody>
      </p:sp>
      <p:sp>
        <p:nvSpPr>
          <p:cNvPr id="9" name="圆角矩形 8"/>
          <p:cNvSpPr/>
          <p:nvPr>
            <p:custDataLst>
              <p:tags r:id="rId3"/>
            </p:custDataLst>
          </p:nvPr>
        </p:nvSpPr>
        <p:spPr>
          <a:xfrm>
            <a:off x="3981450" y="1728474"/>
            <a:ext cx="900000" cy="53085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ctr">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沉淀</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10" name="圆角矩形 9"/>
          <p:cNvSpPr/>
          <p:nvPr>
            <p:custDataLst>
              <p:tags r:id="rId4"/>
            </p:custDataLst>
          </p:nvPr>
        </p:nvSpPr>
        <p:spPr>
          <a:xfrm>
            <a:off x="3981450" y="3237218"/>
            <a:ext cx="1584000" cy="52707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0">
            <a:spAutoFit/>
          </a:bodyPr>
          <a:p>
            <a:pPr algn="ctr">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无色溶液A</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24" name="圆角矩形 23"/>
          <p:cNvSpPr/>
          <p:nvPr>
            <p:custDataLst>
              <p:tags r:id="rId5"/>
            </p:custDataLst>
          </p:nvPr>
        </p:nvSpPr>
        <p:spPr>
          <a:xfrm>
            <a:off x="721360" y="2482203"/>
            <a:ext cx="1368000" cy="52707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0">
            <a:spAutoFit/>
          </a:bodyPr>
          <a:p>
            <a:pPr algn="ctr">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固体粉末</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grpSp>
        <p:nvGrpSpPr>
          <p:cNvPr id="26" name="组合 25"/>
          <p:cNvGrpSpPr/>
          <p:nvPr/>
        </p:nvGrpSpPr>
        <p:grpSpPr>
          <a:xfrm>
            <a:off x="2107565" y="1996440"/>
            <a:ext cx="1876970" cy="1512000"/>
            <a:chOff x="3295" y="3816"/>
            <a:chExt cx="2956" cy="2721"/>
          </a:xfrm>
        </p:grpSpPr>
        <p:grpSp>
          <p:nvGrpSpPr>
            <p:cNvPr id="4" name="组合 3"/>
            <p:cNvGrpSpPr/>
            <p:nvPr/>
          </p:nvGrpSpPr>
          <p:grpSpPr>
            <a:xfrm rot="5400000" flipH="1">
              <a:off x="4323" y="4609"/>
              <a:ext cx="2721" cy="1134"/>
              <a:chOff x="3456532" y="3351494"/>
              <a:chExt cx="4962526" cy="1211247"/>
            </a:xfrm>
          </p:grpSpPr>
          <p:cxnSp>
            <p:nvCxnSpPr>
              <p:cNvPr id="5" name="肘形连接符 4"/>
              <p:cNvCxnSpPr/>
              <p:nvPr>
                <p:custDataLst>
                  <p:tags r:id="rId6"/>
                </p:custDataLst>
              </p:nvPr>
            </p:nvCxnSpPr>
            <p:spPr>
              <a:xfrm rot="16200000" flipV="1">
                <a:off x="4020066" y="2787960"/>
                <a:ext cx="1205871" cy="2332939"/>
              </a:xfrm>
              <a:prstGeom prst="bentConnector3">
                <a:avLst/>
              </a:prstGeom>
              <a:noFill/>
              <a:ln w="25400" cap="flat" cmpd="sng" algn="ctr">
                <a:solidFill>
                  <a:srgbClr val="3A4150"/>
                </a:solidFill>
                <a:prstDash val="solid"/>
                <a:miter lim="800000"/>
                <a:tailEnd type="triangle" w="lg" len="lg"/>
              </a:ln>
              <a:effectLst/>
            </p:spPr>
          </p:cxnSp>
          <p:cxnSp>
            <p:nvCxnSpPr>
              <p:cNvPr id="7" name="肘形连接符 6"/>
              <p:cNvCxnSpPr/>
              <p:nvPr>
                <p:custDataLst>
                  <p:tags r:id="rId7"/>
                </p:custDataLst>
              </p:nvPr>
            </p:nvCxnSpPr>
            <p:spPr>
              <a:xfrm rot="5400000" flipH="1" flipV="1">
                <a:off x="6501671" y="2645354"/>
                <a:ext cx="1205871" cy="2628903"/>
              </a:xfrm>
              <a:prstGeom prst="bentConnector3">
                <a:avLst/>
              </a:prstGeom>
              <a:noFill/>
              <a:ln w="25400" cap="flat" cmpd="sng" algn="ctr">
                <a:solidFill>
                  <a:srgbClr val="3A4150"/>
                </a:solidFill>
                <a:prstDash val="solid"/>
                <a:miter lim="800000"/>
                <a:tailEnd type="triangle" w="lg" len="lg"/>
              </a:ln>
              <a:effectLst/>
            </p:spPr>
          </p:cxnSp>
        </p:grpSp>
        <p:cxnSp>
          <p:nvCxnSpPr>
            <p:cNvPr id="90" name="肘形连接符 89"/>
            <p:cNvCxnSpPr/>
            <p:nvPr>
              <p:custDataLst>
                <p:tags r:id="rId8"/>
              </p:custDataLst>
            </p:nvPr>
          </p:nvCxnSpPr>
          <p:spPr>
            <a:xfrm rot="10800000" flipV="1">
              <a:off x="3295" y="5258"/>
              <a:ext cx="2098" cy="2"/>
            </a:xfrm>
            <a:prstGeom prst="bentConnector3">
              <a:avLst/>
            </a:prstGeom>
            <a:noFill/>
            <a:ln w="28575" cap="flat" cmpd="sng" algn="ctr">
              <a:solidFill>
                <a:srgbClr val="3A4150"/>
              </a:solidFill>
              <a:prstDash val="solid"/>
              <a:miter lim="800000"/>
              <a:tailEnd type="none" w="lg" len="lg"/>
            </a:ln>
            <a:effectLst/>
          </p:spPr>
        </p:cxnSp>
      </p:grpSp>
      <p:grpSp>
        <p:nvGrpSpPr>
          <p:cNvPr id="27" name="组合 26"/>
          <p:cNvGrpSpPr/>
          <p:nvPr/>
        </p:nvGrpSpPr>
        <p:grpSpPr>
          <a:xfrm>
            <a:off x="4878715" y="1504315"/>
            <a:ext cx="2092860" cy="900000"/>
            <a:chOff x="2955" y="3816"/>
            <a:chExt cx="3296" cy="2721"/>
          </a:xfrm>
        </p:grpSpPr>
        <p:grpSp>
          <p:nvGrpSpPr>
            <p:cNvPr id="28" name="组合 27"/>
            <p:cNvGrpSpPr/>
            <p:nvPr/>
          </p:nvGrpSpPr>
          <p:grpSpPr>
            <a:xfrm rot="5400000" flipH="1">
              <a:off x="4323" y="4609"/>
              <a:ext cx="2721" cy="1134"/>
              <a:chOff x="3456532" y="3351494"/>
              <a:chExt cx="4962526" cy="1211247"/>
            </a:xfrm>
          </p:grpSpPr>
          <p:cxnSp>
            <p:nvCxnSpPr>
              <p:cNvPr id="29" name="肘形连接符 28"/>
              <p:cNvCxnSpPr/>
              <p:nvPr>
                <p:custDataLst>
                  <p:tags r:id="rId9"/>
                </p:custDataLst>
              </p:nvPr>
            </p:nvCxnSpPr>
            <p:spPr>
              <a:xfrm rot="16200000" flipV="1">
                <a:off x="4020066" y="2787960"/>
                <a:ext cx="1205871" cy="2332939"/>
              </a:xfrm>
              <a:prstGeom prst="bentConnector3">
                <a:avLst/>
              </a:prstGeom>
              <a:noFill/>
              <a:ln w="25400" cap="flat" cmpd="sng" algn="ctr">
                <a:solidFill>
                  <a:srgbClr val="3A4150"/>
                </a:solidFill>
                <a:prstDash val="solid"/>
                <a:miter lim="800000"/>
                <a:tailEnd type="triangle" w="lg" len="lg"/>
              </a:ln>
              <a:effectLst/>
            </p:spPr>
          </p:cxnSp>
          <p:cxnSp>
            <p:nvCxnSpPr>
              <p:cNvPr id="30" name="肘形连接符 29"/>
              <p:cNvCxnSpPr/>
              <p:nvPr>
                <p:custDataLst>
                  <p:tags r:id="rId10"/>
                </p:custDataLst>
              </p:nvPr>
            </p:nvCxnSpPr>
            <p:spPr>
              <a:xfrm rot="5400000" flipH="1" flipV="1">
                <a:off x="6501671" y="2645354"/>
                <a:ext cx="1205871" cy="2628903"/>
              </a:xfrm>
              <a:prstGeom prst="bentConnector3">
                <a:avLst/>
              </a:prstGeom>
              <a:noFill/>
              <a:ln w="25400" cap="flat" cmpd="sng" algn="ctr">
                <a:solidFill>
                  <a:srgbClr val="3A4150"/>
                </a:solidFill>
                <a:prstDash val="solid"/>
                <a:miter lim="800000"/>
                <a:tailEnd type="triangle" w="lg" len="lg"/>
              </a:ln>
              <a:effectLst/>
            </p:spPr>
          </p:cxnSp>
        </p:grpSp>
        <p:cxnSp>
          <p:nvCxnSpPr>
            <p:cNvPr id="31" name="肘形连接符 30"/>
            <p:cNvCxnSpPr/>
            <p:nvPr>
              <p:custDataLst>
                <p:tags r:id="rId11"/>
              </p:custDataLst>
            </p:nvPr>
          </p:nvCxnSpPr>
          <p:spPr>
            <a:xfrm rot="10800000" flipV="1">
              <a:off x="2955" y="5258"/>
              <a:ext cx="2438" cy="2"/>
            </a:xfrm>
            <a:prstGeom prst="bentConnector3">
              <a:avLst/>
            </a:prstGeom>
            <a:noFill/>
            <a:ln w="28575" cap="flat" cmpd="sng" algn="ctr">
              <a:solidFill>
                <a:srgbClr val="3A4150"/>
              </a:solidFill>
              <a:prstDash val="solid"/>
              <a:miter lim="800000"/>
              <a:tailEnd type="none" w="lg" len="lg"/>
            </a:ln>
            <a:effectLst/>
          </p:spPr>
        </p:cxnSp>
      </p:grpSp>
      <p:sp>
        <p:nvSpPr>
          <p:cNvPr id="32" name="圆角矩形 31"/>
          <p:cNvSpPr/>
          <p:nvPr>
            <p:custDataLst>
              <p:tags r:id="rId12"/>
            </p:custDataLst>
          </p:nvPr>
        </p:nvSpPr>
        <p:spPr>
          <a:xfrm>
            <a:off x="4820285" y="1583121"/>
            <a:ext cx="1800000" cy="476753"/>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85000"/>
                    <a:lumOff val="15000"/>
                  </a:schemeClr>
                </a:solidFill>
                <a:latin typeface="Calibri" panose="020F0502020204030204" pitchFamily="34" charset="0"/>
                <a:ea typeface="宋体" panose="02010600030101010101" pitchFamily="2" charset="-122"/>
                <a:sym typeface="+mn-ea"/>
              </a:rPr>
              <a:t>足量</a:t>
            </a:r>
            <a:r>
              <a:rPr sz="2200" b="1" kern="0" dirty="0" smtClean="0">
                <a:ea typeface="宋体" panose="02010600030101010101" pitchFamily="2" charset="-122"/>
                <a:sym typeface="+mn-ea"/>
              </a:rPr>
              <a:t>稀</a:t>
            </a:r>
            <a:r>
              <a:rPr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HNO</a:t>
            </a:r>
            <a:r>
              <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rPr>
              <a:t>3</a:t>
            </a:r>
            <a:endPar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33" name="圆角矩形 32"/>
          <p:cNvSpPr/>
          <p:nvPr>
            <p:custDataLst>
              <p:tags r:id="rId13"/>
            </p:custDataLst>
          </p:nvPr>
        </p:nvSpPr>
        <p:spPr>
          <a:xfrm>
            <a:off x="6971030" y="1253459"/>
            <a:ext cx="1512000" cy="52711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无色气体</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34" name="圆角矩形 33"/>
          <p:cNvSpPr/>
          <p:nvPr>
            <p:custDataLst>
              <p:tags r:id="rId14"/>
            </p:custDataLst>
          </p:nvPr>
        </p:nvSpPr>
        <p:spPr>
          <a:xfrm>
            <a:off x="6971030" y="2132933"/>
            <a:ext cx="1728000" cy="52711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蓝色溶液B</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40" name="圆角矩形 39"/>
          <p:cNvSpPr/>
          <p:nvPr>
            <p:custDataLst>
              <p:tags r:id="rId15"/>
            </p:custDataLst>
          </p:nvPr>
        </p:nvSpPr>
        <p:spPr>
          <a:xfrm>
            <a:off x="5596255" y="3111739"/>
            <a:ext cx="1368000" cy="476407"/>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sz="2200" b="1" kern="0" dirty="0" smtClean="0">
                <a:ea typeface="宋体" panose="02010600030101010101" pitchFamily="2" charset="-122"/>
                <a:sym typeface="+mn-ea"/>
              </a:rPr>
              <a:t>分成两份</a:t>
            </a:r>
            <a:endParaRPr sz="2200" b="1" kern="0" dirty="0" smtClean="0">
              <a:ea typeface="宋体" panose="02010600030101010101" pitchFamily="2" charset="-122"/>
              <a:sym typeface="+mn-ea"/>
            </a:endParaRPr>
          </a:p>
        </p:txBody>
      </p:sp>
      <p:sp>
        <p:nvSpPr>
          <p:cNvPr id="41" name="圆角矩形 40"/>
          <p:cNvSpPr/>
          <p:nvPr>
            <p:custDataLst>
              <p:tags r:id="rId16"/>
            </p:custDataLst>
          </p:nvPr>
        </p:nvSpPr>
        <p:spPr>
          <a:xfrm>
            <a:off x="6857365" y="3496376"/>
            <a:ext cx="1800000" cy="476753"/>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85000"/>
                    <a:lumOff val="15000"/>
                  </a:schemeClr>
                </a:solidFill>
                <a:latin typeface="Calibri" panose="020F0502020204030204" pitchFamily="34" charset="0"/>
                <a:ea typeface="宋体" panose="02010600030101010101" pitchFamily="2" charset="-122"/>
                <a:sym typeface="+mn-ea"/>
              </a:rPr>
              <a:t>足量</a:t>
            </a:r>
            <a:r>
              <a:rPr sz="2200" b="1" kern="0" dirty="0" smtClean="0">
                <a:ea typeface="宋体" panose="02010600030101010101" pitchFamily="2" charset="-122"/>
                <a:sym typeface="+mn-ea"/>
              </a:rPr>
              <a:t>稀</a:t>
            </a:r>
            <a:r>
              <a:rPr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HNO</a:t>
            </a:r>
            <a:r>
              <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rPr>
              <a:t>3</a:t>
            </a:r>
            <a:endPar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43" name="组合 42"/>
          <p:cNvGrpSpPr/>
          <p:nvPr/>
        </p:nvGrpSpPr>
        <p:grpSpPr>
          <a:xfrm>
            <a:off x="5579110" y="3110230"/>
            <a:ext cx="3131820" cy="792000"/>
            <a:chOff x="9074" y="5618"/>
            <a:chExt cx="4932" cy="1443"/>
          </a:xfrm>
        </p:grpSpPr>
        <p:grpSp>
          <p:nvGrpSpPr>
            <p:cNvPr id="36" name="组合 35"/>
            <p:cNvGrpSpPr/>
            <p:nvPr/>
          </p:nvGrpSpPr>
          <p:grpSpPr>
            <a:xfrm rot="5400000" flipH="1">
              <a:off x="10520" y="4172"/>
              <a:ext cx="1417" cy="4309"/>
              <a:chOff x="3456534" y="3356870"/>
              <a:chExt cx="4962524" cy="1208147"/>
            </a:xfrm>
          </p:grpSpPr>
          <p:cxnSp>
            <p:nvCxnSpPr>
              <p:cNvPr id="37" name="肘形连接符 36"/>
              <p:cNvCxnSpPr/>
              <p:nvPr>
                <p:custDataLst>
                  <p:tags r:id="rId17"/>
                </p:custDataLst>
              </p:nvPr>
            </p:nvCxnSpPr>
            <p:spPr>
              <a:xfrm rot="16200000" flipV="1">
                <a:off x="4044604" y="2771075"/>
                <a:ext cx="1205871" cy="2382012"/>
              </a:xfrm>
              <a:prstGeom prst="bentConnector3">
                <a:avLst/>
              </a:prstGeom>
              <a:noFill/>
              <a:ln w="25400" cap="flat" cmpd="sng" algn="ctr">
                <a:solidFill>
                  <a:srgbClr val="3A4150"/>
                </a:solidFill>
                <a:prstDash val="solid"/>
                <a:miter lim="800000"/>
                <a:tailEnd type="none" w="lg" len="lg"/>
              </a:ln>
              <a:effectLst/>
            </p:spPr>
          </p:cxnSp>
          <p:cxnSp>
            <p:nvCxnSpPr>
              <p:cNvPr id="38" name="肘形连接符 37"/>
              <p:cNvCxnSpPr/>
              <p:nvPr>
                <p:custDataLst>
                  <p:tags r:id="rId18"/>
                </p:custDataLst>
              </p:nvPr>
            </p:nvCxnSpPr>
            <p:spPr>
              <a:xfrm rot="5400000" flipH="1" flipV="1">
                <a:off x="6501671" y="2645354"/>
                <a:ext cx="1205871" cy="2628903"/>
              </a:xfrm>
              <a:prstGeom prst="bentConnector3">
                <a:avLst/>
              </a:prstGeom>
              <a:noFill/>
              <a:ln w="25400" cap="flat" cmpd="sng" algn="ctr">
                <a:solidFill>
                  <a:srgbClr val="3A4150"/>
                </a:solidFill>
                <a:prstDash val="solid"/>
                <a:miter lim="800000"/>
                <a:tailEnd type="triangle" w="lg" len="lg"/>
              </a:ln>
              <a:effectLst/>
            </p:spPr>
          </p:cxnSp>
        </p:grpSp>
        <p:cxnSp>
          <p:nvCxnSpPr>
            <p:cNvPr id="42" name="肘形连接符 41"/>
            <p:cNvCxnSpPr/>
            <p:nvPr>
              <p:custDataLst>
                <p:tags r:id="rId19"/>
              </p:custDataLst>
            </p:nvPr>
          </p:nvCxnSpPr>
          <p:spPr>
            <a:xfrm rot="10800000" flipV="1">
              <a:off x="11908" y="7059"/>
              <a:ext cx="2098" cy="2"/>
            </a:xfrm>
            <a:prstGeom prst="bentConnector3">
              <a:avLst/>
            </a:prstGeom>
            <a:noFill/>
            <a:ln w="25400" cap="flat" cmpd="sng" algn="ctr">
              <a:solidFill>
                <a:srgbClr val="3A4150"/>
              </a:solidFill>
              <a:prstDash val="solid"/>
              <a:miter lim="800000"/>
              <a:headEnd type="triangle" w="lg" len="lg"/>
              <a:tailEnd type="none" w="lg" len="lg"/>
            </a:ln>
            <a:effectLst/>
          </p:spPr>
        </p:cxnSp>
      </p:grpSp>
      <p:cxnSp>
        <p:nvCxnSpPr>
          <p:cNvPr id="44" name="肘形连接符 43"/>
          <p:cNvCxnSpPr/>
          <p:nvPr>
            <p:custDataLst>
              <p:tags r:id="rId20"/>
            </p:custDataLst>
          </p:nvPr>
        </p:nvCxnSpPr>
        <p:spPr>
          <a:xfrm rot="10800000" flipV="1">
            <a:off x="8722490" y="3889216"/>
            <a:ext cx="1548000" cy="1111"/>
          </a:xfrm>
          <a:prstGeom prst="bentConnector3">
            <a:avLst/>
          </a:prstGeom>
          <a:noFill/>
          <a:ln w="28575" cap="flat" cmpd="sng" algn="ctr">
            <a:solidFill>
              <a:srgbClr val="3A4150"/>
            </a:solidFill>
            <a:prstDash val="solid"/>
            <a:miter lim="800000"/>
            <a:headEnd type="triangle" w="lg" len="lg"/>
            <a:tailEnd type="none" w="lg" len="lg"/>
          </a:ln>
          <a:effectLst/>
        </p:spPr>
      </p:cxnSp>
      <p:sp>
        <p:nvSpPr>
          <p:cNvPr id="46" name="圆角矩形 45"/>
          <p:cNvSpPr/>
          <p:nvPr>
            <p:custDataLst>
              <p:tags r:id="rId21"/>
            </p:custDataLst>
          </p:nvPr>
        </p:nvSpPr>
        <p:spPr>
          <a:xfrm>
            <a:off x="6937375" y="2705975"/>
            <a:ext cx="1332000" cy="476405"/>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sz="2200" b="1" kern="0" dirty="0" smtClean="0">
                <a:ea typeface="宋体" panose="02010600030101010101" pitchFamily="2" charset="-122"/>
                <a:sym typeface="+mn-ea"/>
              </a:rPr>
              <a:t>通入</a:t>
            </a:r>
            <a:r>
              <a:rPr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CO</a:t>
            </a:r>
            <a:r>
              <a:rPr lang="en-US"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rPr>
              <a:t>2</a:t>
            </a:r>
            <a:endParaRPr lang="en-US"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47" name="圆角矩形 46"/>
          <p:cNvSpPr/>
          <p:nvPr>
            <p:custDataLst>
              <p:tags r:id="rId22"/>
            </p:custDataLst>
          </p:nvPr>
        </p:nvSpPr>
        <p:spPr>
          <a:xfrm>
            <a:off x="8345805" y="2827644"/>
            <a:ext cx="1368000" cy="52707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0">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白色沉淀</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48" name="圆角矩形 47"/>
          <p:cNvSpPr/>
          <p:nvPr>
            <p:custDataLst>
              <p:tags r:id="rId23"/>
            </p:custDataLst>
          </p:nvPr>
        </p:nvSpPr>
        <p:spPr>
          <a:xfrm>
            <a:off x="10270490" y="3577579"/>
            <a:ext cx="1368000" cy="52707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0">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白色沉淀</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Tree>
    <p:custDataLst>
      <p:tags r:id="rId24"/>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35635" y="219710"/>
            <a:ext cx="11100435" cy="6270625"/>
          </a:xfrm>
          <a:noFill/>
          <a:ln w="25400" cmpd="tri">
            <a:solidFill>
              <a:schemeClr val="tx1"/>
            </a:solidFill>
            <a:prstDash val="dashDot"/>
          </a:ln>
          <a:extLst>
            <a:ext uri="{909E8E84-426E-40DD-AFC4-6F175D3DCCD1}">
              <a14:hiddenFill xmlns:a14="http://schemas.microsoft.com/office/drawing/2010/main">
                <a:solidFill>
                  <a:schemeClr val="bg1">
                    <a:lumMod val="85000"/>
                  </a:schemeClr>
                </a:solidFill>
              </a14:hiddenFill>
            </a:ext>
          </a:extLst>
        </p:spPr>
        <p:txBody>
          <a:bodyPr wrap="square">
            <a:spAutoFit/>
          </a:bodyPr>
          <a:lstStyle/>
          <a:p>
            <a:pPr marL="0" indent="0" latinLnBrk="1">
              <a:lnSpc>
                <a:spcPct val="120000"/>
              </a:lnSpc>
              <a:spcAft>
                <a:spcPts val="0"/>
              </a:spcAft>
              <a:buNone/>
            </a:pPr>
            <a:r>
              <a:rPr lang="en-US" altLang="zh-CN" sz="2500" b="1" spc="0" dirty="0" smtClean="0">
                <a:solidFill>
                  <a:srgbClr val="C00000"/>
                </a:solidFill>
                <a:latin typeface="Times New Roman" panose="02020603050405020304" pitchFamily="18" charset="0"/>
                <a:ea typeface="宋体" panose="02010600030101010101" pitchFamily="2" charset="-122"/>
              </a:rPr>
              <a:t>10.</a:t>
            </a:r>
            <a:r>
              <a:rPr lang="zh-CN" altLang="en-US" sz="2500" b="1" spc="0" dirty="0" smtClean="0">
                <a:solidFill>
                  <a:srgbClr val="0F1423"/>
                </a:solidFill>
                <a:latin typeface="Times New Roman" panose="02020603050405020304" pitchFamily="18" charset="0"/>
                <a:ea typeface="宋体" panose="02010600030101010101" pitchFamily="2" charset="-122"/>
              </a:rPr>
              <a:t>一包固体粉末可能含有</a:t>
            </a:r>
            <a:r>
              <a:rPr lang="en-US" altLang="zh-CN" sz="2500" b="1" spc="0" dirty="0" smtClean="0">
                <a:solidFill>
                  <a:srgbClr val="0F1423"/>
                </a:solidFill>
                <a:latin typeface="Times New Roman" panose="02020603050405020304" pitchFamily="18" charset="0"/>
                <a:ea typeface="宋体" panose="02010600030101010101" pitchFamily="2" charset="-122"/>
              </a:rPr>
              <a:t>NaNO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smtClean="0">
                <a:solidFill>
                  <a:srgbClr val="0F1423"/>
                </a:solidFill>
                <a:latin typeface="Times New Roman" panose="02020603050405020304" pitchFamily="18" charset="0"/>
                <a:ea typeface="宋体" panose="02010600030101010101" pitchFamily="2" charset="-122"/>
              </a:rPr>
              <a:t>CaCO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err="1" smtClean="0">
                <a:solidFill>
                  <a:srgbClr val="0F1423"/>
                </a:solidFill>
                <a:latin typeface="Times New Roman" panose="02020603050405020304" pitchFamily="18" charset="0"/>
                <a:ea typeface="宋体" panose="02010600030101010101" pitchFamily="2" charset="-122"/>
              </a:rPr>
              <a:t>NaOH</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smtClean="0">
                <a:solidFill>
                  <a:srgbClr val="0F1423"/>
                </a:solidFill>
                <a:latin typeface="Times New Roman" panose="02020603050405020304" pitchFamily="18" charset="0"/>
                <a:ea typeface="宋体" panose="02010600030101010101" pitchFamily="2" charset="-122"/>
              </a:rPr>
              <a:t>CuCl</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2</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err="1" smtClean="0">
                <a:solidFill>
                  <a:srgbClr val="0F1423"/>
                </a:solidFill>
                <a:latin typeface="Times New Roman" panose="02020603050405020304" pitchFamily="18" charset="0"/>
                <a:ea typeface="宋体" panose="02010600030101010101" pitchFamily="2" charset="-122"/>
              </a:rPr>
              <a:t>NaCl</a:t>
            </a:r>
            <a:r>
              <a:rPr lang="zh-CN" altLang="en-US" sz="2500" b="1" spc="0" dirty="0" smtClean="0">
                <a:solidFill>
                  <a:srgbClr val="0F1423"/>
                </a:solidFill>
                <a:latin typeface="Times New Roman" panose="02020603050405020304" pitchFamily="18" charset="0"/>
                <a:ea typeface="宋体" panose="02010600030101010101" pitchFamily="2" charset="-122"/>
              </a:rPr>
              <a:t>和</a:t>
            </a:r>
            <a:r>
              <a:rPr lang="en-US" altLang="zh-CN" sz="2500" b="1" spc="0" dirty="0" smtClean="0">
                <a:solidFill>
                  <a:srgbClr val="0F1423"/>
                </a:solidFill>
                <a:latin typeface="Times New Roman" panose="02020603050405020304" pitchFamily="18" charset="0"/>
                <a:ea typeface="宋体" panose="02010600030101010101" pitchFamily="2" charset="-122"/>
              </a:rPr>
              <a:t>Ca(NO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en-US" altLang="zh-CN"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2</a:t>
            </a:r>
            <a:r>
              <a:rPr lang="zh-CN" altLang="en-US" sz="2500" b="1" spc="0" dirty="0" smtClean="0">
                <a:solidFill>
                  <a:srgbClr val="0F1423"/>
                </a:solidFill>
                <a:latin typeface="Times New Roman" panose="02020603050405020304" pitchFamily="18" charset="0"/>
                <a:ea typeface="宋体" panose="02010600030101010101" pitchFamily="2" charset="-122"/>
              </a:rPr>
              <a:t>中的一种或几种，为确定其组成，某同学设计了如下实验方案</a:t>
            </a:r>
            <a:r>
              <a:rPr sz="2500" b="1" spc="0" dirty="0" smtClean="0">
                <a:solidFill>
                  <a:srgbClr val="0F1423"/>
                </a:solidFill>
                <a:latin typeface="Times New Roman" panose="02020603050405020304" pitchFamily="18" charset="0"/>
                <a:ea typeface="宋体" panose="02010600030101010101" pitchFamily="2" charset="-122"/>
              </a:rPr>
              <a:t>：</a:t>
            </a: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endParaRPr lang="zh-CN" altLang="en-US"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20000"/>
              </a:lnSpc>
              <a:spcAft>
                <a:spcPts val="0"/>
              </a:spcAft>
              <a:buNone/>
            </a:pPr>
            <a:r>
              <a:rPr lang="zh-CN" altLang="en-US" sz="2500" b="1" spc="0" dirty="0" smtClean="0">
                <a:solidFill>
                  <a:srgbClr val="0F1423"/>
                </a:solidFill>
                <a:latin typeface="Times New Roman" panose="02020603050405020304" pitchFamily="18" charset="0"/>
                <a:ea typeface="宋体" panose="02010600030101010101" pitchFamily="2" charset="-122"/>
              </a:rPr>
              <a:t>下列判断正确的是</a:t>
            </a:r>
            <a:r>
              <a:rPr lang="en-US" altLang="zh-CN" sz="2500" b="1" spc="0" dirty="0" smtClean="0">
                <a:solidFill>
                  <a:srgbClr val="0F1423"/>
                </a:solidFill>
                <a:latin typeface="Times New Roman" panose="02020603050405020304" pitchFamily="18" charset="0"/>
                <a:ea typeface="宋体" panose="02010600030101010101" pitchFamily="2" charset="-122"/>
              </a:rPr>
              <a:t>(</a:t>
            </a:r>
            <a:r>
              <a:rPr lang="zh-CN" altLang="en-US" sz="2500" b="1" spc="0" dirty="0" smtClean="0">
                <a:solidFill>
                  <a:srgbClr val="0F1423"/>
                </a:solidFill>
                <a:latin typeface="Times New Roman" panose="02020603050405020304" pitchFamily="18" charset="0"/>
                <a:ea typeface="宋体" panose="02010600030101010101" pitchFamily="2" charset="-122"/>
              </a:rPr>
              <a:t>　  </a:t>
            </a:r>
            <a:r>
              <a:rPr lang="en-US" altLang="zh-CN" sz="2500" b="1" spc="0" dirty="0" smtClean="0">
                <a:solidFill>
                  <a:srgbClr val="0F1423"/>
                </a:solidFill>
                <a:latin typeface="Times New Roman" panose="02020603050405020304" pitchFamily="18" charset="0"/>
                <a:ea typeface="宋体" panose="02010600030101010101" pitchFamily="2" charset="-122"/>
              </a:rPr>
              <a:t>)</a:t>
            </a:r>
            <a:endParaRPr lang="en-US" altLang="zh-CN"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40000"/>
              </a:lnSpc>
              <a:spcAft>
                <a:spcPts val="0"/>
              </a:spcAft>
              <a:buNone/>
            </a:pPr>
            <a:r>
              <a:rPr lang="en-US" altLang="zh-CN" sz="2500" b="1" spc="0" dirty="0" smtClean="0">
                <a:solidFill>
                  <a:srgbClr val="0F1423"/>
                </a:solidFill>
                <a:latin typeface="Times New Roman" panose="02020603050405020304" pitchFamily="18" charset="0"/>
                <a:ea typeface="宋体" panose="02010600030101010101" pitchFamily="2" charset="-122"/>
              </a:rPr>
              <a:t>    A.</a:t>
            </a:r>
            <a:r>
              <a:rPr lang="zh-CN" altLang="en-US" sz="2500" b="1" spc="0" dirty="0" smtClean="0">
                <a:solidFill>
                  <a:srgbClr val="0F1423"/>
                </a:solidFill>
                <a:latin typeface="Times New Roman" panose="02020603050405020304" pitchFamily="18" charset="0"/>
                <a:ea typeface="宋体" panose="02010600030101010101" pitchFamily="2" charset="-122"/>
              </a:rPr>
              <a:t>蓝色溶液</a:t>
            </a:r>
            <a:r>
              <a:rPr lang="en-US" altLang="zh-CN" sz="2500" b="1" spc="0" dirty="0" smtClean="0">
                <a:solidFill>
                  <a:srgbClr val="0F1423"/>
                </a:solidFill>
                <a:latin typeface="Times New Roman" panose="02020603050405020304" pitchFamily="18" charset="0"/>
                <a:ea typeface="宋体" panose="02010600030101010101" pitchFamily="2" charset="-122"/>
              </a:rPr>
              <a:t>B</a:t>
            </a:r>
            <a:r>
              <a:rPr lang="zh-CN" altLang="en-US" sz="2500" b="1" spc="0" dirty="0" smtClean="0">
                <a:solidFill>
                  <a:srgbClr val="0F1423"/>
                </a:solidFill>
                <a:latin typeface="Times New Roman" panose="02020603050405020304" pitchFamily="18" charset="0"/>
                <a:ea typeface="宋体" panose="02010600030101010101" pitchFamily="2" charset="-122"/>
              </a:rPr>
              <a:t>中阳离子只有</a:t>
            </a:r>
            <a:r>
              <a:rPr lang="en-US" altLang="zh-CN" sz="2500" b="1" spc="0" dirty="0" smtClean="0">
                <a:solidFill>
                  <a:srgbClr val="0F1423"/>
                </a:solidFill>
                <a:latin typeface="Times New Roman" panose="02020603050405020304" pitchFamily="18" charset="0"/>
                <a:ea typeface="宋体" panose="02010600030101010101" pitchFamily="2" charset="-122"/>
              </a:rPr>
              <a:t>Cu</a:t>
            </a:r>
            <a:r>
              <a:rPr lang="en-US" altLang="zh-CN" sz="2500" b="1" spc="0" baseline="30000" dirty="0" smtClean="0">
                <a:solidFill>
                  <a:srgbClr val="0F1423"/>
                </a:solidFill>
                <a:latin typeface="Times New Roman" panose="02020603050405020304" pitchFamily="18" charset="0"/>
                <a:ea typeface="宋体" panose="02010600030101010101" pitchFamily="2" charset="-122"/>
              </a:rPr>
              <a:t>2+</a:t>
            </a:r>
            <a:r>
              <a:rPr lang="en-US" altLang="zh-CN" sz="2500" b="1" spc="0" dirty="0" smtClean="0">
                <a:solidFill>
                  <a:srgbClr val="0F1423"/>
                </a:solidFill>
                <a:latin typeface="Times New Roman" panose="02020603050405020304" pitchFamily="18" charset="0"/>
                <a:ea typeface="宋体" panose="02010600030101010101" pitchFamily="2" charset="-122"/>
              </a:rPr>
              <a:t>         </a:t>
            </a:r>
            <a:endParaRPr lang="en-US" altLang="zh-CN"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40000"/>
              </a:lnSpc>
              <a:spcAft>
                <a:spcPts val="0"/>
              </a:spcAft>
              <a:buNone/>
            </a:pPr>
            <a:r>
              <a:rPr lang="en-US" altLang="zh-CN" sz="2500" b="1" spc="0" dirty="0" smtClean="0">
                <a:solidFill>
                  <a:srgbClr val="0F1423"/>
                </a:solidFill>
                <a:latin typeface="Times New Roman" panose="02020603050405020304" pitchFamily="18" charset="0"/>
                <a:ea typeface="宋体" panose="02010600030101010101" pitchFamily="2" charset="-122"/>
              </a:rPr>
              <a:t>    B.</a:t>
            </a:r>
            <a:r>
              <a:rPr lang="zh-CN" altLang="en-US" sz="2500" b="1" spc="0" dirty="0" smtClean="0">
                <a:solidFill>
                  <a:srgbClr val="0F1423"/>
                </a:solidFill>
                <a:latin typeface="Times New Roman" panose="02020603050405020304" pitchFamily="18" charset="0"/>
                <a:ea typeface="宋体" panose="02010600030101010101" pitchFamily="2" charset="-122"/>
              </a:rPr>
              <a:t>无色溶液</a:t>
            </a:r>
            <a:r>
              <a:rPr lang="en-US" altLang="zh-CN" sz="2500" b="1" spc="0" dirty="0" smtClean="0">
                <a:solidFill>
                  <a:srgbClr val="0F1423"/>
                </a:solidFill>
                <a:latin typeface="Times New Roman" panose="02020603050405020304" pitchFamily="18" charset="0"/>
                <a:ea typeface="宋体" panose="02010600030101010101" pitchFamily="2" charset="-122"/>
              </a:rPr>
              <a:t>A</a:t>
            </a:r>
            <a:r>
              <a:rPr lang="zh-CN" altLang="en-US" sz="2500" b="1" spc="0" dirty="0" smtClean="0">
                <a:solidFill>
                  <a:srgbClr val="0F1423"/>
                </a:solidFill>
                <a:latin typeface="Times New Roman" panose="02020603050405020304" pitchFamily="18" charset="0"/>
                <a:ea typeface="宋体" panose="02010600030101010101" pitchFamily="2" charset="-122"/>
              </a:rPr>
              <a:t>中一定有</a:t>
            </a:r>
            <a:r>
              <a:rPr lang="en-US" altLang="zh-CN" sz="2500" b="1" spc="0" dirty="0" err="1" smtClean="0">
                <a:solidFill>
                  <a:srgbClr val="0F1423"/>
                </a:solidFill>
                <a:latin typeface="Times New Roman" panose="02020603050405020304" pitchFamily="18" charset="0"/>
                <a:ea typeface="宋体" panose="02010600030101010101" pitchFamily="2" charset="-122"/>
              </a:rPr>
              <a:t>NaOH</a:t>
            </a:r>
            <a:endParaRPr lang="en-US" altLang="zh-CN" sz="2500" b="1" spc="0" dirty="0" smtClean="0">
              <a:solidFill>
                <a:srgbClr val="0F1423"/>
              </a:solidFill>
              <a:latin typeface="Times New Roman" panose="02020603050405020304" pitchFamily="18" charset="0"/>
              <a:ea typeface="宋体" panose="02010600030101010101" pitchFamily="2" charset="-122"/>
            </a:endParaRPr>
          </a:p>
          <a:p>
            <a:pPr marL="0" indent="0" latinLnBrk="1">
              <a:lnSpc>
                <a:spcPct val="140000"/>
              </a:lnSpc>
              <a:spcAft>
                <a:spcPts val="0"/>
              </a:spcAft>
              <a:buNone/>
            </a:pPr>
            <a:r>
              <a:rPr lang="en-US" altLang="zh-CN" sz="2500" b="1" spc="0" dirty="0" smtClean="0">
                <a:solidFill>
                  <a:srgbClr val="0F1423"/>
                </a:solidFill>
                <a:latin typeface="Times New Roman" panose="02020603050405020304" pitchFamily="18" charset="0"/>
                <a:ea typeface="宋体" panose="02010600030101010101" pitchFamily="2" charset="-122"/>
              </a:rPr>
              <a:t>    C.</a:t>
            </a:r>
            <a:r>
              <a:rPr lang="zh-CN" altLang="en-US" sz="2500" b="1" spc="0" dirty="0" smtClean="0">
                <a:solidFill>
                  <a:srgbClr val="0F1423"/>
                </a:solidFill>
                <a:latin typeface="Times New Roman" panose="02020603050405020304" pitchFamily="18" charset="0"/>
                <a:ea typeface="宋体" panose="02010600030101010101" pitchFamily="2" charset="-122"/>
              </a:rPr>
              <a:t>原固体粉末一定有</a:t>
            </a:r>
            <a:r>
              <a:rPr lang="en-US" altLang="zh-CN" sz="2500" b="1" spc="0" dirty="0" err="1" smtClean="0">
                <a:solidFill>
                  <a:srgbClr val="0F1423"/>
                </a:solidFill>
                <a:latin typeface="Times New Roman" panose="02020603050405020304" pitchFamily="18" charset="0"/>
                <a:ea typeface="宋体" panose="02010600030101010101" pitchFamily="2" charset="-122"/>
              </a:rPr>
              <a:t>NaCl</a:t>
            </a:r>
            <a:endParaRPr lang="en-US" altLang="zh-CN" sz="2500" b="1" spc="0" dirty="0" smtClean="0">
              <a:solidFill>
                <a:srgbClr val="0F1423"/>
              </a:solidFill>
              <a:latin typeface="Times New Roman" panose="02020603050405020304" pitchFamily="18" charset="0"/>
              <a:ea typeface="宋体" panose="02010600030101010101" pitchFamily="2" charset="-122"/>
            </a:endParaRPr>
          </a:p>
          <a:p>
            <a:pPr marL="0" indent="0" latinLnBrk="1">
              <a:spcAft>
                <a:spcPts val="0"/>
              </a:spcAft>
              <a:buNone/>
            </a:pPr>
            <a:r>
              <a:rPr lang="en-US" altLang="zh-CN" sz="2500" b="1" spc="0" dirty="0" smtClean="0">
                <a:solidFill>
                  <a:srgbClr val="0F1423"/>
                </a:solidFill>
                <a:latin typeface="Times New Roman" panose="02020603050405020304" pitchFamily="18" charset="0"/>
                <a:ea typeface="宋体" panose="02010600030101010101" pitchFamily="2" charset="-122"/>
              </a:rPr>
              <a:t>    D.</a:t>
            </a:r>
            <a:r>
              <a:rPr lang="zh-CN" altLang="en-US" sz="2500" b="1" spc="0" dirty="0" smtClean="0">
                <a:solidFill>
                  <a:srgbClr val="0F1423"/>
                </a:solidFill>
                <a:latin typeface="Times New Roman" panose="02020603050405020304" pitchFamily="18" charset="0"/>
                <a:ea typeface="宋体" panose="02010600030101010101" pitchFamily="2" charset="-122"/>
              </a:rPr>
              <a:t>原固体粉末一定有</a:t>
            </a:r>
            <a:r>
              <a:rPr lang="en-US" altLang="zh-CN" sz="2500" b="1" spc="0" dirty="0" smtClean="0">
                <a:solidFill>
                  <a:srgbClr val="0F1423"/>
                </a:solidFill>
                <a:latin typeface="Times New Roman" panose="02020603050405020304" pitchFamily="18" charset="0"/>
                <a:ea typeface="宋体" panose="02010600030101010101" pitchFamily="2" charset="-122"/>
              </a:rPr>
              <a:t>CaCO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err="1" smtClean="0">
                <a:solidFill>
                  <a:srgbClr val="0F1423"/>
                </a:solidFill>
                <a:latin typeface="Times New Roman" panose="02020603050405020304" pitchFamily="18" charset="0"/>
                <a:ea typeface="宋体" panose="02010600030101010101" pitchFamily="2" charset="-122"/>
              </a:rPr>
              <a:t>NaOH</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smtClean="0">
                <a:solidFill>
                  <a:srgbClr val="0F1423"/>
                </a:solidFill>
                <a:latin typeface="Times New Roman" panose="02020603050405020304" pitchFamily="18" charset="0"/>
                <a:ea typeface="宋体" panose="02010600030101010101" pitchFamily="2" charset="-122"/>
              </a:rPr>
              <a:t>NaNO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zh-CN" altLang="en-US"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dirty="0" smtClean="0">
                <a:solidFill>
                  <a:srgbClr val="0F1423"/>
                </a:solidFill>
                <a:latin typeface="Times New Roman" panose="02020603050405020304" pitchFamily="18" charset="0"/>
                <a:ea typeface="宋体" panose="02010600030101010101" pitchFamily="2" charset="-122"/>
              </a:rPr>
              <a:t>CuCl</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2</a:t>
            </a:r>
            <a:r>
              <a:rPr lang="zh-CN" altLang="en-US" sz="2500" b="1" spc="0" dirty="0" smtClean="0">
                <a:solidFill>
                  <a:srgbClr val="0F1423"/>
                </a:solidFill>
                <a:latin typeface="Times New Roman" panose="02020603050405020304" pitchFamily="18" charset="0"/>
                <a:ea typeface="宋体" panose="02010600030101010101" pitchFamily="2" charset="-122"/>
              </a:rPr>
              <a:t>和</a:t>
            </a:r>
            <a:r>
              <a:rPr lang="en-US" altLang="zh-CN" sz="2500" b="1" spc="0" dirty="0" smtClean="0">
                <a:solidFill>
                  <a:srgbClr val="0F1423"/>
                </a:solidFill>
                <a:latin typeface="Times New Roman" panose="02020603050405020304" pitchFamily="18" charset="0"/>
                <a:ea typeface="宋体" panose="02010600030101010101" pitchFamily="2" charset="-122"/>
              </a:rPr>
              <a:t>Ca(NO</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3</a:t>
            </a:r>
            <a:r>
              <a:rPr lang="en-US" altLang="zh-CN" sz="2500" b="1" spc="0" dirty="0" smtClean="0">
                <a:solidFill>
                  <a:srgbClr val="0F1423"/>
                </a:solidFill>
                <a:latin typeface="Times New Roman" panose="02020603050405020304" pitchFamily="18" charset="0"/>
                <a:ea typeface="宋体" panose="02010600030101010101" pitchFamily="2" charset="-122"/>
              </a:rPr>
              <a:t>)</a:t>
            </a:r>
            <a:r>
              <a:rPr lang="en-US" altLang="zh-CN" sz="2500" b="1" spc="0" baseline="-25000" dirty="0" smtClean="0">
                <a:solidFill>
                  <a:srgbClr val="0F1423"/>
                </a:solidFill>
                <a:latin typeface="Times New Roman" panose="02020603050405020304" pitchFamily="18" charset="0"/>
                <a:ea typeface="宋体" panose="02010600030101010101" pitchFamily="2" charset="-122"/>
              </a:rPr>
              <a:t>2</a:t>
            </a:r>
            <a:endParaRPr lang="en-US" altLang="zh-CN" sz="2500" b="1" spc="0" dirty="0" smtClean="0">
              <a:solidFill>
                <a:srgbClr val="0F1423"/>
              </a:solidFill>
              <a:latin typeface="Times New Roman" panose="02020603050405020304" pitchFamily="18" charset="0"/>
              <a:ea typeface="宋体" panose="02010600030101010101" pitchFamily="2" charset="-122"/>
            </a:endParaRPr>
          </a:p>
        </p:txBody>
      </p:sp>
      <p:sp>
        <p:nvSpPr>
          <p:cNvPr id="45" name="圆角矩形 44"/>
          <p:cNvSpPr/>
          <p:nvPr>
            <p:custDataLst>
              <p:tags r:id="rId1"/>
            </p:custDataLst>
          </p:nvPr>
        </p:nvSpPr>
        <p:spPr>
          <a:xfrm>
            <a:off x="8589010" y="3481136"/>
            <a:ext cx="1692000" cy="476407"/>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en-US"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Ag</a:t>
            </a:r>
            <a:r>
              <a:rPr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NO</a:t>
            </a:r>
            <a:r>
              <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rPr>
              <a:t>3</a:t>
            </a:r>
            <a:r>
              <a:rPr lang="zh-CN"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溶液</a:t>
            </a:r>
            <a:endParaRPr lang="zh-CN"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8" name="圆角矩形 7"/>
          <p:cNvSpPr/>
          <p:nvPr>
            <p:custDataLst>
              <p:tags r:id="rId2"/>
            </p:custDataLst>
          </p:nvPr>
        </p:nvSpPr>
        <p:spPr>
          <a:xfrm>
            <a:off x="2010410" y="2358100"/>
            <a:ext cx="1656000" cy="513025"/>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85000"/>
                    <a:lumOff val="15000"/>
                  </a:schemeClr>
                </a:solidFill>
                <a:latin typeface="Calibri" panose="020F0502020204030204" pitchFamily="34" charset="0"/>
                <a:ea typeface="宋体" panose="02010600030101010101" pitchFamily="2" charset="-122"/>
                <a:sym typeface="+mn-ea"/>
              </a:rPr>
              <a:t>足量水</a:t>
            </a:r>
            <a:r>
              <a:rPr lang="en-US" altLang="zh-CN" sz="2200" b="1" kern="0" dirty="0" smtClean="0">
                <a:solidFill>
                  <a:srgbClr val="0F1423"/>
                </a:solidFill>
                <a:latin typeface="Times New Roman" panose="02020603050405020304" pitchFamily="18" charset="0"/>
                <a:ea typeface="宋体" panose="02010600030101010101" pitchFamily="2" charset="-122"/>
                <a:sym typeface="+mn-ea"/>
              </a:rPr>
              <a:t>搅拌</a:t>
            </a:r>
            <a:endParaRPr lang="zh-CN" altLang="en-US" sz="2200" b="1" kern="0" dirty="0" smtClean="0">
              <a:solidFill>
                <a:schemeClr val="tx1">
                  <a:lumMod val="85000"/>
                  <a:lumOff val="15000"/>
                </a:schemeClr>
              </a:solidFill>
              <a:latin typeface="Calibri" panose="020F0502020204030204" pitchFamily="34" charset="0"/>
              <a:ea typeface="宋体" panose="02010600030101010101" pitchFamily="2" charset="-122"/>
              <a:sym typeface="+mn-ea"/>
            </a:endParaRPr>
          </a:p>
        </p:txBody>
      </p:sp>
      <p:sp>
        <p:nvSpPr>
          <p:cNvPr id="9" name="圆角矩形 8"/>
          <p:cNvSpPr/>
          <p:nvPr>
            <p:custDataLst>
              <p:tags r:id="rId3"/>
            </p:custDataLst>
          </p:nvPr>
        </p:nvSpPr>
        <p:spPr>
          <a:xfrm>
            <a:off x="3981450" y="1728474"/>
            <a:ext cx="900000" cy="53085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ctr">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沉淀</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10" name="圆角矩形 9"/>
          <p:cNvSpPr/>
          <p:nvPr>
            <p:custDataLst>
              <p:tags r:id="rId4"/>
            </p:custDataLst>
          </p:nvPr>
        </p:nvSpPr>
        <p:spPr>
          <a:xfrm>
            <a:off x="3981450" y="3237218"/>
            <a:ext cx="1584000" cy="52707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0">
            <a:spAutoFit/>
          </a:bodyPr>
          <a:p>
            <a:pPr algn="ctr">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无色溶液A</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24" name="圆角矩形 23"/>
          <p:cNvSpPr/>
          <p:nvPr>
            <p:custDataLst>
              <p:tags r:id="rId5"/>
            </p:custDataLst>
          </p:nvPr>
        </p:nvSpPr>
        <p:spPr>
          <a:xfrm>
            <a:off x="721360" y="2482203"/>
            <a:ext cx="1368000" cy="52707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0">
            <a:spAutoFit/>
          </a:bodyPr>
          <a:p>
            <a:pPr algn="ctr">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固体粉末</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grpSp>
        <p:nvGrpSpPr>
          <p:cNvPr id="26" name="组合 25"/>
          <p:cNvGrpSpPr/>
          <p:nvPr/>
        </p:nvGrpSpPr>
        <p:grpSpPr>
          <a:xfrm>
            <a:off x="2107565" y="1996440"/>
            <a:ext cx="1876970" cy="1512000"/>
            <a:chOff x="3295" y="3816"/>
            <a:chExt cx="2956" cy="2721"/>
          </a:xfrm>
        </p:grpSpPr>
        <p:grpSp>
          <p:nvGrpSpPr>
            <p:cNvPr id="4" name="组合 3"/>
            <p:cNvGrpSpPr/>
            <p:nvPr/>
          </p:nvGrpSpPr>
          <p:grpSpPr>
            <a:xfrm rot="5400000" flipH="1">
              <a:off x="4323" y="4609"/>
              <a:ext cx="2721" cy="1134"/>
              <a:chOff x="3456532" y="3351494"/>
              <a:chExt cx="4962526" cy="1211247"/>
            </a:xfrm>
          </p:grpSpPr>
          <p:cxnSp>
            <p:nvCxnSpPr>
              <p:cNvPr id="5" name="肘形连接符 4"/>
              <p:cNvCxnSpPr/>
              <p:nvPr>
                <p:custDataLst>
                  <p:tags r:id="rId6"/>
                </p:custDataLst>
              </p:nvPr>
            </p:nvCxnSpPr>
            <p:spPr>
              <a:xfrm rot="16200000" flipV="1">
                <a:off x="4020066" y="2787960"/>
                <a:ext cx="1205871" cy="2332939"/>
              </a:xfrm>
              <a:prstGeom prst="bentConnector3">
                <a:avLst/>
              </a:prstGeom>
              <a:noFill/>
              <a:ln w="25400" cap="flat" cmpd="sng" algn="ctr">
                <a:solidFill>
                  <a:srgbClr val="3A4150"/>
                </a:solidFill>
                <a:prstDash val="solid"/>
                <a:miter lim="800000"/>
                <a:tailEnd type="triangle" w="lg" len="lg"/>
              </a:ln>
              <a:effectLst/>
            </p:spPr>
          </p:cxnSp>
          <p:cxnSp>
            <p:nvCxnSpPr>
              <p:cNvPr id="7" name="肘形连接符 6"/>
              <p:cNvCxnSpPr/>
              <p:nvPr>
                <p:custDataLst>
                  <p:tags r:id="rId7"/>
                </p:custDataLst>
              </p:nvPr>
            </p:nvCxnSpPr>
            <p:spPr>
              <a:xfrm rot="5400000" flipH="1" flipV="1">
                <a:off x="6501671" y="2645354"/>
                <a:ext cx="1205871" cy="2628903"/>
              </a:xfrm>
              <a:prstGeom prst="bentConnector3">
                <a:avLst/>
              </a:prstGeom>
              <a:noFill/>
              <a:ln w="25400" cap="flat" cmpd="sng" algn="ctr">
                <a:solidFill>
                  <a:srgbClr val="3A4150"/>
                </a:solidFill>
                <a:prstDash val="solid"/>
                <a:miter lim="800000"/>
                <a:tailEnd type="triangle" w="lg" len="lg"/>
              </a:ln>
              <a:effectLst/>
            </p:spPr>
          </p:cxnSp>
        </p:grpSp>
        <p:cxnSp>
          <p:nvCxnSpPr>
            <p:cNvPr id="90" name="肘形连接符 89"/>
            <p:cNvCxnSpPr/>
            <p:nvPr>
              <p:custDataLst>
                <p:tags r:id="rId8"/>
              </p:custDataLst>
            </p:nvPr>
          </p:nvCxnSpPr>
          <p:spPr>
            <a:xfrm rot="10800000" flipV="1">
              <a:off x="3295" y="5258"/>
              <a:ext cx="2098" cy="2"/>
            </a:xfrm>
            <a:prstGeom prst="bentConnector3">
              <a:avLst/>
            </a:prstGeom>
            <a:noFill/>
            <a:ln w="28575" cap="flat" cmpd="sng" algn="ctr">
              <a:solidFill>
                <a:srgbClr val="3A4150"/>
              </a:solidFill>
              <a:prstDash val="solid"/>
              <a:miter lim="800000"/>
              <a:tailEnd type="none" w="lg" len="lg"/>
            </a:ln>
            <a:effectLst/>
          </p:spPr>
        </p:cxnSp>
      </p:grpSp>
      <p:grpSp>
        <p:nvGrpSpPr>
          <p:cNvPr id="27" name="组合 26"/>
          <p:cNvGrpSpPr/>
          <p:nvPr/>
        </p:nvGrpSpPr>
        <p:grpSpPr>
          <a:xfrm>
            <a:off x="4878715" y="1504315"/>
            <a:ext cx="2092860" cy="900000"/>
            <a:chOff x="2955" y="3816"/>
            <a:chExt cx="3296" cy="2721"/>
          </a:xfrm>
        </p:grpSpPr>
        <p:grpSp>
          <p:nvGrpSpPr>
            <p:cNvPr id="28" name="组合 27"/>
            <p:cNvGrpSpPr/>
            <p:nvPr/>
          </p:nvGrpSpPr>
          <p:grpSpPr>
            <a:xfrm rot="5400000" flipH="1">
              <a:off x="4323" y="4609"/>
              <a:ext cx="2721" cy="1134"/>
              <a:chOff x="3456532" y="3351494"/>
              <a:chExt cx="4962526" cy="1211247"/>
            </a:xfrm>
          </p:grpSpPr>
          <p:cxnSp>
            <p:nvCxnSpPr>
              <p:cNvPr id="29" name="肘形连接符 28"/>
              <p:cNvCxnSpPr/>
              <p:nvPr>
                <p:custDataLst>
                  <p:tags r:id="rId9"/>
                </p:custDataLst>
              </p:nvPr>
            </p:nvCxnSpPr>
            <p:spPr>
              <a:xfrm rot="16200000" flipV="1">
                <a:off x="4020066" y="2787960"/>
                <a:ext cx="1205871" cy="2332939"/>
              </a:xfrm>
              <a:prstGeom prst="bentConnector3">
                <a:avLst/>
              </a:prstGeom>
              <a:noFill/>
              <a:ln w="25400" cap="flat" cmpd="sng" algn="ctr">
                <a:solidFill>
                  <a:srgbClr val="3A4150"/>
                </a:solidFill>
                <a:prstDash val="solid"/>
                <a:miter lim="800000"/>
                <a:tailEnd type="triangle" w="lg" len="lg"/>
              </a:ln>
              <a:effectLst/>
            </p:spPr>
          </p:cxnSp>
          <p:cxnSp>
            <p:nvCxnSpPr>
              <p:cNvPr id="30" name="肘形连接符 29"/>
              <p:cNvCxnSpPr/>
              <p:nvPr>
                <p:custDataLst>
                  <p:tags r:id="rId10"/>
                </p:custDataLst>
              </p:nvPr>
            </p:nvCxnSpPr>
            <p:spPr>
              <a:xfrm rot="5400000" flipH="1" flipV="1">
                <a:off x="6501671" y="2645354"/>
                <a:ext cx="1205871" cy="2628903"/>
              </a:xfrm>
              <a:prstGeom prst="bentConnector3">
                <a:avLst/>
              </a:prstGeom>
              <a:noFill/>
              <a:ln w="25400" cap="flat" cmpd="sng" algn="ctr">
                <a:solidFill>
                  <a:srgbClr val="3A4150"/>
                </a:solidFill>
                <a:prstDash val="solid"/>
                <a:miter lim="800000"/>
                <a:tailEnd type="triangle" w="lg" len="lg"/>
              </a:ln>
              <a:effectLst/>
            </p:spPr>
          </p:cxnSp>
        </p:grpSp>
        <p:cxnSp>
          <p:nvCxnSpPr>
            <p:cNvPr id="31" name="肘形连接符 30"/>
            <p:cNvCxnSpPr/>
            <p:nvPr>
              <p:custDataLst>
                <p:tags r:id="rId11"/>
              </p:custDataLst>
            </p:nvPr>
          </p:nvCxnSpPr>
          <p:spPr>
            <a:xfrm rot="10800000" flipV="1">
              <a:off x="2955" y="5258"/>
              <a:ext cx="2438" cy="2"/>
            </a:xfrm>
            <a:prstGeom prst="bentConnector3">
              <a:avLst/>
            </a:prstGeom>
            <a:noFill/>
            <a:ln w="28575" cap="flat" cmpd="sng" algn="ctr">
              <a:solidFill>
                <a:srgbClr val="3A4150"/>
              </a:solidFill>
              <a:prstDash val="solid"/>
              <a:miter lim="800000"/>
              <a:tailEnd type="none" w="lg" len="lg"/>
            </a:ln>
            <a:effectLst/>
          </p:spPr>
        </p:cxnSp>
      </p:grpSp>
      <p:sp>
        <p:nvSpPr>
          <p:cNvPr id="32" name="圆角矩形 31"/>
          <p:cNvSpPr/>
          <p:nvPr>
            <p:custDataLst>
              <p:tags r:id="rId12"/>
            </p:custDataLst>
          </p:nvPr>
        </p:nvSpPr>
        <p:spPr>
          <a:xfrm>
            <a:off x="4820285" y="1583121"/>
            <a:ext cx="1800000" cy="476753"/>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85000"/>
                    <a:lumOff val="15000"/>
                  </a:schemeClr>
                </a:solidFill>
                <a:latin typeface="Calibri" panose="020F0502020204030204" pitchFamily="34" charset="0"/>
                <a:ea typeface="宋体" panose="02010600030101010101" pitchFamily="2" charset="-122"/>
                <a:sym typeface="+mn-ea"/>
              </a:rPr>
              <a:t>足量</a:t>
            </a:r>
            <a:r>
              <a:rPr sz="2200" b="1" kern="0" dirty="0" smtClean="0">
                <a:ea typeface="宋体" panose="02010600030101010101" pitchFamily="2" charset="-122"/>
                <a:sym typeface="+mn-ea"/>
              </a:rPr>
              <a:t>稀</a:t>
            </a:r>
            <a:r>
              <a:rPr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HNO</a:t>
            </a:r>
            <a:r>
              <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rPr>
              <a:t>3</a:t>
            </a:r>
            <a:endPar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33" name="圆角矩形 32"/>
          <p:cNvSpPr/>
          <p:nvPr>
            <p:custDataLst>
              <p:tags r:id="rId13"/>
            </p:custDataLst>
          </p:nvPr>
        </p:nvSpPr>
        <p:spPr>
          <a:xfrm>
            <a:off x="6971030" y="1253459"/>
            <a:ext cx="1512000" cy="52711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无色气体</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34" name="圆角矩形 33"/>
          <p:cNvSpPr/>
          <p:nvPr>
            <p:custDataLst>
              <p:tags r:id="rId14"/>
            </p:custDataLst>
          </p:nvPr>
        </p:nvSpPr>
        <p:spPr>
          <a:xfrm>
            <a:off x="6971030" y="2132933"/>
            <a:ext cx="1728000" cy="52711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蓝色溶液B</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40" name="圆角矩形 39"/>
          <p:cNvSpPr/>
          <p:nvPr>
            <p:custDataLst>
              <p:tags r:id="rId15"/>
            </p:custDataLst>
          </p:nvPr>
        </p:nvSpPr>
        <p:spPr>
          <a:xfrm>
            <a:off x="5596255" y="3111739"/>
            <a:ext cx="1368000" cy="476407"/>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sz="2200" b="1" kern="0" dirty="0" smtClean="0">
                <a:ea typeface="宋体" panose="02010600030101010101" pitchFamily="2" charset="-122"/>
                <a:sym typeface="+mn-ea"/>
              </a:rPr>
              <a:t>分成两份</a:t>
            </a:r>
            <a:endParaRPr sz="2200" b="1" kern="0" dirty="0" smtClean="0">
              <a:ea typeface="宋体" panose="02010600030101010101" pitchFamily="2" charset="-122"/>
              <a:sym typeface="+mn-ea"/>
            </a:endParaRPr>
          </a:p>
        </p:txBody>
      </p:sp>
      <p:sp>
        <p:nvSpPr>
          <p:cNvPr id="41" name="圆角矩形 40"/>
          <p:cNvSpPr/>
          <p:nvPr>
            <p:custDataLst>
              <p:tags r:id="rId16"/>
            </p:custDataLst>
          </p:nvPr>
        </p:nvSpPr>
        <p:spPr>
          <a:xfrm>
            <a:off x="6857365" y="3496376"/>
            <a:ext cx="1800000" cy="476753"/>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lang="zh-CN" altLang="en-US" sz="2200" b="1" kern="0" dirty="0" smtClean="0">
                <a:solidFill>
                  <a:schemeClr val="tx1">
                    <a:lumMod val="85000"/>
                    <a:lumOff val="15000"/>
                  </a:schemeClr>
                </a:solidFill>
                <a:latin typeface="Calibri" panose="020F0502020204030204" pitchFamily="34" charset="0"/>
                <a:ea typeface="宋体" panose="02010600030101010101" pitchFamily="2" charset="-122"/>
                <a:sym typeface="+mn-ea"/>
              </a:rPr>
              <a:t>足量</a:t>
            </a:r>
            <a:r>
              <a:rPr sz="2200" b="1" kern="0" dirty="0" smtClean="0">
                <a:ea typeface="宋体" panose="02010600030101010101" pitchFamily="2" charset="-122"/>
                <a:sym typeface="+mn-ea"/>
              </a:rPr>
              <a:t>稀</a:t>
            </a:r>
            <a:r>
              <a:rPr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HNO</a:t>
            </a:r>
            <a:r>
              <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rPr>
              <a:t>3</a:t>
            </a:r>
            <a:endParaRPr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nvGrpSpPr>
          <p:cNvPr id="43" name="组合 42"/>
          <p:cNvGrpSpPr/>
          <p:nvPr/>
        </p:nvGrpSpPr>
        <p:grpSpPr>
          <a:xfrm>
            <a:off x="5579110" y="3110230"/>
            <a:ext cx="3131820" cy="792000"/>
            <a:chOff x="9074" y="5618"/>
            <a:chExt cx="4932" cy="1443"/>
          </a:xfrm>
        </p:grpSpPr>
        <p:grpSp>
          <p:nvGrpSpPr>
            <p:cNvPr id="36" name="组合 35"/>
            <p:cNvGrpSpPr/>
            <p:nvPr/>
          </p:nvGrpSpPr>
          <p:grpSpPr>
            <a:xfrm rot="5400000" flipH="1">
              <a:off x="10520" y="4172"/>
              <a:ext cx="1417" cy="4309"/>
              <a:chOff x="3456534" y="3356870"/>
              <a:chExt cx="4962524" cy="1208147"/>
            </a:xfrm>
          </p:grpSpPr>
          <p:cxnSp>
            <p:nvCxnSpPr>
              <p:cNvPr id="37" name="肘形连接符 36"/>
              <p:cNvCxnSpPr/>
              <p:nvPr>
                <p:custDataLst>
                  <p:tags r:id="rId17"/>
                </p:custDataLst>
              </p:nvPr>
            </p:nvCxnSpPr>
            <p:spPr>
              <a:xfrm rot="16200000" flipV="1">
                <a:off x="4044604" y="2771075"/>
                <a:ext cx="1205871" cy="2382012"/>
              </a:xfrm>
              <a:prstGeom prst="bentConnector3">
                <a:avLst/>
              </a:prstGeom>
              <a:noFill/>
              <a:ln w="25400" cap="flat" cmpd="sng" algn="ctr">
                <a:solidFill>
                  <a:srgbClr val="3A4150"/>
                </a:solidFill>
                <a:prstDash val="solid"/>
                <a:miter lim="800000"/>
                <a:tailEnd type="none" w="lg" len="lg"/>
              </a:ln>
              <a:effectLst/>
            </p:spPr>
          </p:cxnSp>
          <p:cxnSp>
            <p:nvCxnSpPr>
              <p:cNvPr id="38" name="肘形连接符 37"/>
              <p:cNvCxnSpPr/>
              <p:nvPr>
                <p:custDataLst>
                  <p:tags r:id="rId18"/>
                </p:custDataLst>
              </p:nvPr>
            </p:nvCxnSpPr>
            <p:spPr>
              <a:xfrm rot="5400000" flipH="1" flipV="1">
                <a:off x="6501671" y="2645354"/>
                <a:ext cx="1205871" cy="2628903"/>
              </a:xfrm>
              <a:prstGeom prst="bentConnector3">
                <a:avLst/>
              </a:prstGeom>
              <a:noFill/>
              <a:ln w="25400" cap="flat" cmpd="sng" algn="ctr">
                <a:solidFill>
                  <a:srgbClr val="3A4150"/>
                </a:solidFill>
                <a:prstDash val="solid"/>
                <a:miter lim="800000"/>
                <a:tailEnd type="triangle" w="lg" len="lg"/>
              </a:ln>
              <a:effectLst/>
            </p:spPr>
          </p:cxnSp>
        </p:grpSp>
        <p:cxnSp>
          <p:nvCxnSpPr>
            <p:cNvPr id="42" name="肘形连接符 41"/>
            <p:cNvCxnSpPr/>
            <p:nvPr>
              <p:custDataLst>
                <p:tags r:id="rId19"/>
              </p:custDataLst>
            </p:nvPr>
          </p:nvCxnSpPr>
          <p:spPr>
            <a:xfrm rot="10800000" flipV="1">
              <a:off x="11908" y="7059"/>
              <a:ext cx="2098" cy="2"/>
            </a:xfrm>
            <a:prstGeom prst="bentConnector3">
              <a:avLst/>
            </a:prstGeom>
            <a:noFill/>
            <a:ln w="25400" cap="flat" cmpd="sng" algn="ctr">
              <a:solidFill>
                <a:srgbClr val="3A4150"/>
              </a:solidFill>
              <a:prstDash val="solid"/>
              <a:miter lim="800000"/>
              <a:headEnd type="triangle" w="lg" len="lg"/>
              <a:tailEnd type="none" w="lg" len="lg"/>
            </a:ln>
            <a:effectLst/>
          </p:spPr>
        </p:cxnSp>
      </p:grpSp>
      <p:cxnSp>
        <p:nvCxnSpPr>
          <p:cNvPr id="44" name="肘形连接符 43"/>
          <p:cNvCxnSpPr/>
          <p:nvPr>
            <p:custDataLst>
              <p:tags r:id="rId20"/>
            </p:custDataLst>
          </p:nvPr>
        </p:nvCxnSpPr>
        <p:spPr>
          <a:xfrm rot="10800000" flipV="1">
            <a:off x="8722490" y="3889216"/>
            <a:ext cx="1548000" cy="1111"/>
          </a:xfrm>
          <a:prstGeom prst="bentConnector3">
            <a:avLst/>
          </a:prstGeom>
          <a:noFill/>
          <a:ln w="28575" cap="flat" cmpd="sng" algn="ctr">
            <a:solidFill>
              <a:srgbClr val="3A4150"/>
            </a:solidFill>
            <a:prstDash val="solid"/>
            <a:miter lim="800000"/>
            <a:headEnd type="triangle" w="lg" len="lg"/>
            <a:tailEnd type="none" w="lg" len="lg"/>
          </a:ln>
          <a:effectLst/>
        </p:spPr>
      </p:cxnSp>
      <p:sp>
        <p:nvSpPr>
          <p:cNvPr id="46" name="圆角矩形 45"/>
          <p:cNvSpPr/>
          <p:nvPr>
            <p:custDataLst>
              <p:tags r:id="rId21"/>
            </p:custDataLst>
          </p:nvPr>
        </p:nvSpPr>
        <p:spPr>
          <a:xfrm>
            <a:off x="6937375" y="2705975"/>
            <a:ext cx="1332000" cy="476405"/>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rtlCol="0" anchor="ctr" anchorCtr="0">
            <a:spAutoFit/>
          </a:bodyPr>
          <a:p>
            <a:pPr algn="l">
              <a:lnSpc>
                <a:spcPct val="100000"/>
              </a:lnSpc>
            </a:pPr>
            <a:r>
              <a:rPr sz="2200" b="1" kern="0" dirty="0" smtClean="0">
                <a:ea typeface="宋体" panose="02010600030101010101" pitchFamily="2" charset="-122"/>
                <a:sym typeface="+mn-ea"/>
              </a:rPr>
              <a:t>通入</a:t>
            </a:r>
            <a:r>
              <a:rPr sz="2200" b="1" kern="0" dirty="0" smtClean="0">
                <a:latin typeface="Times New Roman" panose="02020603050405020304" pitchFamily="18" charset="0"/>
                <a:ea typeface="宋体" panose="02010600030101010101" pitchFamily="2" charset="-122"/>
                <a:cs typeface="Times New Roman" panose="02020603050405020304" pitchFamily="18" charset="0"/>
                <a:sym typeface="+mn-ea"/>
              </a:rPr>
              <a:t>CO</a:t>
            </a:r>
            <a:r>
              <a:rPr lang="en-US"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rPr>
              <a:t>2</a:t>
            </a:r>
            <a:endParaRPr lang="en-US" sz="2200" b="1" kern="0" baseline="-25000" dirty="0" smtClean="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47" name="圆角矩形 46"/>
          <p:cNvSpPr/>
          <p:nvPr>
            <p:custDataLst>
              <p:tags r:id="rId22"/>
            </p:custDataLst>
          </p:nvPr>
        </p:nvSpPr>
        <p:spPr>
          <a:xfrm>
            <a:off x="8345805" y="2827644"/>
            <a:ext cx="1368000" cy="52707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0">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白色沉淀</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
        <p:nvSpPr>
          <p:cNvPr id="48" name="圆角矩形 47"/>
          <p:cNvSpPr/>
          <p:nvPr>
            <p:custDataLst>
              <p:tags r:id="rId23"/>
            </p:custDataLst>
          </p:nvPr>
        </p:nvSpPr>
        <p:spPr>
          <a:xfrm>
            <a:off x="10270490" y="3577579"/>
            <a:ext cx="1368000" cy="527073"/>
          </a:xfrm>
          <a:prstGeom prst="roundRect">
            <a:avLst/>
          </a:prstGeom>
          <a:noFill/>
          <a:ln w="22225" cap="flat" cmpd="sng" algn="ctr">
            <a:solidFill>
              <a:schemeClr val="tx1">
                <a:lumMod val="85000"/>
                <a:lumOff val="15000"/>
              </a:schemeClr>
            </a:solid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Ins="0" rtlCol="0" anchor="ctr" anchorCtr="0">
            <a:spAutoFit/>
          </a:bodyPr>
          <a:p>
            <a:pPr algn="l">
              <a:lnSpc>
                <a:spcPct val="100000"/>
              </a:lnSpc>
            </a:pPr>
            <a:r>
              <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rPr>
              <a:t>白色沉淀</a:t>
            </a:r>
            <a:endParaRPr lang="zh-CN" altLang="en-US" sz="2500" b="1" kern="0" dirty="0" smtClean="0">
              <a:solidFill>
                <a:schemeClr val="tx1">
                  <a:lumMod val="85000"/>
                  <a:lumOff val="15000"/>
                </a:schemeClr>
              </a:solidFill>
              <a:latin typeface="Times New Roman" panose="02020603050405020304" pitchFamily="18" charset="0"/>
              <a:ea typeface="宋体" panose="02010600030101010101" pitchFamily="2" charset="-122"/>
              <a:sym typeface="+mn-ea"/>
            </a:endParaRPr>
          </a:p>
        </p:txBody>
      </p:sp>
    </p:spTree>
    <p:custDataLst>
      <p:tags r:id="rId24"/>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828675" y="1251585"/>
            <a:ext cx="7979410" cy="3265170"/>
            <a:chOff x="1305" y="2115"/>
            <a:chExt cx="12566" cy="5142"/>
          </a:xfrm>
        </p:grpSpPr>
        <p:pic>
          <p:nvPicPr>
            <p:cNvPr id="4" name="Picture 2" descr="C:\Users\Administrator\Desktop\X2Acd0zSuEx1RmjsvJOU1wlPl3mn4Oelqq_2KIbAuCNidrhpBSqNubq7HCRtRUd.png"/>
            <p:cNvPicPr>
              <a:picLocks noChangeAspect="1" noChangeArrowheads="1"/>
            </p:cNvPicPr>
            <p:nvPr/>
          </p:nvPicPr>
          <p:blipFill>
            <a:blip r:embed="rId1" cstate="print"/>
            <a:srcRect/>
            <a:stretch>
              <a:fillRect/>
            </a:stretch>
          </p:blipFill>
          <p:spPr bwMode="auto">
            <a:xfrm>
              <a:off x="1305" y="2115"/>
              <a:ext cx="12567" cy="5085"/>
            </a:xfrm>
            <a:prstGeom prst="rect">
              <a:avLst/>
            </a:prstGeom>
            <a:noFill/>
          </p:spPr>
        </p:pic>
        <p:sp>
          <p:nvSpPr>
            <p:cNvPr id="2" name="文本框 1"/>
            <p:cNvSpPr txBox="1"/>
            <p:nvPr/>
          </p:nvSpPr>
          <p:spPr>
            <a:xfrm>
              <a:off x="10318" y="5780"/>
              <a:ext cx="1171" cy="872"/>
            </a:xfrm>
            <a:prstGeom prst="rect">
              <a:avLst/>
            </a:prstGeom>
            <a:solidFill>
              <a:schemeClr val="bg1"/>
            </a:solidFill>
          </p:spPr>
          <p:txBody>
            <a:bodyPr wrap="none" lIns="0" tIns="0" rIns="0" bIns="0"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3" name="文本框 12"/>
            <p:cNvSpPr txBox="1"/>
            <p:nvPr/>
          </p:nvSpPr>
          <p:spPr>
            <a:xfrm>
              <a:off x="8204" y="5780"/>
              <a:ext cx="1059" cy="929"/>
            </a:xfrm>
            <a:prstGeom prst="rect">
              <a:avLst/>
            </a:prstGeom>
            <a:solidFill>
              <a:schemeClr val="bg1"/>
            </a:solidFill>
          </p:spPr>
          <p:txBody>
            <a:bodyPr wrap="none" lIns="0" tIns="0" rIns="107950" bIns="36195"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NaCl</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4" name="文本框 13"/>
            <p:cNvSpPr txBox="1"/>
            <p:nvPr/>
          </p:nvSpPr>
          <p:spPr>
            <a:xfrm>
              <a:off x="12579" y="5780"/>
              <a:ext cx="1219" cy="872"/>
            </a:xfrm>
            <a:prstGeom prst="rect">
              <a:avLst/>
            </a:prstGeom>
            <a:solidFill>
              <a:schemeClr val="bg1"/>
            </a:solidFill>
          </p:spPr>
          <p:txBody>
            <a:bodyPr wrap="none" lIns="0" tIns="0" rIns="0" bIns="0"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AgNO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5" name="文本框 14"/>
            <p:cNvSpPr txBox="1"/>
            <p:nvPr/>
          </p:nvSpPr>
          <p:spPr>
            <a:xfrm>
              <a:off x="2514" y="2852"/>
              <a:ext cx="1281" cy="929"/>
            </a:xfrm>
            <a:prstGeom prst="rect">
              <a:avLst/>
            </a:prstGeom>
            <a:solidFill>
              <a:schemeClr val="bg1"/>
            </a:solidFill>
          </p:spPr>
          <p:txBody>
            <a:bodyPr wrap="none" lIns="0" tIns="0" rIns="107950" bIns="36195" rtlCol="0" anchor="t">
              <a:spAutoFit/>
            </a:bodyPr>
            <a:p>
              <a:pPr algn="ctr">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NaOH</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ctr">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6" name="文本框 15"/>
            <p:cNvSpPr txBox="1"/>
            <p:nvPr/>
          </p:nvSpPr>
          <p:spPr>
            <a:xfrm>
              <a:off x="1430" y="5580"/>
              <a:ext cx="1344" cy="929"/>
            </a:xfrm>
            <a:prstGeom prst="rect">
              <a:avLst/>
            </a:prstGeom>
            <a:solidFill>
              <a:schemeClr val="bg1"/>
            </a:solidFill>
          </p:spPr>
          <p:txBody>
            <a:bodyPr wrap="none" lIns="107950" tIns="0" rIns="0" bIns="36195" rtlCol="0" anchor="t">
              <a:spAutoFit/>
            </a:bodyPr>
            <a:p>
              <a:pPr algn="r">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CuSO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文本框 16"/>
            <p:cNvSpPr txBox="1"/>
            <p:nvPr/>
          </p:nvSpPr>
          <p:spPr>
            <a:xfrm>
              <a:off x="7914" y="2139"/>
              <a:ext cx="1546" cy="606"/>
            </a:xfrm>
            <a:prstGeom prst="rect">
              <a:avLst/>
            </a:prstGeom>
            <a:solidFill>
              <a:schemeClr val="bg1"/>
            </a:solidFill>
          </p:spPr>
          <p:txBody>
            <a:bodyPr wrap="none" lIns="107950" tIns="107950" rIns="107950" bIns="0" rtlCol="0" anchor="t">
              <a:spAutoFit/>
            </a:bodyPr>
            <a:p>
              <a:pPr algn="ctr">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稀盐酸</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0" name="文本框 19"/>
            <p:cNvSpPr txBox="1"/>
            <p:nvPr/>
          </p:nvSpPr>
          <p:spPr>
            <a:xfrm>
              <a:off x="5127" y="6709"/>
              <a:ext cx="7356" cy="549"/>
            </a:xfrm>
            <a:prstGeom prst="rect">
              <a:avLst/>
            </a:prstGeom>
            <a:solidFill>
              <a:schemeClr val="bg1"/>
            </a:solidFill>
          </p:spPr>
          <p:txBody>
            <a:bodyPr wrap="square" lIns="107950" tIns="0" rIns="107950" bIns="71755"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                   B                    C                   D</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
        <p:nvSpPr>
          <p:cNvPr id="3" name="内容占位符 2"/>
          <p:cNvSpPr>
            <a:spLocks noGrp="1"/>
          </p:cNvSpPr>
          <p:nvPr>
            <p:ph idx="1"/>
          </p:nvPr>
        </p:nvSpPr>
        <p:spPr>
          <a:xfrm>
            <a:off x="504825" y="228600"/>
            <a:ext cx="11204575" cy="6270625"/>
          </a:xfrm>
          <a:noFill/>
          <a:ln w="25400" cmpd="tri">
            <a:solidFill>
              <a:schemeClr val="tx1"/>
            </a:solidFill>
            <a:prstDash val="dashDot"/>
          </a:ln>
          <a:extLst>
            <a:ext uri="{909E8E84-426E-40DD-AFC4-6F175D3DCCD1}">
              <a14:hiddenFill xmlns:a14="http://schemas.microsoft.com/office/drawing/2010/main">
                <a:solidFill>
                  <a:schemeClr val="bg1">
                    <a:lumMod val="85000"/>
                  </a:schemeClr>
                </a:solidFill>
              </a14:hiddenFill>
            </a:ext>
          </a:extLst>
        </p:spPr>
        <p:txBody>
          <a:bodyPr wrap="square">
            <a:spAutoFit/>
          </a:bodyPr>
          <a:lstStyle/>
          <a:p>
            <a:pPr marL="0" indent="0" latinLnBrk="1">
              <a:lnSpc>
                <a:spcPct val="130000"/>
              </a:lnSpc>
              <a:spcAft>
                <a:spcPts val="0"/>
              </a:spcAft>
              <a:buNone/>
            </a:pPr>
            <a:r>
              <a:rPr lang="en-US" altLang="zh-CN" sz="2500" b="1" spc="0" dirty="0" smtClean="0">
                <a:solidFill>
                  <a:srgbClr val="0F1423"/>
                </a:solidFill>
                <a:uFillTx/>
                <a:latin typeface="Times New Roman" panose="02020603050405020304" pitchFamily="18" charset="0"/>
                <a:ea typeface="宋体" panose="02010600030101010101" pitchFamily="2" charset="-122"/>
              </a:rPr>
              <a:t>11.</a:t>
            </a:r>
            <a:r>
              <a:rPr lang="zh-CN" altLang="en-US" sz="2500" b="1" spc="0" dirty="0" smtClean="0">
                <a:solidFill>
                  <a:srgbClr val="0F1423"/>
                </a:solidFill>
                <a:uFillTx/>
                <a:latin typeface="Times New Roman" panose="02020603050405020304" pitchFamily="18" charset="0"/>
                <a:ea typeface="宋体" panose="02010600030101010101" pitchFamily="2" charset="-122"/>
              </a:rPr>
              <a:t>如图所示，某兴趣小组的同学为了探究酸碱盐之间能否发生反应做了以下几组实验。回答下列问题</a:t>
            </a:r>
            <a:r>
              <a:rPr sz="2500" b="1" spc="0" dirty="0" smtClean="0">
                <a:solidFill>
                  <a:srgbClr val="0F1423"/>
                </a:solidFill>
                <a:uFillTx/>
                <a:latin typeface="Times New Roman" panose="02020603050405020304" pitchFamily="18" charset="0"/>
                <a:ea typeface="宋体" panose="02010600030101010101" pitchFamily="2" charset="-122"/>
              </a:rPr>
              <a:t>：</a:t>
            </a:r>
            <a:endParaRPr sz="25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30000"/>
              </a:lnSpc>
              <a:spcAft>
                <a:spcPts val="0"/>
              </a:spcAft>
              <a:buNone/>
            </a:pP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latinLnBrk="1">
              <a:lnSpc>
                <a:spcPct val="120000"/>
              </a:lnSpc>
              <a:spcAft>
                <a:spcPts val="0"/>
              </a:spcAft>
            </a:pP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20000"/>
              </a:lnSpc>
              <a:spcAft>
                <a:spcPts val="0"/>
              </a:spcAft>
              <a:buNone/>
            </a:pPr>
            <a:br>
              <a:rPr lang="zh-CN" altLang="en-US" sz="2500" b="1" spc="0" dirty="0" smtClean="0">
                <a:solidFill>
                  <a:srgbClr val="0F1423"/>
                </a:solidFill>
                <a:uFillTx/>
                <a:latin typeface="Times New Roman" panose="02020603050405020304" pitchFamily="18" charset="0"/>
                <a:ea typeface="宋体" panose="02010600030101010101" pitchFamily="2" charset="-122"/>
              </a:rPr>
            </a:b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latinLnBrk="1">
              <a:lnSpc>
                <a:spcPct val="120000"/>
              </a:lnSpc>
              <a:spcAft>
                <a:spcPts val="0"/>
              </a:spcAft>
            </a:pP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20000"/>
              </a:lnSpc>
              <a:spcAft>
                <a:spcPts val="0"/>
              </a:spcAft>
              <a:buNone/>
            </a:pPr>
            <a:br>
              <a:rPr lang="zh-CN" altLang="en-US" sz="2500" b="1" spc="0" dirty="0" smtClean="0">
                <a:solidFill>
                  <a:srgbClr val="0F1423"/>
                </a:solidFill>
                <a:uFillTx/>
                <a:latin typeface="Times New Roman" panose="02020603050405020304" pitchFamily="18" charset="0"/>
                <a:ea typeface="宋体" panose="02010600030101010101" pitchFamily="2" charset="-122"/>
              </a:rPr>
            </a:b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marL="0" indent="0" latinLnBrk="1">
              <a:spcAft>
                <a:spcPts val="0"/>
              </a:spcAft>
              <a:buNone/>
            </a:pPr>
            <a:r>
              <a:rPr lang="en-US" altLang="zh-CN" sz="2500" b="1" spc="0" dirty="0" smtClean="0">
                <a:solidFill>
                  <a:srgbClr val="0F1423"/>
                </a:solidFill>
                <a:uFillTx/>
                <a:latin typeface="Times New Roman" panose="02020603050405020304" pitchFamily="18" charset="0"/>
                <a:ea typeface="宋体" panose="02010600030101010101" pitchFamily="2" charset="-122"/>
              </a:rPr>
              <a:t>(1)</a:t>
            </a:r>
            <a:r>
              <a:rPr lang="zh-CN" altLang="en-US" sz="2500" b="1" spc="0" dirty="0" smtClean="0">
                <a:solidFill>
                  <a:srgbClr val="0F1423"/>
                </a:solidFill>
                <a:uFillTx/>
                <a:latin typeface="Times New Roman" panose="02020603050405020304" pitchFamily="18" charset="0"/>
                <a:ea typeface="宋体" panose="02010600030101010101" pitchFamily="2" charset="-122"/>
              </a:rPr>
              <a:t>向硫酸铜溶液中滴入氢氧化钠溶液，观察到的现象为</a:t>
            </a:r>
            <a:r>
              <a:rPr lang="zh-CN" altLang="en-US" sz="2500" b="1" u="sng" spc="0" dirty="0" smtClean="0">
                <a:solidFill>
                  <a:srgbClr val="0F1423"/>
                </a:solidFill>
                <a:uFillTx/>
                <a:latin typeface="Times New Roman" panose="02020603050405020304" pitchFamily="18" charset="0"/>
                <a:ea typeface="宋体" panose="02010600030101010101" pitchFamily="2" charset="-122"/>
              </a:rPr>
              <a:t>                             </a:t>
            </a:r>
            <a:r>
              <a:rPr lang="zh-CN" altLang="en-US" sz="2500" b="1" spc="0" dirty="0" smtClean="0">
                <a:solidFill>
                  <a:srgbClr val="0F1423"/>
                </a:solidFill>
                <a:uFillTx/>
                <a:latin typeface="Times New Roman" panose="02020603050405020304" pitchFamily="18" charset="0"/>
                <a:ea typeface="宋体" panose="02010600030101010101" pitchFamily="2" charset="-122"/>
              </a:rPr>
              <a:t>，该反应的化学方程式为</a:t>
            </a:r>
            <a:r>
              <a:rPr lang="zh-CN" altLang="en-US" sz="2500" b="1" u="sng" spc="0" dirty="0" smtClean="0">
                <a:solidFill>
                  <a:srgbClr val="0F1423"/>
                </a:solidFill>
                <a:uFillTx/>
                <a:latin typeface="Times New Roman" panose="02020603050405020304" pitchFamily="18" charset="0"/>
                <a:ea typeface="宋体" panose="02010600030101010101" pitchFamily="2" charset="-122"/>
              </a:rPr>
              <a:t>                                                                 </a:t>
            </a:r>
            <a:r>
              <a:rPr lang="zh-CN" altLang="en-US" sz="2500" b="1" spc="0" dirty="0" smtClean="0">
                <a:solidFill>
                  <a:srgbClr val="0F1423"/>
                </a:solidFill>
                <a:uFillTx/>
                <a:latin typeface="Times New Roman" panose="02020603050405020304" pitchFamily="18" charset="0"/>
                <a:ea typeface="宋体" panose="02010600030101010101" pitchFamily="2" charset="-122"/>
              </a:rPr>
              <a:t>，继续滴加稀盐酸，通过稀盐酸与</a:t>
            </a:r>
            <a:r>
              <a:rPr lang="zh-CN" altLang="en-US" sz="2500" b="1" u="sng" spc="0" dirty="0" smtClean="0">
                <a:solidFill>
                  <a:srgbClr val="0F1423"/>
                </a:solidFill>
                <a:uFillTx/>
                <a:latin typeface="Times New Roman" panose="02020603050405020304" pitchFamily="18" charset="0"/>
                <a:ea typeface="宋体" panose="02010600030101010101" pitchFamily="2" charset="-122"/>
              </a:rPr>
              <a:t>                                      </a:t>
            </a:r>
            <a:r>
              <a:rPr lang="zh-CN" altLang="en-US" sz="2500" b="1" spc="0" dirty="0" smtClean="0">
                <a:solidFill>
                  <a:srgbClr val="0F1423"/>
                </a:solidFill>
                <a:uFillTx/>
                <a:latin typeface="Times New Roman" panose="02020603050405020304" pitchFamily="18" charset="0"/>
                <a:ea typeface="宋体" panose="02010600030101010101" pitchFamily="2" charset="-122"/>
              </a:rPr>
              <a:t>反应的现象证明了酸能与碱发生反应。</a:t>
            </a:r>
            <a:br>
              <a:rPr lang="zh-CN" altLang="en-US" sz="2500" b="1" spc="0" dirty="0" smtClean="0">
                <a:solidFill>
                  <a:srgbClr val="0F1423"/>
                </a:solidFill>
                <a:uFillTx/>
                <a:latin typeface="Times New Roman" panose="02020603050405020304" pitchFamily="18" charset="0"/>
                <a:ea typeface="宋体" panose="02010600030101010101" pitchFamily="2" charset="-122"/>
              </a:rPr>
            </a:br>
            <a:r>
              <a:rPr lang="en-US" altLang="zh-CN" sz="2500" b="1" spc="0" dirty="0" smtClean="0">
                <a:solidFill>
                  <a:srgbClr val="0F1423"/>
                </a:solidFill>
                <a:uFillTx/>
                <a:latin typeface="Times New Roman" panose="02020603050405020304" pitchFamily="18" charset="0"/>
                <a:ea typeface="宋体" panose="02010600030101010101" pitchFamily="2" charset="-122"/>
              </a:rPr>
              <a:t>(2)B</a:t>
            </a:r>
            <a:r>
              <a:rPr lang="zh-CN" altLang="en-US" sz="2500" b="1" spc="0" dirty="0" smtClean="0">
                <a:solidFill>
                  <a:srgbClr val="0F1423"/>
                </a:solidFill>
                <a:uFillTx/>
                <a:latin typeface="Times New Roman" panose="02020603050405020304" pitchFamily="18" charset="0"/>
                <a:ea typeface="宋体" panose="02010600030101010101" pitchFamily="2" charset="-122"/>
              </a:rPr>
              <a:t>试管中无明显现象，不能发生复分解反应，理由是</a:t>
            </a:r>
            <a:r>
              <a:rPr lang="zh-CN" altLang="en-US" sz="2500" b="1" u="sng" spc="0" dirty="0" smtClean="0">
                <a:solidFill>
                  <a:srgbClr val="0F1423"/>
                </a:solidFill>
                <a:uFillTx/>
                <a:latin typeface="Times New Roman" panose="02020603050405020304" pitchFamily="18" charset="0"/>
                <a:ea typeface="宋体" panose="02010600030101010101" pitchFamily="2" charset="-122"/>
              </a:rPr>
              <a:t>                                        </a:t>
            </a:r>
            <a:r>
              <a:rPr sz="2500" b="1" spc="0" dirty="0" smtClean="0">
                <a:solidFill>
                  <a:srgbClr val="0F1423"/>
                </a:solidFill>
                <a:uFillTx/>
                <a:latin typeface="Times New Roman" panose="02020603050405020304" pitchFamily="18" charset="0"/>
                <a:ea typeface="宋体" panose="02010600030101010101" pitchFamily="2" charset="-122"/>
              </a:rPr>
              <a:t>。</a:t>
            </a:r>
            <a:endParaRPr sz="2500" b="1" spc="0" dirty="0" smtClean="0">
              <a:solidFill>
                <a:srgbClr val="0F1423"/>
              </a:solidFill>
              <a:uFillTx/>
              <a:latin typeface="Times New Roman" panose="02020603050405020304" pitchFamily="18" charset="0"/>
              <a:ea typeface="宋体" panose="02010600030101010101" pitchFamily="2" charset="-122"/>
            </a:endParaRPr>
          </a:p>
        </p:txBody>
      </p:sp>
      <p:sp>
        <p:nvSpPr>
          <p:cNvPr id="5" name="矩形 4"/>
          <p:cNvSpPr/>
          <p:nvPr/>
        </p:nvSpPr>
        <p:spPr>
          <a:xfrm>
            <a:off x="8450146" y="4517564"/>
            <a:ext cx="2019300" cy="460375"/>
          </a:xfrm>
          <a:prstGeom prst="rect">
            <a:avLst/>
          </a:prstGeom>
        </p:spPr>
        <p:txBody>
          <a:bodyPr wrap="none">
            <a:spAutoFit/>
          </a:bodyPr>
          <a:lstStyle/>
          <a:p>
            <a:r>
              <a:rPr lang="zh-CN" altLang="en-US" sz="2400" b="1" kern="100" dirty="0" smtClean="0">
                <a:solidFill>
                  <a:srgbClr val="0070C0"/>
                </a:solidFill>
                <a:latin typeface="宋体" panose="02010600030101010101" pitchFamily="2" charset="-122"/>
                <a:ea typeface="宋体" panose="02010600030101010101" pitchFamily="2" charset="-122"/>
              </a:rPr>
              <a:t>产生蓝色沉淀</a:t>
            </a:r>
            <a:endParaRPr lang="zh-CN" altLang="en-US" dirty="0">
              <a:latin typeface="宋体" panose="02010600030101010101" pitchFamily="2" charset="-122"/>
              <a:ea typeface="宋体" panose="02010600030101010101" pitchFamily="2" charset="-122"/>
            </a:endParaRPr>
          </a:p>
        </p:txBody>
      </p:sp>
      <p:sp>
        <p:nvSpPr>
          <p:cNvPr id="6" name="矩形 5"/>
          <p:cNvSpPr/>
          <p:nvPr/>
        </p:nvSpPr>
        <p:spPr>
          <a:xfrm>
            <a:off x="3184800" y="4983286"/>
            <a:ext cx="5048250" cy="460375"/>
          </a:xfrm>
          <a:prstGeom prst="rect">
            <a:avLst/>
          </a:prstGeom>
        </p:spPr>
        <p:txBody>
          <a:bodyPr wrap="none">
            <a:spAutoFit/>
          </a:bodyPr>
          <a:lstStyle/>
          <a:p>
            <a:r>
              <a:rPr lang="en-US" altLang="zh-CN" sz="2400" b="1" kern="100" dirty="0" smtClean="0">
                <a:solidFill>
                  <a:srgbClr val="0070C0"/>
                </a:solidFill>
                <a:latin typeface="Times New Roman" panose="02020603050405020304"/>
                <a:ea typeface="宋体" panose="02010600030101010101" pitchFamily="2" charset="-122"/>
              </a:rPr>
              <a:t>2NaOH+CuSO</a:t>
            </a:r>
            <a:r>
              <a:rPr lang="en-US" altLang="zh-CN" sz="2400" b="1" kern="100" baseline="-25000" dirty="0" smtClean="0">
                <a:solidFill>
                  <a:srgbClr val="0070C0"/>
                </a:solidFill>
                <a:latin typeface="Times New Roman" panose="02020603050405020304"/>
                <a:ea typeface="宋体" panose="02010600030101010101" pitchFamily="2" charset="-122"/>
              </a:rPr>
              <a:t>4</a:t>
            </a:r>
            <a:r>
              <a:rPr lang="en-US" altLang="zh-CN" sz="2400" b="1" kern="100" dirty="0" smtClean="0">
                <a:solidFill>
                  <a:srgbClr val="0070C0"/>
                </a:solidFill>
                <a:latin typeface="Times New Roman" panose="02020603050405020304"/>
                <a:ea typeface="宋体" panose="02010600030101010101" pitchFamily="2" charset="-122"/>
              </a:rPr>
              <a:t>=Cu(OH)</a:t>
            </a:r>
            <a:r>
              <a:rPr lang="en-US" altLang="zh-CN" sz="2400" b="1" kern="100" baseline="-25000" dirty="0" smtClean="0">
                <a:solidFill>
                  <a:srgbClr val="0070C0"/>
                </a:solidFill>
                <a:latin typeface="Times New Roman" panose="02020603050405020304"/>
                <a:ea typeface="宋体" panose="02010600030101010101" pitchFamily="2" charset="-122"/>
              </a:rPr>
              <a:t>2</a:t>
            </a:r>
            <a:r>
              <a:rPr lang="en-US" altLang="zh-CN" sz="2400" b="1" kern="100" dirty="0" smtClean="0">
                <a:solidFill>
                  <a:srgbClr val="0070C0"/>
                </a:solidFill>
                <a:latin typeface="宋体" panose="02010600030101010101" pitchFamily="2" charset="-122"/>
                <a:ea typeface="宋体" panose="02010600030101010101" pitchFamily="2" charset="-122"/>
              </a:rPr>
              <a:t>↓</a:t>
            </a:r>
            <a:r>
              <a:rPr lang="en-US" altLang="zh-CN" sz="2400" b="1" kern="100" dirty="0" smtClean="0">
                <a:solidFill>
                  <a:srgbClr val="0070C0"/>
                </a:solidFill>
                <a:latin typeface="Times New Roman" panose="02020603050405020304"/>
                <a:ea typeface="宋体" panose="02010600030101010101" pitchFamily="2" charset="-122"/>
              </a:rPr>
              <a:t>+Na</a:t>
            </a:r>
            <a:r>
              <a:rPr lang="en-US" altLang="zh-CN" sz="2400" b="1" kern="100" baseline="-25000" dirty="0" smtClean="0">
                <a:solidFill>
                  <a:srgbClr val="0070C0"/>
                </a:solidFill>
                <a:latin typeface="Times New Roman" panose="02020603050405020304"/>
                <a:ea typeface="宋体" panose="02010600030101010101" pitchFamily="2" charset="-122"/>
              </a:rPr>
              <a:t>2</a:t>
            </a:r>
            <a:r>
              <a:rPr lang="en-US" altLang="zh-CN" sz="2400" b="1" kern="100" dirty="0" smtClean="0">
                <a:solidFill>
                  <a:srgbClr val="0070C0"/>
                </a:solidFill>
                <a:latin typeface="Times New Roman" panose="02020603050405020304"/>
                <a:ea typeface="宋体" panose="02010600030101010101" pitchFamily="2" charset="-122"/>
              </a:rPr>
              <a:t>SO</a:t>
            </a:r>
            <a:r>
              <a:rPr lang="en-US" altLang="zh-CN" sz="2400" b="1" kern="100" baseline="-25000" dirty="0" smtClean="0">
                <a:solidFill>
                  <a:srgbClr val="0070C0"/>
                </a:solidFill>
                <a:latin typeface="Times New Roman" panose="02020603050405020304"/>
                <a:ea typeface="宋体" panose="02010600030101010101" pitchFamily="2" charset="-122"/>
              </a:rPr>
              <a:t>4</a:t>
            </a:r>
            <a:r>
              <a:rPr lang="en-US" altLang="zh-CN" sz="2400" b="1" kern="100" dirty="0" smtClean="0">
                <a:solidFill>
                  <a:srgbClr val="0070C0"/>
                </a:solidFill>
                <a:latin typeface="Times New Roman" panose="02020603050405020304"/>
                <a:ea typeface="宋体" panose="02010600030101010101" pitchFamily="2" charset="-122"/>
              </a:rPr>
              <a:t> </a:t>
            </a:r>
            <a:endParaRPr lang="zh-CN" altLang="en-US" sz="2400" dirty="0">
              <a:solidFill>
                <a:srgbClr val="0070C0"/>
              </a:solidFill>
            </a:endParaRPr>
          </a:p>
        </p:txBody>
      </p:sp>
      <p:sp>
        <p:nvSpPr>
          <p:cNvPr id="7" name="矩形 6"/>
          <p:cNvSpPr/>
          <p:nvPr/>
        </p:nvSpPr>
        <p:spPr>
          <a:xfrm>
            <a:off x="2230047" y="5476200"/>
            <a:ext cx="2879090" cy="460375"/>
          </a:xfrm>
          <a:prstGeom prst="rect">
            <a:avLst/>
          </a:prstGeom>
        </p:spPr>
        <p:txBody>
          <a:bodyPr wrap="none">
            <a:spAutoFit/>
          </a:bodyPr>
          <a:lstStyle/>
          <a:p>
            <a:r>
              <a:rPr lang="zh-CN" altLang="en-US" sz="2400" b="1" kern="100" dirty="0" smtClean="0">
                <a:solidFill>
                  <a:srgbClr val="0070C0"/>
                </a:solidFill>
                <a:latin typeface="宋体" panose="02010600030101010101" pitchFamily="2" charset="-122"/>
                <a:ea typeface="宋体" panose="02010600030101010101" pitchFamily="2" charset="-122"/>
              </a:rPr>
              <a:t>氢氧化铜或</a:t>
            </a:r>
            <a:r>
              <a:rPr lang="en-US" altLang="zh-CN" sz="2400" b="1" kern="100" dirty="0" smtClean="0">
                <a:solidFill>
                  <a:srgbClr val="0070C0"/>
                </a:solidFill>
                <a:latin typeface="Times New Roman" panose="02020603050405020304"/>
                <a:ea typeface="宋体" panose="02010600030101010101" pitchFamily="2" charset="-122"/>
              </a:rPr>
              <a:t>Cu(OH)</a:t>
            </a:r>
            <a:r>
              <a:rPr lang="en-US" altLang="zh-CN" sz="2400" b="1" kern="100" baseline="-25000" dirty="0" smtClean="0">
                <a:solidFill>
                  <a:srgbClr val="0070C0"/>
                </a:solidFill>
                <a:latin typeface="Times New Roman" panose="02020603050405020304"/>
                <a:ea typeface="宋体" panose="02010600030101010101" pitchFamily="2" charset="-122"/>
              </a:rPr>
              <a:t>2</a:t>
            </a:r>
            <a:endParaRPr lang="zh-CN" altLang="en-US" dirty="0"/>
          </a:p>
        </p:txBody>
      </p:sp>
      <p:sp>
        <p:nvSpPr>
          <p:cNvPr id="8" name="圆角矩形 7"/>
          <p:cNvSpPr/>
          <p:nvPr/>
        </p:nvSpPr>
        <p:spPr>
          <a:xfrm>
            <a:off x="10453863" y="5503190"/>
            <a:ext cx="1417866" cy="408851"/>
          </a:xfrm>
          <a:prstGeom prst="roundRect">
            <a:avLst/>
          </a:prstGeom>
          <a:solidFill>
            <a:schemeClr val="tx2">
              <a:lumMod val="50000"/>
            </a:schemeClr>
          </a:solidFill>
        </p:spPr>
        <p:txBody>
          <a:bodyPr wrap="none" lIns="0" tIns="0" rIns="0" bIns="0">
            <a:spAutoFit/>
          </a:bodyPr>
          <a:lstStyle/>
          <a:p>
            <a:r>
              <a:rPr lang="zh-CN" altLang="en-US" sz="2400" b="1" noProof="1" smtClean="0">
                <a:solidFill>
                  <a:schemeClr val="bg1"/>
                </a:solidFill>
                <a:latin typeface="宋体" panose="02010600030101010101" pitchFamily="2" charset="-122"/>
                <a:ea typeface="宋体" panose="02010600030101010101" pitchFamily="2" charset="-122"/>
                <a:sym typeface="+mn-ea"/>
              </a:rPr>
              <a:t>什么现象</a:t>
            </a:r>
            <a:r>
              <a:rPr lang="en-US" altLang="zh-CN" sz="2400" b="1" noProof="1" smtClean="0">
                <a:solidFill>
                  <a:schemeClr val="bg1"/>
                </a:solidFill>
                <a:latin typeface="方正粗黑宋简体" panose="02000000000000000000" pitchFamily="2" charset="-122"/>
                <a:ea typeface="方正粗黑宋简体" panose="02000000000000000000" pitchFamily="2" charset="-122"/>
                <a:sym typeface="+mn-ea"/>
              </a:rPr>
              <a:t>?</a:t>
            </a:r>
            <a:endParaRPr lang="en-US" altLang="zh-CN" sz="2400" b="1" noProof="1" dirty="0" smtClean="0">
              <a:solidFill>
                <a:schemeClr val="bg1"/>
              </a:solidFill>
              <a:latin typeface="方正粗黑宋简体" panose="02000000000000000000" pitchFamily="2" charset="-122"/>
              <a:ea typeface="方正粗黑宋简体" panose="02000000000000000000" pitchFamily="2" charset="-122"/>
              <a:sym typeface="+mn-ea"/>
            </a:endParaRPr>
          </a:p>
        </p:txBody>
      </p:sp>
      <p:sp>
        <p:nvSpPr>
          <p:cNvPr id="9" name="矩形 8"/>
          <p:cNvSpPr/>
          <p:nvPr/>
        </p:nvSpPr>
        <p:spPr>
          <a:xfrm>
            <a:off x="8095563" y="5978322"/>
            <a:ext cx="3409950" cy="460375"/>
          </a:xfrm>
          <a:prstGeom prst="rect">
            <a:avLst/>
          </a:prstGeom>
        </p:spPr>
        <p:txBody>
          <a:bodyPr wrap="none">
            <a:spAutoFit/>
          </a:bodyPr>
          <a:lstStyle/>
          <a:p>
            <a:r>
              <a:rPr lang="zh-CN" altLang="en-US" sz="2400" b="1" kern="100" spc="-100" dirty="0" smtClean="0">
                <a:solidFill>
                  <a:srgbClr val="0070C0"/>
                </a:solidFill>
                <a:uFillTx/>
                <a:latin typeface="宋体" panose="02010600030101010101" pitchFamily="2" charset="-122"/>
                <a:ea typeface="宋体" panose="02010600030101010101" pitchFamily="2" charset="-122"/>
              </a:rPr>
              <a:t>没有气体、沉淀或水生成</a:t>
            </a:r>
            <a:endParaRPr lang="zh-CN" altLang="en-US" sz="2400" b="1" kern="100" spc="-100" dirty="0" smtClean="0">
              <a:solidFill>
                <a:srgbClr val="0070C0"/>
              </a:solidFill>
              <a:uFillTx/>
              <a:latin typeface="宋体" panose="02010600030101010101" pitchFamily="2" charset="-122"/>
              <a:ea typeface="宋体" panose="02010600030101010101"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bldLvl="0" animBg="1"/>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4825" y="320040"/>
            <a:ext cx="11204575" cy="5770880"/>
          </a:xfrm>
          <a:noFill/>
          <a:ln w="25400" cmpd="tri">
            <a:solidFill>
              <a:schemeClr val="tx1"/>
            </a:solidFill>
            <a:prstDash val="dashDot"/>
          </a:ln>
          <a:extLst>
            <a:ext uri="{909E8E84-426E-40DD-AFC4-6F175D3DCCD1}">
              <a14:hiddenFill xmlns:a14="http://schemas.microsoft.com/office/drawing/2010/main">
                <a:solidFill>
                  <a:schemeClr val="bg1">
                    <a:lumMod val="85000"/>
                  </a:schemeClr>
                </a:solidFill>
              </a14:hiddenFill>
            </a:ext>
          </a:extLst>
        </p:spPr>
        <p:txBody>
          <a:bodyPr wrap="square">
            <a:spAutoFit/>
          </a:bodyPr>
          <a:lstStyle/>
          <a:p>
            <a:pPr marL="0" indent="0" latinLnBrk="1">
              <a:lnSpc>
                <a:spcPct val="130000"/>
              </a:lnSpc>
              <a:spcAft>
                <a:spcPts val="0"/>
              </a:spcAft>
              <a:buNone/>
            </a:pPr>
            <a:r>
              <a:rPr lang="en-US" altLang="zh-CN" sz="2500" b="1" spc="0" dirty="0" smtClean="0">
                <a:solidFill>
                  <a:srgbClr val="0F1423"/>
                </a:solidFill>
                <a:uFillTx/>
                <a:latin typeface="Times New Roman" panose="02020603050405020304" pitchFamily="18" charset="0"/>
                <a:ea typeface="宋体" panose="02010600030101010101" pitchFamily="2" charset="-122"/>
              </a:rPr>
              <a:t>11.</a:t>
            </a:r>
            <a:r>
              <a:rPr lang="zh-CN" altLang="en-US" sz="2500" b="1" spc="0" dirty="0" smtClean="0">
                <a:solidFill>
                  <a:srgbClr val="0F1423"/>
                </a:solidFill>
                <a:uFillTx/>
                <a:latin typeface="Times New Roman" panose="02020603050405020304" pitchFamily="18" charset="0"/>
                <a:ea typeface="宋体" panose="02010600030101010101" pitchFamily="2" charset="-122"/>
              </a:rPr>
              <a:t>如图所示，某兴趣小组的同学为了探究酸碱盐之间能否发生反应做了以下几组实验。回答下列问题</a:t>
            </a:r>
            <a:r>
              <a:rPr sz="2500" b="1" spc="0" dirty="0" smtClean="0">
                <a:solidFill>
                  <a:srgbClr val="0F1423"/>
                </a:solidFill>
                <a:uFillTx/>
                <a:latin typeface="Times New Roman" panose="02020603050405020304" pitchFamily="18" charset="0"/>
                <a:ea typeface="宋体" panose="02010600030101010101" pitchFamily="2" charset="-122"/>
              </a:rPr>
              <a:t>：</a:t>
            </a:r>
            <a:endParaRPr sz="25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30000"/>
              </a:lnSpc>
              <a:spcAft>
                <a:spcPts val="0"/>
              </a:spcAft>
              <a:buNone/>
            </a:pP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latinLnBrk="1">
              <a:lnSpc>
                <a:spcPct val="120000"/>
              </a:lnSpc>
              <a:spcAft>
                <a:spcPts val="0"/>
              </a:spcAft>
            </a:pP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20000"/>
              </a:lnSpc>
              <a:spcAft>
                <a:spcPts val="0"/>
              </a:spcAft>
              <a:buNone/>
            </a:pPr>
            <a:br>
              <a:rPr lang="zh-CN" altLang="en-US" sz="2500" b="1" spc="0" dirty="0" smtClean="0">
                <a:solidFill>
                  <a:srgbClr val="0F1423"/>
                </a:solidFill>
                <a:uFillTx/>
                <a:latin typeface="Times New Roman" panose="02020603050405020304" pitchFamily="18" charset="0"/>
                <a:ea typeface="宋体" panose="02010600030101010101" pitchFamily="2" charset="-122"/>
              </a:rPr>
            </a:b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latinLnBrk="1">
              <a:lnSpc>
                <a:spcPct val="120000"/>
              </a:lnSpc>
              <a:spcAft>
                <a:spcPts val="0"/>
              </a:spcAft>
            </a:pP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marL="0" indent="0" latinLnBrk="1">
              <a:lnSpc>
                <a:spcPct val="120000"/>
              </a:lnSpc>
              <a:spcAft>
                <a:spcPts val="0"/>
              </a:spcAft>
              <a:buNone/>
            </a:pPr>
            <a:br>
              <a:rPr lang="zh-CN" altLang="en-US" sz="2500" b="1" spc="0" dirty="0" smtClean="0">
                <a:solidFill>
                  <a:srgbClr val="0F1423"/>
                </a:solidFill>
                <a:uFillTx/>
                <a:latin typeface="Times New Roman" panose="02020603050405020304" pitchFamily="18" charset="0"/>
                <a:ea typeface="宋体" panose="02010600030101010101" pitchFamily="2" charset="-122"/>
              </a:rPr>
            </a:b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a:p>
            <a:pPr marL="0" indent="0" latinLnBrk="1">
              <a:spcAft>
                <a:spcPts val="0"/>
              </a:spcAft>
              <a:buNone/>
            </a:pPr>
            <a:r>
              <a:rPr lang="en-US" altLang="zh-CN" sz="2500" b="1" spc="0" dirty="0" smtClean="0">
                <a:solidFill>
                  <a:srgbClr val="0F1423"/>
                </a:solidFill>
                <a:uFillTx/>
                <a:latin typeface="Times New Roman" panose="02020603050405020304" pitchFamily="18" charset="0"/>
                <a:ea typeface="宋体" panose="02010600030101010101" pitchFamily="2" charset="-122"/>
              </a:rPr>
              <a:t>(3)观察到C试管中有_____生成，于是得出结论</a:t>
            </a:r>
            <a:r>
              <a:rPr sz="2500" b="1" spc="0" dirty="0" smtClean="0">
                <a:solidFill>
                  <a:srgbClr val="0F1423"/>
                </a:solidFill>
                <a:uFillTx/>
                <a:latin typeface="Times New Roman" panose="02020603050405020304" pitchFamily="18" charset="0"/>
                <a:ea typeface="宋体" panose="02010600030101010101" pitchFamily="2" charset="-122"/>
              </a:rPr>
              <a:t>：</a:t>
            </a:r>
            <a:r>
              <a:rPr lang="en-US" altLang="zh-CN" sz="2500" b="1" spc="0" dirty="0" smtClean="0">
                <a:solidFill>
                  <a:srgbClr val="0F1423"/>
                </a:solidFill>
                <a:uFillTx/>
                <a:latin typeface="Times New Roman" panose="02020603050405020304" pitchFamily="18" charset="0"/>
                <a:ea typeface="宋体" panose="02010600030101010101" pitchFamily="2" charset="-122"/>
              </a:rPr>
              <a:t>稀盐酸能与碳酸钾发生反应。</a:t>
            </a:r>
            <a:br>
              <a:rPr lang="en-US" altLang="zh-CN" sz="2500" b="1" spc="0" dirty="0" smtClean="0">
                <a:solidFill>
                  <a:srgbClr val="0F1423"/>
                </a:solidFill>
                <a:uFillTx/>
                <a:latin typeface="Times New Roman" panose="02020603050405020304" pitchFamily="18" charset="0"/>
                <a:ea typeface="宋体" panose="02010600030101010101" pitchFamily="2" charset="-122"/>
              </a:rPr>
            </a:br>
            <a:r>
              <a:rPr lang="en-US" altLang="zh-CN" sz="2500" b="1" spc="0" dirty="0" smtClean="0">
                <a:solidFill>
                  <a:srgbClr val="0F1423"/>
                </a:solidFill>
                <a:uFillTx/>
                <a:latin typeface="Times New Roman" panose="02020603050405020304" pitchFamily="18" charset="0"/>
                <a:ea typeface="宋体" panose="02010600030101010101" pitchFamily="2" charset="-122"/>
              </a:rPr>
              <a:t>(4)在D试管中有白色沉淀生成，于是得出结论</a:t>
            </a:r>
            <a:r>
              <a:rPr sz="2500" b="1" spc="0" dirty="0" smtClean="0">
                <a:solidFill>
                  <a:srgbClr val="0F1423"/>
                </a:solidFill>
                <a:uFillTx/>
                <a:latin typeface="Times New Roman" panose="02020603050405020304" pitchFamily="18" charset="0"/>
                <a:ea typeface="宋体" panose="02010600030101010101" pitchFamily="2" charset="-122"/>
              </a:rPr>
              <a:t>：</a:t>
            </a:r>
            <a:r>
              <a:rPr lang="en-US" altLang="zh-CN" sz="2500" b="1" spc="0" dirty="0" smtClean="0">
                <a:solidFill>
                  <a:srgbClr val="0F1423"/>
                </a:solidFill>
                <a:uFillTx/>
                <a:latin typeface="Times New Roman" panose="02020603050405020304" pitchFamily="18" charset="0"/>
                <a:ea typeface="宋体" panose="02010600030101010101" pitchFamily="2" charset="-122"/>
              </a:rPr>
              <a:t>稀盐酸能与硝酸银发生反应。反应的化学方程式为</a:t>
            </a:r>
            <a:r>
              <a:rPr lang="en-US" altLang="zh-CN" sz="2500" b="1" u="sng" spc="0" dirty="0" smtClean="0">
                <a:solidFill>
                  <a:srgbClr val="0F1423"/>
                </a:solidFill>
                <a:uFillTx/>
                <a:latin typeface="Times New Roman" panose="02020603050405020304" pitchFamily="18" charset="0"/>
                <a:ea typeface="宋体" panose="02010600030101010101" pitchFamily="2" charset="-122"/>
              </a:rPr>
              <a:t>                                                      </a:t>
            </a:r>
            <a:r>
              <a:rPr lang="en-US" altLang="zh-CN" sz="2500" b="1" spc="0" dirty="0" smtClean="0">
                <a:solidFill>
                  <a:srgbClr val="0F1423"/>
                </a:solidFill>
                <a:uFillTx/>
                <a:latin typeface="Times New Roman" panose="02020603050405020304" pitchFamily="18" charset="0"/>
                <a:ea typeface="宋体" panose="02010600030101010101" pitchFamily="2" charset="-122"/>
              </a:rPr>
              <a:t>。</a:t>
            </a:r>
            <a:endParaRPr lang="en-US" altLang="zh-CN" sz="2500" b="1" spc="0" dirty="0" smtClean="0">
              <a:solidFill>
                <a:srgbClr val="0F1423"/>
              </a:solidFill>
              <a:uFillTx/>
              <a:latin typeface="Times New Roman" panose="02020603050405020304" pitchFamily="18" charset="0"/>
              <a:ea typeface="宋体" panose="02010600030101010101" pitchFamily="2" charset="-122"/>
            </a:endParaRPr>
          </a:p>
        </p:txBody>
      </p:sp>
      <p:grpSp>
        <p:nvGrpSpPr>
          <p:cNvPr id="25" name="组合 24"/>
          <p:cNvGrpSpPr/>
          <p:nvPr/>
        </p:nvGrpSpPr>
        <p:grpSpPr>
          <a:xfrm>
            <a:off x="828675" y="1343025"/>
            <a:ext cx="7979410" cy="3265170"/>
            <a:chOff x="1305" y="2115"/>
            <a:chExt cx="12566" cy="5142"/>
          </a:xfrm>
        </p:grpSpPr>
        <p:pic>
          <p:nvPicPr>
            <p:cNvPr id="4" name="Picture 2" descr="C:\Users\Administrator\Desktop\X2Acd0zSuEx1RmjsvJOU1wlPl3mn4Oelqq_2KIbAuCNidrhpBSqNubq7HCRtRUd.png"/>
            <p:cNvPicPr>
              <a:picLocks noChangeAspect="1" noChangeArrowheads="1"/>
            </p:cNvPicPr>
            <p:nvPr/>
          </p:nvPicPr>
          <p:blipFill>
            <a:blip r:embed="rId1" cstate="print"/>
            <a:srcRect/>
            <a:stretch>
              <a:fillRect/>
            </a:stretch>
          </p:blipFill>
          <p:spPr bwMode="auto">
            <a:xfrm>
              <a:off x="1305" y="2115"/>
              <a:ext cx="12567" cy="5085"/>
            </a:xfrm>
            <a:prstGeom prst="rect">
              <a:avLst/>
            </a:prstGeom>
            <a:noFill/>
          </p:spPr>
        </p:pic>
        <p:sp>
          <p:nvSpPr>
            <p:cNvPr id="2" name="文本框 1"/>
            <p:cNvSpPr txBox="1"/>
            <p:nvPr/>
          </p:nvSpPr>
          <p:spPr>
            <a:xfrm>
              <a:off x="10318" y="5780"/>
              <a:ext cx="1171" cy="872"/>
            </a:xfrm>
            <a:prstGeom prst="rect">
              <a:avLst/>
            </a:prstGeom>
            <a:solidFill>
              <a:schemeClr val="bg1"/>
            </a:solidFill>
          </p:spPr>
          <p:txBody>
            <a:bodyPr wrap="none" lIns="0" tIns="0" rIns="0" bIns="0"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3" name="文本框 12"/>
            <p:cNvSpPr txBox="1"/>
            <p:nvPr/>
          </p:nvSpPr>
          <p:spPr>
            <a:xfrm>
              <a:off x="8204" y="5780"/>
              <a:ext cx="1059" cy="929"/>
            </a:xfrm>
            <a:prstGeom prst="rect">
              <a:avLst/>
            </a:prstGeom>
            <a:solidFill>
              <a:schemeClr val="bg1"/>
            </a:solidFill>
          </p:spPr>
          <p:txBody>
            <a:bodyPr wrap="none" lIns="0" tIns="0" rIns="107950" bIns="36195"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NaCl</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4" name="文本框 13"/>
            <p:cNvSpPr txBox="1"/>
            <p:nvPr/>
          </p:nvSpPr>
          <p:spPr>
            <a:xfrm>
              <a:off x="12579" y="5780"/>
              <a:ext cx="1219" cy="872"/>
            </a:xfrm>
            <a:prstGeom prst="rect">
              <a:avLst/>
            </a:prstGeom>
            <a:solidFill>
              <a:schemeClr val="bg1"/>
            </a:solidFill>
          </p:spPr>
          <p:txBody>
            <a:bodyPr wrap="none" lIns="0" tIns="0" rIns="0" bIns="0"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AgNO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endPar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5" name="文本框 14"/>
            <p:cNvSpPr txBox="1"/>
            <p:nvPr/>
          </p:nvSpPr>
          <p:spPr>
            <a:xfrm>
              <a:off x="2514" y="2852"/>
              <a:ext cx="1281" cy="929"/>
            </a:xfrm>
            <a:prstGeom prst="rect">
              <a:avLst/>
            </a:prstGeom>
            <a:solidFill>
              <a:schemeClr val="bg1"/>
            </a:solidFill>
          </p:spPr>
          <p:txBody>
            <a:bodyPr wrap="none" lIns="0" tIns="0" rIns="107950" bIns="36195" rtlCol="0" anchor="t">
              <a:spAutoFit/>
            </a:bodyPr>
            <a:p>
              <a:pPr algn="ctr">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NaOH</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ctr">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6" name="文本框 15"/>
            <p:cNvSpPr txBox="1"/>
            <p:nvPr/>
          </p:nvSpPr>
          <p:spPr>
            <a:xfrm>
              <a:off x="1430" y="5580"/>
              <a:ext cx="1344" cy="929"/>
            </a:xfrm>
            <a:prstGeom prst="rect">
              <a:avLst/>
            </a:prstGeom>
            <a:solidFill>
              <a:schemeClr val="bg1"/>
            </a:solidFill>
          </p:spPr>
          <p:txBody>
            <a:bodyPr wrap="none" lIns="107950" tIns="0" rIns="0" bIns="36195" rtlCol="0" anchor="t">
              <a:spAutoFit/>
            </a:bodyPr>
            <a:p>
              <a:pPr algn="r">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CuSO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7" name="文本框 16"/>
            <p:cNvSpPr txBox="1"/>
            <p:nvPr/>
          </p:nvSpPr>
          <p:spPr>
            <a:xfrm>
              <a:off x="7914" y="2139"/>
              <a:ext cx="1546" cy="606"/>
            </a:xfrm>
            <a:prstGeom prst="rect">
              <a:avLst/>
            </a:prstGeom>
            <a:solidFill>
              <a:schemeClr val="bg1"/>
            </a:solidFill>
          </p:spPr>
          <p:txBody>
            <a:bodyPr wrap="none" lIns="107950" tIns="107950" rIns="107950" bIns="0" rtlCol="0" anchor="t">
              <a:spAutoFit/>
            </a:bodyPr>
            <a:p>
              <a:pPr algn="ctr">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稀盐酸</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0" name="文本框 19"/>
            <p:cNvSpPr txBox="1"/>
            <p:nvPr/>
          </p:nvSpPr>
          <p:spPr>
            <a:xfrm>
              <a:off x="5127" y="6709"/>
              <a:ext cx="7356" cy="549"/>
            </a:xfrm>
            <a:prstGeom prst="rect">
              <a:avLst/>
            </a:prstGeom>
            <a:solidFill>
              <a:schemeClr val="bg1"/>
            </a:solidFill>
          </p:spPr>
          <p:txBody>
            <a:bodyPr wrap="square" lIns="107950" tIns="0" rIns="107950" bIns="71755"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                   B                    C                   D</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
        <p:nvSpPr>
          <p:cNvPr id="6145" name="Rectangle 1"/>
          <p:cNvSpPr>
            <a:spLocks noChangeArrowheads="1"/>
          </p:cNvSpPr>
          <p:nvPr/>
        </p:nvSpPr>
        <p:spPr bwMode="auto">
          <a:xfrm>
            <a:off x="-7620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0" i="0" u="none" strike="noStrike" cap="none" normalizeH="0" baseline="0" smtClean="0">
                <a:ln>
                  <a:noFill/>
                </a:ln>
                <a:solidFill>
                  <a:srgbClr val="000000"/>
                </a:solidFill>
                <a:effectLst/>
                <a:latin typeface="Arial" panose="020B0604020202090204"/>
                <a:ea typeface="宋体" panose="02010600030101010101" pitchFamily="2" charset="-122"/>
                <a:cs typeface="Times New Roman" panose="02020603050405020304" pitchFamily="18" charset="0"/>
              </a:rPr>
              <a:t> </a:t>
            </a:r>
            <a:r>
              <a:rPr kumimoji="0" lang="zh-CN" altLang="zh-CN" sz="900" b="0" i="0" u="none" strike="noStrike" cap="none" normalizeH="0" baseline="0" smtClean="0">
                <a:ln>
                  <a:noFill/>
                </a:ln>
                <a:solidFill>
                  <a:schemeClr val="tx1"/>
                </a:solidFill>
                <a:effectLst/>
                <a:latin typeface="Arial" panose="020B0604020202090204" pitchFamily="34" charset="0"/>
                <a:ea typeface="宋体" panose="02010600030101010101" pitchFamily="2" charset="-122"/>
                <a:cs typeface="宋体" panose="02010600030101010101" pitchFamily="2" charset="-122"/>
              </a:rPr>
              <a:t> </a:t>
            </a:r>
            <a:endParaRPr kumimoji="0" lang="zh-CN" altLang="zh-CN" sz="1800" b="0" i="0" u="none" strike="noStrike" cap="none" normalizeH="0" baseline="0" smtClean="0">
              <a:ln>
                <a:noFill/>
              </a:ln>
              <a:solidFill>
                <a:schemeClr val="tx1"/>
              </a:solidFill>
              <a:effectLst/>
              <a:latin typeface="Arial" panose="020B0604020202090204" pitchFamily="34" charset="0"/>
              <a:ea typeface="宋体" panose="02010600030101010101" pitchFamily="2" charset="-122"/>
              <a:cs typeface="宋体" panose="02010600030101010101" pitchFamily="2" charset="-122"/>
            </a:endParaRPr>
          </a:p>
        </p:txBody>
      </p:sp>
      <p:sp>
        <p:nvSpPr>
          <p:cNvPr id="7" name="矩形 6"/>
          <p:cNvSpPr/>
          <p:nvPr/>
        </p:nvSpPr>
        <p:spPr>
          <a:xfrm>
            <a:off x="3447977" y="5555575"/>
            <a:ext cx="4224020" cy="460375"/>
          </a:xfrm>
          <a:prstGeom prst="rect">
            <a:avLst/>
          </a:prstGeom>
        </p:spPr>
        <p:txBody>
          <a:bodyPr wrap="none">
            <a:spAutoFit/>
          </a:bodyPr>
          <a:lstStyle/>
          <a:p>
            <a:pPr algn="l"/>
            <a:r>
              <a:rPr lang="en-US" altLang="zh-CN" sz="2400" b="1" kern="100" dirty="0" smtClean="0">
                <a:solidFill>
                  <a:srgbClr val="0070C0"/>
                </a:solidFill>
                <a:latin typeface="Times New Roman" panose="02020603050405020304"/>
                <a:ea typeface="宋体" panose="02010600030101010101" pitchFamily="2" charset="-122"/>
              </a:rPr>
              <a:t>AgNO</a:t>
            </a:r>
            <a:r>
              <a:rPr lang="en-US" altLang="zh-CN" sz="2400" b="1" kern="100" baseline="-25000" dirty="0" smtClean="0">
                <a:solidFill>
                  <a:srgbClr val="0070C0"/>
                </a:solidFill>
                <a:latin typeface="Times New Roman" panose="02020603050405020304"/>
                <a:ea typeface="宋体" panose="02010600030101010101" pitchFamily="2" charset="-122"/>
              </a:rPr>
              <a:t>3</a:t>
            </a:r>
            <a:r>
              <a:rPr lang="en-US" altLang="zh-CN" sz="2400" b="1" kern="100" dirty="0" smtClean="0">
                <a:solidFill>
                  <a:srgbClr val="0070C0"/>
                </a:solidFill>
                <a:latin typeface="Times New Roman" panose="02020603050405020304"/>
                <a:ea typeface="宋体" panose="02010600030101010101" pitchFamily="2" charset="-122"/>
              </a:rPr>
              <a:t>+NaCl=AgCl</a:t>
            </a:r>
            <a:r>
              <a:rPr lang="en-US" altLang="zh-CN" sz="2400" b="1" kern="100" dirty="0" smtClean="0">
                <a:solidFill>
                  <a:srgbClr val="0070C0"/>
                </a:solidFill>
                <a:latin typeface="宋体" panose="02010600030101010101" pitchFamily="2" charset="-122"/>
                <a:ea typeface="宋体" panose="02010600030101010101" pitchFamily="2" charset="-122"/>
              </a:rPr>
              <a:t>↓</a:t>
            </a:r>
            <a:r>
              <a:rPr lang="en-US" altLang="zh-CN" sz="2400" b="1" kern="100" dirty="0" smtClean="0">
                <a:solidFill>
                  <a:srgbClr val="0070C0"/>
                </a:solidFill>
                <a:latin typeface="Times New Roman" panose="02020603050405020304"/>
                <a:ea typeface="宋体" panose="02010600030101010101" pitchFamily="2" charset="-122"/>
              </a:rPr>
              <a:t>+NaNO</a:t>
            </a:r>
            <a:r>
              <a:rPr lang="en-US" altLang="zh-CN" sz="2400" b="1" kern="100" baseline="-25000" dirty="0" smtClean="0">
                <a:solidFill>
                  <a:srgbClr val="0070C0"/>
                </a:solidFill>
                <a:latin typeface="Times New Roman" panose="02020603050405020304"/>
                <a:ea typeface="宋体" panose="02010600030101010101" pitchFamily="2" charset="-122"/>
              </a:rPr>
              <a:t>3</a:t>
            </a:r>
            <a:endParaRPr lang="zh-CN" altLang="en-US" dirty="0"/>
          </a:p>
        </p:txBody>
      </p:sp>
      <p:sp>
        <p:nvSpPr>
          <p:cNvPr id="9" name="矩形 8"/>
          <p:cNvSpPr/>
          <p:nvPr/>
        </p:nvSpPr>
        <p:spPr>
          <a:xfrm>
            <a:off x="3432758" y="4588942"/>
            <a:ext cx="795020" cy="460375"/>
          </a:xfrm>
          <a:prstGeom prst="rect">
            <a:avLst/>
          </a:prstGeom>
        </p:spPr>
        <p:txBody>
          <a:bodyPr wrap="none">
            <a:spAutoFit/>
          </a:bodyPr>
          <a:lstStyle/>
          <a:p>
            <a:r>
              <a:rPr lang="zh-CN" altLang="en-US" sz="2400" b="1" kern="100" dirty="0" smtClean="0">
                <a:solidFill>
                  <a:srgbClr val="0070C0"/>
                </a:solidFill>
                <a:latin typeface="宋体" panose="02010600030101010101" pitchFamily="2" charset="-122"/>
                <a:ea typeface="宋体" panose="02010600030101010101" pitchFamily="2" charset="-122"/>
              </a:rPr>
              <a:t>气泡</a:t>
            </a:r>
            <a:endParaRPr lang="zh-CN" altLang="en-US" sz="2400" b="1" kern="100" dirty="0" smtClean="0">
              <a:solidFill>
                <a:srgbClr val="0070C0"/>
              </a:solidFill>
              <a:latin typeface="宋体" panose="02010600030101010101" pitchFamily="2" charset="-122"/>
              <a:ea typeface="宋体" panose="02010600030101010101" pitchFamily="2"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custDataLst>
              <p:tags r:id="rId1"/>
            </p:custDataLst>
          </p:nvPr>
        </p:nvGraphicFramePr>
        <p:xfrm>
          <a:off x="477202" y="224155"/>
          <a:ext cx="11269345" cy="6191835"/>
        </p:xfrm>
        <a:graphic>
          <a:graphicData uri="http://schemas.openxmlformats.org/drawingml/2006/table">
            <a:tbl>
              <a:tblPr/>
              <a:tblGrid>
                <a:gridCol w="7349490"/>
                <a:gridCol w="2114550"/>
                <a:gridCol w="1805305"/>
              </a:tblGrid>
              <a:tr h="2412000">
                <a:tc gridSpan="3">
                  <a:txBody>
                    <a:bodyPr/>
                    <a:lstStyle/>
                    <a:p>
                      <a:pPr marR="0" indent="0" algn="l" defTabSz="914400" rtl="0" eaLnBrk="1" fontAlgn="auto" latinLnBrk="1" hangingPunct="1">
                        <a:lnSpc>
                          <a:spcPct val="120000"/>
                        </a:lnSpc>
                        <a:spcBef>
                          <a:spcPts val="0"/>
                        </a:spcBef>
                        <a:spcAft>
                          <a:spcPts val="0"/>
                        </a:spcAft>
                        <a:buClrTx/>
                        <a:buSzTx/>
                        <a:buFontTx/>
                        <a:buNone/>
                        <a:defRPr/>
                      </a:pPr>
                      <a:r>
                        <a:rPr lang="en-US" altLang="zh-CN"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a:t>
                      </a:r>
                      <a:r>
                        <a:rPr lang="en-US" altLang="zh-CN"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5)</a:t>
                      </a: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同学们对反应后</a:t>
                      </a:r>
                      <a:r>
                        <a:rPr lang="en-US" altLang="zh-CN"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C</a:t>
                      </a: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试管中溶液的溶质成分进行分析，得出以下结论。</a:t>
                      </a:r>
                      <a:b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b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结论一：</a:t>
                      </a:r>
                      <a:r>
                        <a:rPr lang="en-US" altLang="zh-CN"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KCl</a:t>
                      </a:r>
                      <a:br>
                        <a:rPr lang="en-US" altLang="zh-CN"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b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结论二：</a:t>
                      </a:r>
                      <a:r>
                        <a:rPr lang="en-US" altLang="zh-CN"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KCl</a:t>
                      </a: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a:t>
                      </a:r>
                      <a:r>
                        <a:rPr lang="en-US" altLang="zh-CN"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HCl</a:t>
                      </a: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a:t>
                      </a:r>
                      <a:br>
                        <a:rPr lang="en-US" altLang="zh-CN"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b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结论三：</a:t>
                      </a:r>
                      <a:r>
                        <a:rPr lang="en-US" altLang="zh-CN" sz="2400" b="0" u="sng">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                         </a:t>
                      </a: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a:t>
                      </a:r>
                      <a:br>
                        <a:rPr lang="zh-CN" altLang="en-US" sz="2400" b="0" u="sng">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br>
                      <a:r>
                        <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rPr>
                        <a:t>某同学通过以下两种方法验证结论二是正确的。</a:t>
                      </a:r>
                      <a:endParaRPr lang="zh-CN" altLang="en-US" sz="2400" b="0">
                        <a:solidFill>
                          <a:srgbClr val="646464"/>
                        </a:solidFill>
                        <a:uFillTx/>
                        <a:latin typeface="Times New Roman" panose="02020603050405020304" pitchFamily="18" charset="0"/>
                        <a:ea typeface="方正粗黑宋简体" panose="02000000000000000000" pitchFamily="2" charset="-122"/>
                        <a:cs typeface="微软雅黑" panose="020B0503020204020204" pitchFamily="34" charset="-122"/>
                      </a:endParaRPr>
                    </a:p>
                  </a:txBody>
                  <a:tcPr marL="36195" marR="36195" marT="36195" marB="36195"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FFFFF"/>
                    </a:solidFill>
                  </a:tcPr>
                </a:tc>
                <a:tc hMerge="1">
                  <a:tcPr marL="72000" marR="720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a:solidFill>
                        <a:srgbClr val="646464"/>
                      </a:solidFill>
                      <a:prstDash val="sysDash"/>
                    </a:lnT>
                    <a:lnB w="28575">
                      <a:solidFill>
                        <a:srgbClr val="646464"/>
                      </a:solidFill>
                      <a:prstDash val="solid"/>
                    </a:lnB>
                    <a:solidFill>
                      <a:schemeClr val="bg1">
                        <a:lumMod val="85000"/>
                      </a:schemeClr>
                    </a:solidFill>
                  </a:tcPr>
                </a:tc>
                <a:tc hMerge="1">
                  <a:tcPr marL="72000" marR="72000" marT="47625" marB="47625" anchor="ctr">
                    <a:lnL w="12700" cap="flat" cmpd="sng" algn="ctr">
                      <a:solidFill>
                        <a:schemeClr val="tx1"/>
                      </a:solidFill>
                      <a:prstDash val="solid"/>
                      <a:round/>
                      <a:headEnd type="none" w="med" len="med"/>
                      <a:tailEnd type="none" w="med" len="med"/>
                    </a:lnL>
                    <a:lnR w="9525">
                      <a:solidFill>
                        <a:srgbClr val="646464"/>
                      </a:solidFill>
                      <a:prstDash val="sysDash"/>
                    </a:lnR>
                    <a:lnT w="9525">
                      <a:solidFill>
                        <a:srgbClr val="646464"/>
                      </a:solidFill>
                      <a:prstDash val="sysDash"/>
                    </a:lnT>
                    <a:lnB w="28575">
                      <a:solidFill>
                        <a:srgbClr val="646464"/>
                      </a:solidFill>
                      <a:prstDash val="solid"/>
                    </a:lnB>
                    <a:solidFill>
                      <a:schemeClr val="bg1">
                        <a:lumMod val="85000"/>
                      </a:schemeClr>
                    </a:solidFill>
                  </a:tcPr>
                </a:tc>
              </a:tr>
              <a:tr h="684000">
                <a:tc>
                  <a:txBody>
                    <a:bodyPr/>
                    <a:lstStyle/>
                    <a:p>
                      <a:pPr indent="0" algn="ctr" latinLnBrk="1">
                        <a:lnSpc>
                          <a:spcPct val="120000"/>
                        </a:lnSpc>
                        <a:spcBef>
                          <a:spcPts val="0"/>
                        </a:spcBef>
                        <a:spcAft>
                          <a:spcPts val="0"/>
                        </a:spcAft>
                      </a:pPr>
                      <a:r>
                        <a:rPr lang="zh-CN" altLang="en-US" sz="2400" b="1">
                          <a:solidFill>
                            <a:srgbClr val="646464"/>
                          </a:solidFill>
                          <a:uFillTx/>
                          <a:latin typeface="Times New Roman" panose="02020603050405020304" pitchFamily="18" charset="0"/>
                          <a:ea typeface="方正粗黑宋简体" panose="02000000000000000000" pitchFamily="2" charset="-122"/>
                        </a:rPr>
                        <a:t>实验操作</a:t>
                      </a:r>
                      <a:endParaRPr lang="zh-CN" altLang="en-US" sz="2400" b="1">
                        <a:solidFill>
                          <a:srgbClr val="646464"/>
                        </a:solidFill>
                        <a:uFillTx/>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indent="0" algn="ctr" latinLnBrk="1">
                        <a:lnSpc>
                          <a:spcPct val="120000"/>
                        </a:lnSpc>
                        <a:spcBef>
                          <a:spcPts val="0"/>
                        </a:spcBef>
                        <a:spcAft>
                          <a:spcPts val="0"/>
                        </a:spcAft>
                      </a:pPr>
                      <a:r>
                        <a:rPr lang="zh-CN" altLang="en-US" sz="2400" b="1">
                          <a:solidFill>
                            <a:srgbClr val="646464"/>
                          </a:solidFill>
                          <a:latin typeface="Times New Roman" panose="02020603050405020304" pitchFamily="18" charset="0"/>
                          <a:ea typeface="方正粗黑宋简体" panose="02000000000000000000" pitchFamily="2" charset="-122"/>
                        </a:rPr>
                        <a:t>实验现象</a:t>
                      </a:r>
                      <a:endParaRPr lang="zh-CN" altLang="en-US" sz="2400" b="1">
                        <a:solidFill>
                          <a:srgbClr val="646464"/>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lstStyle/>
                    <a:p>
                      <a:pPr indent="0" algn="ctr" latinLnBrk="1">
                        <a:lnSpc>
                          <a:spcPct val="120000"/>
                        </a:lnSpc>
                        <a:spcBef>
                          <a:spcPts val="0"/>
                        </a:spcBef>
                        <a:spcAft>
                          <a:spcPts val="0"/>
                        </a:spcAft>
                      </a:pPr>
                      <a:r>
                        <a:rPr lang="zh-CN" altLang="en-US" sz="2400" b="1">
                          <a:solidFill>
                            <a:srgbClr val="646464"/>
                          </a:solidFill>
                          <a:latin typeface="Times New Roman" panose="02020603050405020304" pitchFamily="18" charset="0"/>
                          <a:ea typeface="方正粗黑宋简体" panose="02000000000000000000" pitchFamily="2" charset="-122"/>
                        </a:rPr>
                        <a:t>实验结论</a:t>
                      </a:r>
                      <a:endParaRPr lang="zh-CN" altLang="en-US" sz="2400" b="1">
                        <a:solidFill>
                          <a:srgbClr val="646464"/>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r h="684000">
                <a:tc>
                  <a:txBody>
                    <a:bodyPr/>
                    <a:lstStyle/>
                    <a:p>
                      <a:pPr indent="0" algn="l" latinLnBrk="1">
                        <a:lnSpc>
                          <a:spcPct val="120000"/>
                        </a:lnSpc>
                        <a:spcBef>
                          <a:spcPts val="0"/>
                        </a:spcBef>
                        <a:spcAft>
                          <a:spcPts val="0"/>
                        </a:spcAft>
                      </a:pPr>
                      <a:r>
                        <a:rPr lang="zh-CN" altLang="en-US"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方法一：取C中溶液少许，加入足量的AgNO</a:t>
                      </a:r>
                      <a:r>
                        <a:rPr lang="zh-CN" altLang="en-US" sz="2400" b="0" baseline="-2500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3</a:t>
                      </a:r>
                      <a:r>
                        <a:rPr lang="zh-CN" altLang="en-US"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溶液</a:t>
                      </a:r>
                      <a:endParaRPr lang="zh-CN" altLang="en-US"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a:txBody>
                    <a:bodyPr/>
                    <a:lstStyle/>
                    <a:p>
                      <a:pPr indent="0" algn="ctr" latinLnBrk="1">
                        <a:lnSpc>
                          <a:spcPct val="120000"/>
                        </a:lnSpc>
                        <a:spcBef>
                          <a:spcPts val="0"/>
                        </a:spcBef>
                        <a:spcAft>
                          <a:spcPts val="0"/>
                        </a:spcAft>
                      </a:pPr>
                      <a:r>
                        <a:rPr lang="zh-CN" altLang="en-US" sz="2400" b="0">
                          <a:solidFill>
                            <a:srgbClr val="404040"/>
                          </a:solidFill>
                          <a:latin typeface="Times New Roman" panose="02020603050405020304" pitchFamily="18" charset="0"/>
                          <a:ea typeface="方正粗黑宋简体" panose="02000000000000000000" pitchFamily="2" charset="-122"/>
                        </a:rPr>
                        <a:t>产生白色沉淀</a:t>
                      </a:r>
                      <a:endParaRPr lang="zh-CN" altLang="en-US" sz="2400" b="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c rowSpan="2">
                  <a:txBody>
                    <a:bodyPr/>
                    <a:lstStyle/>
                    <a:p>
                      <a:pPr indent="0" algn="ctr" latinLnBrk="1">
                        <a:lnSpc>
                          <a:spcPct val="120000"/>
                        </a:lnSpc>
                        <a:spcBef>
                          <a:spcPts val="0"/>
                        </a:spcBef>
                        <a:spcAft>
                          <a:spcPts val="0"/>
                        </a:spcAft>
                      </a:pPr>
                      <a:r>
                        <a:rPr lang="zh-CN" altLang="en-US" sz="2400" b="0">
                          <a:solidFill>
                            <a:srgbClr val="404040"/>
                          </a:solidFill>
                          <a:latin typeface="Times New Roman" panose="02020603050405020304" pitchFamily="18" charset="0"/>
                          <a:ea typeface="方正粗黑宋简体" panose="02000000000000000000" pitchFamily="2" charset="-122"/>
                        </a:rPr>
                        <a:t>结论二正确</a:t>
                      </a:r>
                      <a:endParaRPr lang="zh-CN" altLang="en-US" sz="2400" b="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28575">
                      <a:solidFill>
                        <a:srgbClr val="646464"/>
                      </a:solidFill>
                      <a:prstDash val="solid"/>
                    </a:lnT>
                    <a:lnB w="9525">
                      <a:solidFill>
                        <a:srgbClr val="646464"/>
                      </a:solidFill>
                      <a:prstDash val="sysDash"/>
                    </a:lnB>
                    <a:solidFill>
                      <a:srgbClr val="FFFFFF"/>
                    </a:solidFill>
                  </a:tcPr>
                </a:tc>
              </a:tr>
              <a:tr h="684000">
                <a:tc>
                  <a:txBody>
                    <a:bodyPr/>
                    <a:lstStyle/>
                    <a:p>
                      <a:pPr indent="0" algn="l" latinLnBrk="1">
                        <a:lnSpc>
                          <a:spcPct val="120000"/>
                        </a:lnSpc>
                        <a:spcBef>
                          <a:spcPts val="0"/>
                        </a:spcBef>
                        <a:spcAft>
                          <a:spcPts val="0"/>
                        </a:spcAft>
                      </a:pPr>
                      <a:r>
                        <a:rPr lang="zh-CN" altLang="en-US"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方法二：取</a:t>
                      </a:r>
                      <a:r>
                        <a:rPr lang="en-US" altLang="zh-CN"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C</a:t>
                      </a:r>
                      <a:r>
                        <a:rPr lang="zh-CN" altLang="en-US"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中溶液少许，加入适量的 </a:t>
                      </a:r>
                      <a:r>
                        <a:rPr lang="zh-CN" altLang="en-US" sz="2400" b="0" u="sng">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                        </a:t>
                      </a:r>
                      <a:r>
                        <a:rPr lang="zh-CN" altLang="en-US"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rPr>
                        <a:t>。</a:t>
                      </a:r>
                      <a:endParaRPr lang="zh-CN" altLang="en-US" sz="2400" b="0">
                        <a:solidFill>
                          <a:srgbClr val="646464"/>
                        </a:solidFill>
                        <a:latin typeface="Times New Roman" panose="02020603050405020304" pitchFamily="18" charset="0"/>
                        <a:ea typeface="方正粗黑宋简体" panose="02000000000000000000" pitchFamily="2" charset="-122"/>
                        <a:cs typeface="微软雅黑" panose="020B0503020204020204" pitchFamily="34" charset="-122"/>
                      </a:endParaRPr>
                    </a:p>
                  </a:txBody>
                  <a:tcPr marL="36195" marR="36195" marT="36195" marB="36195"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c>
                  <a:txBody>
                    <a:bodyPr/>
                    <a:lstStyle/>
                    <a:p>
                      <a:pPr indent="0" algn="ctr" latinLnBrk="1">
                        <a:lnSpc>
                          <a:spcPct val="120000"/>
                        </a:lnSpc>
                        <a:spcBef>
                          <a:spcPts val="0"/>
                        </a:spcBef>
                        <a:spcAft>
                          <a:spcPts val="0"/>
                        </a:spcAft>
                      </a:pPr>
                      <a:r>
                        <a:rPr lang="zh-CN" altLang="en-US" sz="2400" b="0">
                          <a:solidFill>
                            <a:srgbClr val="404040"/>
                          </a:solidFill>
                          <a:latin typeface="Times New Roman" panose="02020603050405020304" pitchFamily="18" charset="0"/>
                          <a:ea typeface="方正粗黑宋简体" panose="02000000000000000000" pitchFamily="2" charset="-122"/>
                        </a:rPr>
                        <a:t>溶液颜色变红</a:t>
                      </a:r>
                      <a:endParaRPr lang="zh-CN" altLang="en-US" sz="2400" b="0">
                        <a:solidFill>
                          <a:srgbClr val="404040"/>
                        </a:solidFill>
                        <a:latin typeface="Times New Roman" panose="02020603050405020304" pitchFamily="18" charset="0"/>
                        <a:ea typeface="方正粗黑宋简体" panose="02000000000000000000" pitchFamily="2" charset="-122"/>
                      </a:endParaRPr>
                    </a:p>
                  </a:txBody>
                  <a:tcPr marL="36195" marR="36195" marT="36195" marB="36195" anchor="ctr">
                    <a:lnL w="9525">
                      <a:solidFill>
                        <a:srgbClr val="646464"/>
                      </a:solidFill>
                      <a:prstDash val="sysDash"/>
                    </a:lnL>
                    <a:lnR w="9525">
                      <a:solidFill>
                        <a:srgbClr val="646464"/>
                      </a:solidFill>
                      <a:prstDash val="sysDash"/>
                    </a:lnR>
                    <a:lnT w="9525">
                      <a:solidFill>
                        <a:srgbClr val="646464"/>
                      </a:solidFill>
                      <a:prstDash val="sysDash"/>
                    </a:lnT>
                    <a:lnB w="9525">
                      <a:solidFill>
                        <a:srgbClr val="646464"/>
                      </a:solidFill>
                      <a:prstDash val="sysDash"/>
                    </a:lnB>
                    <a:solidFill>
                      <a:srgbClr val="FFFFFF"/>
                    </a:solidFill>
                  </a:tcPr>
                </a:tc>
                <a:tc vMerge="1">
                  <a:tcPr>
                    <a:lnL w="9525">
                      <a:solidFill>
                        <a:srgbClr val="646464"/>
                      </a:solidFill>
                      <a:prstDash val="sysDash"/>
                    </a:lnL>
                    <a:lnR w="9525">
                      <a:solidFill>
                        <a:srgbClr val="646464"/>
                      </a:solidFill>
                      <a:prstDash val="sysDash"/>
                    </a:lnR>
                    <a:lnB w="9525">
                      <a:solidFill>
                        <a:srgbClr val="646464"/>
                      </a:solidFill>
                      <a:prstDash val="sysDash"/>
                    </a:lnB>
                  </a:tcPr>
                </a:tc>
              </a:tr>
              <a:tr h="1727835">
                <a:tc gridSpan="3">
                  <a:txBody>
                    <a:bodyPr/>
                    <a:lstStyle/>
                    <a:p>
                      <a:pPr marR="0" indent="0" algn="l" defTabSz="914400" rtl="0" eaLnBrk="1" fontAlgn="auto" latinLnBrk="1" hangingPunct="1">
                        <a:lnSpc>
                          <a:spcPct val="120000"/>
                        </a:lnSpc>
                        <a:spcBef>
                          <a:spcPts val="0"/>
                        </a:spcBef>
                        <a:spcAft>
                          <a:spcPts val="0"/>
                        </a:spcAft>
                        <a:buClrTx/>
                        <a:buSzTx/>
                        <a:buFontTx/>
                        <a:buNone/>
                        <a:defRPr/>
                      </a:pPr>
                      <a:r>
                        <a:rPr lang="en-US" altLang="zh-CN"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(6)</a:t>
                      </a:r>
                      <a:r>
                        <a:rPr lang="zh-CN" altLang="en-US"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有些同学对方法一提出质疑，认为方法一不正确，理由是：</a:t>
                      </a:r>
                      <a:endParaRPr lang="zh-CN" altLang="en-US"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endParaRPr>
                    </a:p>
                    <a:p>
                      <a:pPr marR="0" indent="0" algn="l" defTabSz="914400" rtl="0" eaLnBrk="1" fontAlgn="auto" latinLnBrk="1" hangingPunct="1">
                        <a:lnSpc>
                          <a:spcPct val="120000"/>
                        </a:lnSpc>
                        <a:spcBef>
                          <a:spcPts val="0"/>
                        </a:spcBef>
                        <a:spcAft>
                          <a:spcPts val="0"/>
                        </a:spcAft>
                        <a:buClrTx/>
                        <a:buSzTx/>
                        <a:buFontTx/>
                        <a:buNone/>
                        <a:defRPr/>
                      </a:pPr>
                      <a:r>
                        <a:rPr lang="zh-CN" altLang="en-US" sz="2400" b="0" u="sng">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                                  </a:t>
                      </a:r>
                      <a:r>
                        <a:rPr lang="en-US" altLang="zh-CN" sz="2400" b="0" u="sng">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a:t>
                      </a:r>
                      <a:r>
                        <a:rPr lang="zh-CN" altLang="en-US" sz="2400" b="0" u="sng">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                                 </a:t>
                      </a:r>
                      <a:r>
                        <a:rPr lang="zh-CN" altLang="en-US"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。当我们对反应后所得溶液的溶质成分进行猜想时，除了考虑生成物外，还要考虑</a:t>
                      </a:r>
                      <a:r>
                        <a:rPr lang="zh-CN" altLang="en-US" sz="2400" b="0" u="sng">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                              </a:t>
                      </a:r>
                      <a:r>
                        <a:rPr lang="zh-CN" altLang="en-US"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rPr>
                        <a:t>。</a:t>
                      </a:r>
                      <a:endParaRPr lang="zh-CN" altLang="en-US" sz="2400" b="0">
                        <a:solidFill>
                          <a:srgbClr val="404040"/>
                        </a:solidFill>
                        <a:latin typeface="Times New Roman" panose="02020603050405020304" pitchFamily="18" charset="0"/>
                        <a:ea typeface="方正粗黑宋简体" panose="02000000000000000000" pitchFamily="2" charset="-122"/>
                        <a:cs typeface="微软雅黑" panose="020B0503020204020204" pitchFamily="34" charset="-122"/>
                      </a:endParaRPr>
                    </a:p>
                  </a:txBody>
                  <a:tcPr marL="36195" marR="36195" marT="36195" marB="36195" anchor="ctr">
                    <a:lnL w="9525">
                      <a:solidFill>
                        <a:srgbClr val="646464"/>
                      </a:solidFill>
                      <a:prstDash val="sysDash"/>
                    </a:lnL>
                    <a:lnR w="9525">
                      <a:solidFill>
                        <a:srgbClr val="646464"/>
                      </a:solidFill>
                      <a:prstDash val="sysDash"/>
                    </a:lnR>
                    <a:lnT w="9525">
                      <a:solidFill>
                        <a:srgbClr val="646464"/>
                      </a:solidFill>
                      <a:prstDash val="sysDash"/>
                    </a:lnT>
                    <a:lnB w="28575">
                      <a:solidFill>
                        <a:srgbClr val="646464"/>
                      </a:solidFill>
                      <a:prstDash val="solid"/>
                    </a:lnB>
                    <a:solidFill>
                      <a:srgbClr val="FFFFFF"/>
                    </a:solidFill>
                  </a:tcPr>
                </a:tc>
                <a:tc hMerge="1">
                  <a:tcPr marL="72000" marR="720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a:solidFill>
                        <a:srgbClr val="646464"/>
                      </a:solidFill>
                      <a:prstDash val="sysDash"/>
                    </a:lnT>
                    <a:lnB w="28575">
                      <a:solidFill>
                        <a:srgbClr val="646464"/>
                      </a:solidFill>
                      <a:prstDash val="solid"/>
                    </a:lnB>
                    <a:solidFill>
                      <a:schemeClr val="bg1">
                        <a:lumMod val="85000"/>
                      </a:schemeClr>
                    </a:solidFill>
                  </a:tcPr>
                </a:tc>
                <a:tc hMerge="1">
                  <a:tcPr marL="72000" marR="72000" marT="47625" marB="47625" anchor="ctr">
                    <a:lnL w="12700" cap="flat" cmpd="sng" algn="ctr">
                      <a:solidFill>
                        <a:schemeClr val="tx1"/>
                      </a:solidFill>
                      <a:prstDash val="solid"/>
                      <a:round/>
                      <a:headEnd type="none" w="med" len="med"/>
                      <a:tailEnd type="none" w="med" len="med"/>
                    </a:lnL>
                    <a:lnR w="9525">
                      <a:solidFill>
                        <a:srgbClr val="646464"/>
                      </a:solidFill>
                      <a:prstDash val="sysDash"/>
                    </a:lnR>
                    <a:lnT w="9525">
                      <a:solidFill>
                        <a:srgbClr val="646464"/>
                      </a:solidFill>
                      <a:prstDash val="sysDash"/>
                    </a:lnT>
                    <a:lnB w="28575">
                      <a:solidFill>
                        <a:srgbClr val="646464"/>
                      </a:solidFill>
                      <a:prstDash val="solid"/>
                    </a:lnB>
                    <a:solidFill>
                      <a:schemeClr val="bg1">
                        <a:lumMod val="85000"/>
                      </a:schemeClr>
                    </a:solidFill>
                  </a:tcPr>
                </a:tc>
              </a:tr>
            </a:tbl>
          </a:graphicData>
        </a:graphic>
      </p:graphicFrame>
      <p:sp>
        <p:nvSpPr>
          <p:cNvPr id="12" name="矩形 11"/>
          <p:cNvSpPr/>
          <p:nvPr/>
        </p:nvSpPr>
        <p:spPr>
          <a:xfrm>
            <a:off x="1676172" y="1611311"/>
            <a:ext cx="1922780" cy="460375"/>
          </a:xfrm>
          <a:prstGeom prst="rect">
            <a:avLst/>
          </a:prstGeom>
        </p:spPr>
        <p:txBody>
          <a:bodyPr wrap="none">
            <a:spAutoFit/>
          </a:bodyPr>
          <a:lstStyle/>
          <a:p>
            <a:pPr>
              <a:lnSpc>
                <a:spcPct val="100000"/>
              </a:lnSpc>
            </a:pPr>
            <a:r>
              <a:rPr lang="en-US" altLang="zh-CN" sz="2400" b="1" kern="100" dirty="0" err="1" smtClean="0">
                <a:solidFill>
                  <a:srgbClr val="0070C0"/>
                </a:solidFill>
                <a:latin typeface="Times New Roman" panose="02020603050405020304"/>
                <a:ea typeface="宋体" panose="02010600030101010101" pitchFamily="2" charset="-122"/>
              </a:rPr>
              <a:t>KCl</a:t>
            </a:r>
            <a:r>
              <a:rPr lang="zh-CN" altLang="en-US" sz="2400" b="1" kern="100" dirty="0" smtClean="0">
                <a:solidFill>
                  <a:srgbClr val="0070C0"/>
                </a:solidFill>
                <a:latin typeface="Times New Roman" panose="02020603050405020304"/>
                <a:ea typeface="宋体" panose="02010600030101010101" pitchFamily="2" charset="-122"/>
              </a:rPr>
              <a:t>、</a:t>
            </a:r>
            <a:r>
              <a:rPr lang="en-US" altLang="zh-CN" sz="2400" b="1" kern="100" dirty="0" smtClean="0">
                <a:solidFill>
                  <a:srgbClr val="0070C0"/>
                </a:solidFill>
                <a:latin typeface="Times New Roman" panose="02020603050405020304"/>
                <a:ea typeface="宋体" panose="02010600030101010101" pitchFamily="2" charset="-122"/>
              </a:rPr>
              <a:t>K</a:t>
            </a:r>
            <a:r>
              <a:rPr lang="en-US" altLang="zh-CN" sz="2400" b="1" kern="100" baseline="-25000" dirty="0" smtClean="0">
                <a:solidFill>
                  <a:srgbClr val="0070C0"/>
                </a:solidFill>
                <a:latin typeface="Times New Roman" panose="02020603050405020304"/>
                <a:ea typeface="宋体" panose="02010600030101010101" pitchFamily="2" charset="-122"/>
              </a:rPr>
              <a:t>2</a:t>
            </a:r>
            <a:r>
              <a:rPr lang="en-US" altLang="zh-CN" sz="2400" b="1" kern="100" dirty="0" smtClean="0">
                <a:solidFill>
                  <a:srgbClr val="0070C0"/>
                </a:solidFill>
                <a:latin typeface="Times New Roman" panose="02020603050405020304"/>
                <a:ea typeface="宋体" panose="02010600030101010101" pitchFamily="2" charset="-122"/>
              </a:rPr>
              <a:t>CO</a:t>
            </a:r>
            <a:r>
              <a:rPr lang="en-US" altLang="zh-CN" sz="2400" b="1" kern="100" baseline="-25000" dirty="0" smtClean="0">
                <a:solidFill>
                  <a:srgbClr val="0070C0"/>
                </a:solidFill>
                <a:latin typeface="Times New Roman" panose="02020603050405020304"/>
                <a:ea typeface="宋体" panose="02010600030101010101" pitchFamily="2" charset="-122"/>
              </a:rPr>
              <a:t>3</a:t>
            </a:r>
            <a:endParaRPr lang="zh-CN" altLang="en-US" sz="2400" dirty="0">
              <a:solidFill>
                <a:srgbClr val="0070C0"/>
              </a:solidFill>
            </a:endParaRPr>
          </a:p>
        </p:txBody>
      </p:sp>
      <p:sp>
        <p:nvSpPr>
          <p:cNvPr id="10242" name="Rectangle 2"/>
          <p:cNvSpPr>
            <a:spLocks noChangeArrowheads="1"/>
          </p:cNvSpPr>
          <p:nvPr/>
        </p:nvSpPr>
        <p:spPr bwMode="auto">
          <a:xfrm>
            <a:off x="3721100" y="802887"/>
            <a:ext cx="4749165" cy="515127"/>
          </a:xfrm>
          <a:prstGeom prst="roundRect">
            <a:avLst/>
          </a:prstGeom>
          <a:solidFill>
            <a:schemeClr val="tx2">
              <a:lumMod val="50000"/>
            </a:schemeClr>
          </a:solid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zh-CN" sz="1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400" b="1" i="0" u="none" strike="noStrike" cap="none" normalizeH="0" baseline="0" dirty="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2400" b="1" i="0" u="none" strike="noStrike" cap="none" normalizeH="0" baseline="-30000" dirty="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400" b="1" i="0" u="none" strike="noStrike" cap="none" normalizeH="0" baseline="0" dirty="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CO</a:t>
            </a:r>
            <a:r>
              <a:rPr kumimoji="0" lang="en-US" altLang="zh-CN" sz="2400" b="1" i="0" u="none" strike="noStrike" cap="none" normalizeH="0" baseline="-30000" dirty="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en-US" altLang="zh-CN" sz="2400" b="1" i="0" u="none" strike="noStrike" cap="none" normalizeH="0" baseline="0" dirty="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+2HCl=2KCl+H</a:t>
            </a:r>
            <a:r>
              <a:rPr kumimoji="0" lang="en-US" altLang="zh-CN" sz="2400" b="1" i="0" u="none" strike="noStrike" cap="none" normalizeH="0" baseline="-30000" dirty="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400" b="1" i="0" u="none" strike="noStrike" cap="none" normalizeH="0" baseline="0" dirty="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O+CO</a:t>
            </a:r>
            <a:r>
              <a:rPr kumimoji="0" lang="en-US" altLang="zh-CN" sz="2400" b="1" i="0" u="none" strike="noStrike" cap="none" normalizeH="0" baseline="-30000" dirty="0" smtClean="0">
                <a:ln>
                  <a:noFill/>
                </a:ln>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400" b="1" i="0" u="none" strike="noStrike" cap="none" normalizeH="0" baseline="0" dirty="0" smtClean="0">
                <a:ln>
                  <a:noFill/>
                </a:ln>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2400" b="0" i="0" u="none" strike="noStrike" cap="none" normalizeH="0" baseline="0" dirty="0" smtClean="0">
              <a:ln>
                <a:noFill/>
              </a:ln>
              <a:solidFill>
                <a:schemeClr val="bg1"/>
              </a:solidFill>
              <a:effectLst/>
              <a:latin typeface="宋体" panose="02010600030101010101" pitchFamily="2" charset="-122"/>
              <a:ea typeface="宋体" panose="02010600030101010101" pitchFamily="2" charset="-122"/>
              <a:cs typeface="宋体" panose="02010600030101010101" pitchFamily="2" charset="-122"/>
            </a:endParaRPr>
          </a:p>
        </p:txBody>
      </p:sp>
      <p:sp>
        <p:nvSpPr>
          <p:cNvPr id="14" name="矩形 13"/>
          <p:cNvSpPr/>
          <p:nvPr/>
        </p:nvSpPr>
        <p:spPr>
          <a:xfrm>
            <a:off x="5583730" y="4111383"/>
            <a:ext cx="1943100" cy="460375"/>
          </a:xfrm>
          <a:prstGeom prst="rect">
            <a:avLst/>
          </a:prstGeom>
        </p:spPr>
        <p:txBody>
          <a:bodyPr wrap="none">
            <a:spAutoFit/>
          </a:bodyPr>
          <a:lstStyle/>
          <a:p>
            <a:r>
              <a:rPr lang="zh-CN" altLang="en-US" sz="2400" b="1" kern="100" spc="-100" dirty="0" smtClean="0">
                <a:solidFill>
                  <a:srgbClr val="0070C0"/>
                </a:solidFill>
                <a:uFillTx/>
                <a:latin typeface="宋体" panose="02010600030101010101" pitchFamily="2" charset="-122"/>
                <a:ea typeface="宋体" panose="02010600030101010101" pitchFamily="2" charset="-122"/>
              </a:rPr>
              <a:t>紫色石蕊试液</a:t>
            </a:r>
            <a:endParaRPr lang="zh-CN" altLang="en-US" sz="2400" b="1" kern="100" spc="-100" dirty="0" smtClean="0">
              <a:solidFill>
                <a:srgbClr val="0070C0"/>
              </a:solidFill>
              <a:uFillTx/>
              <a:latin typeface="宋体" panose="02010600030101010101" pitchFamily="2" charset="-122"/>
              <a:ea typeface="宋体" panose="02010600030101010101" pitchFamily="2" charset="-122"/>
            </a:endParaRPr>
          </a:p>
        </p:txBody>
      </p:sp>
      <p:sp>
        <p:nvSpPr>
          <p:cNvPr id="16" name="矩形 15"/>
          <p:cNvSpPr/>
          <p:nvPr/>
        </p:nvSpPr>
        <p:spPr>
          <a:xfrm>
            <a:off x="665480" y="5307965"/>
            <a:ext cx="5148000" cy="460375"/>
          </a:xfrm>
          <a:prstGeom prst="rect">
            <a:avLst/>
          </a:prstGeom>
        </p:spPr>
        <p:txBody>
          <a:bodyPr wrap="square">
            <a:spAutoFit/>
          </a:bodyPr>
          <a:lstStyle/>
          <a:p>
            <a:pPr algn="l">
              <a:lnSpc>
                <a:spcPct val="100000"/>
              </a:lnSpc>
            </a:pPr>
            <a:r>
              <a:rPr lang="en-US" altLang="zh-CN" sz="2400" b="1" kern="100" dirty="0" err="1" smtClean="0">
                <a:solidFill>
                  <a:srgbClr val="0070C0"/>
                </a:solidFill>
                <a:latin typeface="Times New Roman" panose="02020603050405020304"/>
                <a:ea typeface="宋体" panose="02010600030101010101" pitchFamily="2" charset="-122"/>
                <a:sym typeface="+mn-ea"/>
              </a:rPr>
              <a:t>KCl</a:t>
            </a:r>
            <a:r>
              <a:rPr lang="zh-CN" altLang="en-US" sz="2400" b="1" kern="100" dirty="0" smtClean="0">
                <a:solidFill>
                  <a:srgbClr val="0070C0"/>
                </a:solidFill>
                <a:latin typeface="Times New Roman" panose="02020603050405020304"/>
                <a:ea typeface="宋体" panose="02010600030101010101" pitchFamily="2" charset="-122"/>
                <a:sym typeface="+mn-ea"/>
              </a:rPr>
              <a:t>与</a:t>
            </a:r>
            <a:r>
              <a:rPr lang="en-US" altLang="zh-CN" sz="2400" b="1" smtClean="0">
                <a:solidFill>
                  <a:srgbClr val="0070C0"/>
                </a:solidFill>
                <a:latin typeface="Times New Roman" panose="02020603050405020304" pitchFamily="18" charset="0"/>
                <a:ea typeface="宋体" panose="02010600030101010101" pitchFamily="2" charset="-122"/>
                <a:sym typeface="+mn-ea"/>
              </a:rPr>
              <a:t>AgNO</a:t>
            </a:r>
            <a:r>
              <a:rPr lang="en-US" altLang="zh-CN" sz="2400" b="1" baseline="-25000" smtClean="0">
                <a:solidFill>
                  <a:srgbClr val="0070C0"/>
                </a:solidFill>
                <a:latin typeface="Times New Roman" panose="02020603050405020304" pitchFamily="18" charset="0"/>
                <a:ea typeface="宋体" panose="02010600030101010101" pitchFamily="2" charset="-122"/>
                <a:sym typeface="+mn-ea"/>
              </a:rPr>
              <a:t>3</a:t>
            </a:r>
            <a:r>
              <a:rPr lang="zh-CN" altLang="en-US" sz="2400" b="1" smtClean="0">
                <a:solidFill>
                  <a:srgbClr val="0070C0"/>
                </a:solidFill>
                <a:latin typeface="宋体" panose="02010600030101010101" pitchFamily="2" charset="-122"/>
                <a:ea typeface="宋体" panose="02010600030101010101" pitchFamily="2" charset="-122"/>
                <a:sym typeface="+mn-ea"/>
              </a:rPr>
              <a:t>反应</a:t>
            </a:r>
            <a:r>
              <a:rPr lang="zh-CN" altLang="en-US" sz="2400" b="1" noProof="1" smtClean="0">
                <a:solidFill>
                  <a:srgbClr val="0070C0"/>
                </a:solidFill>
                <a:latin typeface="宋体" panose="02010600030101010101" pitchFamily="2" charset="-122"/>
                <a:ea typeface="宋体" panose="02010600030101010101" pitchFamily="2" charset="-122"/>
                <a:sym typeface="+mn-ea"/>
              </a:rPr>
              <a:t>也会产生白色沉淀</a:t>
            </a:r>
            <a:endParaRPr lang="zh-CN" altLang="en-US" dirty="0">
              <a:latin typeface="宋体" panose="02010600030101010101" pitchFamily="2" charset="-122"/>
              <a:ea typeface="宋体" panose="02010600030101010101" pitchFamily="2" charset="-122"/>
            </a:endParaRPr>
          </a:p>
        </p:txBody>
      </p:sp>
      <p:sp>
        <p:nvSpPr>
          <p:cNvPr id="17" name="矩形 16"/>
          <p:cNvSpPr/>
          <p:nvPr/>
        </p:nvSpPr>
        <p:spPr>
          <a:xfrm>
            <a:off x="5644374" y="5737942"/>
            <a:ext cx="2325370" cy="460375"/>
          </a:xfrm>
          <a:prstGeom prst="rect">
            <a:avLst/>
          </a:prstGeom>
        </p:spPr>
        <p:txBody>
          <a:bodyPr wrap="none">
            <a:spAutoFit/>
          </a:bodyPr>
          <a:lstStyle/>
          <a:p>
            <a:r>
              <a:rPr lang="zh-CN" altLang="en-US" sz="2400" b="1" dirty="0" smtClean="0">
                <a:solidFill>
                  <a:srgbClr val="0070C0"/>
                </a:solidFill>
                <a:latin typeface="宋体" panose="02010600030101010101" pitchFamily="2" charset="-122"/>
                <a:ea typeface="宋体" panose="02010600030101010101" pitchFamily="2" charset="-122"/>
              </a:rPr>
              <a:t>反应物是否过量</a:t>
            </a:r>
            <a:endParaRPr lang="zh-CN" altLang="en-US" sz="2400" b="1" dirty="0" smtClean="0">
              <a:solidFill>
                <a:srgbClr val="0070C0"/>
              </a:solidFill>
              <a:latin typeface="宋体" panose="02010600030101010101" pitchFamily="2" charset="-122"/>
              <a:ea typeface="宋体" panose="02010600030101010101" pitchFamily="2" charset="-122"/>
            </a:endParaRPr>
          </a:p>
        </p:txBody>
      </p:sp>
      <p:grpSp>
        <p:nvGrpSpPr>
          <p:cNvPr id="18" name="组合 17"/>
          <p:cNvGrpSpPr/>
          <p:nvPr/>
        </p:nvGrpSpPr>
        <p:grpSpPr>
          <a:xfrm>
            <a:off x="9324975" y="315595"/>
            <a:ext cx="2116455" cy="2117090"/>
            <a:chOff x="14085" y="582"/>
            <a:chExt cx="3333" cy="3334"/>
          </a:xfrm>
        </p:grpSpPr>
        <p:pic>
          <p:nvPicPr>
            <p:cNvPr id="8" name="Picture 2" descr="C:\Users\Administrator\Desktop\X2Acd0zSuEx1RmjsvJOU1wlPl3mn4Oelqq_2KIbAuCNidrhpBSqNubq7HCRtRUd.png"/>
            <p:cNvPicPr>
              <a:picLocks noChangeAspect="1" noChangeArrowheads="1"/>
            </p:cNvPicPr>
            <p:nvPr/>
          </p:nvPicPr>
          <p:blipFill>
            <a:blip r:embed="rId2" cstate="print"/>
            <a:srcRect l="10910" t="34513" r="81921" b="10895"/>
            <a:stretch>
              <a:fillRect/>
            </a:stretch>
          </p:blipFill>
          <p:spPr bwMode="auto">
            <a:xfrm>
              <a:off x="16098" y="1140"/>
              <a:ext cx="901" cy="2776"/>
            </a:xfrm>
            <a:prstGeom prst="rect">
              <a:avLst/>
            </a:prstGeom>
            <a:noFill/>
          </p:spPr>
        </p:pic>
        <p:sp>
          <p:nvSpPr>
            <p:cNvPr id="9" name="文本框 8"/>
            <p:cNvSpPr txBox="1"/>
            <p:nvPr/>
          </p:nvSpPr>
          <p:spPr>
            <a:xfrm>
              <a:off x="14085" y="3031"/>
              <a:ext cx="2181" cy="436"/>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K</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11" name="文本框 10"/>
            <p:cNvSpPr txBox="1"/>
            <p:nvPr/>
          </p:nvSpPr>
          <p:spPr>
            <a:xfrm>
              <a:off x="15774" y="582"/>
              <a:ext cx="1644" cy="606"/>
            </a:xfrm>
            <a:prstGeom prst="rect">
              <a:avLst/>
            </a:prstGeom>
            <a:noFill/>
            <a:extLst>
              <a:ext uri="{909E8E84-426E-40DD-AFC4-6F175D3DCCD1}">
                <a14:hiddenFill xmlns:a14="http://schemas.microsoft.com/office/drawing/2010/main">
                  <a:solidFill>
                    <a:schemeClr val="bg1"/>
                  </a:solidFill>
                </a14:hiddenFill>
              </a:ext>
            </a:extLst>
          </p:spPr>
          <p:txBody>
            <a:bodyPr wrap="square" lIns="107950" tIns="107950" rIns="107950" bIns="0" rtlCol="0" anchor="t">
              <a:spAutoFit/>
            </a:bodyPr>
            <a:p>
              <a:pPr algn="l">
                <a:lnSpc>
                  <a:spcPct val="90000"/>
                </a:lnSpc>
                <a:spcBef>
                  <a:spcPts val="0"/>
                </a:spcBef>
                <a:spcAft>
                  <a:spcPts val="0"/>
                </a:spcAft>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稀盐酸</a:t>
              </a:r>
              <a:endPar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blinds(horizontal)">
                                      <p:cBhvr>
                                        <p:cTn id="7" dur="500"/>
                                        <p:tgtEl>
                                          <p:spTgt spid="102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linds(horizontal)">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linds(horizontal)">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242" grpId="0" bldLvl="0" animBg="1"/>
      <p:bldP spid="14" grpId="0"/>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737870" y="856615"/>
            <a:ext cx="10862945" cy="558546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.下面是某学习小组针对</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人呼出的气体中二氧化碳的含量大，还是空气中</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二氧化碳的含量大?</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这一问题进行科学探究的基本过程。</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请将下列表述的基本环节补充完整。</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①</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人呼出的气体中二氧化碳的含量大，还是空气中二氧化碳的含量大?</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这属于科学探究中的</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环节</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7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②同学们依据个人经验，纷纷说出了自己的观点</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较多同学认为</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人呼出的气体中二氧化碳的含量大</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，少数同学认为</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空气中二氧化碳的含量大</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，也有部分同学认为</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人呼出气体中二氧化碳的含量与空气中二氧化碳的含量基本一致</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。这属于科学探究中的</a:t>
            </a:r>
            <a:r>
              <a:rPr sz="2400" b="1"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环节</a:t>
            </a:r>
            <a:r>
              <a:rPr lang="zh-CN"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737870" y="2153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381000" y="198120"/>
            <a:ext cx="11367770" cy="610362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.③</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人呼出的气体中二氧化碳的含量大于空气中二氧化碳的含量</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。这属于科</a:t>
            </a:r>
            <a:r>
              <a:rPr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学探</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究中的</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环节。</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④用容量相同的两个储气袋分别收集一袋空气和一袋人呼出的气体，然后将两袋气体分别通入新配制的体积相同的澄清石灰水中</a:t>
            </a:r>
            <a:r>
              <a:rPr kumimoji="0" lang="zh-CN"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发现人呼出的气体使澄清的石灰水变浑浊的现象较为明显。这属于科学探究中的</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环节。</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⑤</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这个探究实验简单易做，现象明显，结论易得</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，某同学的这句话属于科学探究中的</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环节。</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⑥</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结合生理知识，人在呼吸过程中发生气体交换，吸收氧气，放出二氧化碳。再结合本实验探究结果。不难理解</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人呼出气体中二氧化碳含量较高</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这一结论。</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这属于</a:t>
            </a:r>
            <a:r>
              <a:rPr sz="2400" b="1"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环节。</a:t>
            </a:r>
            <a:endPar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4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开展科学探究时，上述各环节的正确顺序是</a:t>
            </a:r>
            <a:r>
              <a:rPr kumimoji="0" sz="24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zh-CN" altLang="en-US" sz="24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填上述各实验探究环节的</a:t>
            </a:r>
            <a:r>
              <a:rPr kumimoji="0" lang="zh-CN" altLang="en-US"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序号</a:t>
            </a:r>
            <a:r>
              <a:rPr kumimoji="0" lang="en-US"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zh-CN" altLang="en-US"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altLang="en-US" sz="24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Tree>
    <p:custDataLst>
      <p:tags r:id="rId2"/>
    </p:custData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794385"/>
            <a:ext cx="11051540" cy="550672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.如图所示是化学学习小组同学进行酸的性质的实验。实验后将甲、乙烧杯</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中的溶液倒入一个大烧杯丙中，观察到混合溶</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液变浑浊</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。同学们对丙中溶液</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的溶质成分进行探究。</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【提出问题】丙中溶液的溶质成分有哪些?</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【猜想假设】猜想1</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氯化钙、氯化钠</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猜想2</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氯化钙、氯化钠、HCl</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猜想3</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氯化钙、</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氯化钠、</a:t>
            </a:r>
            <a:r>
              <a:rPr kumimoji="0" sz="2500" b="1" i="0">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碳酸钠</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猜想4</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氯化钠、碳酸钠。</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【交流讨论】经过讨论，大家一致认为猜想</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不成立。</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15435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grpSp>
        <p:nvGrpSpPr>
          <p:cNvPr id="20" name="组合 19"/>
          <p:cNvGrpSpPr/>
          <p:nvPr/>
        </p:nvGrpSpPr>
        <p:grpSpPr>
          <a:xfrm>
            <a:off x="7061835" y="2028825"/>
            <a:ext cx="4272280" cy="2663190"/>
            <a:chOff x="11505" y="3747"/>
            <a:chExt cx="6728" cy="4194"/>
          </a:xfrm>
        </p:grpSpPr>
        <p:sp>
          <p:nvSpPr>
            <p:cNvPr id="19" name="文本框 18"/>
            <p:cNvSpPr txBox="1"/>
            <p:nvPr/>
          </p:nvSpPr>
          <p:spPr>
            <a:xfrm>
              <a:off x="11508" y="3747"/>
              <a:ext cx="6576" cy="4195"/>
            </a:xfrm>
            <a:prstGeom prst="rect">
              <a:avLst/>
            </a:prstGeom>
            <a:solidFill>
              <a:schemeClr val="bg1"/>
            </a:solidFill>
          </p:spPr>
          <p:txBody>
            <a:bodyPr wrap="square" rtlCol="0">
              <a:noAutofit/>
            </a:bodyPr>
            <a:p>
              <a:endParaRPr lang="zh-CN" altLang="en-US"/>
            </a:p>
          </p:txBody>
        </p:sp>
        <p:grpSp>
          <p:nvGrpSpPr>
            <p:cNvPr id="18" name="组合 17"/>
            <p:cNvGrpSpPr/>
            <p:nvPr/>
          </p:nvGrpSpPr>
          <p:grpSpPr>
            <a:xfrm>
              <a:off x="11505" y="3771"/>
              <a:ext cx="6728" cy="4169"/>
              <a:chOff x="12675" y="4136"/>
              <a:chExt cx="6728" cy="4169"/>
            </a:xfrm>
          </p:grpSpPr>
          <p:grpSp>
            <p:nvGrpSpPr>
              <p:cNvPr id="7" name="组合 6"/>
              <p:cNvGrpSpPr/>
              <p:nvPr/>
            </p:nvGrpSpPr>
            <p:grpSpPr>
              <a:xfrm>
                <a:off x="12675" y="4136"/>
                <a:ext cx="5149" cy="3694"/>
                <a:chOff x="12675" y="4136"/>
                <a:chExt cx="5149" cy="3694"/>
              </a:xfrm>
            </p:grpSpPr>
            <p:pic>
              <p:nvPicPr>
                <p:cNvPr id="4" name="图片 3"/>
                <p:cNvPicPr>
                  <a:picLocks noChangeAspect="1"/>
                </p:cNvPicPr>
                <p:nvPr/>
              </p:nvPicPr>
              <p:blipFill>
                <a:blip r:embed="rId3"/>
                <a:srcRect t="3496" r="69528" b="9825"/>
                <a:stretch>
                  <a:fillRect/>
                </a:stretch>
              </p:blipFill>
              <p:spPr>
                <a:xfrm>
                  <a:off x="12675" y="4136"/>
                  <a:ext cx="1871" cy="3694"/>
                </a:xfrm>
                <a:prstGeom prst="rect">
                  <a:avLst/>
                </a:prstGeom>
              </p:spPr>
            </p:pic>
            <p:pic>
              <p:nvPicPr>
                <p:cNvPr id="6" name="图片 5"/>
                <p:cNvPicPr>
                  <a:picLocks noChangeAspect="1"/>
                </p:cNvPicPr>
                <p:nvPr/>
              </p:nvPicPr>
              <p:blipFill>
                <a:blip r:embed="rId3"/>
                <a:srcRect t="4083" r="69528" b="9825"/>
                <a:stretch>
                  <a:fillRect/>
                </a:stretch>
              </p:blipFill>
              <p:spPr>
                <a:xfrm>
                  <a:off x="15953" y="4160"/>
                  <a:ext cx="1871" cy="3669"/>
                </a:xfrm>
                <a:prstGeom prst="rect">
                  <a:avLst/>
                </a:prstGeom>
              </p:spPr>
            </p:pic>
          </p:grpSp>
          <p:grpSp>
            <p:nvGrpSpPr>
              <p:cNvPr id="51" name="组合 50"/>
              <p:cNvGrpSpPr/>
              <p:nvPr/>
            </p:nvGrpSpPr>
            <p:grpSpPr>
              <a:xfrm>
                <a:off x="13851" y="6939"/>
                <a:ext cx="2357" cy="697"/>
                <a:chOff x="12282" y="8602"/>
                <a:chExt cx="2357" cy="697"/>
              </a:xfrm>
            </p:grpSpPr>
            <p:cxnSp>
              <p:nvCxnSpPr>
                <p:cNvPr id="49" name="肘形连接符 48"/>
                <p:cNvCxnSpPr/>
                <p:nvPr>
                  <p:custDataLst>
                    <p:tags r:id="rId4"/>
                  </p:custDataLst>
                </p:nvPr>
              </p:nvCxnSpPr>
              <p:spPr>
                <a:xfrm rot="10800000" flipV="1">
                  <a:off x="12282" y="8949"/>
                  <a:ext cx="567" cy="2"/>
                </a:xfrm>
                <a:prstGeom prst="bentConnector3">
                  <a:avLst/>
                </a:prstGeom>
                <a:noFill/>
                <a:ln w="28575" cap="flat" cmpd="sng" algn="ctr">
                  <a:solidFill>
                    <a:srgbClr val="3A4150"/>
                  </a:solidFill>
                  <a:prstDash val="solid"/>
                  <a:miter lim="800000"/>
                  <a:tailEnd type="none" w="lg" len="lg"/>
                </a:ln>
                <a:effectLst/>
              </p:spPr>
            </p:cxnSp>
            <p:sp>
              <p:nvSpPr>
                <p:cNvPr id="50" name="圆角矩形 49"/>
                <p:cNvSpPr/>
                <p:nvPr>
                  <p:custDataLst>
                    <p:tags r:id="rId5"/>
                  </p:custDataLst>
                </p:nvPr>
              </p:nvSpPr>
              <p:spPr>
                <a:xfrm>
                  <a:off x="12825" y="8602"/>
                  <a:ext cx="1814" cy="697"/>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tlCol="0" anchor="ctr" anchorCtr="0">
                  <a:spAutoFit/>
                </a:bodyPr>
                <a:p>
                  <a:pPr algn="l">
                    <a:lnSpc>
                      <a:spcPct val="100000"/>
                    </a:lnSpc>
                  </a:pPr>
                  <a:r>
                    <a:rPr lang="en-US"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a:t>
                  </a: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OH)</a:t>
                  </a:r>
                  <a:r>
                    <a:rPr lang="en-US"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endParaRPr lang="en-US" sz="2000" b="1" kern="0" baseline="-25000" dirty="0" smtClean="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grpSp>
            <p:nvGrpSpPr>
              <p:cNvPr id="8" name="组合 7"/>
              <p:cNvGrpSpPr/>
              <p:nvPr/>
            </p:nvGrpSpPr>
            <p:grpSpPr>
              <a:xfrm>
                <a:off x="17216" y="6561"/>
                <a:ext cx="2187" cy="1126"/>
                <a:chOff x="12282" y="8212"/>
                <a:chExt cx="2187" cy="1126"/>
              </a:xfrm>
            </p:grpSpPr>
            <p:cxnSp>
              <p:nvCxnSpPr>
                <p:cNvPr id="9" name="肘形连接符 8"/>
                <p:cNvCxnSpPr/>
                <p:nvPr>
                  <p:custDataLst>
                    <p:tags r:id="rId6"/>
                  </p:custDataLst>
                </p:nvPr>
              </p:nvCxnSpPr>
              <p:spPr>
                <a:xfrm rot="10800000" flipV="1">
                  <a:off x="12282" y="8949"/>
                  <a:ext cx="567" cy="2"/>
                </a:xfrm>
                <a:prstGeom prst="bentConnector3">
                  <a:avLst/>
                </a:prstGeom>
                <a:noFill/>
                <a:ln w="28575" cap="flat" cmpd="sng" algn="ctr">
                  <a:solidFill>
                    <a:srgbClr val="3A4150"/>
                  </a:solidFill>
                  <a:prstDash val="solid"/>
                  <a:miter lim="800000"/>
                  <a:tailEnd type="none" w="lg" len="lg"/>
                </a:ln>
                <a:effectLst/>
              </p:spPr>
            </p:cxnSp>
            <p:sp>
              <p:nvSpPr>
                <p:cNvPr id="10" name="圆角矩形 9"/>
                <p:cNvSpPr/>
                <p:nvPr>
                  <p:custDataLst>
                    <p:tags r:id="rId7"/>
                  </p:custDataLst>
                </p:nvPr>
              </p:nvSpPr>
              <p:spPr>
                <a:xfrm>
                  <a:off x="12825" y="8212"/>
                  <a:ext cx="1644" cy="1126"/>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tlCol="0" anchor="ctr" anchorCtr="0">
                  <a:spAutoFit/>
                </a:bodyPr>
                <a:p>
                  <a:pPr algn="l">
                    <a:lnSpc>
                      <a:spcPct val="90000"/>
                    </a:lnSpc>
                    <a:spcBef>
                      <a:spcPts val="0"/>
                    </a:spcBef>
                    <a:spcAft>
                      <a:spcPts val="0"/>
                    </a:spcAft>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Na</a:t>
                  </a:r>
                  <a:r>
                    <a:rPr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CO</a:t>
                  </a:r>
                  <a:r>
                    <a:rPr sz="20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溶液</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grpSp>
            <p:nvGrpSpPr>
              <p:cNvPr id="11" name="组合 10"/>
              <p:cNvGrpSpPr/>
              <p:nvPr/>
            </p:nvGrpSpPr>
            <p:grpSpPr>
              <a:xfrm>
                <a:off x="13611" y="5051"/>
                <a:ext cx="1790" cy="696"/>
                <a:chOff x="12509" y="8602"/>
                <a:chExt cx="1790" cy="696"/>
              </a:xfrm>
            </p:grpSpPr>
            <p:cxnSp>
              <p:nvCxnSpPr>
                <p:cNvPr id="12" name="肘形连接符 11"/>
                <p:cNvCxnSpPr/>
                <p:nvPr>
                  <p:custDataLst>
                    <p:tags r:id="rId8"/>
                  </p:custDataLst>
                </p:nvPr>
              </p:nvCxnSpPr>
              <p:spPr>
                <a:xfrm rot="10800000" flipV="1">
                  <a:off x="12509" y="8949"/>
                  <a:ext cx="340" cy="2"/>
                </a:xfrm>
                <a:prstGeom prst="bentConnector3">
                  <a:avLst/>
                </a:prstGeom>
                <a:noFill/>
                <a:ln w="28575" cap="flat" cmpd="sng" algn="ctr">
                  <a:solidFill>
                    <a:srgbClr val="3A4150"/>
                  </a:solidFill>
                  <a:prstDash val="solid"/>
                  <a:miter lim="800000"/>
                  <a:tailEnd type="none" w="lg" len="lg"/>
                </a:ln>
                <a:effectLst/>
              </p:spPr>
            </p:cxnSp>
            <p:sp>
              <p:nvSpPr>
                <p:cNvPr id="13" name="圆角矩形 12"/>
                <p:cNvSpPr/>
                <p:nvPr>
                  <p:custDataLst>
                    <p:tags r:id="rId9"/>
                  </p:custDataLst>
                </p:nvPr>
              </p:nvSpPr>
              <p:spPr>
                <a:xfrm>
                  <a:off x="12825" y="8602"/>
                  <a:ext cx="1474" cy="696"/>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tlCol="0" anchor="ctr" anchorCtr="0">
                  <a:spAutoFit/>
                </a:bodyPr>
                <a:p>
                  <a:pPr algn="l">
                    <a:lnSpc>
                      <a:spcPct val="100000"/>
                    </a:lnSpc>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稀盐酸</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grpSp>
            <p:nvGrpSpPr>
              <p:cNvPr id="14" name="组合 13"/>
              <p:cNvGrpSpPr/>
              <p:nvPr/>
            </p:nvGrpSpPr>
            <p:grpSpPr>
              <a:xfrm>
                <a:off x="16866" y="5051"/>
                <a:ext cx="1790" cy="696"/>
                <a:chOff x="12509" y="8602"/>
                <a:chExt cx="1790" cy="696"/>
              </a:xfrm>
            </p:grpSpPr>
            <p:cxnSp>
              <p:nvCxnSpPr>
                <p:cNvPr id="15" name="肘形连接符 14"/>
                <p:cNvCxnSpPr/>
                <p:nvPr>
                  <p:custDataLst>
                    <p:tags r:id="rId10"/>
                  </p:custDataLst>
                </p:nvPr>
              </p:nvCxnSpPr>
              <p:spPr>
                <a:xfrm rot="10800000" flipV="1">
                  <a:off x="12509" y="8949"/>
                  <a:ext cx="340" cy="2"/>
                </a:xfrm>
                <a:prstGeom prst="bentConnector3">
                  <a:avLst/>
                </a:prstGeom>
                <a:noFill/>
                <a:ln w="28575" cap="flat" cmpd="sng" algn="ctr">
                  <a:solidFill>
                    <a:srgbClr val="3A4150"/>
                  </a:solidFill>
                  <a:prstDash val="solid"/>
                  <a:miter lim="800000"/>
                  <a:tailEnd type="none" w="lg" len="lg"/>
                </a:ln>
                <a:effectLst/>
              </p:spPr>
            </p:cxnSp>
            <p:sp>
              <p:nvSpPr>
                <p:cNvPr id="16" name="圆角矩形 15"/>
                <p:cNvSpPr/>
                <p:nvPr>
                  <p:custDataLst>
                    <p:tags r:id="rId11"/>
                  </p:custDataLst>
                </p:nvPr>
              </p:nvSpPr>
              <p:spPr>
                <a:xfrm>
                  <a:off x="12825" y="8602"/>
                  <a:ext cx="1474" cy="696"/>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lIns="0" rtlCol="0" anchor="ctr" anchorCtr="0">
                  <a:spAutoFit/>
                </a:bodyPr>
                <a:p>
                  <a:pPr algn="l">
                    <a:lnSpc>
                      <a:spcPct val="100000"/>
                    </a:lnSpc>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稀盐酸</a:t>
                  </a:r>
                  <a:endPar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sp>
            <p:nvSpPr>
              <p:cNvPr id="17" name="圆角矩形 16"/>
              <p:cNvSpPr/>
              <p:nvPr>
                <p:custDataLst>
                  <p:tags r:id="rId12"/>
                </p:custDataLst>
              </p:nvPr>
            </p:nvSpPr>
            <p:spPr>
              <a:xfrm>
                <a:off x="13403" y="7762"/>
                <a:ext cx="4180" cy="543"/>
              </a:xfrm>
              <a:prstGeom prst="roundRect">
                <a:avLst/>
              </a:prstGeom>
              <a:noFill/>
              <a:ln w="22225" cap="flat" cmpd="sng" algn="ctr">
                <a:noFill/>
                <a:prstDash val="solid"/>
                <a:miter lim="800000"/>
              </a:ln>
              <a:effectLst/>
              <a:extLst>
                <a:ext uri="{909E8E84-426E-40DD-AFC4-6F175D3DCCD1}">
                  <a14:hiddenFill xmlns:a14="http://schemas.microsoft.com/office/drawing/2010/main">
                    <a:solidFill>
                      <a:srgbClr val="5268A5"/>
                    </a:solidFill>
                  </a14:hiddenFill>
                </a:ext>
              </a:extLst>
            </p:spPr>
            <p:txBody>
              <a:bodyPr wrap="square" lIns="0" tIns="0" bIns="0" rtlCol="0" anchor="ctr" anchorCtr="0">
                <a:spAutoFit/>
              </a:bodyPr>
              <a:p>
                <a:pPr algn="l">
                  <a:lnSpc>
                    <a:spcPct val="100000"/>
                  </a:lnSpc>
                </a:pPr>
                <a:r>
                  <a:rPr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甲                             </a:t>
                </a:r>
                <a:r>
                  <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乙</a:t>
                </a:r>
                <a:endParaRPr lang="zh-CN" sz="20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grpSp>
      </p:grpSp>
    </p:spTree>
    <p:custDataLst>
      <p:tags r:id="rId13"/>
    </p:custData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221615"/>
            <a:ext cx="11051540" cy="6353175"/>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猜想1</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氯化钙、氯化钠</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猜想2</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氯化钙、氯化钠、HCl</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猜想3</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氯化钙、</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氯化钠、</a:t>
            </a:r>
            <a:r>
              <a:rPr sz="2500" b="1">
                <a:ln>
                  <a:noFill/>
                </a:ln>
                <a:solidFill>
                  <a:srgbClr val="0E0EE4"/>
                </a:solidFill>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碳酸钠</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猜想4</a:t>
            </a:r>
            <a:r>
              <a:rPr lang="zh-CN"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氯化钠、碳酸钠。</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【实验探究】</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取丙中的溶液少许加入澄清石灰水，溶液变浑浊，说明丙溶液中含有</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另取丙中的溶液滴入少量稀盐酸，有气泡产生，反应的化学方程式是</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再取丙中的溶液滴入少许紫色石蕊溶液，溶液变蓝，猜想</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可能正确。</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【拓展迁移】进行酸的性质的实验后将甲、乙烧杯的溶液倒人一个大烧杯丙</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中，有浑浊现象的原因是</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5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【小结反思】溶液变</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浑浊</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，说明生成了碳酸钙，碳酸将与盐酸不能同时存在，氯化钙和碳酸钠不能</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同时存在。</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Tree>
    <p:custDataLst>
      <p:tags r:id="rId2"/>
    </p:custData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809625"/>
            <a:ext cx="11051540" cy="550672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5</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.【2020·威海】认识消毒剂过氧乙酸。过氧乙酸</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H</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是一种高效、绿色</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的消毒剂。</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下列有关过氧乙酸的说法，正确的是</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填标号</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是一种氧化物                                  B.由三种元素组成</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C.分子中含有臭氧</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kumimoji="0" lang="en-US" sz="2500" b="1" i="0"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分子              D.氧元素的质量分数最大</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含有</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结构的物质具有杀菌消毒作用。研究发现，过氧乙酸分子结构中也含有</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—O—O—</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结构，所以过氧乙酸也具有杀菌消毒作用。获得这一结论所运用的科学方法</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属于</a:t>
            </a:r>
            <a:r>
              <a:rPr sz="2500" b="1"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填标号</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推理。</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A.归纳                        </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B.演绎                        </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类比</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16959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722630" y="1175385"/>
            <a:ext cx="10719435" cy="396748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5</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过氧乙酸具有如下性质</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无色、易挥发液体</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B.有酸性</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C.有很强的腐蚀性</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D.易溶于水和乙醇</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E.不稳定，易分解放出氧气</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F.有毒性。</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其中属于化学性质的有</a:t>
            </a:r>
            <a:r>
              <a:rPr sz="2500" b="1"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填标号</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200000"/>
              </a:lnSpc>
              <a:spcBef>
                <a:spcPts val="0"/>
              </a:spcBef>
              <a:spcAft>
                <a:spcPts val="0"/>
              </a:spcAft>
              <a:buClrTx/>
              <a:buSzTx/>
              <a:buFontTx/>
              <a:buNone/>
            </a:pP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醋酸</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C</a:t>
            </a:r>
            <a:r>
              <a:rPr lang="en-US" sz="25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H</a:t>
            </a:r>
            <a:r>
              <a:rPr lang="en-US" sz="25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4</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O</a:t>
            </a:r>
            <a:r>
              <a:rPr lang="en-US" sz="2500" b="1" baseline="-25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2</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与过氧化氢在室温下混合均匀，可反应生成过氧乙酸和水，写出该反应的化学方程式</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lang="zh-CN"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722630" y="52011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570230" y="840105"/>
            <a:ext cx="11051540" cy="5506720"/>
          </a:xfrm>
          <a:prstGeom prst="rect">
            <a:avLst/>
          </a:prstGeom>
          <a:noFill/>
          <a:ln w="19050" cap="flat" cmpd="tri">
            <a:solidFill>
              <a:schemeClr val="tx1"/>
            </a:solidFill>
            <a:prstDash val="dashDot"/>
            <a:miter lim="400000"/>
          </a:ln>
          <a:effectLst>
            <a:outerShdw blurRad="50800" dist="38100" dir="2700000" sx="101000" sy="101000" algn="tl" rotWithShape="0">
              <a:prstClr val="black">
                <a:alpha val="40000"/>
              </a:prstClr>
            </a:outerShdw>
          </a:effectLst>
          <a:extLst>
            <a:ext uri="{909E8E84-426E-40DD-AFC4-6F175D3DCCD1}">
              <a14:hiddenFill xmlns:a14="http://schemas.microsoft.com/office/drawing/2010/main">
                <a:gradFill>
                  <a:gsLst>
                    <a:gs pos="100000">
                      <a:srgbClr val="B3CED5"/>
                    </a:gs>
                    <a:gs pos="0">
                      <a:srgbClr val="DDE3D8"/>
                    </a:gs>
                  </a:gsLst>
                  <a:lin scaled="1"/>
                </a:gra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144145" tIns="60958" rIns="60958" bIns="60958" numCol="1" spcCol="38100" rtlCol="0" anchor="t" forceAA="0">
            <a:spAutoFit/>
          </a:bodyPr>
          <a:p>
            <a:pPr marL="0" marR="0" indent="0" algn="l" defTabSz="914400" rtl="0" fontAlgn="auto" latinLnBrk="1">
              <a:lnSpc>
                <a:spcPct val="12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1</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5</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(5)</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配制1L溶质质量分数为0.5%的过氧乙酸溶液。现有以下物品</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水、溶质</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质量分数20%的过氧乙酸溶液、量筒</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规格分别为1000mL、50mL</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、塑料桶、铁桶、木棍、口罩、护目镜、橡皮手套。</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①需要20%的过氧乙酸溶液</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mL</a:t>
            </a:r>
            <a:r>
              <a:rPr lang="en-US"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计算时，水、20%和 0.5%过氧乙酸溶液的密度都近似</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为1g·cm</a:t>
            </a:r>
            <a:r>
              <a:rPr kumimoji="0" lang="en-US" sz="2500" b="1" i="0" baseline="3000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②戴好防护用品，用</a:t>
            </a:r>
            <a:r>
              <a:rPr kumimoji="0"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sz="2500" b="1">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mL量筒量取所需20%的过氧乙酸溶液，再倒入塑料桶中，按比例</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兑水，用木棍搅拌后，盖好桶盖备用。</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③请你根据</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3</a:t>
            </a:r>
            <a:r>
              <a:rPr kumimoji="0" lang="en-US"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r>
              <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中过氧乙酸的性质分析，进行配制时不用铁桶的理由是</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a:p>
            <a:pPr marL="0" marR="0" indent="0" algn="l" defTabSz="914400" rtl="0" fontAlgn="auto" latinLnBrk="1">
              <a:lnSpc>
                <a:spcPct val="160000"/>
              </a:lnSpc>
              <a:spcBef>
                <a:spcPts val="0"/>
              </a:spcBef>
              <a:spcAft>
                <a:spcPts val="0"/>
              </a:spcAft>
              <a:buClrTx/>
              <a:buSzTx/>
              <a:buFontTx/>
              <a:buNone/>
            </a:pPr>
            <a:r>
              <a:rPr kumimoji="0" lang="zh-CN" sz="2500" b="1" i="0" u="sng">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                                              </a:t>
            </a:r>
            <a:r>
              <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rPr>
              <a:t>。</a:t>
            </a:r>
            <a:endParaRPr kumimoji="0" lang="zh-CN" sz="2500" b="1" i="0">
              <a:ln>
                <a:noFill/>
              </a:ln>
              <a:effectLst/>
              <a:uFillTx/>
              <a:latin typeface="Times New Roman" panose="02020603050405020304" pitchFamily="18" charset="0"/>
              <a:ea typeface="宋体" panose="02010600030101010101" pitchFamily="2" charset="-122"/>
              <a:cs typeface="Times New Roman" panose="02020603050405020304" pitchFamily="18" charset="0"/>
              <a:sym typeface="Arial" panose="020B0604020202090204"/>
            </a:endParaRPr>
          </a:p>
        </p:txBody>
      </p:sp>
      <p:sp>
        <p:nvSpPr>
          <p:cNvPr id="2" name="标题 4"/>
          <p:cNvSpPr>
            <a:spLocks noGrp="1"/>
          </p:cNvSpPr>
          <p:nvPr>
            <p:custDataLst>
              <p:tags r:id="rId2"/>
            </p:custDataLst>
          </p:nvPr>
        </p:nvSpPr>
        <p:spPr>
          <a:xfrm>
            <a:off x="570230" y="200073"/>
            <a:ext cx="3319684" cy="545369"/>
          </a:xfrm>
          <a:prstGeom prst="roundRect">
            <a:avLst/>
          </a:prstGeom>
          <a:solidFill>
            <a:schemeClr val="accent1">
              <a:lumMod val="75000"/>
            </a:schemeClr>
          </a:solidFill>
          <a:ln w="15875">
            <a:solidFill>
              <a:schemeClr val="accent1"/>
            </a:solidFill>
          </a:ln>
        </p:spPr>
        <p:txBody>
          <a:bodyPr vert="horz" wrap="none" lIns="0" tIns="0" rIns="0" bIns="0" rtlCol="0" anchor="ctr">
            <a:spAutoFit/>
            <a:scene3d>
              <a:camera prst="orthographicFront"/>
              <a:lightRig rig="threePt" dir="t"/>
            </a:scene3d>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base">
              <a:buFont typeface="Wingdings" panose="05000000000000000000" charset="0"/>
            </a:pPr>
            <a:r>
              <a:rPr lang="zh-CN"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Times New Roman" panose="02020603050405020304" pitchFamily="18" charset="0"/>
                <a:sym typeface="+mn-ea"/>
              </a:rPr>
              <a:t>全攻略</a:t>
            </a:r>
            <a:r>
              <a:rPr lang="zh-CN" sz="3200" b="1" dirty="0">
                <a:ln>
                  <a:solidFill>
                    <a:schemeClr val="bg1"/>
                  </a:solidFill>
                </a:ln>
                <a:solidFill>
                  <a:schemeClr val="bg1"/>
                </a:solidFill>
                <a:effectLst>
                  <a:outerShdw blurRad="38100" dist="25400" dir="5400000" algn="ctr" rotWithShape="0">
                    <a:srgbClr val="6E747A">
                      <a:alpha val="43000"/>
                    </a:srgbClr>
                  </a:outerShdw>
                </a:effectLst>
                <a:latin typeface="汉仪大隶书简" panose="02010600000101010101" charset="-122"/>
                <a:ea typeface="汉仪大隶书简" panose="02010600000101010101" charset="-122"/>
                <a:cs typeface="汉仪大隶书简" panose="02010600000101010101" charset="-122"/>
                <a:sym typeface="+mn-ea"/>
              </a:rPr>
              <a:t>→达标训练</a:t>
            </a:r>
            <a:endParaRPr lang="en-US" sz="3200" b="1" strike="noStrike" noProof="1" dirty="0">
              <a:ln>
                <a:solidFill>
                  <a:schemeClr val="bg1"/>
                </a:solidFill>
              </a:ln>
              <a:solidFill>
                <a:schemeClr val="bg1"/>
              </a:solidFill>
              <a:effectLst>
                <a:outerShdw blurRad="38100" dist="25400" dir="5400000" algn="ctr" rotWithShape="0">
                  <a:srgbClr val="6E747A">
                    <a:alpha val="43000"/>
                  </a:srgbClr>
                </a:outerShdw>
              </a:effectLst>
              <a:latin typeface="Times New Roman" panose="02020603050405020304" pitchFamily="18" charset="0"/>
              <a:ea typeface="汉仪铁山隶书繁" panose="00020600040101010101" charset="-122"/>
              <a:cs typeface="Times New Roman" panose="02020603050405020304" pitchFamily="18" charset="0"/>
              <a:sym typeface="+mn-ea"/>
            </a:endParaRPr>
          </a:p>
        </p:txBody>
      </p:sp>
    </p:spTree>
    <p:custDataLst>
      <p:tags r:id="rId3"/>
    </p:custDataLst>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 name="KSO_WM_SLIDE_BACKGROUND_TYPE" val="leftRight"/>
  <p:tag name="KSO_WM_SLIDE_BK_DARK_LIGHT" val="2"/>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 name="KSO_WM_SLIDE_BACKGROUND_TYPE" val="bottomTop"/>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 name="KSO_WM_SLIDE_BACKGROUND_TYPE" val="navigation"/>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24"/>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824"/>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SUBCATEGORY" val="0"/>
  <p:tag name="KSO_WM_TEMPLATE_MASTER_TYPE" val="1"/>
  <p:tag name="KSO_WM_TEMPLATE_COLOR_TYPE" val="1"/>
  <p:tag name="KSO_WM_TEMPLATE_MASTER_THUMB_INDEX" val="18"/>
  <p:tag name="KSO_WM_TAG_VERSION" val="1.0"/>
  <p:tag name="KSO_WM_BEAUTIFY_FLAG" val="#wm#"/>
  <p:tag name="KSO_WM_TEMPLATE_CATEGORY" val="custom"/>
  <p:tag name="KSO_WM_TEMPLATE_INDEX" val="20202824"/>
  <p:tag name="KSO_WM_TEMPLATE_THUMBS_INDEX" val="1、4、5、6、7、8、9、10、11、12、13"/>
</p:tagLst>
</file>

<file path=ppt/tags/tag125.xml><?xml version="1.0" encoding="utf-8"?>
<p:tagLst xmlns:p="http://schemas.openxmlformats.org/presentationml/2006/main">
  <p:tag name="KSO_WM_TAG_VERSION" val="1.0"/>
  <p:tag name="KSO_WM_BEAUTIFY_FLAG" val="#wm#"/>
  <p:tag name="KSO_WM_UNIT_TYPE" val="i"/>
  <p:tag name="KSO_WM_UNIT_ID" val="custom20181609_1*i*4"/>
  <p:tag name="KSO_WM_TEMPLATE_CATEGORY" val="custom"/>
  <p:tag name="KSO_WM_TEMPLATE_INDEX" val="20181609"/>
  <p:tag name="KSO_WM_UNIT_INDEX" val="4"/>
  <p:tag name="KSO_WM_UNIT_HIGHLIGHT" val="0"/>
  <p:tag name="KSO_WM_UNIT_COMPATIBLE" val="0"/>
  <p:tag name="KSO_WM_UNIT_DIAGRAM_ISNUMVISUAL" val="0"/>
  <p:tag name="KSO_WM_UNIT_DIAGRAM_ISREFERUNIT" val="0"/>
  <p:tag name="KSO_WM_UNIT_LAYERLEVEL" val="1"/>
</p:tagLst>
</file>

<file path=ppt/tags/tag126.xml><?xml version="1.0" encoding="utf-8"?>
<p:tagLst xmlns:p="http://schemas.openxmlformats.org/presentationml/2006/main">
  <p:tag name="KSO_WM_UNIT_ISCONTENTSTITLE" val="0"/>
  <p:tag name="KSO_WM_UNIT_PRESET_TEXT" val="教育教学说课公开课"/>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181609_1*a*1"/>
  <p:tag name="KSO_WM_TEMPLATE_CATEGORY" val="custom"/>
  <p:tag name="KSO_WM_TEMPLATE_INDEX" val="20181609"/>
  <p:tag name="KSO_WM_UNIT_LAYERLEVEL" val="1"/>
  <p:tag name="KSO_WM_TAG_VERSION" val="1.0"/>
  <p:tag name="KSO_WM_BEAUTIFY_FLAG" val="#wm#"/>
</p:tagLst>
</file>

<file path=ppt/tags/tag127.xml><?xml version="1.0" encoding="utf-8"?>
<p:tagLst xmlns:p="http://schemas.openxmlformats.org/presentationml/2006/main">
  <p:tag name="KSO_WM_TEMPLATE_CATEGORY" val="custom"/>
  <p:tag name="KSO_WM_TEMPLATE_INDEX" val="20181609"/>
  <p:tag name="KSO_WM_UNIT_TYPE" val="b"/>
  <p:tag name="KSO_WM_UNIT_INDEX" val="1"/>
  <p:tag name="KSO_WM_UNIT_ID" val="custom20181609_1*b*1"/>
  <p:tag name="KSO_WM_UNIT_LAYERLEVEL" val="1"/>
  <p:tag name="KSO_WM_UNIT_VALUE" val="28"/>
  <p:tag name="KSO_WM_UNIT_ISCONTENTSTITLE" val="0"/>
  <p:tag name="KSO_WM_UNIT_HIGHLIGHT" val="0"/>
  <p:tag name="KSO_WM_UNIT_COMPATIBLE" val="0"/>
  <p:tag name="KSO_WM_BEAUTIFY_FLAG" val="#wm#"/>
  <p:tag name="KSO_WM_TAG_VERSION" val="1.0"/>
  <p:tag name="KSO_WM_UNIT_PRESET_TEXT" val="信息话教学      公开课        示范课        说课微课"/>
  <p:tag name="KSO_WM_UNIT_NOCLEAR" val="0"/>
  <p:tag name="KSO_WM_UNIT_DIAGRAM_ISNUMVISUAL" val="0"/>
  <p:tag name="KSO_WM_UNIT_DIAGRAM_ISREFERUNIT" val="0"/>
</p:tagLst>
</file>

<file path=ppt/tags/tag128.xml><?xml version="1.0" encoding="utf-8"?>
<p:tagLst xmlns:p="http://schemas.openxmlformats.org/presentationml/2006/main">
  <p:tag name="KSO_WM_TAG_VERSION" val="1.0"/>
  <p:tag name="KSO_WM_SLIDE_ITEM_CNT" val="0"/>
  <p:tag name="KSO_WM_SLIDE_LAYOUT" val="a_b"/>
  <p:tag name="KSO_WM_SLIDE_LAYOUT_CNT" val="1_3"/>
  <p:tag name="KSO_WM_SLIDE_TYPE" val="title"/>
  <p:tag name="KSO_WM_BEAUTIFY_FLAG" val="#wm#"/>
  <p:tag name="KSO_WM_COMBINE_RELATE_SLIDE_ID" val="background20180991_1"/>
  <p:tag name="KSO_WM_TEMPLATE_CATEGORY" val="custom"/>
  <p:tag name="KSO_WM_TEMPLATE_INDEX" val="20202824"/>
  <p:tag name="KSO_WM_SLIDE_ID" val="custom20181609_1"/>
  <p:tag name="KSO_WM_SLIDE_INDEX" val="1"/>
  <p:tag name="KSO_WM_TEMPLATE_SUBCATEGORY" val="0"/>
  <p:tag name="KSO_WM_TEMPLATE_THUMBS_INDEX" val="1、4、5、6、12、13、18、19"/>
  <p:tag name="KSO_WM_SLIDE_SUBTYPE" val="pureTxt"/>
  <p:tag name="KSO_WM_SPECIAL_SOURCE" val="bdnull"/>
</p:tagLst>
</file>

<file path=ppt/tags/tag129.xml><?xml version="1.0" encoding="utf-8"?>
<p:tagLst xmlns:p="http://schemas.openxmlformats.org/presentationml/2006/main">
  <p:tag name="KSO_WM_FULL_TEXT_BEAUTIFY_COPY_ID" val="5"/>
</p:tagLst>
</file>

<file path=ppt/tags/tag130.xml><?xml version="1.0" encoding="utf-8"?>
<p:tagLst xmlns:p="http://schemas.openxmlformats.org/presentationml/2006/main">
  <p:tag name="KSO_WM_FULL_TEXT_BEAUTIFY_COPY_ID" val="2"/>
</p:tagLst>
</file>

<file path=ppt/tags/tag131.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32.xml><?xml version="1.0" encoding="utf-8"?>
<p:tagLst xmlns:p="http://schemas.openxmlformats.org/presentationml/2006/main">
  <p:tag name="KSO_WM_FULL_TEXT_BEAUTIFY_COPY_ID" val="5"/>
</p:tagLst>
</file>

<file path=ppt/tags/tag133.xml><?xml version="1.0" encoding="utf-8"?>
<p:tagLst xmlns:p="http://schemas.openxmlformats.org/presentationml/2006/main">
  <p:tag name="KSO_WM_FULL_TEXT_BEAUTIFY_COPY_ID" val="2"/>
</p:tagLst>
</file>

<file path=ppt/tags/tag134.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35.xml><?xml version="1.0" encoding="utf-8"?>
<p:tagLst xmlns:p="http://schemas.openxmlformats.org/presentationml/2006/main">
  <p:tag name="KSO_WM_FULL_TEXT_BEAUTIFY_COPY_ID" val="5"/>
</p:tagLst>
</file>

<file path=ppt/tags/tag136.xml><?xml version="1.0" encoding="utf-8"?>
<p:tagLst xmlns:p="http://schemas.openxmlformats.org/presentationml/2006/main">
  <p:tag name="KSO_WM_FULL_TEXT_BEAUTIFY_COPY_ID" val="2"/>
</p:tagLst>
</file>

<file path=ppt/tags/tag137.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38.xml><?xml version="1.0" encoding="utf-8"?>
<p:tagLst xmlns:p="http://schemas.openxmlformats.org/presentationml/2006/main">
  <p:tag name="KSO_WM_FULL_TEXT_BEAUTIFY_COPY_ID" val="5"/>
</p:tagLst>
</file>

<file path=ppt/tags/tag139.xml><?xml version="1.0" encoding="utf-8"?>
<p:tagLst xmlns:p="http://schemas.openxmlformats.org/presentationml/2006/main">
  <p:tag name="KSO_WM_FULL_TEXT_BEAUTIFY_COPY_ID" val="2"/>
</p:tagLst>
</file>

<file path=ppt/tags/tag140.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41.xml><?xml version="1.0" encoding="utf-8"?>
<p:tagLst xmlns:p="http://schemas.openxmlformats.org/presentationml/2006/main">
  <p:tag name="KSO_WM_FULL_TEXT_BEAUTIFY_COPY_ID" val="5"/>
</p:tagLst>
</file>

<file path=ppt/tags/tag142.xml><?xml version="1.0" encoding="utf-8"?>
<p:tagLst xmlns:p="http://schemas.openxmlformats.org/presentationml/2006/main">
  <p:tag name="KSO_WM_FULL_TEXT_BEAUTIFY_COPY_ID" val="2"/>
</p:tagLst>
</file>

<file path=ppt/tags/tag143.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44.xml><?xml version="1.0" encoding="utf-8"?>
<p:tagLst xmlns:p="http://schemas.openxmlformats.org/presentationml/2006/main">
  <p:tag name="KSO_WM_FULL_TEXT_BEAUTIFY_COPY_ID" val="5"/>
</p:tagLst>
</file>

<file path=ppt/tags/tag145.xml><?xml version="1.0" encoding="utf-8"?>
<p:tagLst xmlns:p="http://schemas.openxmlformats.org/presentationml/2006/main">
  <p:tag name="KSO_WM_FULL_TEXT_BEAUTIFY_COPY_ID" val="2"/>
</p:tagLst>
</file>

<file path=ppt/tags/tag146.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47.xml><?xml version="1.0" encoding="utf-8"?>
<p:tagLst xmlns:p="http://schemas.openxmlformats.org/presentationml/2006/main">
  <p:tag name="KSO_WM_FULL_TEXT_BEAUTIFY_COPY_ID" val="5"/>
</p:tagLst>
</file>

<file path=ppt/tags/tag148.xml><?xml version="1.0" encoding="utf-8"?>
<p:tagLst xmlns:p="http://schemas.openxmlformats.org/presentationml/2006/main">
  <p:tag name="KSO_WM_FULL_TEXT_BEAUTIFY_COPY_ID" val="2"/>
</p:tagLst>
</file>

<file path=ppt/tags/tag149.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50.xml><?xml version="1.0" encoding="utf-8"?>
<p:tagLst xmlns:p="http://schemas.openxmlformats.org/presentationml/2006/main">
  <p:tag name="KSO_WM_FULL_TEXT_BEAUTIFY_COPY_ID" val="5"/>
</p:tagLst>
</file>

<file path=ppt/tags/tag151.xml><?xml version="1.0" encoding="utf-8"?>
<p:tagLst xmlns:p="http://schemas.openxmlformats.org/presentationml/2006/main">
  <p:tag name="KSO_WM_FULL_TEXT_BEAUTIFY_COPY_ID" val="2"/>
</p:tagLst>
</file>

<file path=ppt/tags/tag152.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53.xml><?xml version="1.0" encoding="utf-8"?>
<p:tagLst xmlns:p="http://schemas.openxmlformats.org/presentationml/2006/main">
  <p:tag name="KSO_WM_FULL_TEXT_BEAUTIFY_COPY_ID" val="5"/>
</p:tagLst>
</file>

<file path=ppt/tags/tag154.xml><?xml version="1.0" encoding="utf-8"?>
<p:tagLst xmlns:p="http://schemas.openxmlformats.org/presentationml/2006/main">
  <p:tag name="KSO_WM_FULL_TEXT_BEAUTIFY_COPY_ID" val="2"/>
</p:tagLst>
</file>

<file path=ppt/tags/tag155.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56.xml><?xml version="1.0" encoding="utf-8"?>
<p:tagLst xmlns:p="http://schemas.openxmlformats.org/presentationml/2006/main">
  <p:tag name="KSO_WM_FULL_TEXT_BEAUTIFY_COPY_ID" val="5"/>
</p:tagLst>
</file>

<file path=ppt/tags/tag157.xml><?xml version="1.0" encoding="utf-8"?>
<p:tagLst xmlns:p="http://schemas.openxmlformats.org/presentationml/2006/main">
  <p:tag name="KSO_WM_FULL_TEXT_BEAUTIFY_COPY_ID" val="2"/>
</p:tagLst>
</file>

<file path=ppt/tags/tag158.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59.xml><?xml version="1.0" encoding="utf-8"?>
<p:tagLst xmlns:p="http://schemas.openxmlformats.org/presentationml/2006/main">
  <p:tag name="KSO_WM_FULL_TEXT_BEAUTIFY_COPY_ID" val="5"/>
</p:tagLst>
</file>

<file path=ppt/tags/tag160.xml><?xml version="1.0" encoding="utf-8"?>
<p:tagLst xmlns:p="http://schemas.openxmlformats.org/presentationml/2006/main">
  <p:tag name="KSO_WM_FULL_TEXT_BEAUTIFY_COPY_ID" val="2"/>
</p:tagLst>
</file>

<file path=ppt/tags/tag161.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62.xml><?xml version="1.0" encoding="utf-8"?>
<p:tagLst xmlns:p="http://schemas.openxmlformats.org/presentationml/2006/main">
  <p:tag name="KSO_WM_FULL_TEXT_BEAUTIFY_COPY_ID" val="2"/>
</p:tagLst>
</file>

<file path=ppt/tags/tag163.xml><?xml version="1.0" encoding="utf-8"?>
<p:tagLst xmlns:p="http://schemas.openxmlformats.org/presentationml/2006/main">
  <p:tag name="KSO_WM_UNIT_TABLE_BEAUTIFY" val="smartTable{b53622cd-a2b5-45d6-9810-7498a1729556}"/>
  <p:tag name="TABLE_RECT" val="36*169.175*888*234.4"/>
  <p:tag name="TABLE_EMPHASIZE_COLOR" val="6579300"/>
  <p:tag name="TABLE_ONEKEY_SKIN_IDX" val="0"/>
  <p:tag name="TABLE_SKINIDX" val="-1"/>
  <p:tag name="TABLE_COLORIDX" val="l"/>
</p:tagLst>
</file>

<file path=ppt/tags/tag164.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65.xml><?xml version="1.0" encoding="utf-8"?>
<p:tagLst xmlns:p="http://schemas.openxmlformats.org/presentationml/2006/main">
  <p:tag name="KSO_WM_FULL_TEXT_BEAUTIFY_COPY_ID" val="5"/>
</p:tagLst>
</file>

<file path=ppt/tags/tag166.xml><?xml version="1.0" encoding="utf-8"?>
<p:tagLst xmlns:p="http://schemas.openxmlformats.org/presentationml/2006/main">
  <p:tag name="KSO_WM_FULL_TEXT_BEAUTIFY_COPY_ID" val="2"/>
</p:tagLst>
</file>

<file path=ppt/tags/tag167.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168.xml><?xml version="1.0" encoding="utf-8"?>
<p:tagLst xmlns:p="http://schemas.openxmlformats.org/presentationml/2006/main">
  <p:tag name="KSO_WM_SPECIAL_SOURCE" val="bdnull"/>
</p:tagLst>
</file>

<file path=ppt/tags/tag169.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70.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71.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72.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73.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74.xml><?xml version="1.0" encoding="utf-8"?>
<p:tagLst xmlns:p="http://schemas.openxmlformats.org/presentationml/2006/main">
  <p:tag name="KSO_WM_TEMPLATE_CATEGORY" val="diagram"/>
  <p:tag name="KSO_WM_TEMPLATE_INDEX" val="160819"/>
  <p:tag name="KSO_WM_UNIT_TYPE" val="n_i"/>
  <p:tag name="KSO_WM_UNIT_INDEX" val="1_1"/>
  <p:tag name="KSO_WM_UNIT_ID" val="diagram160819_2*n_i*1_1"/>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8"/>
</p:tagLst>
</file>

<file path=ppt/tags/tag175.xml><?xml version="1.0" encoding="utf-8"?>
<p:tagLst xmlns:p="http://schemas.openxmlformats.org/presentationml/2006/main">
  <p:tag name="KSO_WM_TEMPLATE_CATEGORY" val="diagram"/>
  <p:tag name="KSO_WM_TEMPLATE_INDEX" val="160819"/>
  <p:tag name="KSO_WM_UNIT_TYPE" val="n_i"/>
  <p:tag name="KSO_WM_UNIT_INDEX" val="1_3"/>
  <p:tag name="KSO_WM_UNIT_ID" val="diagram160819_2*n_i*1_3"/>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9"/>
</p:tagLst>
</file>

<file path=ppt/tags/tag176.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77.xml><?xml version="1.0" encoding="utf-8"?>
<p:tagLst xmlns:p="http://schemas.openxmlformats.org/presentationml/2006/main">
  <p:tag name="KSO_WM_TEMPLATE_CATEGORY" val="diagram"/>
  <p:tag name="KSO_WM_TEMPLATE_INDEX" val="160819"/>
  <p:tag name="KSO_WM_UNIT_TYPE" val="n_i"/>
  <p:tag name="KSO_WM_UNIT_INDEX" val="1_1"/>
  <p:tag name="KSO_WM_UNIT_ID" val="diagram160819_2*n_i*1_1"/>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8"/>
</p:tagLst>
</file>

<file path=ppt/tags/tag178.xml><?xml version="1.0" encoding="utf-8"?>
<p:tagLst xmlns:p="http://schemas.openxmlformats.org/presentationml/2006/main">
  <p:tag name="KSO_WM_TEMPLATE_CATEGORY" val="diagram"/>
  <p:tag name="KSO_WM_TEMPLATE_INDEX" val="160819"/>
  <p:tag name="KSO_WM_UNIT_TYPE" val="n_i"/>
  <p:tag name="KSO_WM_UNIT_INDEX" val="1_3"/>
  <p:tag name="KSO_WM_UNIT_ID" val="diagram160819_2*n_i*1_3"/>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9"/>
</p:tagLst>
</file>

<file path=ppt/tags/tag179.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80.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81.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82.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83.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84.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85.xml><?xml version="1.0" encoding="utf-8"?>
<p:tagLst xmlns:p="http://schemas.openxmlformats.org/presentationml/2006/main">
  <p:tag name="KSO_WM_TEMPLATE_CATEGORY" val="diagram"/>
  <p:tag name="KSO_WM_TEMPLATE_INDEX" val="160819"/>
  <p:tag name="KSO_WM_UNIT_TYPE" val="n_i"/>
  <p:tag name="KSO_WM_UNIT_INDEX" val="1_1"/>
  <p:tag name="KSO_WM_UNIT_ID" val="diagram160819_2*n_i*1_1"/>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8"/>
</p:tagLst>
</file>

<file path=ppt/tags/tag186.xml><?xml version="1.0" encoding="utf-8"?>
<p:tagLst xmlns:p="http://schemas.openxmlformats.org/presentationml/2006/main">
  <p:tag name="KSO_WM_TEMPLATE_CATEGORY" val="diagram"/>
  <p:tag name="KSO_WM_TEMPLATE_INDEX" val="160819"/>
  <p:tag name="KSO_WM_UNIT_TYPE" val="n_i"/>
  <p:tag name="KSO_WM_UNIT_INDEX" val="1_3"/>
  <p:tag name="KSO_WM_UNIT_ID" val="diagram160819_2*n_i*1_3"/>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9"/>
</p:tagLst>
</file>

<file path=ppt/tags/tag187.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88.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189.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0.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1.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2.xml><?xml version="1.0" encoding="utf-8"?>
<p:tagLst xmlns:p="http://schemas.openxmlformats.org/presentationml/2006/main">
  <p:tag name="KSO_WM_SPECIAL_SOURCE" val="bdnull"/>
</p:tagLst>
</file>

<file path=ppt/tags/tag193.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4.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5.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6.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7.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198.xml><?xml version="1.0" encoding="utf-8"?>
<p:tagLst xmlns:p="http://schemas.openxmlformats.org/presentationml/2006/main">
  <p:tag name="KSO_WM_TEMPLATE_CATEGORY" val="diagram"/>
  <p:tag name="KSO_WM_TEMPLATE_INDEX" val="160819"/>
  <p:tag name="KSO_WM_UNIT_TYPE" val="n_i"/>
  <p:tag name="KSO_WM_UNIT_INDEX" val="1_1"/>
  <p:tag name="KSO_WM_UNIT_ID" val="diagram160819_2*n_i*1_1"/>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8"/>
</p:tagLst>
</file>

<file path=ppt/tags/tag199.xml><?xml version="1.0" encoding="utf-8"?>
<p:tagLst xmlns:p="http://schemas.openxmlformats.org/presentationml/2006/main">
  <p:tag name="KSO_WM_TEMPLATE_CATEGORY" val="diagram"/>
  <p:tag name="KSO_WM_TEMPLATE_INDEX" val="160819"/>
  <p:tag name="KSO_WM_UNIT_TYPE" val="n_i"/>
  <p:tag name="KSO_WM_UNIT_INDEX" val="1_3"/>
  <p:tag name="KSO_WM_UNIT_ID" val="diagram160819_2*n_i*1_3"/>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9"/>
</p:tagLst>
</file>

<file path=ppt/tags/tag200.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201.xml><?xml version="1.0" encoding="utf-8"?>
<p:tagLst xmlns:p="http://schemas.openxmlformats.org/presentationml/2006/main">
  <p:tag name="KSO_WM_TEMPLATE_CATEGORY" val="diagram"/>
  <p:tag name="KSO_WM_TEMPLATE_INDEX" val="160819"/>
  <p:tag name="KSO_WM_UNIT_TYPE" val="n_i"/>
  <p:tag name="KSO_WM_UNIT_INDEX" val="1_1"/>
  <p:tag name="KSO_WM_UNIT_ID" val="diagram160819_2*n_i*1_1"/>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8"/>
</p:tagLst>
</file>

<file path=ppt/tags/tag202.xml><?xml version="1.0" encoding="utf-8"?>
<p:tagLst xmlns:p="http://schemas.openxmlformats.org/presentationml/2006/main">
  <p:tag name="KSO_WM_TEMPLATE_CATEGORY" val="diagram"/>
  <p:tag name="KSO_WM_TEMPLATE_INDEX" val="160819"/>
  <p:tag name="KSO_WM_UNIT_TYPE" val="n_i"/>
  <p:tag name="KSO_WM_UNIT_INDEX" val="1_3"/>
  <p:tag name="KSO_WM_UNIT_ID" val="diagram160819_2*n_i*1_3"/>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9"/>
</p:tagLst>
</file>

<file path=ppt/tags/tag203.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204.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05.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06.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07.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08.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09.xml><?xml version="1.0" encoding="utf-8"?>
<p:tagLst xmlns:p="http://schemas.openxmlformats.org/presentationml/2006/main">
  <p:tag name="KSO_WM_TEMPLATE_CATEGORY" val="diagram"/>
  <p:tag name="KSO_WM_TEMPLATE_INDEX" val="160819"/>
  <p:tag name="KSO_WM_UNIT_TYPE" val="n_i"/>
  <p:tag name="KSO_WM_UNIT_INDEX" val="1_1"/>
  <p:tag name="KSO_WM_UNIT_ID" val="diagram160819_2*n_i*1_1"/>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8"/>
</p:tagLst>
</file>

<file path=ppt/tags/tag210.xml><?xml version="1.0" encoding="utf-8"?>
<p:tagLst xmlns:p="http://schemas.openxmlformats.org/presentationml/2006/main">
  <p:tag name="KSO_WM_TEMPLATE_CATEGORY" val="diagram"/>
  <p:tag name="KSO_WM_TEMPLATE_INDEX" val="160819"/>
  <p:tag name="KSO_WM_UNIT_TYPE" val="n_i"/>
  <p:tag name="KSO_WM_UNIT_INDEX" val="1_3"/>
  <p:tag name="KSO_WM_UNIT_ID" val="diagram160819_2*n_i*1_3"/>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89"/>
</p:tagLst>
</file>

<file path=ppt/tags/tag211.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212.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213.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14.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15.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16.xml><?xml version="1.0" encoding="utf-8"?>
<p:tagLst xmlns:p="http://schemas.openxmlformats.org/presentationml/2006/main">
  <p:tag name="KSO_WM_SPECIAL_SOURCE" val="bdnull"/>
</p:tagLst>
</file>

<file path=ppt/tags/tag217.xml><?xml version="1.0" encoding="utf-8"?>
<p:tagLst xmlns:p="http://schemas.openxmlformats.org/presentationml/2006/main">
  <p:tag name="KSO_WM_SPECIAL_SOURCE" val="bdnull"/>
</p:tagLst>
</file>

<file path=ppt/tags/tag218.xml><?xml version="1.0" encoding="utf-8"?>
<p:tagLst xmlns:p="http://schemas.openxmlformats.org/presentationml/2006/main">
  <p:tag name="KSO_WM_SPECIAL_SOURCE" val="bdnull"/>
</p:tagLst>
</file>

<file path=ppt/tags/tag219.xml><?xml version="1.0" encoding="utf-8"?>
<p:tagLst xmlns:p="http://schemas.openxmlformats.org/presentationml/2006/main">
  <p:tag name="KSO_WM_UNIT_TABLE_BEAUTIFY" val="smartTable{3d0c8039-aa76-423c-822c-ec8db3347ff3}"/>
  <p:tag name="TABLE_EMPHASIZE_COLOR" val="6579300"/>
  <p:tag name="TABLE_SKINIDX" val="-1"/>
  <p:tag name="TABLE_COLORIDX" val="l"/>
  <p:tag name="TABLE_COLOR_RGB" val="0x000000*0xFFFFFF*0x212121*0xFFFFFF*0x8F9887*0xB5BE87*0xB8BACF*0xB7C8D2*0xC3AFB0*0xEFB2C1"/>
  <p:tag name="TABLE_RECT" val="140.925*30.3*678.15*479.4"/>
  <p:tag name="TABLE_ONEKEY_SKIN_IDX" val="0"/>
</p:tagLst>
</file>

<file path=ppt/tags/tag220.xml><?xml version="1.0" encoding="utf-8"?>
<p:tagLst xmlns:p="http://schemas.openxmlformats.org/presentationml/2006/main">
  <p:tag name="KSO_WM_SPECIAL_SOURCE" val="bdnull"/>
</p:tagLst>
</file>

<file path=ppt/tags/tag221.xml><?xml version="1.0" encoding="utf-8"?>
<p:tagLst xmlns:p="http://schemas.openxmlformats.org/presentationml/2006/main">
  <p:tag name="KSO_WM_FULL_TEXT_BEAUTIFY_COPY_ID" val="5"/>
</p:tagLst>
</file>

<file path=ppt/tags/tag222.xml><?xml version="1.0" encoding="utf-8"?>
<p:tagLst xmlns:p="http://schemas.openxmlformats.org/presentationml/2006/main">
  <p:tag name="KSO_WM_FULL_TEXT_BEAUTIFY_COPY_ID" val="2"/>
</p:tagLst>
</file>

<file path=ppt/tags/tag223.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24.xml><?xml version="1.0" encoding="utf-8"?>
<p:tagLst xmlns:p="http://schemas.openxmlformats.org/presentationml/2006/main">
  <p:tag name="KSO_WM_FULL_TEXT_BEAUTIFY_COPY_ID" val="5"/>
</p:tagLst>
</file>

<file path=ppt/tags/tag225.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26.xml><?xml version="1.0" encoding="utf-8"?>
<p:tagLst xmlns:p="http://schemas.openxmlformats.org/presentationml/2006/main">
  <p:tag name="KSO_WM_FULL_TEXT_BEAUTIFY_COPY_ID" val="5"/>
</p:tagLst>
</file>

<file path=ppt/tags/tag227.xml><?xml version="1.0" encoding="utf-8"?>
<p:tagLst xmlns:p="http://schemas.openxmlformats.org/presentationml/2006/main">
  <p:tag name="KSO_WM_FULL_TEXT_BEAUTIFY_COPY_ID" val="2"/>
</p:tagLst>
</file>

<file path=ppt/tags/tag228.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229.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30.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231.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32.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233.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34.xml><?xml version="1.0" encoding="utf-8"?>
<p:tagLst xmlns:p="http://schemas.openxmlformats.org/presentationml/2006/main">
  <p:tag name="KSO_WM_TEMPLATE_CATEGORY" val="diagram"/>
  <p:tag name="KSO_WM_TEMPLATE_INDEX" val="160819"/>
  <p:tag name="KSO_WM_UNIT_TYPE" val="n_i"/>
  <p:tag name="KSO_WM_UNIT_INDEX" val="1_2"/>
  <p:tag name="KSO_WM_UNIT_ID" val="diagram160819_2*n_i*1_2"/>
  <p:tag name="KSO_WM_UNIT_LAYERLEVEL" val="1_1"/>
  <p:tag name="KSO_WM_BEAUTIFY_FLAG" val="#wm#"/>
  <p:tag name="KSO_WM_TAG_VERSION" val="1.0"/>
  <p:tag name="KSO_WM_DIAGRAM_GROUP_CODE" val="n1-1"/>
  <p:tag name="KSO_WM_UNIT_HIGHLIGHT" val="0"/>
  <p:tag name="KSO_WM_UNIT_COMPATIBLE" val="0"/>
  <p:tag name="KSO_WM_UNIT_DIAGRAM_ISNUMVISUAL" val="0"/>
  <p:tag name="KSO_WM_UNIT_DIAGRAM_ISREFERUNIT" val="0"/>
  <p:tag name="KSO_WM_UNIT_LINE_FORE_SCHEMECOLOR_INDEX" val="14"/>
  <p:tag name="KSO_WM_UNIT_LINE_FILL_TYPE" val="2"/>
  <p:tag name="KSO_WM_UNIT_DIAGRAM_SCHEMECOLOR_ID" val="1"/>
  <p:tag name="KSO_WM_UNIT_USESOURCEFORMAT_APPLY" val="1"/>
  <p:tag name="KSO_WM_FULL_TEXT_BEAUTIFY_COPY_ID" val="90"/>
</p:tagLst>
</file>

<file path=ppt/tags/tag235.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36.xml><?xml version="1.0" encoding="utf-8"?>
<p:tagLst xmlns:p="http://schemas.openxmlformats.org/presentationml/2006/main">
  <p:tag name="KSO_WM_TEMPLATE_CATEGORY" val="diagram"/>
  <p:tag name="KSO_WM_TEMPLATE_INDEX" val="160819"/>
  <p:tag name="KSO_WM_UNIT_TYPE" val="n_h_h_i"/>
  <p:tag name="KSO_WM_UNIT_INDEX" val="1_2_2_2"/>
  <p:tag name="KSO_WM_UNIT_ID" val="diagram160819_2*n_h_h_i*1_2_2_2"/>
  <p:tag name="KSO_WM_UNIT_LAYERLEVEL" val="1_1_1_1"/>
  <p:tag name="KSO_WM_UNIT_HIGHLIGHT" val="0"/>
  <p:tag name="KSO_WM_UNIT_COMPATIBLE" val="0"/>
  <p:tag name="KSO_WM_BEAUTIFY_FLAG" val="#wm#"/>
  <p:tag name="KSO_WM_TAG_VERSION" val="1.0"/>
  <p:tag name="KSO_WM_DIAGRAM_GROUP_CODE" val="n1-1"/>
  <p:tag name="KSO_WM_UNIT_NOCLEAR" val="0"/>
  <p:tag name="KSO_WM_UNIT_DIAGRAM_ISNUMVISUAL" val="0"/>
  <p:tag name="KSO_WM_UNIT_DIAGRAM_ISREFERUNIT" val="0"/>
  <p:tag name="KSO_WM_UNIT_FILL_FORE_SCHEMECOLOR_INDEX" val="6"/>
  <p:tag name="KSO_WM_UNIT_FILL_TYPE" val="1"/>
  <p:tag name="KSO_WM_UNIT_TEXT_FILL_FORE_SCHEMECOLOR_INDEX" val="14"/>
  <p:tag name="KSO_WM_UNIT_TEXT_FILL_TYPE" val="1"/>
  <p:tag name="KSO_WM_UNIT_DIAGRAM_SCHEMECOLOR_ID" val="1"/>
  <p:tag name="KSO_WM_UNIT_USESOURCEFORMAT_APPLY" val="1"/>
  <p:tag name="KSO_WM_FULL_TEXT_BEAUTIFY_COPY_ID" val="84"/>
</p:tagLst>
</file>

<file path=ppt/tags/tag237.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38.xml><?xml version="1.0" encoding="utf-8"?>
<p:tagLst xmlns:p="http://schemas.openxmlformats.org/presentationml/2006/main">
  <p:tag name="KSO_WM_FULL_TEXT_BEAUTIFY_COPY_ID" val="5"/>
</p:tagLst>
</file>

<file path=ppt/tags/tag239.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40.xml><?xml version="1.0" encoding="utf-8"?>
<p:tagLst xmlns:p="http://schemas.openxmlformats.org/presentationml/2006/main">
  <p:tag name="KSO_WM_FULL_TEXT_BEAUTIFY_COPY_ID" val="5"/>
</p:tagLst>
</file>

<file path=ppt/tags/tag241.xml><?xml version="1.0" encoding="utf-8"?>
<p:tagLst xmlns:p="http://schemas.openxmlformats.org/presentationml/2006/main">
  <p:tag name="KSO_WM_FULL_TEXT_BEAUTIFY_COPY_ID" val="2"/>
</p:tagLst>
</file>

<file path=ppt/tags/tag242.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43.xml><?xml version="1.0" encoding="utf-8"?>
<p:tagLst xmlns:p="http://schemas.openxmlformats.org/presentationml/2006/main">
  <p:tag name="KSO_WM_FULL_TEXT_BEAUTIFY_COPY_ID" val="5"/>
</p:tagLst>
</file>

<file path=ppt/tags/tag244.xml><?xml version="1.0" encoding="utf-8"?>
<p:tagLst xmlns:p="http://schemas.openxmlformats.org/presentationml/2006/main">
  <p:tag name="KSO_WM_FULL_TEXT_BEAUTIFY_COPY_ID" val="2"/>
</p:tagLst>
</file>

<file path=ppt/tags/tag245.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ags/tag246.xml><?xml version="1.0" encoding="utf-8"?>
<p:tagLst xmlns:p="http://schemas.openxmlformats.org/presentationml/2006/main">
  <p:tag name="KSO_WM_FULL_TEXT_BEAUTIFY_COPY_ID" val="5"/>
</p:tagLst>
</file>

<file path=ppt/tags/tag247.xml><?xml version="1.0" encoding="utf-8"?>
<p:tagLst xmlns:p="http://schemas.openxmlformats.org/presentationml/2006/main">
  <p:tag name="KSO_WM_FULL_TEXT_BEAUTIFY_COPY_ID" val="2"/>
</p:tagLst>
</file>

<file path=ppt/tags/tag248.xml><?xml version="1.0" encoding="utf-8"?>
<p:tagLst xmlns:p="http://schemas.openxmlformats.org/presentationml/2006/main">
  <p:tag name="KSO_WM_TEMPLATE_CATEGORY" val="custom"/>
  <p:tag name="KSO_WM_TEMPLATE_INDEX" val="20202824"/>
  <p:tag name="KSO_WM_FULL_TEXT_BEAUTIFY_COPY_ID" val="150995627"/>
  <p:tag name="KSO_WM_SPECIAL_SOURCE" val="bdnull"/>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汉仪细等线繁"/>
        <a:ea typeface=""/>
        <a:cs typeface=""/>
        <a:font script="Jpan" typeface="游ゴシック Light"/>
        <a:font script="Hang" typeface="맑은 고딕"/>
        <a:font script="Hans" typeface="汉仪细等线繁"/>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细等线繁"/>
        <a:ea typeface=""/>
        <a:cs typeface=""/>
        <a:font script="Jpan" typeface="游ゴシック"/>
        <a:font script="Hang" typeface="맑은 고딕"/>
        <a:font script="Hans" typeface="汉仪细等线繁"/>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WPS主题色">
      <a:dk1>
        <a:srgbClr val="000000"/>
      </a:dk1>
      <a:lt1>
        <a:srgbClr val="FFFFFF"/>
      </a:lt1>
      <a:dk2>
        <a:srgbClr val="E5EAF2"/>
      </a:dk2>
      <a:lt2>
        <a:srgbClr val="FFFFFF"/>
      </a:lt2>
      <a:accent1>
        <a:srgbClr val="5F769F"/>
      </a:accent1>
      <a:accent2>
        <a:srgbClr val="71729B"/>
      </a:accent2>
      <a:accent3>
        <a:srgbClr val="7E6B95"/>
      </a:accent3>
      <a:accent4>
        <a:srgbClr val="8A668D"/>
      </a:accent4>
      <a:accent5>
        <a:srgbClr val="955F82"/>
      </a:accent5>
      <a:accent6>
        <a:srgbClr val="9B5B75"/>
      </a:accent6>
      <a:hlink>
        <a:srgbClr val="292BBB"/>
      </a:hlink>
      <a:folHlink>
        <a:srgbClr val="580C6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汉仪细等线繁"/>
        <a:ea typeface=""/>
        <a:cs typeface=""/>
        <a:font script="Jpan" typeface="游ゴシック Light"/>
        <a:font script="Hang" typeface="맑은 고딕"/>
        <a:font script="Hans" typeface="汉仪细等线繁"/>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细等线繁"/>
        <a:ea typeface=""/>
        <a:cs typeface=""/>
        <a:font script="Jpan" typeface="游ゴシック"/>
        <a:font script="Hang" typeface="맑은 고딕"/>
        <a:font script="Hans" typeface="汉仪细等线繁"/>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8696</Words>
  <Application>WPS 演示</Application>
  <PresentationFormat>自定义</PresentationFormat>
  <Paragraphs>502</Paragraphs>
  <Slides>27</Slides>
  <Notes>3</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27</vt:i4>
      </vt:variant>
    </vt:vector>
  </HeadingPairs>
  <TitlesOfParts>
    <vt:vector size="49" baseType="lpstr">
      <vt:lpstr>Arial</vt:lpstr>
      <vt:lpstr>宋体</vt:lpstr>
      <vt:lpstr>Wingdings</vt:lpstr>
      <vt:lpstr>微软雅黑</vt:lpstr>
      <vt:lpstr>汉仪旗黑Y4-85简</vt:lpstr>
      <vt:lpstr>方正粗黑宋简体</vt:lpstr>
      <vt:lpstr>Times New Roman</vt:lpstr>
      <vt:lpstr>楷体</vt:lpstr>
      <vt:lpstr>汉仪大隶书简</vt:lpstr>
      <vt:lpstr>汉仪铁山隶书繁</vt:lpstr>
      <vt:lpstr>Arial</vt:lpstr>
      <vt:lpstr>Wingdings</vt:lpstr>
      <vt:lpstr>Calibri</vt:lpstr>
      <vt:lpstr>隶书</vt:lpstr>
      <vt:lpstr>Times New Roman</vt:lpstr>
      <vt:lpstr>Arial Unicode MS</vt:lpstr>
      <vt:lpstr>黑体</vt:lpstr>
      <vt:lpstr>幼圆</vt:lpstr>
      <vt:lpstr>新宋体</vt:lpstr>
      <vt:lpstr>Helvetica</vt:lpstr>
      <vt:lpstr>自定义设计方案</vt:lpstr>
      <vt:lpstr>2_Office 主题​​</vt:lpstr>
      <vt:lpstr>第四单元 科 学 探 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Administrator</dc:creator>
  <cp:lastModifiedBy>霖</cp:lastModifiedBy>
  <cp:revision>1916</cp:revision>
  <dcterms:created xsi:type="dcterms:W3CDTF">2019-06-19T02:08:00Z</dcterms:created>
  <dcterms:modified xsi:type="dcterms:W3CDTF">2022-04-20T12:32:36Z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y fmtid="{D5CDD505-2E9C-101B-9397-08002B2CF9AE}" pid="3" name="KSOSaveFontToCloudKey">
    <vt:lpwstr>454426875_cloud</vt:lpwstr>
  </property>
  <property fmtid="{D5CDD505-2E9C-101B-9397-08002B2CF9AE}" pid="4" name="ICV">
    <vt:lpwstr>B9A4CEBAEED945FBBD7A4B61D26B5076</vt:lpwstr>
  </property>
</Properties>
</file>