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7">
  <p:sldMasterIdLst>
    <p:sldMasterId id="2147483648" r:id="rId1"/>
    <p:sldMasterId id="2147483656" r:id="rId3"/>
  </p:sldMasterIdLst>
  <p:notesMasterIdLst>
    <p:notesMasterId r:id="rId5"/>
  </p:notesMasterIdLst>
  <p:handoutMasterIdLst>
    <p:handoutMasterId r:id="rId18"/>
  </p:handoutMasterIdLst>
  <p:sldIdLst>
    <p:sldId id="2821" r:id="rId4"/>
    <p:sldId id="3001" r:id="rId6"/>
    <p:sldId id="3002" r:id="rId7"/>
    <p:sldId id="3003" r:id="rId8"/>
    <p:sldId id="2993" r:id="rId9"/>
    <p:sldId id="2970" r:id="rId10"/>
    <p:sldId id="3005" r:id="rId11"/>
    <p:sldId id="3006" r:id="rId12"/>
    <p:sldId id="3021" r:id="rId13"/>
    <p:sldId id="2969" r:id="rId14"/>
    <p:sldId id="3022" r:id="rId15"/>
    <p:sldId id="3023" r:id="rId16"/>
    <p:sldId id="302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新课标第一网" initials="xkb1.com" lastIdx="1" clrIdx="0"/>
  <p:cmAuthor id="1" name="Administrator" initials="A" lastIdx="1" clrIdx="0"/>
  <p:cmAuthor id="2" name="xkb1.com" initials="x" lastIdx="0" clrIdx="1"/>
  <p:cmAuthor id="4" name="陈锐华" initials="CRH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0E0EE4"/>
    <a:srgbClr val="38473A"/>
    <a:srgbClr val="178AA1"/>
    <a:srgbClr val="FCFCFC"/>
    <a:srgbClr val="9E9492"/>
    <a:srgbClr val="A7A49D"/>
    <a:srgbClr val="A3A099"/>
    <a:srgbClr val="A09D96"/>
    <a:srgbClr val="ABA8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772" autoAdjust="0"/>
    <p:restoredTop sz="95362" autoAdjust="0"/>
  </p:normalViewPr>
  <p:slideViewPr>
    <p:cSldViewPr snapToGrid="0">
      <p:cViewPr varScale="1">
        <p:scale>
          <a:sx n="67" d="100"/>
          <a:sy n="67" d="100"/>
        </p:scale>
        <p:origin x="-342" y="-102"/>
      </p:cViewPr>
      <p:guideLst>
        <p:guide orient="horz" pos="2149"/>
        <p:guide pos="3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E8FEA-3AC9-4DE1-B0CA-FA2A2FC791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image" Target="../media/image2.png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2.png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1.jpeg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2.png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image" Target="../media/image2.png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 hasCustomPrompt="1"/>
          </p:nvPr>
        </p:nvSpPr>
        <p:spPr>
          <a:xfrm>
            <a:off x="1524000" y="0"/>
            <a:ext cx="9144000" cy="3518120"/>
          </a:xfrm>
          <a:prstGeom prst="rect">
            <a:avLst/>
          </a:prstGeom>
        </p:spPr>
        <p:txBody>
          <a:bodyPr anchor="b"/>
          <a:lstStyle>
            <a:lvl1pPr>
              <a:defRPr sz="8000"/>
            </a:lvl1pPr>
          </a:lstStyle>
          <a:p>
            <a:pPr lvl="0">
              <a:defRPr sz="1800"/>
            </a:pPr>
            <a:r>
              <a:rPr sz="6000"/>
              <a:t>标题文本</a:t>
            </a:r>
            <a:endParaRPr sz="6000"/>
          </a:p>
        </p:txBody>
      </p:sp>
      <p:sp>
        <p:nvSpPr>
          <p:cNvPr id="6" name="Shape 6"/>
          <p:cNvSpPr>
            <a:spLocks noGrp="1"/>
          </p:cNvSpPr>
          <p:nvPr>
            <p:ph type="body" idx="1" hasCustomPrompt="1"/>
          </p:nvPr>
        </p:nvSpPr>
        <p:spPr>
          <a:xfrm>
            <a:off x="1524000" y="3609363"/>
            <a:ext cx="9144000" cy="324863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ct val="134000"/>
              </a:spcBef>
              <a:buSzTx/>
              <a:buNone/>
              <a:defRPr sz="3200"/>
            </a:lvl1pPr>
            <a:lvl2pPr marL="0" indent="609600" algn="ctr">
              <a:spcBef>
                <a:spcPct val="134000"/>
              </a:spcBef>
              <a:buSzTx/>
              <a:buNone/>
              <a:defRPr sz="3200"/>
            </a:lvl2pPr>
            <a:lvl3pPr marL="0" indent="1219200" algn="ctr">
              <a:spcBef>
                <a:spcPct val="134000"/>
              </a:spcBef>
              <a:buSzTx/>
              <a:buNone/>
              <a:defRPr sz="3200"/>
            </a:lvl3pPr>
            <a:lvl4pPr marL="0" indent="1828800" algn="ctr">
              <a:spcBef>
                <a:spcPct val="134000"/>
              </a:spcBef>
              <a:buSzTx/>
              <a:buNone/>
              <a:defRPr sz="3200"/>
            </a:lvl4pPr>
            <a:lvl5pPr marL="0" indent="2438400" algn="ctr">
              <a:spcBef>
                <a:spcPct val="134000"/>
              </a:spcBef>
              <a:buSzTx/>
              <a:buNone/>
              <a:defRPr sz="3200"/>
            </a:lvl5pPr>
          </a:lstStyle>
          <a:p>
            <a:pPr lvl="0">
              <a:defRPr sz="1800"/>
            </a:pPr>
            <a:r>
              <a:rPr sz="2400"/>
              <a:t>正文级别 1</a:t>
            </a:r>
            <a:endParaRPr sz="2400"/>
          </a:p>
          <a:p>
            <a:pPr lvl="1">
              <a:defRPr sz="1800"/>
            </a:pPr>
            <a:r>
              <a:rPr sz="2400"/>
              <a:t>正文级别 2</a:t>
            </a:r>
            <a:endParaRPr sz="2400"/>
          </a:p>
          <a:p>
            <a:pPr lvl="2">
              <a:defRPr sz="1800"/>
            </a:pPr>
            <a:r>
              <a:rPr sz="2400"/>
              <a:t>正文级别 3</a:t>
            </a:r>
            <a:endParaRPr sz="2400"/>
          </a:p>
          <a:p>
            <a:pPr lvl="3">
              <a:defRPr sz="1800"/>
            </a:pPr>
            <a:r>
              <a:rPr sz="2400"/>
              <a:t>正文级别 4</a:t>
            </a:r>
            <a:endParaRPr sz="2400"/>
          </a:p>
          <a:p>
            <a:pPr lvl="4">
              <a:defRPr sz="1800"/>
            </a:pPr>
            <a:r>
              <a:rPr sz="2400"/>
              <a:t>正文级别 5</a:t>
            </a:r>
            <a:endParaRPr sz="240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 rot="245821">
            <a:off x="1744345" y="1880870"/>
            <a:ext cx="9324340" cy="3429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 rot="21380745">
            <a:off x="1756410" y="1901190"/>
            <a:ext cx="9324340" cy="3429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1756410" y="1900057"/>
            <a:ext cx="9324340" cy="3429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>
            <p:custDataLst>
              <p:tags r:id="rId6"/>
            </p:custDataLst>
          </p:nvPr>
        </p:nvCxnSpPr>
        <p:spPr>
          <a:xfrm>
            <a:off x="5779167" y="3748839"/>
            <a:ext cx="998621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2426367" y="2438402"/>
            <a:ext cx="7704222" cy="1176155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2426367" y="3870121"/>
            <a:ext cx="7704222" cy="801114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508184" y="4084721"/>
            <a:ext cx="4567816" cy="793459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36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3508179" y="4956280"/>
            <a:ext cx="4567816" cy="1077985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bg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>
            <a:off x="5237746" y="3998543"/>
            <a:ext cx="998621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24678" y="294859"/>
            <a:ext cx="11542644" cy="62682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11583670" y="5733415"/>
            <a:ext cx="498475" cy="1082675"/>
            <a:chOff x="17775" y="8015"/>
            <a:chExt cx="1252" cy="2719"/>
          </a:xfrm>
        </p:grpSpPr>
        <p:sp>
          <p:nvSpPr>
            <p:cNvPr id="13" name="椭圆 12"/>
            <p:cNvSpPr/>
            <p:nvPr userDrawn="1">
              <p:custDataLst>
                <p:tags r:id="rId4"/>
              </p:custDataLst>
            </p:nvPr>
          </p:nvSpPr>
          <p:spPr>
            <a:xfrm>
              <a:off x="18152" y="9860"/>
              <a:ext cx="875" cy="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>
              <p:custDataLst>
                <p:tags r:id="rId5"/>
              </p:custDataLst>
            </p:nvPr>
          </p:nvSpPr>
          <p:spPr>
            <a:xfrm>
              <a:off x="17775" y="9140"/>
              <a:ext cx="626" cy="6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 userDrawn="1">
              <p:custDataLst>
                <p:tags r:id="rId6"/>
              </p:custDataLst>
            </p:nvPr>
          </p:nvSpPr>
          <p:spPr>
            <a:xfrm>
              <a:off x="18401" y="8687"/>
              <a:ext cx="626" cy="6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>
              <p:custDataLst>
                <p:tags r:id="rId7"/>
              </p:custDataLst>
            </p:nvPr>
          </p:nvSpPr>
          <p:spPr>
            <a:xfrm>
              <a:off x="17883" y="8015"/>
              <a:ext cx="626" cy="6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1744578" y="1880787"/>
            <a:ext cx="9336506" cy="3449203"/>
            <a:chOff x="1744578" y="1880787"/>
            <a:chExt cx="9336506" cy="3449203"/>
          </a:xfrm>
        </p:grpSpPr>
        <p:sp>
          <p:nvSpPr>
            <p:cNvPr id="7" name="矩形 6"/>
            <p:cNvSpPr/>
            <p:nvPr>
              <p:custDataLst>
                <p:tags r:id="rId4"/>
              </p:custDataLst>
            </p:nvPr>
          </p:nvSpPr>
          <p:spPr>
            <a:xfrm rot="245821">
              <a:off x="1744578" y="1880787"/>
              <a:ext cx="9324473" cy="3429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>
              <p:custDataLst>
                <p:tags r:id="rId5"/>
              </p:custDataLst>
            </p:nvPr>
          </p:nvSpPr>
          <p:spPr>
            <a:xfrm rot="21380745">
              <a:off x="1756611" y="1900990"/>
              <a:ext cx="9324473" cy="3429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1744578" y="1900990"/>
              <a:ext cx="9324473" cy="3429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3266167" y="2599827"/>
            <a:ext cx="6371319" cy="1179574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266168" y="3991669"/>
            <a:ext cx="6371318" cy="973138"/>
          </a:xfrm>
        </p:spPr>
        <p:txBody>
          <a:bodyPr lIns="90000" rIns="90000" bIns="46800"/>
          <a:lstStyle>
            <a:lvl1pPr marL="0" indent="0" algn="ctr">
              <a:buNone/>
              <a:defRPr sz="2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>
            <p:custDataLst>
              <p:tags r:id="rId12"/>
            </p:custDataLst>
          </p:nvPr>
        </p:nvCxnSpPr>
        <p:spPr>
          <a:xfrm>
            <a:off x="5779167" y="3863139"/>
            <a:ext cx="998621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48285" y="273050"/>
            <a:ext cx="11692255" cy="63119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lIns="90000" tIns="46800" rIns="90000" bIns="46800"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lIns="90000" tIns="46800" rIns="90000" bIns="46800"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9"/>
            <a:ext cx="6480000" cy="5087937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1147334"/>
            <a:ext cx="12192000" cy="36933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70144"/>
            <a:ext cx="10976400" cy="648512"/>
          </a:xfrm>
        </p:spPr>
        <p:txBody>
          <a:bodyPr wrap="square" lIns="90000" tIns="46800" rIns="90000" bIns="46800"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68643"/>
            <a:ext cx="2700000" cy="279180"/>
          </a:xfrm>
        </p:spPr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68643"/>
            <a:ext cx="3960000" cy="279180"/>
          </a:xfrm>
        </p:spPr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68643"/>
            <a:ext cx="2700000" cy="279180"/>
          </a:xfrm>
        </p:spPr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382991"/>
          </a:xfrm>
        </p:spPr>
        <p:txBody>
          <a:bodyPr wrap="square" lIns="90000" tIns="46800" rIns="90000" bIns="46800"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1980158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lIns="90000" tIns="46800" rIns="90000" bIns="46800"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-11046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755" y="237490"/>
            <a:ext cx="11037570" cy="565150"/>
          </a:xfrm>
        </p:spPr>
        <p:txBody>
          <a:bodyPr wrap="square" lIns="90000" tIns="46800" rIns="90000" bIns="46800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lIns="90000" tIns="46800" rIns="90000" bIns="46800"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 lIns="90000" tIns="46800" rIns="90000" bIns="46800"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5" Type="http://schemas.openxmlformats.org/officeDocument/2006/relationships/theme" Target="../theme/theme2.xml"/><Relationship Id="rId24" Type="http://schemas.openxmlformats.org/officeDocument/2006/relationships/tags" Target="../tags/tag124.xml"/><Relationship Id="rId23" Type="http://schemas.openxmlformats.org/officeDocument/2006/relationships/tags" Target="../tags/tag123.xml"/><Relationship Id="rId22" Type="http://schemas.openxmlformats.org/officeDocument/2006/relationships/tags" Target="../tags/tag122.xml"/><Relationship Id="rId21" Type="http://schemas.openxmlformats.org/officeDocument/2006/relationships/tags" Target="../tags/tag121.xml"/><Relationship Id="rId20" Type="http://schemas.openxmlformats.org/officeDocument/2006/relationships/tags" Target="../tags/tag120.xml"/><Relationship Id="rId2" Type="http://schemas.openxmlformats.org/officeDocument/2006/relationships/slideLayout" Target="../slideLayouts/slideLayout9.xml"/><Relationship Id="rId19" Type="http://schemas.openxmlformats.org/officeDocument/2006/relationships/tags" Target="../tags/tag119.xml"/><Relationship Id="rId18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slow">
    <p:strips dir="rd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3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9.xml"/><Relationship Id="rId7" Type="http://schemas.openxmlformats.org/officeDocument/2006/relationships/tags" Target="../tags/tag14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15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9.xml"/><Relationship Id="rId17" Type="http://schemas.openxmlformats.org/officeDocument/2006/relationships/tags" Target="../tags/tag177.xml"/><Relationship Id="rId16" Type="http://schemas.openxmlformats.org/officeDocument/2006/relationships/tags" Target="../tags/tag176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tags" Target="../tags/tag16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190.xml"/><Relationship Id="rId2" Type="http://schemas.openxmlformats.org/officeDocument/2006/relationships/image" Target="../media/image5.png"/><Relationship Id="rId1" Type="http://schemas.openxmlformats.org/officeDocument/2006/relationships/tags" Target="../tags/tag18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200.xml"/><Relationship Id="rId2" Type="http://schemas.openxmlformats.org/officeDocument/2006/relationships/image" Target="../media/image7.png"/><Relationship Id="rId1" Type="http://schemas.openxmlformats.org/officeDocument/2006/relationships/tags" Target="../tags/tag1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9538" y="143510"/>
            <a:ext cx="5705475" cy="1322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sym typeface="+mn-ea"/>
              </a:rPr>
              <a:t>最</a:t>
            </a:r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新</a:t>
            </a:r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sym typeface="+mn-ea"/>
              </a:rPr>
              <a:t>修订版</a:t>
            </a:r>
            <a:r>
              <a:rPr lang="zh-CN" altLang="en-US" sz="8000" b="1" spc="-3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化学</a:t>
            </a:r>
            <a:r>
              <a:rPr lang="zh-CN" altLang="en-US" sz="2800" b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sym typeface="+mn-ea"/>
              </a:rPr>
              <a:t>九年级全册</a:t>
            </a:r>
            <a:endParaRPr lang="zh-CN" altLang="en-US" sz="2800" b="1" spc="-3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488819" y="2215489"/>
            <a:ext cx="8134350" cy="784860"/>
          </a:xfrm>
        </p:spPr>
        <p:txBody>
          <a:bodyPr wrap="none">
            <a:spAutoFit/>
          </a:bodyPr>
          <a:lstStyle/>
          <a:p>
            <a:pPr algn="ctr"/>
            <a:r>
              <a:rPr lang="zh-CN" altLang="en-US" sz="4800" b="1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第三单元 身边的化学物质</a:t>
            </a:r>
            <a:endParaRPr lang="zh-CN" altLang="en-US" sz="4800" b="1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19424" y="3413099"/>
            <a:ext cx="6073140" cy="1691005"/>
            <a:chOff x="3391" y="5215"/>
            <a:chExt cx="9564" cy="2663"/>
          </a:xfrm>
        </p:grpSpPr>
        <p:sp>
          <p:nvSpPr>
            <p:cNvPr id="2" name="文本框 1"/>
            <p:cNvSpPr txBox="1"/>
            <p:nvPr/>
          </p:nvSpPr>
          <p:spPr>
            <a:xfrm>
              <a:off x="6739" y="5543"/>
              <a:ext cx="2353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sp>
          <p:nvSpPr>
            <p:cNvPr id="3" name="文本框 2"/>
            <p:cNvSpPr txBox="1"/>
            <p:nvPr>
              <p:custDataLst>
                <p:tags r:id="rId3"/>
              </p:custDataLst>
            </p:nvPr>
          </p:nvSpPr>
          <p:spPr>
            <a:xfrm>
              <a:off x="3391" y="5215"/>
              <a:ext cx="9564" cy="2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30000"/>
                </a:lnSpc>
                <a:defRPr/>
              </a:pPr>
              <a:r>
                <a:rPr lang="zh-CN" sz="4400" b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gradFill>
                    <a:gsLst>
                      <a:gs pos="50000">
                        <a:srgbClr val="ECCFCB"/>
                      </a:gs>
                      <a:gs pos="0">
                        <a:srgbClr val="F2DFDC"/>
                      </a:gs>
                      <a:gs pos="100000">
                        <a:srgbClr val="E5BEB9"/>
                      </a:gs>
                    </a:gsLst>
                    <a:lin scaled="1"/>
                  </a:gradFill>
                  <a:uFillTx/>
                  <a:latin typeface="Times New Roman" panose="02020603050405020304" pitchFamily="18" charset="0"/>
                  <a:ea typeface="方正粗黑宋简体" panose="02000000000000000000" pitchFamily="2" charset="-122"/>
                  <a:cs typeface="Times New Roman" panose="02020603050405020304" pitchFamily="18" charset="0"/>
                  <a:sym typeface="+mn-ea"/>
                </a:rPr>
                <a:t>一、我 们 周 围 的 空 气   </a:t>
              </a:r>
              <a:endParaRPr lang="zh-CN" sz="4400" b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  <a:sym typeface="+mn-ea"/>
              </a:endParaRPr>
            </a:p>
            <a:p>
              <a:pPr algn="ctr">
                <a:lnSpc>
                  <a:spcPct val="130000"/>
                </a:lnSpc>
                <a:defRPr/>
              </a:pPr>
              <a:r>
                <a:rPr lang="zh-CN" altLang="en-US" sz="3600" b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gradFill>
                    <a:gsLst>
                      <a:gs pos="50000">
                        <a:srgbClr val="ECCFCB"/>
                      </a:gs>
                      <a:gs pos="0">
                        <a:srgbClr val="F2DFDC"/>
                      </a:gs>
                      <a:gs pos="100000">
                        <a:srgbClr val="E5BEB9"/>
                      </a:gs>
                    </a:gsLst>
                    <a:lin scaled="1"/>
                  </a:gradFill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sym typeface="+mn-ea"/>
                </a:rPr>
                <a:t>—复习导航、例题</a:t>
              </a:r>
              <a:endParaRPr lang="en-US" altLang="zh-CN" sz="3600" b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uFillTx/>
                <a:latin typeface="Times New Roman" panose="02020603050405020304" pitchFamily="18" charset="0"/>
                <a:ea typeface="隶书" panose="02010509060101010101" charset="-122"/>
                <a:cs typeface="隶书" panose="02010509060101010101" charset="-122"/>
                <a:sym typeface="+mn-ea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93470" y="1219835"/>
            <a:ext cx="9981565" cy="427545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1.空气的成分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空气是一种天然资源，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混合均匀，相对稳定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。空气的主要成分和组成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按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体积比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如下。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02030" y="520113"/>
            <a:ext cx="3959129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隶书" panose="02010509060101010101" charset="-122"/>
                <a:cs typeface="Arial" panose="020B0604020202090204" pitchFamily="34" charset="0"/>
                <a:sym typeface="+mn-ea"/>
              </a:rPr>
              <a:t>→考点精解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31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348740" y="3478091"/>
          <a:ext cx="9519310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080135"/>
                <a:gridCol w="1079865"/>
                <a:gridCol w="1584000"/>
                <a:gridCol w="1584000"/>
                <a:gridCol w="2607310"/>
              </a:tblGrid>
              <a:tr h="720090">
                <a:tc>
                  <a:txBody>
                    <a:bodyPr/>
                    <a:p>
                      <a:pPr indent="0"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400" b="1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空气成分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0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体积分数</a:t>
                      </a:r>
                      <a:endParaRPr sz="2400" b="0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039745" y="3629025"/>
            <a:ext cx="828040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400" b="1" spc="13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sym typeface="+mn-ea"/>
              </a:rPr>
              <a:t>氮气</a:t>
            </a:r>
            <a:endParaRPr sz="2400" b="1" spc="130">
              <a:solidFill>
                <a:srgbClr val="646464"/>
              </a:solidFill>
              <a:uFillTx/>
              <a:latin typeface="Times New Roman" panose="02020603050405020304" pitchFamily="18" charset="0"/>
              <a:ea typeface="方正粗黑宋简体" panose="02000000000000000000" pitchFamily="2" charset="-122"/>
              <a:sym typeface="+mn-ea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78%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146550" y="3629025"/>
            <a:ext cx="828040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sz="2400" b="1" spc="13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sym typeface="+mn-ea"/>
              </a:rPr>
              <a:t>氧</a:t>
            </a:r>
            <a:r>
              <a:rPr sz="2400" b="1" spc="13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sym typeface="+mn-ea"/>
              </a:rPr>
              <a:t>气</a:t>
            </a:r>
            <a:endParaRPr sz="2400" b="1" spc="130">
              <a:solidFill>
                <a:srgbClr val="646464"/>
              </a:solidFill>
              <a:uFillTx/>
              <a:latin typeface="Times New Roman" panose="02020603050405020304" pitchFamily="18" charset="0"/>
              <a:ea typeface="方正粗黑宋简体" panose="02000000000000000000" pitchFamily="2" charset="-122"/>
              <a:sym typeface="+mn-ea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21</a:t>
            </a:r>
            <a:r>
              <a:rPr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%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63185" y="3629025"/>
            <a:ext cx="1473200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400" b="1" spc="13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sym typeface="+mn-ea"/>
              </a:rPr>
              <a:t>稀有气体</a:t>
            </a:r>
            <a:endParaRPr sz="2400" b="1" spc="130">
              <a:solidFill>
                <a:srgbClr val="646464"/>
              </a:solidFill>
              <a:uFillTx/>
              <a:latin typeface="Times New Roman" panose="02020603050405020304" pitchFamily="18" charset="0"/>
              <a:ea typeface="方正粗黑宋简体" panose="02000000000000000000" pitchFamily="2" charset="-122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en-US"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0.94</a:t>
            </a:r>
            <a:r>
              <a:rPr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%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738620" y="3629025"/>
            <a:ext cx="1473200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400" b="1" spc="13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sym typeface="+mn-ea"/>
              </a:rPr>
              <a:t>二氧化碳</a:t>
            </a:r>
            <a:endParaRPr sz="2400" b="1" spc="130">
              <a:solidFill>
                <a:srgbClr val="646464"/>
              </a:solidFill>
              <a:uFillTx/>
              <a:latin typeface="Times New Roman" panose="02020603050405020304" pitchFamily="18" charset="0"/>
              <a:ea typeface="方正粗黑宋简体" panose="02000000000000000000" pitchFamily="2" charset="-122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en-US"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0.03</a:t>
            </a:r>
            <a:r>
              <a:rPr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%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24850" y="3629025"/>
            <a:ext cx="2440940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400" b="1" spc="13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sym typeface="+mn-ea"/>
              </a:rPr>
              <a:t>其他气体和杂质</a:t>
            </a:r>
            <a:endParaRPr sz="2400" b="1" spc="130">
              <a:solidFill>
                <a:srgbClr val="646464"/>
              </a:solidFill>
              <a:uFillTx/>
              <a:latin typeface="Times New Roman" panose="02020603050405020304" pitchFamily="18" charset="0"/>
              <a:ea typeface="方正粗黑宋简体" panose="02000000000000000000" pitchFamily="2" charset="-122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en-US"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0.03</a:t>
            </a:r>
            <a:r>
              <a:rPr sz="2400" spc="13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%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91490" y="1082040"/>
            <a:ext cx="11122025" cy="431419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1.空气的成分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(2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氧气、氮气、稀有气体的用途。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91490" y="427403"/>
            <a:ext cx="3304444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隶书" panose="02010509060101010101" charset="-122"/>
                <a:cs typeface="Arial" panose="020B0604020202090204" pitchFamily="34" charset="0"/>
                <a:sym typeface="+mn-ea"/>
              </a:rPr>
              <a:t>→考点精解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661670" y="2477331"/>
          <a:ext cx="11113135" cy="231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/>
                <a:gridCol w="9432000"/>
              </a:tblGrid>
              <a:tr h="876935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氧气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2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氮气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2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 b="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稀有气体</a:t>
                      </a: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2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917700" y="2461895"/>
            <a:ext cx="2430780" cy="2557145"/>
          </a:xfrm>
          <a:prstGeom prst="rect">
            <a:avLst/>
          </a:prstGeom>
          <a:noFill/>
          <a:ln w="19050" cap="flat" cmpd="tri">
            <a:noFill/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①动植物呼吸；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①超导实验车；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①作保护气；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758815" y="2483485"/>
            <a:ext cx="2369185" cy="2557145"/>
          </a:xfrm>
          <a:prstGeom prst="rect">
            <a:avLst/>
          </a:prstGeom>
          <a:noFill/>
          <a:ln w="19050" cap="flat" cmpd="tri">
            <a:noFill/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③金属切割；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③作保护气；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③</a:t>
            </a:r>
            <a:r>
              <a:rPr lang="zh-CN" altLang="en-US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液氢冷冻机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029075" y="2468245"/>
            <a:ext cx="2052000" cy="2557145"/>
          </a:xfrm>
          <a:prstGeom prst="rect">
            <a:avLst/>
          </a:prstGeom>
          <a:noFill/>
          <a:ln w="19050" cap="flat" cmpd="tri">
            <a:noFill/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②医疗急救；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②化工原料；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②</a:t>
            </a:r>
            <a:r>
              <a:rPr lang="zh-CN" altLang="en-US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激光技术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809865" y="2493645"/>
            <a:ext cx="3672000" cy="2557145"/>
          </a:xfrm>
          <a:prstGeom prst="rect">
            <a:avLst/>
          </a:prstGeom>
          <a:noFill/>
          <a:ln w="19050" cap="flat" cmpd="tri">
            <a:noFill/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④</a:t>
            </a:r>
            <a:r>
              <a:rPr lang="zh-CN" altLang="en-US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宇宙航行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；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E0EE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④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食品充氮作防腐剂等。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④</a:t>
            </a:r>
            <a:r>
              <a:rPr lang="zh-CN" altLang="en-US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制霓虹灯电光源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等。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16440" y="2751455"/>
            <a:ext cx="17132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⑤炼钢等。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82295" y="163195"/>
            <a:ext cx="11027410" cy="633349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(3)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空气组成的测定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·</a:t>
            </a:r>
            <a:endParaRPr kumimoji="0" lang="en-US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736600" y="784421"/>
          <a:ext cx="10728000" cy="55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655"/>
                <a:gridCol w="9297345"/>
              </a:tblGrid>
              <a:tr h="1044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实验原理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2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80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实验装置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2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实验现象</a:t>
                      </a: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40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实验注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意事项</a:t>
                      </a: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2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143760" y="916940"/>
            <a:ext cx="9424035" cy="859155"/>
          </a:xfrm>
          <a:prstGeom prst="rect">
            <a:avLst/>
          </a:prstGeom>
          <a:noFill/>
          <a:ln w="19050" cap="flat" cmpd="tri">
            <a:noFill/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619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利用</a:t>
            </a:r>
            <a:r>
              <a:rPr kumimoji="0" lang="zh-CN" altLang="en-US" sz="2400" b="1" i="0">
                <a:solidFill>
                  <a:srgbClr val="0E0EE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磷燃烧消耗空气中的氧气，使容器内压强减小，水进入容器。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测定进入容器中水的体积，可得空气中氧气的近似体积。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185670" y="3928745"/>
            <a:ext cx="9424035" cy="2336165"/>
          </a:xfrm>
          <a:prstGeom prst="rect">
            <a:avLst/>
          </a:prstGeom>
          <a:noFill/>
          <a:ln w="19050" cap="flat" cmpd="tri">
            <a:noFill/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619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红磷燃烧，</a:t>
            </a:r>
            <a:r>
              <a:rPr kumimoji="0" lang="zh-CN" altLang="en-US" sz="2400" b="1" i="0">
                <a:solidFill>
                  <a:srgbClr val="0E0EE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产生大量的白烟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，放出热量，</a:t>
            </a:r>
            <a:r>
              <a:rPr kumimoji="0" lang="zh-CN" altLang="en-US" sz="2400" b="1" i="0">
                <a:solidFill>
                  <a:srgbClr val="0E0EE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降温后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打开止水夹，水进入容器内约五分之一体积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①装置的气密性必须良好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②测量用的反应物(如磷)一定要足量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③打开止水夹测量时，装置的温度必须降至室温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 t="5565" b="1619"/>
          <a:stretch>
            <a:fillRect/>
          </a:stretch>
        </p:blipFill>
        <p:spPr>
          <a:xfrm>
            <a:off x="6327140" y="1862455"/>
            <a:ext cx="2285856" cy="190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rcRect t="3717" b="2961"/>
          <a:stretch>
            <a:fillRect/>
          </a:stretch>
        </p:blipFill>
        <p:spPr>
          <a:xfrm>
            <a:off x="2406015" y="1862455"/>
            <a:ext cx="2155825" cy="18815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365750" y="4323080"/>
            <a:ext cx="390525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(</a:t>
            </a:r>
            <a:r>
              <a:rPr lang="zh-CN" altLang="en-US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瓶中液面上升至刻度</a:t>
            </a:r>
            <a:r>
              <a:rPr lang="en-US" alt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1</a:t>
            </a:r>
            <a:r>
              <a:rPr lang="zh-CN" altLang="en-US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分之</a:t>
            </a:r>
            <a:r>
              <a:rPr lang="en-US" alt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)</a:t>
            </a:r>
            <a:endParaRPr lang="en-US" altLang="zh-CN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80695" y="1142365"/>
            <a:ext cx="11196000" cy="477583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(4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空气污染与保护。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80695" y="472488"/>
            <a:ext cx="3304444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隶书" panose="02010509060101010101" charset="-122"/>
                <a:cs typeface="Arial" panose="020B0604020202090204" pitchFamily="34" charset="0"/>
                <a:sym typeface="+mn-ea"/>
              </a:rPr>
              <a:t>→考点精解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650240" y="2088076"/>
          <a:ext cx="10909415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9289415"/>
              </a:tblGrid>
              <a:tr h="792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空气污染源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60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危害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2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60000">
                <a:tc>
                  <a:txBody>
                    <a:bodyPr/>
                    <a:p>
                      <a:pPr indent="0" algn="ctr" fontAlgn="auto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防治措施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 latinLnBrk="1">
                        <a:lnSpc>
                          <a:spcPct val="2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266950" y="2214245"/>
            <a:ext cx="8028000" cy="489585"/>
          </a:xfrm>
          <a:prstGeom prst="rect">
            <a:avLst/>
          </a:prstGeom>
          <a:noFill/>
          <a:ln w="19050" cap="flat" cmpd="tri">
            <a:noFill/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619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有害气体</a:t>
            </a:r>
            <a:r>
              <a:rPr kumimoji="0" lang="en-US" altLang="zh-CN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(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SO</a:t>
            </a:r>
            <a:r>
              <a:rPr kumimoji="0" lang="en-US" altLang="zh-CN" sz="2400" b="1" i="0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2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、NO</a:t>
            </a:r>
            <a:r>
              <a:rPr kumimoji="0" lang="en-US" altLang="zh-CN" sz="2400" b="1" i="0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2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、CO</a:t>
            </a:r>
            <a:r>
              <a:rPr kumimoji="0" lang="en-US" altLang="zh-CN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)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、烟尘</a:t>
            </a:r>
            <a:r>
              <a:rPr kumimoji="0" lang="en-US" altLang="zh-CN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(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粉尘和灰尘</a:t>
            </a:r>
            <a:r>
              <a:rPr kumimoji="0" lang="en-US" altLang="zh-CN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)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、PM</a:t>
            </a:r>
            <a:r>
              <a:rPr kumimoji="0" lang="en-US" altLang="zh-CN" sz="2400" b="1" i="0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2.5</a:t>
            </a:r>
            <a:r>
              <a:rPr kumimoji="0" lang="zh-CN" altLang="en-US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等。</a:t>
            </a:r>
            <a:endParaRPr kumimoji="0" lang="zh-CN" altLang="en-US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266950" y="3129280"/>
            <a:ext cx="9352915" cy="2152015"/>
          </a:xfrm>
          <a:prstGeom prst="rect">
            <a:avLst/>
          </a:prstGeom>
          <a:noFill/>
          <a:ln w="19050" cap="flat" cmpd="tri">
            <a:noFill/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619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①严重损害人体的健康；②影响作物的生长；③破坏生态平衡；</a:t>
            </a:r>
            <a:endParaRPr kumimoji="0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④导致全球气候变暖、臭氧层破坏和酸雨等。</a:t>
            </a:r>
            <a:endParaRPr kumimoji="0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①加强大气质量监测；②多使用清沾能源；③少开车、多步行；</a:t>
            </a:r>
            <a:endParaRPr kumimoji="0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rPr>
              <a:t>④积极植树、造林、种草；⑤工厂废气、汽车尾气治理达标后排放等</a:t>
            </a:r>
            <a:endParaRPr kumimoji="0" sz="2400" b="1" i="0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Arial" panose="020B0604020202090204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1775" y="140380"/>
            <a:ext cx="3304450" cy="54537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隶书" panose="02010509060101010101" charset="-122"/>
                <a:cs typeface="Arial" panose="020B0604020202090204" pitchFamily="34" charset="0"/>
                <a:sym typeface="+mn-ea"/>
              </a:rPr>
              <a:t>→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隶书" panose="02010509060101010101" charset="-122"/>
                <a:cs typeface="Arial" panose="020B0604020202090204" pitchFamily="34" charset="0"/>
                <a:sym typeface="+mn-ea"/>
              </a:rPr>
              <a:t>考点精解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32410" y="750766"/>
          <a:ext cx="11526610" cy="5673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745"/>
                <a:gridCol w="3852000"/>
                <a:gridCol w="3127375"/>
                <a:gridCol w="3539490"/>
              </a:tblGrid>
              <a:tr h="3765550">
                <a:tc gridSpan="4">
                  <a:txBody>
                    <a:bodyPr/>
                    <a:p>
                      <a:pPr indent="0" algn="l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431800" marR="179705" marT="36195" marB="7175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000">
                <a:tc>
                  <a:txBody>
                    <a:bodyPr/>
                    <a:p>
                      <a:pPr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物质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观察到的主要现象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化学方程式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 b="1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注意事项</a:t>
                      </a:r>
                      <a:endParaRPr lang="zh-CN" altLang="en-US"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60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59205" y="5420360"/>
            <a:ext cx="385572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①发出白光；②生成的无色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气体能使澄清石灰水变浑浊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99120" y="5420360"/>
            <a:ext cx="354965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夹木炭的坩埚钳应由上而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下慢慢伸入瓶中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252085" y="5230496"/>
            <a:ext cx="2078990" cy="582294"/>
            <a:chOff x="8793" y="96"/>
            <a:chExt cx="3274" cy="917"/>
          </a:xfrm>
        </p:grpSpPr>
        <p:sp>
          <p:nvSpPr>
            <p:cNvPr id="7" name="文本框 6"/>
            <p:cNvSpPr txBox="1"/>
            <p:nvPr/>
          </p:nvSpPr>
          <p:spPr>
            <a:xfrm>
              <a:off x="8793" y="288"/>
              <a:ext cx="3274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C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+O</a:t>
              </a:r>
              <a:r>
                <a:rPr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C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lang="en-US"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endParaRPr lang="en-US" sz="2400" b="1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107" name="矩形 106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646464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646464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108" name="直接箭头连接符 107"/>
                <p:cNvCxnSpPr/>
                <p:nvPr>
                  <p:custDataLst>
                    <p:tags r:id="rId4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9" name="直接箭头连接符 108"/>
              <p:cNvCxnSpPr/>
              <p:nvPr>
                <p:custDataLst>
                  <p:tags r:id="rId5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组合 8"/>
          <p:cNvGrpSpPr/>
          <p:nvPr/>
        </p:nvGrpSpPr>
        <p:grpSpPr>
          <a:xfrm>
            <a:off x="5252085" y="5744210"/>
            <a:ext cx="2284730" cy="597535"/>
            <a:chOff x="8601" y="72"/>
            <a:chExt cx="3598" cy="941"/>
          </a:xfrm>
        </p:grpSpPr>
        <p:sp>
          <p:nvSpPr>
            <p:cNvPr id="10" name="文本框 9"/>
            <p:cNvSpPr txBox="1"/>
            <p:nvPr/>
          </p:nvSpPr>
          <p:spPr>
            <a:xfrm>
              <a:off x="8601" y="288"/>
              <a:ext cx="3598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2C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+O</a:t>
              </a:r>
              <a:r>
                <a:rPr sz="2400" b="1" baseline="-25000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2C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endParaRPr lang="en-US" sz="2400" b="1" baseline="-2500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 rot="0">
              <a:off x="9979" y="72"/>
              <a:ext cx="1092" cy="628"/>
              <a:chOff x="15940" y="5546"/>
              <a:chExt cx="891" cy="628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5940" y="5546"/>
                <a:ext cx="891" cy="628"/>
                <a:chOff x="6705557" y="5100678"/>
                <a:chExt cx="565678" cy="399045"/>
              </a:xfrm>
            </p:grpSpPr>
            <p:sp>
              <p:nvSpPr>
                <p:cNvPr id="13" name="矩形 1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6705557" y="510067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C00000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C00000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14" name="直接箭头连接符 13"/>
                <p:cNvCxnSpPr/>
                <p:nvPr>
                  <p:custDataLst>
                    <p:tags r:id="rId7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直接箭头连接符 14"/>
              <p:cNvCxnSpPr/>
              <p:nvPr>
                <p:custDataLst>
                  <p:tags r:id="rId8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文本框 15"/>
          <p:cNvSpPr txBox="1"/>
          <p:nvPr/>
        </p:nvSpPr>
        <p:spPr>
          <a:xfrm>
            <a:off x="601345" y="781050"/>
            <a:ext cx="11101705" cy="3693160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t">
            <a:spAutoFit/>
          </a:bodyPr>
          <a:p>
            <a:pPr algn="l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2. 氧气的性质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algn="l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氧气的物理性质。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algn="l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通常状况下，</a:t>
            </a:r>
            <a:r>
              <a:rPr sz="2500" b="1">
                <a:ln>
                  <a:noFill/>
                </a:ln>
                <a:effectLst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氧气是无色无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味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气体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；</a:t>
            </a:r>
            <a:r>
              <a:rPr lang="zh-CN" sz="2500" b="1">
                <a:ln>
                  <a:noFill/>
                </a:ln>
                <a:effectLst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②</a:t>
            </a:r>
            <a:r>
              <a:rPr sz="2500" b="1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不易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溶于水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；</a:t>
            </a:r>
            <a:r>
              <a:rPr lang="zh-CN" sz="2500" b="1">
                <a:ln>
                  <a:noFill/>
                </a:ln>
                <a:effectLst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③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密度比空气略大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；</a:t>
            </a:r>
            <a:endParaRPr kumimoji="0" lang="zh-CN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algn="l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500" b="1">
                <a:ln>
                  <a:noFill/>
                </a:ln>
                <a:effectLst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④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液态或固态时颜色为</a:t>
            </a:r>
            <a:r>
              <a:rPr sz="2500" b="1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淡蓝色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lang="zh-CN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algn="l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(2)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氧气的化学性质。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algn="l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氧气是一种</a:t>
            </a:r>
            <a:r>
              <a:rPr sz="2500" b="1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化学性质比较活泼的气体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，在点燃的条件下，能跟多种物质反应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lang="zh-CN" altLang="en-US" sz="2500" b="1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氧化反应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，同时放出热量。几种常见物质在氧气中燃烧的比较见下表。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524885" y="2922905"/>
            <a:ext cx="1185064" cy="430049"/>
          </a:xfrm>
          <a:prstGeom prst="round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</p:spPr>
        <p:txBody>
          <a:bodyPr wrap="none" tIns="0" bIns="0" rtlCol="0" anchor="t">
            <a:spAutoFit/>
          </a:bodyPr>
          <a:p>
            <a:r>
              <a:rPr lang="zh-CN" altLang="en-US" sz="2500" b="1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氧化性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92405" y="5605145"/>
            <a:ext cx="10972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4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sym typeface="+mn-ea"/>
              </a:rPr>
              <a:t>①本炭</a:t>
            </a:r>
            <a:endParaRPr lang="zh-CN" altLang="en-US" sz="2400">
              <a:solidFill>
                <a:srgbClr val="646464"/>
              </a:solidFill>
              <a:uFillTx/>
              <a:latin typeface="Times New Roman" panose="02020603050405020304" pitchFamily="18" charset="0"/>
              <a:ea typeface="方正粗黑宋简体" panose="02000000000000000000" pitchFamily="2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/>
      <p:bldP spid="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42265" y="487876"/>
          <a:ext cx="11527155" cy="62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/>
                <a:gridCol w="3710305"/>
                <a:gridCol w="2795995"/>
                <a:gridCol w="4012565"/>
              </a:tblGrid>
              <a:tr h="648000">
                <a:tc>
                  <a:txBody>
                    <a:bodyPr/>
                    <a:p>
                      <a:pPr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物质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观察到的主要现象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化学方程式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  <a:sym typeface="+mn-ea"/>
                        </a:rPr>
                        <a:t>注意事项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6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6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6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842885" y="1265555"/>
            <a:ext cx="3855720" cy="37846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白烟是固体小颗粒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250000"/>
              </a:lnSpc>
            </a:pPr>
            <a:r>
              <a:rPr lang="zh-CN" altLang="en-US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需进行尾气处理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为了防止集气瓶底被炸裂，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瓶底预先放一些细沙或水</a:t>
            </a:r>
            <a:endParaRPr lang="zh-CN" altLang="en-US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点燃前用砂纸将表面打磨光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亮，燃烧时不宜直视</a:t>
            </a: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  <a:endParaRPr lang="zh-CN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16685" y="1265555"/>
            <a:ext cx="3549650" cy="46145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产生大量白烟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80000"/>
              </a:lnSpc>
            </a:pPr>
            <a:r>
              <a:rPr 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发出</a:t>
            </a:r>
            <a:r>
              <a:rPr lang="zh-CN" sz="2400" b="1">
                <a:solidFill>
                  <a:srgbClr val="0E0EE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明亮蓝紫色</a:t>
            </a:r>
            <a:r>
              <a:rPr 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火焰；</a:t>
            </a:r>
            <a:endParaRPr lang="zh-CN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产生</a:t>
            </a:r>
            <a:r>
              <a:rPr 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刺激性气味有毒气体</a:t>
            </a:r>
            <a:endParaRPr lang="zh-CN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2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剧烈燃烧，</a:t>
            </a:r>
            <a:r>
              <a:rPr sz="2400" b="1">
                <a:solidFill>
                  <a:srgbClr val="0E0EE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火星四</a:t>
            </a: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射</a:t>
            </a: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</a:t>
            </a: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生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成黑色固体</a:t>
            </a: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  <a:endParaRPr lang="zh-CN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endParaRPr lang="zh-CN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发出</a:t>
            </a:r>
            <a:r>
              <a:rPr lang="zh-CN" sz="2400" b="1">
                <a:solidFill>
                  <a:srgbClr val="0E0EE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耀眼白光</a:t>
            </a: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，生成白色</a:t>
            </a:r>
            <a:endParaRPr lang="zh-CN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粉末状固体</a:t>
            </a:r>
            <a:endParaRPr lang="zh-CN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23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红色铜片表面变黑</a:t>
            </a:r>
            <a:endParaRPr lang="zh-CN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27025" y="1265555"/>
            <a:ext cx="1059180" cy="46151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400" spc="-100">
                <a:solidFill>
                  <a:srgbClr val="646464"/>
                </a:solidFill>
                <a:uFillTx/>
                <a:latin typeface="Calibri" panose="020F0502020204030204" charset="0"/>
                <a:ea typeface="方正粗黑宋简体" panose="02000000000000000000" pitchFamily="2" charset="-122"/>
                <a:sym typeface="+mn-ea"/>
              </a:rPr>
              <a:t>②</a:t>
            </a:r>
            <a:r>
              <a:rPr sz="2400" spc="-1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sym typeface="+mn-ea"/>
              </a:rPr>
              <a:t>红磷</a:t>
            </a:r>
            <a:endParaRPr sz="2400" spc="-100">
              <a:solidFill>
                <a:srgbClr val="646464"/>
              </a:solidFill>
              <a:uFillTx/>
              <a:latin typeface="Times New Roman" panose="02020603050405020304" pitchFamily="18" charset="0"/>
              <a:ea typeface="方正粗黑宋简体" panose="02000000000000000000" pitchFamily="2" charset="-122"/>
              <a:sym typeface="+mn-ea"/>
            </a:endParaRPr>
          </a:p>
          <a:p>
            <a:pPr algn="ctr" fontAlgn="auto">
              <a:lnSpc>
                <a:spcPct val="250000"/>
              </a:lnSpc>
            </a:pPr>
            <a:r>
              <a:rPr sz="2400" spc="-100">
                <a:solidFill>
                  <a:srgbClr val="C00000"/>
                </a:solidFill>
                <a:uFillTx/>
                <a:latin typeface="Calibri" panose="020F0502020204030204" charset="0"/>
                <a:ea typeface="方正粗黑宋简体" panose="02000000000000000000" pitchFamily="2" charset="-122"/>
                <a:sym typeface="+mn-ea"/>
              </a:rPr>
              <a:t>⑦</a:t>
            </a:r>
            <a:r>
              <a:rPr lang="zh-CN" sz="2400" spc="-100">
                <a:solidFill>
                  <a:srgbClr val="C00000"/>
                </a:solidFill>
                <a:uFillTx/>
                <a:latin typeface="Calibri" panose="020F0502020204030204" charset="0"/>
                <a:ea typeface="方正粗黑宋简体" panose="02000000000000000000" pitchFamily="2" charset="-122"/>
                <a:sym typeface="+mn-ea"/>
              </a:rPr>
              <a:t>硫</a:t>
            </a:r>
            <a:endParaRPr lang="zh-CN" sz="2400" spc="-100">
              <a:solidFill>
                <a:srgbClr val="C00000"/>
              </a:solidFill>
              <a:uFillTx/>
              <a:latin typeface="Calibri" panose="020F0502020204030204" charset="0"/>
              <a:ea typeface="方正粗黑宋简体" panose="02000000000000000000" pitchFamily="2" charset="-122"/>
              <a:sym typeface="+mn-ea"/>
            </a:endParaRPr>
          </a:p>
          <a:p>
            <a:pPr algn="ctr" fontAlgn="auto">
              <a:lnSpc>
                <a:spcPct val="3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③铁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ctr" fontAlgn="auto">
              <a:lnSpc>
                <a:spcPct val="3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④</a:t>
            </a: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镁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ctr" fontAlgn="auto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⑧铜</a:t>
            </a:r>
            <a:endParaRPr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224145" y="1159510"/>
            <a:ext cx="2566670" cy="582295"/>
            <a:chOff x="8409" y="96"/>
            <a:chExt cx="4042" cy="917"/>
          </a:xfrm>
        </p:grpSpPr>
        <p:sp>
          <p:nvSpPr>
            <p:cNvPr id="7" name="文本框 6"/>
            <p:cNvSpPr txBox="1"/>
            <p:nvPr/>
          </p:nvSpPr>
          <p:spPr>
            <a:xfrm>
              <a:off x="8409" y="288"/>
              <a:ext cx="4042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4P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</a:t>
              </a:r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5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2P</a:t>
              </a:r>
              <a:r>
                <a:rPr lang="en-US"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lang="en-US"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5</a:t>
              </a:r>
              <a:endParaRPr lang="en-US" sz="2400" b="1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107" name="矩形 10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646464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646464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108" name="直接箭头连接符 107"/>
                <p:cNvCxnSpPr/>
                <p:nvPr>
                  <p:custDataLst>
                    <p:tags r:id="rId3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9" name="直接箭头连接符 108"/>
              <p:cNvCxnSpPr/>
              <p:nvPr>
                <p:custDataLst>
                  <p:tags r:id="rId4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组合 8"/>
          <p:cNvGrpSpPr/>
          <p:nvPr/>
        </p:nvGrpSpPr>
        <p:grpSpPr>
          <a:xfrm>
            <a:off x="5224145" y="2082166"/>
            <a:ext cx="1977390" cy="582294"/>
            <a:chOff x="8793" y="96"/>
            <a:chExt cx="3114" cy="917"/>
          </a:xfrm>
        </p:grpSpPr>
        <p:sp>
          <p:nvSpPr>
            <p:cNvPr id="10" name="文本框 9"/>
            <p:cNvSpPr txBox="1"/>
            <p:nvPr/>
          </p:nvSpPr>
          <p:spPr>
            <a:xfrm>
              <a:off x="8793" y="288"/>
              <a:ext cx="3114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S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+O</a:t>
              </a:r>
              <a:r>
                <a:rPr sz="2400" b="1" baseline="-25000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S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lang="en-US" sz="2400" b="1" baseline="-25000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endParaRPr lang="en-US" sz="2400" b="1" baseline="-2500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13" name="矩形 12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C00000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C00000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14" name="直接箭头连接符 13"/>
                <p:cNvCxnSpPr/>
                <p:nvPr>
                  <p:custDataLst>
                    <p:tags r:id="rId6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直接箭头连接符 14"/>
              <p:cNvCxnSpPr/>
              <p:nvPr>
                <p:custDataLst>
                  <p:tags r:id="rId7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组合 15"/>
          <p:cNvGrpSpPr/>
          <p:nvPr/>
        </p:nvGrpSpPr>
        <p:grpSpPr>
          <a:xfrm>
            <a:off x="5178425" y="3173095"/>
            <a:ext cx="2684780" cy="582295"/>
            <a:chOff x="8145" y="96"/>
            <a:chExt cx="4228" cy="917"/>
          </a:xfrm>
        </p:grpSpPr>
        <p:sp>
          <p:nvSpPr>
            <p:cNvPr id="17" name="文本框 16"/>
            <p:cNvSpPr txBox="1"/>
            <p:nvPr/>
          </p:nvSpPr>
          <p:spPr>
            <a:xfrm>
              <a:off x="8145" y="288"/>
              <a:ext cx="4228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3Fe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</a:t>
              </a:r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Fe</a:t>
              </a:r>
              <a:r>
                <a:rPr lang="en-US"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3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lang="en-US"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4</a:t>
              </a:r>
              <a:endParaRPr lang="en-US" sz="2400" b="1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21" name="矩形 20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646464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646464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22" name="直接箭头连接符 21"/>
                <p:cNvCxnSpPr/>
                <p:nvPr>
                  <p:custDataLst>
                    <p:tags r:id="rId9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直接箭头连接符 22"/>
              <p:cNvCxnSpPr/>
              <p:nvPr>
                <p:custDataLst>
                  <p:tags r:id="rId10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组合 23"/>
          <p:cNvGrpSpPr/>
          <p:nvPr/>
        </p:nvGrpSpPr>
        <p:grpSpPr>
          <a:xfrm>
            <a:off x="5164455" y="4338320"/>
            <a:ext cx="2724150" cy="582295"/>
            <a:chOff x="8193" y="96"/>
            <a:chExt cx="4290" cy="917"/>
          </a:xfrm>
        </p:grpSpPr>
        <p:sp>
          <p:nvSpPr>
            <p:cNvPr id="25" name="文本框 24"/>
            <p:cNvSpPr txBox="1"/>
            <p:nvPr/>
          </p:nvSpPr>
          <p:spPr>
            <a:xfrm>
              <a:off x="8193" y="288"/>
              <a:ext cx="4290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2Mg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+O</a:t>
              </a:r>
              <a:r>
                <a:rPr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2Mg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endParaRPr lang="en-US" sz="2400" b="1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28" name="矩形 27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646464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646464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29" name="直接箭头连接符 28"/>
                <p:cNvCxnSpPr/>
                <p:nvPr>
                  <p:custDataLst>
                    <p:tags r:id="rId12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直接箭头连接符 29"/>
              <p:cNvCxnSpPr/>
              <p:nvPr>
                <p:custDataLst>
                  <p:tags r:id="rId13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组合 30"/>
          <p:cNvGrpSpPr/>
          <p:nvPr/>
        </p:nvGrpSpPr>
        <p:grpSpPr>
          <a:xfrm>
            <a:off x="5164455" y="5174616"/>
            <a:ext cx="2623820" cy="582294"/>
            <a:chOff x="8289" y="96"/>
            <a:chExt cx="4132" cy="917"/>
          </a:xfrm>
        </p:grpSpPr>
        <p:sp>
          <p:nvSpPr>
            <p:cNvPr id="32" name="文本框 31"/>
            <p:cNvSpPr txBox="1"/>
            <p:nvPr/>
          </p:nvSpPr>
          <p:spPr>
            <a:xfrm>
              <a:off x="8289" y="288"/>
              <a:ext cx="4132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2Cu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+O</a:t>
              </a:r>
              <a:r>
                <a:rPr sz="2400" b="1" baseline="-25000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2Cu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endParaRPr lang="en-US" sz="2400" b="1" baseline="-2500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35" name="矩形 34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C00000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C00000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36" name="直接箭头连接符 35"/>
                <p:cNvCxnSpPr/>
                <p:nvPr>
                  <p:custDataLst>
                    <p:tags r:id="rId15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直接箭头连接符 36"/>
              <p:cNvCxnSpPr/>
              <p:nvPr>
                <p:custDataLst>
                  <p:tags r:id="rId16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文本框 37"/>
          <p:cNvSpPr txBox="1"/>
          <p:nvPr/>
        </p:nvSpPr>
        <p:spPr>
          <a:xfrm>
            <a:off x="9999980" y="2069465"/>
            <a:ext cx="176276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(如何处理?)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56235" y="518356"/>
          <a:ext cx="11527155" cy="62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030"/>
                <a:gridCol w="3624835"/>
                <a:gridCol w="3084195"/>
                <a:gridCol w="3688805"/>
              </a:tblGrid>
              <a:tr h="648000">
                <a:tc>
                  <a:txBody>
                    <a:bodyPr/>
                    <a:p>
                      <a:pPr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物质</a:t>
                      </a:r>
                      <a:endParaRPr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观察到的主要现象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b="1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</a:rPr>
                        <a:t>化学方程式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 spc="13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方正粗黑宋简体" panose="02000000000000000000" pitchFamily="2" charset="-122"/>
                          <a:sym typeface="+mn-ea"/>
                        </a:rPr>
                        <a:t>注意事项</a:t>
                      </a:r>
                      <a:endParaRPr sz="2400" b="1" spc="13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0" marB="0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16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72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400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4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226425" y="1367790"/>
            <a:ext cx="3549650" cy="40055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点</a:t>
            </a: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燃前，一定要检验氢气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的纯度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点燃前，一定要检验氢气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的纯度</a:t>
            </a:r>
            <a:endParaRPr lang="zh-CN" altLang="en-US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en-US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\</a:t>
            </a:r>
            <a:endParaRPr lang="en-US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点燃前，一定要检验氢气</a:t>
            </a:r>
            <a:endParaRPr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的纯度</a:t>
            </a:r>
            <a:endParaRPr lang="zh-CN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0655" y="1367790"/>
            <a:ext cx="3855720" cy="420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发出淡蓝色火焰；罩在火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焰上方的烧杯内壁有水雾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endParaRPr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发出淡蓝色火焰；罩在火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焰上方的烧杯内壁有水雾</a:t>
            </a: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生成的无色气体能使澄清</a:t>
            </a:r>
            <a:endParaRPr lang="zh-CN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石灰水变浑浊。</a:t>
            </a:r>
            <a:endParaRPr lang="zh-CN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</a:pPr>
            <a:endParaRPr lang="zh-CN"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发出淡蓝色火焰；</a:t>
            </a:r>
            <a:endParaRPr lang="zh-CN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生成的无色气体能使澄清</a:t>
            </a:r>
            <a:endParaRPr lang="zh-CN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石灰水变浑浊。</a:t>
            </a:r>
            <a:endParaRPr lang="zh-CN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20040" y="1533525"/>
            <a:ext cx="1101090" cy="36366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 fontAlgn="auto">
              <a:lnSpc>
                <a:spcPct val="1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⑤</a:t>
            </a: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氢气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ctr" fontAlgn="auto">
              <a:lnSpc>
                <a:spcPct val="200000"/>
              </a:lnSpc>
            </a:pP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ctr" fontAlgn="auto">
              <a:lnSpc>
                <a:spcPct val="200000"/>
              </a:lnSpc>
            </a:pPr>
            <a:r>
              <a:rPr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⑥</a:t>
            </a:r>
            <a:r>
              <a:rPr lang="zh-CN" sz="2400" b="1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甲烷</a:t>
            </a:r>
            <a:endParaRPr sz="2400" b="1">
              <a:solidFill>
                <a:srgbClr val="64646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ctr" fontAlgn="auto">
              <a:lnSpc>
                <a:spcPct val="2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⑨</a:t>
            </a:r>
            <a:r>
              <a:rPr lang="en-US" sz="2400" b="1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CO</a:t>
            </a:r>
            <a:endParaRPr lang="en-US" sz="2400" b="1">
              <a:solidFill>
                <a:srgbClr val="C0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234305" y="1367790"/>
            <a:ext cx="2515870" cy="582295"/>
            <a:chOff x="8409" y="96"/>
            <a:chExt cx="3962" cy="917"/>
          </a:xfrm>
        </p:grpSpPr>
        <p:sp>
          <p:nvSpPr>
            <p:cNvPr id="7" name="文本框 6"/>
            <p:cNvSpPr txBox="1"/>
            <p:nvPr/>
          </p:nvSpPr>
          <p:spPr>
            <a:xfrm>
              <a:off x="8409" y="288"/>
              <a:ext cx="3962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2H</a:t>
              </a:r>
              <a:r>
                <a:rPr lang="en-US"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+O</a:t>
              </a:r>
              <a:r>
                <a:rPr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2H</a:t>
              </a:r>
              <a:r>
                <a:rPr lang="en-US" sz="24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endParaRPr lang="en-US" sz="2400" b="1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82" name="组合 81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107" name="矩形 10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646464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646464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108" name="直接箭头连接符 107"/>
                <p:cNvCxnSpPr/>
                <p:nvPr>
                  <p:custDataLst>
                    <p:tags r:id="rId3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9" name="直接箭头连接符 108"/>
              <p:cNvCxnSpPr/>
              <p:nvPr>
                <p:custDataLst>
                  <p:tags r:id="rId4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组合 30"/>
          <p:cNvGrpSpPr/>
          <p:nvPr/>
        </p:nvGrpSpPr>
        <p:grpSpPr>
          <a:xfrm>
            <a:off x="5066665" y="4488181"/>
            <a:ext cx="2620645" cy="582294"/>
            <a:chOff x="8157" y="96"/>
            <a:chExt cx="4127" cy="917"/>
          </a:xfrm>
        </p:grpSpPr>
        <p:sp>
          <p:nvSpPr>
            <p:cNvPr id="32" name="文本框 31"/>
            <p:cNvSpPr txBox="1"/>
            <p:nvPr/>
          </p:nvSpPr>
          <p:spPr>
            <a:xfrm>
              <a:off x="8157" y="288"/>
              <a:ext cx="4127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2CO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+O</a:t>
              </a:r>
              <a:r>
                <a:rPr sz="2400" b="1" baseline="-25000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</a:t>
              </a:r>
              <a:r>
                <a:rPr lang="en-US"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2C</a:t>
              </a:r>
              <a:r>
                <a:rPr sz="2400" b="1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lang="en-US" sz="2400" b="1" baseline="-25000">
                  <a:solidFill>
                    <a:srgbClr val="C00000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endParaRPr lang="en-US" sz="2400" b="1" baseline="-2500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35" name="矩形 3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C00000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C00000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36" name="直接箭头连接符 35"/>
                <p:cNvCxnSpPr/>
                <p:nvPr>
                  <p:custDataLst>
                    <p:tags r:id="rId6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rgbClr val="C00000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直接箭头连接符 36"/>
              <p:cNvCxnSpPr/>
              <p:nvPr>
                <p:custDataLst>
                  <p:tags r:id="rId7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4982845" y="2868930"/>
            <a:ext cx="3262630" cy="551815"/>
            <a:chOff x="8167" y="96"/>
            <a:chExt cx="5138" cy="869"/>
          </a:xfrm>
        </p:grpSpPr>
        <p:sp>
          <p:nvSpPr>
            <p:cNvPr id="38" name="文本框 37"/>
            <p:cNvSpPr txBox="1"/>
            <p:nvPr/>
          </p:nvSpPr>
          <p:spPr>
            <a:xfrm>
              <a:off x="8167" y="288"/>
              <a:ext cx="5138" cy="67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sz="22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CH</a:t>
              </a:r>
              <a:r>
                <a:rPr lang="en-US" sz="22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2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</a:t>
              </a:r>
              <a:r>
                <a:rPr lang="en-US" sz="22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2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sz="22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2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         </a:t>
              </a:r>
              <a:r>
                <a:rPr lang="en-US" sz="22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2H</a:t>
              </a:r>
              <a:r>
                <a:rPr lang="en-US" sz="22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r>
                <a:rPr sz="22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O</a:t>
              </a:r>
              <a:r>
                <a:rPr lang="en-US" sz="2200" b="1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+CO</a:t>
              </a:r>
              <a:r>
                <a:rPr lang="en-US" sz="2200" b="1" baseline="-25000">
                  <a:solidFill>
                    <a:srgbClr val="646464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Arial" panose="020B0604020202090204"/>
                </a:rPr>
                <a:t>2</a:t>
              </a:r>
              <a:endParaRPr lang="en-US" sz="2200" b="1" baseline="-25000">
                <a:solidFill>
                  <a:srgbClr val="64646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90204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 rot="0">
              <a:off x="9979" y="96"/>
              <a:ext cx="1092" cy="628"/>
              <a:chOff x="15940" y="5570"/>
              <a:chExt cx="891" cy="628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15940" y="5570"/>
                <a:ext cx="891" cy="628"/>
                <a:chOff x="6705557" y="5115928"/>
                <a:chExt cx="565678" cy="399045"/>
              </a:xfrm>
            </p:grpSpPr>
            <p:sp>
              <p:nvSpPr>
                <p:cNvPr id="41" name="矩形 40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705557" y="5115928"/>
                  <a:ext cx="565678" cy="3990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sz="2000" b="1">
                      <a:solidFill>
                        <a:srgbClr val="646464"/>
                      </a:solidFill>
                      <a:uFillTx/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sz="2000" b="1" kern="100" dirty="0" smtClean="0">
                    <a:ln>
                      <a:noFill/>
                    </a:ln>
                    <a:solidFill>
                      <a:srgbClr val="646464"/>
                    </a:solidFill>
                    <a:uFillTx/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42" name="直接箭头连接符 41"/>
                <p:cNvCxnSpPr/>
                <p:nvPr>
                  <p:custDataLst>
                    <p:tags r:id="rId9"/>
                  </p:custDataLst>
                </p:nvPr>
              </p:nvCxnSpPr>
              <p:spPr>
                <a:xfrm flipV="1">
                  <a:off x="6728185" y="5418161"/>
                  <a:ext cx="528625" cy="4555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直接箭头连接符 42"/>
              <p:cNvCxnSpPr/>
              <p:nvPr>
                <p:custDataLst>
                  <p:tags r:id="rId10"/>
                </p:custDataLst>
              </p:nvPr>
            </p:nvCxnSpPr>
            <p:spPr>
              <a:xfrm flipV="1">
                <a:off x="15985" y="6100"/>
                <a:ext cx="832" cy="7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56260" y="197485"/>
            <a:ext cx="11129010" cy="631444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10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.图1所示装置可用于测定空气中氧气的含量，图2是用该装置测得实验过程中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集气瓶内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气压与时间的关系图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该装置气密性良好，P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0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是集气瓶内初始气压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。下列说法正确的是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      )</a:t>
            </a:r>
            <a:endParaRPr lang="en-US"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A.红磷的多少对实验结果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无影响  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B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.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集气瓶中气压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瞬间变大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是O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迅速消耗造成的 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C.c点时反应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刚好停止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D. b、c、d点时集气瓶中所含</a:t>
            </a:r>
            <a:r>
              <a:rPr kumimoji="0" sz="2500" b="1" i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物质种类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相同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01700" y="1763395"/>
            <a:ext cx="8223655" cy="2556000"/>
            <a:chOff x="1420" y="4121"/>
            <a:chExt cx="12951" cy="4025"/>
          </a:xfrm>
        </p:grpSpPr>
        <p:pic>
          <p:nvPicPr>
            <p:cNvPr id="3" name="图片 2" descr="360截图178803132713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" y="4121"/>
              <a:ext cx="12951" cy="4025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516" y="6626"/>
              <a:ext cx="572" cy="10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07950" rIns="0" bIns="36195" rtlCol="0" anchor="t">
              <a:spAutoFit/>
            </a:bodyPr>
            <a:p>
              <a:pPr algn="l"/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空</a:t>
              </a:r>
              <a:endParaRPr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  <a:p>
              <a:pPr algn="l"/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气</a:t>
              </a:r>
              <a:endParaRPr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731" y="6554"/>
              <a:ext cx="974" cy="61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107950" bIns="36195" rtlCol="0" anchor="t">
              <a:spAutoFit/>
            </a:bodyPr>
            <a:p>
              <a:pPr algn="l"/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红磷</a:t>
              </a:r>
              <a:endParaRPr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731" y="5433"/>
              <a:ext cx="1376" cy="95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07950" tIns="0" rIns="0" bIns="36195" rtlCol="0" anchor="t">
              <a:spAutoFit/>
            </a:bodyPr>
            <a:p>
              <a:pPr algn="l"/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压强</a:t>
              </a:r>
              <a:endParaRPr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  <a:p>
              <a:pPr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传感器</a:t>
              </a:r>
              <a:endParaRPr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272" y="5433"/>
              <a:ext cx="1376" cy="95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07950" tIns="0" rIns="0" bIns="36195" rtlCol="0" anchor="t">
              <a:spAutoFit/>
            </a:bodyPr>
            <a:p>
              <a:pPr algn="l"/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数据</a:t>
              </a:r>
              <a:endParaRPr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  <a:p>
              <a:pPr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传感器</a:t>
              </a:r>
              <a:endParaRPr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532" y="4193"/>
              <a:ext cx="1529" cy="61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107950" bIns="36195" rtlCol="0" anchor="t">
              <a:spAutoFit/>
            </a:bodyPr>
            <a:p>
              <a:pPr algn="l"/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气压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/</a:t>
              </a:r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P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a</a:t>
              </a:r>
              <a:endParaRPr lang="en-US"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211" y="7509"/>
              <a:ext cx="3756" cy="59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71755" tIns="0" rIns="107950" bIns="71755" rtlCol="0" anchor="t">
              <a:spAutoFit/>
            </a:bodyPr>
            <a:p>
              <a:pPr algn="l"/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0           </a:t>
              </a:r>
              <a:r>
                <a:rPr lang="zh-CN" alt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图</a:t>
              </a:r>
              <a:r>
                <a:rPr lang="en-US" altLang="zh-CN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2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     </a:t>
              </a:r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时间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/s</a:t>
              </a:r>
              <a:endParaRPr lang="en-US"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959" y="7509"/>
              <a:ext cx="890" cy="62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图1</a:t>
              </a:r>
              <a:endParaRPr lang="zh-CN" altLang="en-US" sz="2000"/>
            </a:p>
          </p:txBody>
        </p:sp>
      </p:grp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 descr="b81981b4a32b1319e23e2f21fdbfc80b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9525" y="1385570"/>
            <a:ext cx="7739157" cy="34200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55625" y="791845"/>
            <a:ext cx="11192510" cy="566039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11.空气是宝贵的自然资源，下图是以空气等为原料合成尿素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[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CO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NH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]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的流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程。请按要求回答相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关问题。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空气属于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</a:t>
            </a:r>
            <a:r>
              <a:rPr lang="en-US" sz="2500" b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.</a:t>
            </a:r>
            <a:endParaRPr lang="en-US"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纯净物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混合</a:t>
            </a:r>
            <a:endParaRPr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物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，X是空气中含</a:t>
            </a:r>
            <a:endParaRPr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量最多的气体，其分子式为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(2)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图中分离空气的过程属于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物理变化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化学变化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lang="zh-CN" alt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(3)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空气中含有的少量稀有气体的化学性质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活泼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稳定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lang="en-US" alt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" name="标题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55625" y="142288"/>
            <a:ext cx="3304444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→达标训练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56260" y="898525"/>
            <a:ext cx="11050905" cy="496824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(4)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①天然气的主要成分是CH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4</a:t>
            </a:r>
            <a:r>
              <a:rPr kumimoji="0" lang="zh-CN" alt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天然气属于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可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不可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再生资源。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②点燃CH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4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之前应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。8gCH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4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完全燃烧消耗32gO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，生成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agCO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和18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g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O，则a=______。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③CH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4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在该流程中的作用表明，化学反应中发生物质变化的同时也会伴随有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kumimoji="0" lang="en-US" alt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能量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原子个数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变化。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(5)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尿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素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属于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</a:t>
            </a:r>
            <a:r>
              <a:rPr kumimoji="0" lang="en-US" alt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氮肥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磷肥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钾肥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，NH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合成尿素的化学反应方程式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为</a:t>
            </a:r>
            <a:r>
              <a:rPr kumimoji="0" lang="zh-CN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           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6260" y="222933"/>
            <a:ext cx="3304444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隶书" panose="02010509060101010101" charset="-122"/>
                <a:cs typeface="Arial" panose="020B0604020202090204" pitchFamily="34" charset="0"/>
                <a:sym typeface="+mn-ea"/>
              </a:rPr>
              <a:t>→</a:t>
            </a:r>
            <a:r>
              <a:rPr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sym typeface="+mn-ea"/>
              </a:rPr>
              <a:t>达标训练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组合 10"/>
          <p:cNvGrpSpPr/>
          <p:nvPr/>
        </p:nvGrpSpPr>
        <p:grpSpPr>
          <a:xfrm>
            <a:off x="561975" y="697865"/>
            <a:ext cx="11120814" cy="2898775"/>
            <a:chOff x="885" y="2419"/>
            <a:chExt cx="17513" cy="4565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5" y="2419"/>
              <a:ext cx="17513" cy="4365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6311" y="3532"/>
              <a:ext cx="298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539" y="6387"/>
              <a:ext cx="16500" cy="59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144145" tIns="0" bIns="71755" rtlCol="0" anchor="t">
              <a:spAutoFit/>
            </a:bodyPr>
            <a:p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A                     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B                                 C                   D             E               F                    G                  H</a:t>
              </a:r>
              <a:endParaRPr lang="en-US"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022" y="4338"/>
              <a:ext cx="402" cy="62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 anchor="t">
              <a:spAutoFit/>
            </a:bodyPr>
            <a:p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①</a:t>
              </a:r>
              <a:endParaRPr lang="zh-CN" altLang="en-US" sz="20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006" y="4836"/>
              <a:ext cx="572" cy="62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107950" rtlCol="0" anchor="t">
              <a:spAutoFit/>
            </a:bodyPr>
            <a:p>
              <a:r>
                <a:rPr sz="2000" b="1">
                  <a:ln>
                    <a:noFill/>
                  </a:ln>
                  <a:effectLst/>
                  <a:uFillTx/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②</a:t>
              </a:r>
              <a:endParaRPr lang="zh-CN" altLang="en-US" sz="2000" b="1">
                <a:ln>
                  <a:noFill/>
                </a:ln>
                <a:effectLst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914" y="5110"/>
              <a:ext cx="1206" cy="62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 anchor="t">
              <a:spAutoFit/>
            </a:bodyPr>
            <a:p>
              <a:r>
                <a:rPr lang="zh-CN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浓硫酸</a:t>
              </a:r>
              <a:endParaRPr lang="zh-CN"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4683" y="3544"/>
              <a:ext cx="1796" cy="56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fontAlgn="auto">
                <a:lnSpc>
                  <a:spcPct val="70000"/>
                </a:lnSpc>
              </a:pPr>
              <a:r>
                <a:rPr sz="2500" b="1">
                  <a:ln>
                    <a:noFill/>
                  </a:ln>
                  <a:effectLst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Arial" panose="020B0604020202090204" pitchFamily="34" charset="0"/>
                  <a:sym typeface="Arial" panose="020B0604020202090204"/>
                </a:rPr>
                <a:t>→  →</a:t>
              </a:r>
              <a:endParaRPr lang="zh-CN" altLang="en-US" sz="2500" b="1">
                <a:ln>
                  <a:noFill/>
                </a:ln>
                <a:effectLst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90204" pitchFamily="34" charset="0"/>
                <a:sym typeface="Arial" panose="020B0604020202090204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11480" y="123190"/>
            <a:ext cx="11430635" cy="612203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.实验室制取气体时需要的一些装置如图所示，请回答下列问题。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写出标有序号的仪器名称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(2)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实验室用大理石和稀盐酸制取二氧化碳可选择的发生和收集装置为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填标号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，其反应的化学方程式为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                         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，该发生装置中使用分液漏斗的优点是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11480" y="123190"/>
            <a:ext cx="11430635" cy="643001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.实验室制取气体时需要的一些装置如图所示，请回答下列问题。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(3)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写出检验二氧化碳是否集满的操作方法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r>
              <a:rPr kumimoji="0" lang="zh-CN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          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(4)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若用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(2)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中所选装置来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制取干燥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的氧气，还需要的装置为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填标号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(5)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某兴趣小组的同学用A、G、H装置进行实验，若实验时G装置中蜡烛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燃烧更剧烈，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H装置中的现象是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，A 装置中反应的化学方程式为</a:t>
            </a:r>
            <a:r>
              <a:rPr kumimoji="0" lang="zh-CN" alt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r>
              <a:rPr kumimoji="0" lang="zh-CN" altLang="en-US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                </a:t>
            </a:r>
            <a:r>
              <a:rPr kumimoji="0" lang="zh-CN" alt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lang="zh-CN" altLang="en-US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40055" y="697865"/>
            <a:ext cx="11360829" cy="2771775"/>
            <a:chOff x="693" y="1099"/>
            <a:chExt cx="17891" cy="4365"/>
          </a:xfrm>
        </p:grpSpPr>
        <p:grpSp>
          <p:nvGrpSpPr>
            <p:cNvPr id="11" name="组合 10"/>
            <p:cNvGrpSpPr/>
            <p:nvPr/>
          </p:nvGrpSpPr>
          <p:grpSpPr>
            <a:xfrm>
              <a:off x="693" y="1099"/>
              <a:ext cx="17513" cy="4365"/>
              <a:chOff x="885" y="2419"/>
              <a:chExt cx="17513" cy="4365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85" y="2419"/>
                <a:ext cx="17513" cy="4365"/>
              </a:xfrm>
              <a:prstGeom prst="rect">
                <a:avLst/>
              </a:prstGeom>
            </p:spPr>
          </p:pic>
          <p:sp>
            <p:nvSpPr>
              <p:cNvPr id="4" name="文本框 3"/>
              <p:cNvSpPr txBox="1"/>
              <p:nvPr/>
            </p:nvSpPr>
            <p:spPr>
              <a:xfrm>
                <a:off x="16311" y="3532"/>
                <a:ext cx="298" cy="58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p>
                <a:endParaRPr lang="zh-CN" altLang="en-US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1539" y="6267"/>
                <a:ext cx="16500" cy="4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144145" tIns="0" bIns="0" rtlCol="0" anchor="t">
                <a:spAutoFit/>
              </a:bodyPr>
              <a:p>
                <a:r>
                  <a:rPr sz="2000" b="1">
                    <a:ln>
                      <a:noFill/>
                    </a:ln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A                     </a:t>
                </a:r>
                <a:r>
                  <a:rPr lang="en-US" sz="2000" b="1">
                    <a:ln>
                      <a:noFill/>
                    </a:ln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B                                 C                   D             E               F                    G                  H</a:t>
                </a:r>
                <a:endPara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022" y="4338"/>
                <a:ext cx="402" cy="6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rIns="0" rtlCol="0" anchor="t">
                <a:spAutoFit/>
              </a:bodyPr>
              <a:p>
                <a:r>
                  <a:rPr sz="2000" b="1">
                    <a:ln>
                      <a:noFill/>
                    </a:ln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①</a:t>
                </a:r>
                <a:endParaRPr lang="zh-CN" altLang="en-US" sz="200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5006" y="4836"/>
                <a:ext cx="572" cy="6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rIns="107950" rtlCol="0" anchor="t">
                <a:spAutoFit/>
              </a:bodyPr>
              <a:p>
                <a:r>
                  <a:rPr sz="2000" b="1">
                    <a:ln>
                      <a:noFill/>
                    </a:ln>
                    <a:effectLst/>
                    <a:uFillTx/>
                    <a:latin typeface="Calibri" panose="020F0502020204030204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②</a:t>
                </a:r>
                <a:endParaRPr lang="zh-CN" altLang="en-US" sz="2000" b="1">
                  <a:ln>
                    <a:noFill/>
                  </a:ln>
                  <a:effectLst/>
                  <a:uFillTx/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3914" y="5110"/>
                <a:ext cx="1206" cy="6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rIns="0" rtlCol="0" anchor="t">
                <a:spAutoFit/>
              </a:bodyPr>
              <a:p>
                <a:r>
                  <a:rPr lang="zh-CN" sz="2000" b="1">
                    <a:ln>
                      <a:noFill/>
                    </a:ln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浓硫酸</a:t>
                </a:r>
                <a:endParaRPr lang="zh-CN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4683" y="3544"/>
                <a:ext cx="1796" cy="568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fontAlgn="auto">
                  <a:lnSpc>
                    <a:spcPct val="70000"/>
                  </a:lnSpc>
                </a:pPr>
                <a:r>
                  <a:rPr sz="2500" b="1">
                    <a:ln>
                      <a:noFill/>
                    </a:ln>
                    <a:effectLst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90204" pitchFamily="34" charset="0"/>
                    <a:sym typeface="Arial" panose="020B0604020202090204"/>
                  </a:rPr>
                  <a:t>→  →</a:t>
                </a:r>
                <a:endParaRPr lang="zh-CN" altLang="en-US" sz="2500" b="1">
                  <a:ln>
                    <a:noFill/>
                  </a:ln>
                  <a:effectLst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Arial" panose="020B0604020202090204" pitchFamily="34" charset="0"/>
                  <a:sym typeface="Arial" panose="020B0604020202090204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7642" y="1123"/>
              <a:ext cx="942" cy="4327"/>
              <a:chOff x="17642" y="1123"/>
              <a:chExt cx="942" cy="4327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18182" y="1123"/>
                <a:ext cx="402" cy="432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1224280" rIns="0" bIns="215900" rtlCol="0" anchor="t">
                <a:spAutoFit/>
              </a:bodyPr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2000" b="1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澄</a:t>
                </a:r>
                <a:endParaRPr lang="zh-CN" sz="2000" b="1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2000" b="1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清</a:t>
                </a:r>
                <a:endParaRPr lang="zh-CN" sz="2000" b="1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2000" b="1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石</a:t>
                </a:r>
                <a:endParaRPr lang="zh-CN" sz="2000" b="1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2000" b="1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灰</a:t>
                </a:r>
                <a:endParaRPr lang="zh-CN" sz="2000" b="1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  <a:p>
                <a:pPr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2000" b="1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水</a:t>
                </a:r>
                <a:endParaRPr lang="zh-CN" sz="2000" b="1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17642" y="4216"/>
                <a:ext cx="56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824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824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TAG_VERSION" val="1.0"/>
  <p:tag name="KSO_WM_BEAUTIFY_FLAG" val="#wm#"/>
  <p:tag name="KSO_WM_TEMPLATE_CATEGORY" val="custom"/>
  <p:tag name="KSO_WM_TEMPLATE_INDEX" val="20202824"/>
  <p:tag name="KSO_WM_TEMPLATE_THUMBS_INDEX" val="1、4、5、6、7、8、9、10、11、12、13"/>
</p:tagLst>
</file>

<file path=ppt/tags/tag1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1609_1*i*4"/>
  <p:tag name="KSO_WM_TEMPLATE_CATEGORY" val="custom"/>
  <p:tag name="KSO_WM_TEMPLATE_INDEX" val="20181609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SCONTENTSTITLE" val="0"/>
  <p:tag name="KSO_WM_UNIT_PRESET_TEXT" val="教育教学说课公开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1609_1*a*1"/>
  <p:tag name="KSO_WM_TEMPLATE_CATEGORY" val="custom"/>
  <p:tag name="KSO_WM_TEMPLATE_INDEX" val="20181609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TEMPLATE_CATEGORY" val="custom"/>
  <p:tag name="KSO_WM_TEMPLATE_INDEX" val="20181609"/>
  <p:tag name="KSO_WM_UNIT_TYPE" val="b"/>
  <p:tag name="KSO_WM_UNIT_INDEX" val="1"/>
  <p:tag name="KSO_WM_UNIT_ID" val="custom20181609_1*b*1"/>
  <p:tag name="KSO_WM_UNIT_LAYERLEVEL" val="1"/>
  <p:tag name="KSO_WM_UNIT_VALUE" val="28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信息话教学      公开课        示范课        说课微课"/>
  <p:tag name="KSO_WM_UNIT_NOCLEAR" val="0"/>
  <p:tag name="KSO_WM_UNIT_DIAGRAM_ISNUMVISUAL" val="0"/>
  <p:tag name="KSO_WM_UNIT_DIAGRAM_ISREFERUNIT" val="0"/>
</p:tagLst>
</file>

<file path=ppt/tags/tag128.xml><?xml version="1.0" encoding="utf-8"?>
<p:tagLst xmlns:p="http://schemas.openxmlformats.org/presentationml/2006/main">
  <p:tag name="KSO_WM_TAG_VERSION" val="1.0"/>
  <p:tag name="KSO_WM_SLIDE_ITEM_CNT" val="0"/>
  <p:tag name="KSO_WM_SLIDE_LAYOUT" val="a_b"/>
  <p:tag name="KSO_WM_SLIDE_LAYOUT_CNT" val="1_3"/>
  <p:tag name="KSO_WM_SLIDE_TYPE" val="title"/>
  <p:tag name="KSO_WM_BEAUTIFY_FLAG" val="#wm#"/>
  <p:tag name="KSO_WM_COMBINE_RELATE_SLIDE_ID" val="background20180991_1"/>
  <p:tag name="KSO_WM_TEMPLATE_CATEGORY" val="custom"/>
  <p:tag name="KSO_WM_TEMPLATE_INDEX" val="20202824"/>
  <p:tag name="KSO_WM_SLIDE_ID" val="custom20181609_1"/>
  <p:tag name="KSO_WM_SLIDE_INDEX" val="1"/>
  <p:tag name="KSO_WM_TEMPLATE_SUBCATEGORY" val="0"/>
  <p:tag name="KSO_WM_TEMPLATE_THUMBS_INDEX" val="1、4、5、6、12、13、18、19"/>
  <p:tag name="KSO_WM_SLIDE_SUBTYPE" val="pureTxt"/>
</p:tagLst>
</file>

<file path=ppt/tags/tag129.xml><?xml version="1.0" encoding="utf-8"?>
<p:tagLst xmlns:p="http://schemas.openxmlformats.org/presentationml/2006/main">
  <p:tag name="KSO_WM_FULL_TEXT_BEAUTIFY_COPY_ID" val="5"/>
</p:tagLst>
</file>

<file path=ppt/tags/tag130.xml><?xml version="1.0" encoding="utf-8"?>
<p:tagLst xmlns:p="http://schemas.openxmlformats.org/presentationml/2006/main">
  <p:tag name="KSO_WM_FULL_TEXT_BEAUTIFY_COPY_ID" val="2"/>
</p:tagLst>
</file>

<file path=ppt/tags/tag131.xml><?xml version="1.0" encoding="utf-8"?>
<p:tagLst xmlns:p="http://schemas.openxmlformats.org/presentationml/2006/main">
  <p:tag name="KSO_WM_UNIT_TABLE_BEAUTIFY" val="smartTable{073ff487-375f-43d4-818d-a1ae9b44da4b}"/>
  <p:tag name="TABLE_RECT" val="117*206.965*726*151.5"/>
  <p:tag name="TABLE_EMPHASIZE_COLOR" val="6579300"/>
  <p:tag name="TABLE_ONEKEY_SKIN_IDX" val="0"/>
  <p:tag name="TABLE_SKINIDX" val="-1"/>
  <p:tag name="TABLE_COLORIDX" val="l"/>
  <p:tag name="TABLE_ENDDRAG_ORIGIN_RECT" val="748*134"/>
  <p:tag name="TABLE_ENDDRAG_RECT" val="113*254*748*134"/>
</p:tagLst>
</file>

<file path=ppt/tags/tag132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2"/>
</p:tagLst>
</file>

<file path=ppt/tags/tag135.xml><?xml version="1.0" encoding="utf-8"?>
<p:tagLst xmlns:p="http://schemas.openxmlformats.org/presentationml/2006/main">
  <p:tag name="KSO_WM_UNIT_TABLE_BEAUTIFY" val="smartTable{c1720706-02d8-4213-b9f4-9e1837e6f759}"/>
</p:tagLst>
</file>

<file path=ppt/tags/tag136.xml><?xml version="1.0" encoding="utf-8"?>
<p:tagLst xmlns:p="http://schemas.openxmlformats.org/presentationml/2006/main">
  <p:tag name="KSO_WM_FULL_TEXT_BEAUTIFY_COPY_ID" val="5"/>
</p:tagLst>
</file>

<file path=ppt/tags/tag137.xml><?xml version="1.0" encoding="utf-8"?>
<p:tagLst xmlns:p="http://schemas.openxmlformats.org/presentationml/2006/main">
  <p:tag name="KSO_WM_FULL_TEXT_BEAUTIFY_COPY_ID" val="5"/>
</p:tagLst>
</file>

<file path=ppt/tags/tag138.xml><?xml version="1.0" encoding="utf-8"?>
<p:tagLst xmlns:p="http://schemas.openxmlformats.org/presentationml/2006/main">
  <p:tag name="KSO_WM_FULL_TEXT_BEAUTIFY_COPY_ID" val="5"/>
</p:tagLst>
</file>

<file path=ppt/tags/tag139.xml><?xml version="1.0" encoding="utf-8"?>
<p:tagLst xmlns:p="http://schemas.openxmlformats.org/presentationml/2006/main">
  <p:tag name="KSO_WM_FULL_TEXT_BEAUTIFY_COPY_ID" val="5"/>
</p:tagLst>
</file>

<file path=ppt/tags/tag140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41.xml><?xml version="1.0" encoding="utf-8"?>
<p:tagLst xmlns:p="http://schemas.openxmlformats.org/presentationml/2006/main">
  <p:tag name="KSO_WM_FULL_TEXT_BEAUTIFY_COPY_ID" val="5"/>
</p:tagLst>
</file>

<file path=ppt/tags/tag142.xml><?xml version="1.0" encoding="utf-8"?>
<p:tagLst xmlns:p="http://schemas.openxmlformats.org/presentationml/2006/main">
  <p:tag name="KSO_WM_UNIT_TABLE_BEAUTIFY" val="smartTable{701a8acb-8f82-47af-bf9b-fef780e573bc}"/>
</p:tagLst>
</file>

<file path=ppt/tags/tag143.xml><?xml version="1.0" encoding="utf-8"?>
<p:tagLst xmlns:p="http://schemas.openxmlformats.org/presentationml/2006/main">
  <p:tag name="KSO_WM_FULL_TEXT_BEAUTIFY_COPY_ID" val="5"/>
</p:tagLst>
</file>

<file path=ppt/tags/tag144.xml><?xml version="1.0" encoding="utf-8"?>
<p:tagLst xmlns:p="http://schemas.openxmlformats.org/presentationml/2006/main">
  <p:tag name="KSO_WM_FULL_TEXT_BEAUTIFY_COPY_ID" val="5"/>
</p:tagLst>
</file>

<file path=ppt/tags/tag145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46.xml><?xml version="1.0" encoding="utf-8"?>
<p:tagLst xmlns:p="http://schemas.openxmlformats.org/presentationml/2006/main">
  <p:tag name="KSO_WM_FULL_TEXT_BEAUTIFY_COPY_ID" val="5"/>
</p:tagLst>
</file>

<file path=ppt/tags/tag147.xml><?xml version="1.0" encoding="utf-8"?>
<p:tagLst xmlns:p="http://schemas.openxmlformats.org/presentationml/2006/main">
  <p:tag name="KSO_WM_FULL_TEXT_BEAUTIFY_COPY_ID" val="2"/>
</p:tagLst>
</file>

<file path=ppt/tags/tag148.xml><?xml version="1.0" encoding="utf-8"?>
<p:tagLst xmlns:p="http://schemas.openxmlformats.org/presentationml/2006/main">
  <p:tag name="KSO_WM_UNIT_TABLE_BEAUTIFY" val="smartTable{7d6f2430-3243-4868-ad3c-d7d17278e4db}"/>
</p:tagLst>
</file>

<file path=ppt/tags/tag149.xml><?xml version="1.0" encoding="utf-8"?>
<p:tagLst xmlns:p="http://schemas.openxmlformats.org/presentationml/2006/main">
  <p:tag name="KSO_WM_FULL_TEXT_BEAUTIFY_COPY_ID" val="5"/>
</p:tagLst>
</file>

<file path=ppt/tags/tag150.xml><?xml version="1.0" encoding="utf-8"?>
<p:tagLst xmlns:p="http://schemas.openxmlformats.org/presentationml/2006/main">
  <p:tag name="KSO_WM_FULL_TEXT_BEAUTIFY_COPY_ID" val="5"/>
</p:tagLst>
</file>

<file path=ppt/tags/tag151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52.xml><?xml version="1.0" encoding="utf-8"?>
<p:tagLst xmlns:p="http://schemas.openxmlformats.org/presentationml/2006/main">
  <p:tag name="KSO_WM_FULL_TEXT_BEAUTIFY_COPY_ID" val="2"/>
</p:tagLst>
</file>

<file path=ppt/tags/tag153.xml><?xml version="1.0" encoding="utf-8"?>
<p:tagLst xmlns:p="http://schemas.openxmlformats.org/presentationml/2006/main">
  <p:tag name="KSO_WM_UNIT_TABLE_BEAUTIFY" val="smartTable{41fbe002-0e33-464a-9ff6-1876e05371a1}"/>
  <p:tag name="TABLE_ENDDRAG_ORIGIN_RECT" val="921*158"/>
  <p:tag name="TABLE_ENDDRAG_RECT" val="20*358*921*158"/>
</p:tagLst>
</file>

<file path=ppt/tags/tag154.xml><?xml version="1.0" encoding="utf-8"?>
<p:tagLst xmlns:p="http://schemas.openxmlformats.org/presentationml/2006/main">
  <p:tag name="KSO_WM_FULL_TEXT_BEAUTIFY_COPY_ID" val="107"/>
</p:tagLst>
</file>

<file path=ppt/tags/tag155.xml><?xml version="1.0" encoding="utf-8"?>
<p:tagLst xmlns:p="http://schemas.openxmlformats.org/presentationml/2006/main">
  <p:tag name="KSO_WM_FULL_TEXT_BEAUTIFY_COPY_ID" val="108"/>
</p:tagLst>
</file>

<file path=ppt/tags/tag156.xml><?xml version="1.0" encoding="utf-8"?>
<p:tagLst xmlns:p="http://schemas.openxmlformats.org/presentationml/2006/main">
  <p:tag name="KSO_WM_FULL_TEXT_BEAUTIFY_COPY_ID" val="109"/>
</p:tagLst>
</file>

<file path=ppt/tags/tag157.xml><?xml version="1.0" encoding="utf-8"?>
<p:tagLst xmlns:p="http://schemas.openxmlformats.org/presentationml/2006/main">
  <p:tag name="KSO_WM_FULL_TEXT_BEAUTIFY_COPY_ID" val="107"/>
</p:tagLst>
</file>

<file path=ppt/tags/tag158.xml><?xml version="1.0" encoding="utf-8"?>
<p:tagLst xmlns:p="http://schemas.openxmlformats.org/presentationml/2006/main">
  <p:tag name="KSO_WM_FULL_TEXT_BEAUTIFY_COPY_ID" val="108"/>
</p:tagLst>
</file>

<file path=ppt/tags/tag159.xml><?xml version="1.0" encoding="utf-8"?>
<p:tagLst xmlns:p="http://schemas.openxmlformats.org/presentationml/2006/main">
  <p:tag name="KSO_WM_FULL_TEXT_BEAUTIFY_COPY_ID" val="109"/>
</p:tagLst>
</file>

<file path=ppt/tags/tag160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61.xml><?xml version="1.0" encoding="utf-8"?>
<p:tagLst xmlns:p="http://schemas.openxmlformats.org/presentationml/2006/main">
  <p:tag name="KSO_WM_UNIT_TABLE_BEAUTIFY" val="smartTable{41fbe002-0e33-464a-9ff6-1876e05371a1}"/>
  <p:tag name="TABLE_ENDDRAG_ORIGIN_RECT" val="921*158"/>
  <p:tag name="TABLE_ENDDRAG_RECT" val="20*358*921*158"/>
</p:tagLst>
</file>

<file path=ppt/tags/tag162.xml><?xml version="1.0" encoding="utf-8"?>
<p:tagLst xmlns:p="http://schemas.openxmlformats.org/presentationml/2006/main">
  <p:tag name="KSO_WM_FULL_TEXT_BEAUTIFY_COPY_ID" val="107"/>
</p:tagLst>
</file>

<file path=ppt/tags/tag163.xml><?xml version="1.0" encoding="utf-8"?>
<p:tagLst xmlns:p="http://schemas.openxmlformats.org/presentationml/2006/main">
  <p:tag name="KSO_WM_FULL_TEXT_BEAUTIFY_COPY_ID" val="108"/>
</p:tagLst>
</file>

<file path=ppt/tags/tag164.xml><?xml version="1.0" encoding="utf-8"?>
<p:tagLst xmlns:p="http://schemas.openxmlformats.org/presentationml/2006/main">
  <p:tag name="KSO_WM_FULL_TEXT_BEAUTIFY_COPY_ID" val="109"/>
</p:tagLst>
</file>

<file path=ppt/tags/tag165.xml><?xml version="1.0" encoding="utf-8"?>
<p:tagLst xmlns:p="http://schemas.openxmlformats.org/presentationml/2006/main">
  <p:tag name="KSO_WM_FULL_TEXT_BEAUTIFY_COPY_ID" val="107"/>
</p:tagLst>
</file>

<file path=ppt/tags/tag166.xml><?xml version="1.0" encoding="utf-8"?>
<p:tagLst xmlns:p="http://schemas.openxmlformats.org/presentationml/2006/main">
  <p:tag name="KSO_WM_FULL_TEXT_BEAUTIFY_COPY_ID" val="108"/>
</p:tagLst>
</file>

<file path=ppt/tags/tag167.xml><?xml version="1.0" encoding="utf-8"?>
<p:tagLst xmlns:p="http://schemas.openxmlformats.org/presentationml/2006/main">
  <p:tag name="KSO_WM_FULL_TEXT_BEAUTIFY_COPY_ID" val="109"/>
</p:tagLst>
</file>

<file path=ppt/tags/tag168.xml><?xml version="1.0" encoding="utf-8"?>
<p:tagLst xmlns:p="http://schemas.openxmlformats.org/presentationml/2006/main">
  <p:tag name="KSO_WM_FULL_TEXT_BEAUTIFY_COPY_ID" val="107"/>
</p:tagLst>
</file>

<file path=ppt/tags/tag169.xml><?xml version="1.0" encoding="utf-8"?>
<p:tagLst xmlns:p="http://schemas.openxmlformats.org/presentationml/2006/main">
  <p:tag name="KSO_WM_FULL_TEXT_BEAUTIFY_COPY_ID" val="108"/>
</p:tagLst>
</file>

<file path=ppt/tags/tag170.xml><?xml version="1.0" encoding="utf-8"?>
<p:tagLst xmlns:p="http://schemas.openxmlformats.org/presentationml/2006/main">
  <p:tag name="KSO_WM_FULL_TEXT_BEAUTIFY_COPY_ID" val="109"/>
</p:tagLst>
</file>

<file path=ppt/tags/tag171.xml><?xml version="1.0" encoding="utf-8"?>
<p:tagLst xmlns:p="http://schemas.openxmlformats.org/presentationml/2006/main">
  <p:tag name="KSO_WM_FULL_TEXT_BEAUTIFY_COPY_ID" val="107"/>
</p:tagLst>
</file>

<file path=ppt/tags/tag172.xml><?xml version="1.0" encoding="utf-8"?>
<p:tagLst xmlns:p="http://schemas.openxmlformats.org/presentationml/2006/main">
  <p:tag name="KSO_WM_FULL_TEXT_BEAUTIFY_COPY_ID" val="108"/>
</p:tagLst>
</file>

<file path=ppt/tags/tag173.xml><?xml version="1.0" encoding="utf-8"?>
<p:tagLst xmlns:p="http://schemas.openxmlformats.org/presentationml/2006/main">
  <p:tag name="KSO_WM_FULL_TEXT_BEAUTIFY_COPY_ID" val="109"/>
</p:tagLst>
</file>

<file path=ppt/tags/tag174.xml><?xml version="1.0" encoding="utf-8"?>
<p:tagLst xmlns:p="http://schemas.openxmlformats.org/presentationml/2006/main">
  <p:tag name="KSO_WM_FULL_TEXT_BEAUTIFY_COPY_ID" val="107"/>
</p:tagLst>
</file>

<file path=ppt/tags/tag175.xml><?xml version="1.0" encoding="utf-8"?>
<p:tagLst xmlns:p="http://schemas.openxmlformats.org/presentationml/2006/main">
  <p:tag name="KSO_WM_FULL_TEXT_BEAUTIFY_COPY_ID" val="108"/>
</p:tagLst>
</file>

<file path=ppt/tags/tag176.xml><?xml version="1.0" encoding="utf-8"?>
<p:tagLst xmlns:p="http://schemas.openxmlformats.org/presentationml/2006/main">
  <p:tag name="KSO_WM_FULL_TEXT_BEAUTIFY_COPY_ID" val="109"/>
</p:tagLst>
</file>

<file path=ppt/tags/tag177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78.xml><?xml version="1.0" encoding="utf-8"?>
<p:tagLst xmlns:p="http://schemas.openxmlformats.org/presentationml/2006/main">
  <p:tag name="KSO_WM_UNIT_TABLE_BEAUTIFY" val="smartTable{41fbe002-0e33-464a-9ff6-1876e05371a1}"/>
  <p:tag name="TABLE_ENDDRAG_ORIGIN_RECT" val="921*158"/>
  <p:tag name="TABLE_ENDDRAG_RECT" val="20*358*921*158"/>
</p:tagLst>
</file>

<file path=ppt/tags/tag179.xml><?xml version="1.0" encoding="utf-8"?>
<p:tagLst xmlns:p="http://schemas.openxmlformats.org/presentationml/2006/main">
  <p:tag name="KSO_WM_FULL_TEXT_BEAUTIFY_COPY_ID" val="107"/>
</p:tagLst>
</file>

<file path=ppt/tags/tag180.xml><?xml version="1.0" encoding="utf-8"?>
<p:tagLst xmlns:p="http://schemas.openxmlformats.org/presentationml/2006/main">
  <p:tag name="KSO_WM_FULL_TEXT_BEAUTIFY_COPY_ID" val="108"/>
</p:tagLst>
</file>

<file path=ppt/tags/tag181.xml><?xml version="1.0" encoding="utf-8"?>
<p:tagLst xmlns:p="http://schemas.openxmlformats.org/presentationml/2006/main">
  <p:tag name="KSO_WM_FULL_TEXT_BEAUTIFY_COPY_ID" val="109"/>
</p:tagLst>
</file>

<file path=ppt/tags/tag182.xml><?xml version="1.0" encoding="utf-8"?>
<p:tagLst xmlns:p="http://schemas.openxmlformats.org/presentationml/2006/main">
  <p:tag name="KSO_WM_FULL_TEXT_BEAUTIFY_COPY_ID" val="107"/>
</p:tagLst>
</file>

<file path=ppt/tags/tag183.xml><?xml version="1.0" encoding="utf-8"?>
<p:tagLst xmlns:p="http://schemas.openxmlformats.org/presentationml/2006/main">
  <p:tag name="KSO_WM_FULL_TEXT_BEAUTIFY_COPY_ID" val="108"/>
</p:tagLst>
</file>

<file path=ppt/tags/tag184.xml><?xml version="1.0" encoding="utf-8"?>
<p:tagLst xmlns:p="http://schemas.openxmlformats.org/presentationml/2006/main">
  <p:tag name="KSO_WM_FULL_TEXT_BEAUTIFY_COPY_ID" val="109"/>
</p:tagLst>
</file>

<file path=ppt/tags/tag185.xml><?xml version="1.0" encoding="utf-8"?>
<p:tagLst xmlns:p="http://schemas.openxmlformats.org/presentationml/2006/main">
  <p:tag name="KSO_WM_FULL_TEXT_BEAUTIFY_COPY_ID" val="107"/>
</p:tagLst>
</file>

<file path=ppt/tags/tag186.xml><?xml version="1.0" encoding="utf-8"?>
<p:tagLst xmlns:p="http://schemas.openxmlformats.org/presentationml/2006/main">
  <p:tag name="KSO_WM_FULL_TEXT_BEAUTIFY_COPY_ID" val="108"/>
</p:tagLst>
</file>

<file path=ppt/tags/tag187.xml><?xml version="1.0" encoding="utf-8"?>
<p:tagLst xmlns:p="http://schemas.openxmlformats.org/presentationml/2006/main">
  <p:tag name="KSO_WM_FULL_TEXT_BEAUTIFY_COPY_ID" val="109"/>
</p:tagLst>
</file>

<file path=ppt/tags/tag188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89.xml><?xml version="1.0" encoding="utf-8"?>
<p:tagLst xmlns:p="http://schemas.openxmlformats.org/presentationml/2006/main">
  <p:tag name="KSO_WM_FULL_TEXT_BEAUTIFY_COPY_ID" val="5"/>
</p:tagLst>
</file>

<file path=ppt/tags/tag190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91.xml><?xml version="1.0" encoding="utf-8"?>
<p:tagLst xmlns:p="http://schemas.openxmlformats.org/presentationml/2006/main">
  <p:tag name="KSO_WM_FULL_TEXT_BEAUTIFY_COPY_ID" val="5"/>
</p:tagLst>
</file>

<file path=ppt/tags/tag192.xml><?xml version="1.0" encoding="utf-8"?>
<p:tagLst xmlns:p="http://schemas.openxmlformats.org/presentationml/2006/main">
  <p:tag name="KSO_WM_FULL_TEXT_BEAUTIFY_COPY_ID" val="2"/>
</p:tagLst>
</file>

<file path=ppt/tags/tag193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94.xml><?xml version="1.0" encoding="utf-8"?>
<p:tagLst xmlns:p="http://schemas.openxmlformats.org/presentationml/2006/main">
  <p:tag name="KSO_WM_FULL_TEXT_BEAUTIFY_COPY_ID" val="5"/>
</p:tagLst>
</file>

<file path=ppt/tags/tag195.xml><?xml version="1.0" encoding="utf-8"?>
<p:tagLst xmlns:p="http://schemas.openxmlformats.org/presentationml/2006/main">
  <p:tag name="KSO_WM_FULL_TEXT_BEAUTIFY_COPY_ID" val="2"/>
</p:tagLst>
</file>

<file path=ppt/tags/tag196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97.xml><?xml version="1.0" encoding="utf-8"?>
<p:tagLst xmlns:p="http://schemas.openxmlformats.org/presentationml/2006/main">
  <p:tag name="KSO_WM_FULL_TEXT_BEAUTIFY_COPY_ID" val="5"/>
</p:tagLst>
</file>

<file path=ppt/tags/tag198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ags/tag199.xml><?xml version="1.0" encoding="utf-8"?>
<p:tagLst xmlns:p="http://schemas.openxmlformats.org/presentationml/2006/main">
  <p:tag name="KSO_WM_FULL_TEXT_BEAUTIFY_COPY_ID" val="5"/>
</p:tagLst>
</file>

<file path=ppt/tags/tag200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细等线繁"/>
        <a:ea typeface=""/>
        <a:cs typeface=""/>
        <a:font script="Jpan" typeface="游ゴシック Light"/>
        <a:font script="Hang" typeface="맑은 고딕"/>
        <a:font script="Hans" typeface="汉仪细等线繁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细等线繁"/>
        <a:ea typeface=""/>
        <a:cs typeface=""/>
        <a:font script="Jpan" typeface="游ゴシック"/>
        <a:font script="Hang" typeface="맑은 고딕"/>
        <a:font script="Hans" typeface="汉仪细等线繁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WPS主题色">
      <a:dk1>
        <a:srgbClr val="000000"/>
      </a:dk1>
      <a:lt1>
        <a:srgbClr val="FFFFFF"/>
      </a:lt1>
      <a:dk2>
        <a:srgbClr val="E5EAF2"/>
      </a:dk2>
      <a:lt2>
        <a:srgbClr val="FFFFFF"/>
      </a:lt2>
      <a:accent1>
        <a:srgbClr val="5F769F"/>
      </a:accent1>
      <a:accent2>
        <a:srgbClr val="71729B"/>
      </a:accent2>
      <a:accent3>
        <a:srgbClr val="7E6B95"/>
      </a:accent3>
      <a:accent4>
        <a:srgbClr val="8A668D"/>
      </a:accent4>
      <a:accent5>
        <a:srgbClr val="955F82"/>
      </a:accent5>
      <a:accent6>
        <a:srgbClr val="9B5B75"/>
      </a:accent6>
      <a:hlink>
        <a:srgbClr val="292BBB"/>
      </a:hlink>
      <a:folHlink>
        <a:srgbClr val="580C6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细等线繁"/>
        <a:ea typeface=""/>
        <a:cs typeface=""/>
        <a:font script="Jpan" typeface="游ゴシック Light"/>
        <a:font script="Hang" typeface="맑은 고딕"/>
        <a:font script="Hans" typeface="汉仪细等线繁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细等线繁"/>
        <a:ea typeface=""/>
        <a:cs typeface=""/>
        <a:font script="Jpan" typeface="游ゴシック"/>
        <a:font script="Hang" typeface="맑은 고딕"/>
        <a:font script="Hans" typeface="汉仪细等线繁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3079</Words>
  <Application>WPS 演示</Application>
  <PresentationFormat>自定义</PresentationFormat>
  <Paragraphs>351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汉仪旗黑-85S</vt:lpstr>
      <vt:lpstr>方正粗黑宋简体</vt:lpstr>
      <vt:lpstr>楷体</vt:lpstr>
      <vt:lpstr>隶书</vt:lpstr>
      <vt:lpstr>Times New Roman</vt:lpstr>
      <vt:lpstr>Arial</vt:lpstr>
      <vt:lpstr>Wingdings</vt:lpstr>
      <vt:lpstr>Calibri</vt:lpstr>
      <vt:lpstr>Arial Unicode MS</vt:lpstr>
      <vt:lpstr>自定义设计方案</vt:lpstr>
      <vt:lpstr>2_Office 主题​​</vt:lpstr>
      <vt:lpstr>第三单元 身边的化学物质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霖</cp:lastModifiedBy>
  <cp:revision>1844</cp:revision>
  <dcterms:created xsi:type="dcterms:W3CDTF">2019-06-19T02:08:00Z</dcterms:created>
  <dcterms:modified xsi:type="dcterms:W3CDTF">2022-04-20T11:04:38Z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  <property fmtid="{D5CDD505-2E9C-101B-9397-08002B2CF9AE}" pid="3" name="KSOSaveFontToCloudKey">
    <vt:lpwstr>454426875_cloud</vt:lpwstr>
  </property>
  <property fmtid="{D5CDD505-2E9C-101B-9397-08002B2CF9AE}" pid="4" name="ICV">
    <vt:lpwstr>B9A4CEBAEED945FBBD7A4B61D26B5076</vt:lpwstr>
  </property>
</Properties>
</file>